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72" r:id="rId1"/>
    <p:sldMasterId id="2147483717" r:id="rId2"/>
  </p:sldMasterIdLst>
  <p:notesMasterIdLst>
    <p:notesMasterId r:id="rId9"/>
  </p:notesMasterIdLst>
  <p:sldIdLst>
    <p:sldId id="342" r:id="rId3"/>
    <p:sldId id="285" r:id="rId4"/>
    <p:sldId id="288" r:id="rId5"/>
    <p:sldId id="336" r:id="rId6"/>
    <p:sldId id="335" r:id="rId7"/>
    <p:sldId id="323" r:id="rId8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3514">
          <p15:clr>
            <a:srgbClr val="A4A3A4"/>
          </p15:clr>
        </p15:guide>
        <p15:guide id="2" pos="285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C9FE8"/>
    <a:srgbClr val="0113BF"/>
    <a:srgbClr val="7979DD"/>
    <a:srgbClr val="0D9EBB"/>
    <a:srgbClr val="008000"/>
    <a:srgbClr val="0D426C"/>
    <a:srgbClr val="4EBBEB"/>
    <a:srgbClr val="1A396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6038" autoAdjust="0"/>
    <p:restoredTop sz="70048" autoAdjust="0"/>
  </p:normalViewPr>
  <p:slideViewPr>
    <p:cSldViewPr>
      <p:cViewPr varScale="1">
        <p:scale>
          <a:sx n="48" d="100"/>
          <a:sy n="48" d="100"/>
        </p:scale>
        <p:origin x="-1296" y="-72"/>
      </p:cViewPr>
      <p:guideLst>
        <p:guide orient="horz" pos="3514"/>
        <p:guide pos="2851"/>
      </p:guideLst>
    </p:cSldViewPr>
  </p:slideViewPr>
  <p:outlineViewPr>
    <p:cViewPr>
      <p:scale>
        <a:sx n="33" d="100"/>
        <a:sy n="33" d="100"/>
      </p:scale>
      <p:origin x="42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45720" cy="4572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viewProps" Target="viewProps.xml"/><Relationship Id="rId5" Type="http://schemas.openxmlformats.org/officeDocument/2006/relationships/slide" Target="slides/slide3.xml"/><Relationship Id="rId10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970693CD-0A78-4F2C-B694-0AE6F79A48D9}" type="datetimeFigureOut">
              <a:rPr lang="en-US"/>
              <a:pPr>
                <a:defRPr/>
              </a:pPr>
              <a:t>9/11/2015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D9D0C442-0542-4696-8703-05C08221016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5170546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8" Type="http://schemas.openxmlformats.org/officeDocument/2006/relationships/hyperlink" Target="http://docs.cloudfoundry.org/concepts/architecture/warden.html" TargetMode="External"/><Relationship Id="rId3" Type="http://schemas.openxmlformats.org/officeDocument/2006/relationships/hyperlink" Target="http://docs.cloudfoundry.org/concepts/architecture/router.html" TargetMode="External"/><Relationship Id="rId7" Type="http://schemas.openxmlformats.org/officeDocument/2006/relationships/hyperlink" Target="http://docs.cloudfoundry.org/concepts/architecture/execution-agent.html" TargetMode="External"/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Relationship Id="rId6" Type="http://schemas.openxmlformats.org/officeDocument/2006/relationships/hyperlink" Target="http://docs.cloudfoundry.org/concepts/architecture/health-manager.html" TargetMode="External"/><Relationship Id="rId5" Type="http://schemas.openxmlformats.org/officeDocument/2006/relationships/hyperlink" Target="http://docs.cloudfoundry.org/concepts/architecture/cloud-controller.html" TargetMode="External"/><Relationship Id="rId10" Type="http://schemas.openxmlformats.org/officeDocument/2006/relationships/hyperlink" Target="http://docs.cloudfoundry.org/concepts/architecture/messaging-nats.html" TargetMode="External"/><Relationship Id="rId4" Type="http://schemas.openxmlformats.org/officeDocument/2006/relationships/hyperlink" Target="http://docs.cloudfoundry.org/concepts/architecture/uaa.html" TargetMode="External"/><Relationship Id="rId9" Type="http://schemas.openxmlformats.org/officeDocument/2006/relationships/hyperlink" Target="http://docs.cloudfoundry.org/concepts/architecture/services/" TargetMode="External"/></Relationships>
</file>

<file path=ppt/notesSlides/_rels/notesSlide4.xml.rels><?xml version="1.0" encoding="UTF-8" standalone="yes"?>
<Relationships xmlns="http://schemas.openxmlformats.org/package/2006/relationships"><Relationship Id="rId3" Type="http://schemas.openxmlformats.org/officeDocument/2006/relationships/hyperlink" Target="http://docs.cloudfoundry.org/concepts/architecture/router.html" TargetMode="External"/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Relationship Id="rId6" Type="http://schemas.openxmlformats.org/officeDocument/2006/relationships/hyperlink" Target="http://docs.cloudfoundry.org/concepts/architecture/health-manager.html" TargetMode="External"/><Relationship Id="rId5" Type="http://schemas.openxmlformats.org/officeDocument/2006/relationships/hyperlink" Target="http://docs.cloudfoundry.org/concepts/architecture/cloud-controller.html" TargetMode="External"/><Relationship Id="rId4" Type="http://schemas.openxmlformats.org/officeDocument/2006/relationships/hyperlink" Target="http://docs.cloudfoundry.org/concepts/architecture/uaa.html" TargetMode="External"/></Relationships>
</file>

<file path=ppt/notesSlides/_rels/notesSlide5.xml.rels><?xml version="1.0" encoding="UTF-8" standalone="yes"?>
<Relationships xmlns="http://schemas.openxmlformats.org/package/2006/relationships"><Relationship Id="rId3" Type="http://schemas.openxmlformats.org/officeDocument/2006/relationships/hyperlink" Target="http://docs.cloudfoundry.org/concepts/architecture/execution-agent.html" TargetMode="External"/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Relationship Id="rId5" Type="http://schemas.openxmlformats.org/officeDocument/2006/relationships/hyperlink" Target="http://docs.cloudfoundry.org/concepts/architecture/services/" TargetMode="External"/><Relationship Id="rId4" Type="http://schemas.openxmlformats.org/officeDocument/2006/relationships/hyperlink" Target="http://docs.cloudfoundry.org/concepts/architecture/warden.html" TargetMode="External"/></Relationships>
</file>

<file path=ppt/notesSlides/_rels/notesSlide6.xml.rels><?xml version="1.0" encoding="UTF-8" standalone="yes"?>
<Relationships xmlns="http://schemas.openxmlformats.org/package/2006/relationships"><Relationship Id="rId3" Type="http://schemas.openxmlformats.org/officeDocument/2006/relationships/hyperlink" Target="http://docs.cloudfoundry.org/concepts/architecture/messaging-nats.html" TargetMode="External"/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dirty="0" smtClean="0"/>
          </a:p>
        </p:txBody>
      </p:sp>
      <p:sp>
        <p:nvSpPr>
          <p:cNvPr id="819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D2EA7698-2F17-4A72-83FD-A73A1448A272}" type="slidenum">
              <a:rPr lang="en-US" altLang="en-US" smtClean="0">
                <a:latin typeface="Calibri" panose="020F0502020204030204" pitchFamily="34" charset="0"/>
              </a:rPr>
              <a:pPr/>
              <a:t>1</a:t>
            </a:fld>
            <a:endParaRPr lang="en-US" altLang="en-US" smtClean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25271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277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en-US" dirty="0" smtClean="0"/>
              <a:t>IBM Bluemix PaaS built on Cloud Foundry.  It’s important to understand Bluemix/Cloud Foundry internal architecture, components  such as Droplet execution agent (DEA), Cloud Controller, the Router and interaction between DEA and Health Manager in a Cloud Foundry PaaS environment</a:t>
            </a:r>
          </a:p>
        </p:txBody>
      </p:sp>
      <p:sp>
        <p:nvSpPr>
          <p:cNvPr id="3277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F85DB632-6A78-48D9-95E8-2A18CF36110B}" type="slidenum">
              <a:rPr lang="en-US" altLang="en-US" smtClean="0">
                <a:latin typeface="Calibri" panose="020F0502020204030204" pitchFamily="34" charset="0"/>
              </a:rPr>
              <a:pPr/>
              <a:t>2</a:t>
            </a:fld>
            <a:endParaRPr lang="en-US" altLang="en-US" smtClean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21957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en-US" smtClean="0">
                <a:latin typeface="Arial" panose="020B0604020202020204" pitchFamily="34" charset="0"/>
                <a:cs typeface="Arial" panose="020B0604020202020204" pitchFamily="34" charset="0"/>
              </a:rPr>
              <a:t>The slide shows Cloud Foundry architecture and components from operations perspective.  We will describe the functions of each component in next slides.</a:t>
            </a:r>
          </a:p>
          <a:p>
            <a:endParaRPr lang="en-US" altLang="en-US" b="1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altLang="en-US" b="1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altLang="en-US" b="1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altLang="en-US" b="1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altLang="en-US" b="1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altLang="en-US" b="1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US" b="1" smtClean="0">
                <a:latin typeface="Arial" panose="020B0604020202020204" pitchFamily="34" charset="0"/>
                <a:cs typeface="Arial" panose="020B0604020202020204" pitchFamily="34" charset="0"/>
              </a:rPr>
              <a:t>Router</a:t>
            </a:r>
          </a:p>
          <a:p>
            <a:r>
              <a:rPr lang="en-US" altLang="en-US" smtClean="0"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en-US" altLang="en-US" smtClean="0"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router</a:t>
            </a:r>
            <a:r>
              <a:rPr lang="en-US" altLang="en-US" smtClean="0">
                <a:latin typeface="Arial" panose="020B0604020202020204" pitchFamily="34" charset="0"/>
                <a:cs typeface="Arial" panose="020B0604020202020204" pitchFamily="34" charset="0"/>
              </a:rPr>
              <a:t> routes incoming traffic to the appropriate component, usually the Cloud Controller or a running application on a DEA node.</a:t>
            </a:r>
          </a:p>
          <a:p>
            <a:r>
              <a:rPr lang="en-US" altLang="en-US" b="1" smtClean="0">
                <a:latin typeface="Arial" panose="020B0604020202020204" pitchFamily="34" charset="0"/>
                <a:cs typeface="Arial" panose="020B0604020202020204" pitchFamily="34" charset="0"/>
              </a:rPr>
              <a:t>Authentication</a:t>
            </a:r>
          </a:p>
          <a:p>
            <a:r>
              <a:rPr lang="en-US" altLang="en-US" smtClean="0">
                <a:latin typeface="Arial" panose="020B0604020202020204" pitchFamily="34" charset="0"/>
                <a:cs typeface="Arial" panose="020B0604020202020204" pitchFamily="34" charset="0"/>
              </a:rPr>
              <a:t>The OAuth2 server (the </a:t>
            </a:r>
            <a:r>
              <a:rPr lang="en-US" altLang="en-US" smtClean="0">
                <a:latin typeface="Arial" panose="020B0604020202020204" pitchFamily="34" charset="0"/>
                <a:cs typeface="Arial" panose="020B0604020202020204" pitchFamily="34" charset="0"/>
                <a:hlinkClick r:id="rId4"/>
              </a:rPr>
              <a:t>UAA</a:t>
            </a:r>
            <a:r>
              <a:rPr lang="en-US" altLang="en-US" smtClean="0">
                <a:latin typeface="Arial" panose="020B0604020202020204" pitchFamily="34" charset="0"/>
                <a:cs typeface="Arial" panose="020B0604020202020204" pitchFamily="34" charset="0"/>
              </a:rPr>
              <a:t>) and Login Server work together to provide identity management.</a:t>
            </a:r>
          </a:p>
          <a:p>
            <a:r>
              <a:rPr lang="en-US" altLang="en-US" b="1" smtClean="0">
                <a:latin typeface="Arial" panose="020B0604020202020204" pitchFamily="34" charset="0"/>
                <a:cs typeface="Arial" panose="020B0604020202020204" pitchFamily="34" charset="0"/>
              </a:rPr>
              <a:t>Cloud Controller</a:t>
            </a:r>
          </a:p>
          <a:p>
            <a:r>
              <a:rPr lang="en-US" altLang="en-US" smtClean="0"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en-US" altLang="en-US" smtClean="0">
                <a:latin typeface="Arial" panose="020B0604020202020204" pitchFamily="34" charset="0"/>
                <a:cs typeface="Arial" panose="020B0604020202020204" pitchFamily="34" charset="0"/>
                <a:hlinkClick r:id="rId5"/>
              </a:rPr>
              <a:t>Cloud Controller</a:t>
            </a:r>
            <a:r>
              <a:rPr lang="en-US" altLang="en-US" smtClean="0">
                <a:latin typeface="Arial" panose="020B0604020202020204" pitchFamily="34" charset="0"/>
                <a:cs typeface="Arial" panose="020B0604020202020204" pitchFamily="34" charset="0"/>
              </a:rPr>
              <a:t> is responsible for managing the lifecycle of applications. When a developer pushes an application to Cloud Foundry, the Cloud Controller stores the raw application bits, creates a record to track the application metadata, and directs a DEA node to stage and run the application. The Cloud Controller also maintains records of organizations, spaces, services, service instances, user roles, and more.</a:t>
            </a:r>
          </a:p>
          <a:p>
            <a:endParaRPr lang="en-US" altLang="en-US" b="1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US" b="1" smtClean="0">
                <a:latin typeface="Arial" panose="020B0604020202020204" pitchFamily="34" charset="0"/>
                <a:cs typeface="Arial" panose="020B0604020202020204" pitchFamily="34" charset="0"/>
              </a:rPr>
              <a:t>Health Manager</a:t>
            </a:r>
          </a:p>
          <a:p>
            <a:r>
              <a:rPr lang="en-US" altLang="en-US" smtClean="0">
                <a:latin typeface="Arial" panose="020B0604020202020204" pitchFamily="34" charset="0"/>
                <a:cs typeface="Arial" panose="020B0604020202020204" pitchFamily="34" charset="0"/>
                <a:hlinkClick r:id="rId6"/>
              </a:rPr>
              <a:t>Health Manager</a:t>
            </a:r>
            <a:r>
              <a:rPr lang="en-US" altLang="en-US" smtClean="0">
                <a:latin typeface="Arial" panose="020B0604020202020204" pitchFamily="34" charset="0"/>
                <a:cs typeface="Arial" panose="020B0604020202020204" pitchFamily="34" charset="0"/>
              </a:rPr>
              <a:t> monitors applications, reconciles the current state (e.g. running, stopped, crashed) and expected state, and directs Cloud Controller to correct state mismatches.</a:t>
            </a:r>
          </a:p>
          <a:p>
            <a:endParaRPr lang="en-US" altLang="en-US" b="1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US" b="1" smtClean="0">
                <a:latin typeface="Arial" panose="020B0604020202020204" pitchFamily="34" charset="0"/>
                <a:cs typeface="Arial" panose="020B0604020202020204" pitchFamily="34" charset="0"/>
              </a:rPr>
              <a:t>Application Execution (DEA)</a:t>
            </a:r>
          </a:p>
          <a:p>
            <a:r>
              <a:rPr lang="en-US" altLang="en-US" smtClean="0"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en-US" altLang="en-US" smtClean="0">
                <a:latin typeface="Arial" panose="020B0604020202020204" pitchFamily="34" charset="0"/>
                <a:cs typeface="Arial" panose="020B0604020202020204" pitchFamily="34" charset="0"/>
                <a:hlinkClick r:id="rId7"/>
              </a:rPr>
              <a:t>Droplet Execution Agent</a:t>
            </a:r>
            <a:r>
              <a:rPr lang="en-US" altLang="en-US" smtClean="0">
                <a:latin typeface="Arial" panose="020B0604020202020204" pitchFamily="34" charset="0"/>
                <a:cs typeface="Arial" panose="020B0604020202020204" pitchFamily="34" charset="0"/>
              </a:rPr>
              <a:t> manages application instances, tracks started instances, and broadcasts state messages.</a:t>
            </a:r>
          </a:p>
          <a:p>
            <a:r>
              <a:rPr lang="en-US" altLang="en-US" smtClean="0">
                <a:latin typeface="Arial" panose="020B0604020202020204" pitchFamily="34" charset="0"/>
                <a:cs typeface="Arial" panose="020B0604020202020204" pitchFamily="34" charset="0"/>
              </a:rPr>
              <a:t>Application instances live inside </a:t>
            </a:r>
            <a:r>
              <a:rPr lang="en-US" altLang="en-US" smtClean="0">
                <a:latin typeface="Arial" panose="020B0604020202020204" pitchFamily="34" charset="0"/>
                <a:cs typeface="Arial" panose="020B0604020202020204" pitchFamily="34" charset="0"/>
                <a:hlinkClick r:id="rId8"/>
              </a:rPr>
              <a:t>Warden</a:t>
            </a:r>
            <a:r>
              <a:rPr lang="en-US" altLang="en-US" smtClean="0">
                <a:latin typeface="Arial" panose="020B0604020202020204" pitchFamily="34" charset="0"/>
                <a:cs typeface="Arial" panose="020B0604020202020204" pitchFamily="34" charset="0"/>
              </a:rPr>
              <a:t> containers. Warden manages isolated, ephemeral, and resource-controlled environments.</a:t>
            </a:r>
          </a:p>
          <a:p>
            <a:r>
              <a:rPr lang="en-US" altLang="en-US" smtClean="0">
                <a:latin typeface="Arial" panose="020B0604020202020204" pitchFamily="34" charset="0"/>
                <a:cs typeface="Arial" panose="020B0604020202020204" pitchFamily="34" charset="0"/>
              </a:rPr>
              <a:t>Containerization ensures that application instances run in isolation, get their fair share of resources, and are protected from noisy neighbors.</a:t>
            </a:r>
          </a:p>
          <a:p>
            <a:endParaRPr lang="en-US" altLang="en-US" b="1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US" b="1" smtClean="0">
                <a:latin typeface="Arial" panose="020B0604020202020204" pitchFamily="34" charset="0"/>
                <a:cs typeface="Arial" panose="020B0604020202020204" pitchFamily="34" charset="0"/>
              </a:rPr>
              <a:t>Blob Store</a:t>
            </a:r>
          </a:p>
          <a:p>
            <a:r>
              <a:rPr lang="en-US" altLang="en-US" smtClean="0">
                <a:latin typeface="Arial" panose="020B0604020202020204" pitchFamily="34" charset="0"/>
                <a:cs typeface="Arial" panose="020B0604020202020204" pitchFamily="34" charset="0"/>
              </a:rPr>
              <a:t>The blob store holds:</a:t>
            </a:r>
          </a:p>
          <a:p>
            <a:r>
              <a:rPr lang="en-US" altLang="en-US" smtClean="0">
                <a:latin typeface="Arial" panose="020B0604020202020204" pitchFamily="34" charset="0"/>
                <a:cs typeface="Arial" panose="020B0604020202020204" pitchFamily="34" charset="0"/>
              </a:rPr>
              <a:t>Application code</a:t>
            </a:r>
          </a:p>
          <a:p>
            <a:r>
              <a:rPr lang="en-US" altLang="en-US" smtClean="0">
                <a:latin typeface="Arial" panose="020B0604020202020204" pitchFamily="34" charset="0"/>
                <a:cs typeface="Arial" panose="020B0604020202020204" pitchFamily="34" charset="0"/>
              </a:rPr>
              <a:t>Buildpacks</a:t>
            </a:r>
          </a:p>
          <a:p>
            <a:r>
              <a:rPr lang="en-US" altLang="en-US" smtClean="0">
                <a:latin typeface="Arial" panose="020B0604020202020204" pitchFamily="34" charset="0"/>
                <a:cs typeface="Arial" panose="020B0604020202020204" pitchFamily="34" charset="0"/>
              </a:rPr>
              <a:t>Droplets</a:t>
            </a:r>
          </a:p>
          <a:p>
            <a:endParaRPr lang="en-US" altLang="en-US" b="1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US" b="1" smtClean="0">
                <a:latin typeface="Arial" panose="020B0604020202020204" pitchFamily="34" charset="0"/>
                <a:cs typeface="Arial" panose="020B0604020202020204" pitchFamily="34" charset="0"/>
              </a:rPr>
              <a:t>Service Brokers</a:t>
            </a:r>
          </a:p>
          <a:p>
            <a:r>
              <a:rPr lang="en-US" altLang="en-US" smtClean="0">
                <a:latin typeface="Arial" panose="020B0604020202020204" pitchFamily="34" charset="0"/>
                <a:cs typeface="Arial" panose="020B0604020202020204" pitchFamily="34" charset="0"/>
              </a:rPr>
              <a:t>Applications typically depend on </a:t>
            </a:r>
            <a:r>
              <a:rPr lang="en-US" altLang="en-US" smtClean="0">
                <a:latin typeface="Arial" panose="020B0604020202020204" pitchFamily="34" charset="0"/>
                <a:cs typeface="Arial" panose="020B0604020202020204" pitchFamily="34" charset="0"/>
                <a:hlinkClick r:id="rId9"/>
              </a:rPr>
              <a:t>services</a:t>
            </a:r>
            <a:r>
              <a:rPr lang="en-US" altLang="en-US" smtClean="0">
                <a:latin typeface="Arial" panose="020B0604020202020204" pitchFamily="34" charset="0"/>
                <a:cs typeface="Arial" panose="020B0604020202020204" pitchFamily="34" charset="0"/>
              </a:rPr>
              <a:t> such as databases or third-party SaaS providers. When a developer provisions and binds a service to an application, the service broker for that service is responsible for providing the service instance.</a:t>
            </a:r>
          </a:p>
          <a:p>
            <a:endParaRPr lang="en-US" altLang="en-US" b="1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US" b="1" smtClean="0">
                <a:latin typeface="Arial" panose="020B0604020202020204" pitchFamily="34" charset="0"/>
                <a:cs typeface="Arial" panose="020B0604020202020204" pitchFamily="34" charset="0"/>
              </a:rPr>
              <a:t>Message Bus</a:t>
            </a:r>
          </a:p>
          <a:p>
            <a:r>
              <a:rPr lang="en-US" altLang="en-US" smtClean="0">
                <a:latin typeface="Arial" panose="020B0604020202020204" pitchFamily="34" charset="0"/>
                <a:cs typeface="Arial" panose="020B0604020202020204" pitchFamily="34" charset="0"/>
              </a:rPr>
              <a:t>Cloud Foundry uses </a:t>
            </a:r>
            <a:r>
              <a:rPr lang="en-US" altLang="en-US" smtClean="0">
                <a:latin typeface="Arial" panose="020B0604020202020204" pitchFamily="34" charset="0"/>
                <a:cs typeface="Arial" panose="020B0604020202020204" pitchFamily="34" charset="0"/>
                <a:hlinkClick r:id="rId10"/>
              </a:rPr>
              <a:t>NATS</a:t>
            </a:r>
            <a:r>
              <a:rPr lang="en-US" altLang="en-US" smtClean="0">
                <a:latin typeface="Arial" panose="020B0604020202020204" pitchFamily="34" charset="0"/>
                <a:cs typeface="Arial" panose="020B0604020202020204" pitchFamily="34" charset="0"/>
              </a:rPr>
              <a:t>, a lightweight publish-subscribe and distributed queueing messaging system written in Ruby, for internal communication between components.</a:t>
            </a:r>
          </a:p>
          <a:p>
            <a:endParaRPr lang="en-US" altLang="en-US" b="1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US" b="1" smtClean="0">
                <a:latin typeface="Arial" panose="020B0604020202020204" pitchFamily="34" charset="0"/>
                <a:cs typeface="Arial" panose="020B0604020202020204" pitchFamily="34" charset="0"/>
              </a:rPr>
              <a:t>Logging and Statistics</a:t>
            </a:r>
          </a:p>
          <a:p>
            <a:r>
              <a:rPr lang="en-US" altLang="en-US" smtClean="0">
                <a:latin typeface="Arial" panose="020B0604020202020204" pitchFamily="34" charset="0"/>
                <a:cs typeface="Arial" panose="020B0604020202020204" pitchFamily="34" charset="0"/>
              </a:rPr>
              <a:t>The metrics collector gather metrics from the components. Operators can use this information to monitor an instance of Cloud Foundry.</a:t>
            </a:r>
          </a:p>
          <a:p>
            <a:r>
              <a:rPr lang="en-US" altLang="en-US" smtClean="0">
                <a:latin typeface="Arial" panose="020B0604020202020204" pitchFamily="34" charset="0"/>
                <a:cs typeface="Arial" panose="020B0604020202020204" pitchFamily="34" charset="0"/>
              </a:rPr>
              <a:t>The application log aggregator streams application logs to developers.</a:t>
            </a:r>
          </a:p>
          <a:p>
            <a:endParaRPr lang="en-US" altLang="en-US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82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6493" tIns="43247" rIns="86493" bIns="43247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EA27D107-DA56-4729-B66D-2038B6784894}" type="slidenum">
              <a:rPr lang="en-US" altLang="en-US" sz="3600" smtClean="0">
                <a:latin typeface="Helvetica Light" charset="0"/>
                <a:ea typeface="MS PGothic" panose="020B0600070205080204" pitchFamily="34" charset="-128"/>
                <a:sym typeface="Helvetica Light" charset="0"/>
              </a:rPr>
              <a:pPr>
                <a:spcBef>
                  <a:spcPct val="0"/>
                </a:spcBef>
              </a:pPr>
              <a:t>3</a:t>
            </a:fld>
            <a:endParaRPr lang="en-US" altLang="en-US" sz="3600" smtClean="0">
              <a:latin typeface="Helvetica Light" charset="0"/>
              <a:ea typeface="MS PGothic" panose="020B0600070205080204" pitchFamily="34" charset="-128"/>
              <a:sym typeface="Helvetica Light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04349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686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en-US" b="1" smtClean="0">
                <a:latin typeface="Arial" panose="020B0604020202020204" pitchFamily="34" charset="0"/>
                <a:cs typeface="Arial" panose="020B0604020202020204" pitchFamily="34" charset="0"/>
              </a:rPr>
              <a:t>For Routing:</a:t>
            </a:r>
          </a:p>
          <a:p>
            <a:r>
              <a:rPr lang="en-US" altLang="en-US" smtClean="0"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en-US" altLang="en-US" smtClean="0"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router</a:t>
            </a:r>
            <a:r>
              <a:rPr lang="en-US" altLang="en-US" smtClean="0">
                <a:latin typeface="Arial" panose="020B0604020202020204" pitchFamily="34" charset="0"/>
                <a:cs typeface="Arial" panose="020B0604020202020204" pitchFamily="34" charset="0"/>
              </a:rPr>
              <a:t> routes incoming traffic to the appropriate component, usually the Cloud Controller or a running application on a DEA node.</a:t>
            </a:r>
          </a:p>
          <a:p>
            <a:r>
              <a:rPr lang="en-US" altLang="en-US" b="1" smtClean="0">
                <a:latin typeface="Arial" panose="020B0604020202020204" pitchFamily="34" charset="0"/>
                <a:cs typeface="Arial" panose="020B0604020202020204" pitchFamily="34" charset="0"/>
              </a:rPr>
              <a:t>For Authentication</a:t>
            </a:r>
          </a:p>
          <a:p>
            <a:r>
              <a:rPr lang="en-US" altLang="en-US" smtClean="0">
                <a:latin typeface="Arial" panose="020B0604020202020204" pitchFamily="34" charset="0"/>
                <a:cs typeface="Arial" panose="020B0604020202020204" pitchFamily="34" charset="0"/>
              </a:rPr>
              <a:t>The OAuth2 server (the </a:t>
            </a:r>
            <a:r>
              <a:rPr lang="en-US" altLang="en-US" smtClean="0">
                <a:latin typeface="Arial" panose="020B0604020202020204" pitchFamily="34" charset="0"/>
                <a:cs typeface="Arial" panose="020B0604020202020204" pitchFamily="34" charset="0"/>
                <a:hlinkClick r:id="rId4"/>
              </a:rPr>
              <a:t>UAA</a:t>
            </a:r>
            <a:r>
              <a:rPr lang="en-US" altLang="en-US" smtClean="0">
                <a:latin typeface="Arial" panose="020B0604020202020204" pitchFamily="34" charset="0"/>
                <a:cs typeface="Arial" panose="020B0604020202020204" pitchFamily="34" charset="0"/>
              </a:rPr>
              <a:t>) and Login Server work together to provide identity management.</a:t>
            </a:r>
          </a:p>
          <a:p>
            <a:r>
              <a:rPr lang="en-US" altLang="en-US" b="1" smtClean="0">
                <a:latin typeface="Arial" panose="020B0604020202020204" pitchFamily="34" charset="0"/>
                <a:cs typeface="Arial" panose="020B0604020202020204" pitchFamily="34" charset="0"/>
              </a:rPr>
              <a:t>For application Lifecycle operations</a:t>
            </a:r>
          </a:p>
          <a:p>
            <a:r>
              <a:rPr lang="en-US" altLang="en-US" smtClean="0"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en-US" altLang="en-US" smtClean="0">
                <a:latin typeface="Arial" panose="020B0604020202020204" pitchFamily="34" charset="0"/>
                <a:cs typeface="Arial" panose="020B0604020202020204" pitchFamily="34" charset="0"/>
                <a:hlinkClick r:id="rId5"/>
              </a:rPr>
              <a:t>Cloud Controller</a:t>
            </a:r>
            <a:r>
              <a:rPr lang="en-US" altLang="en-US" smtClean="0">
                <a:latin typeface="Arial" panose="020B0604020202020204" pitchFamily="34" charset="0"/>
                <a:cs typeface="Arial" panose="020B0604020202020204" pitchFamily="34" charset="0"/>
              </a:rPr>
              <a:t> is responsible for managing the lifecycle of applications. When a developer pushes an application to Cloud Foundry, the Cloud Controller stores the raw application bits, creates a record to track the application metadata, and directs a DEA node to stage and run the application. The Cloud Controller also maintains records of organizations, spaces, services, service instances, user roles, and more.</a:t>
            </a:r>
          </a:p>
          <a:p>
            <a:r>
              <a:rPr lang="en-US" altLang="en-US" smtClean="0">
                <a:latin typeface="Arial" panose="020B0604020202020204" pitchFamily="34" charset="0"/>
                <a:cs typeface="Arial" panose="020B0604020202020204" pitchFamily="34" charset="0"/>
                <a:hlinkClick r:id="rId6"/>
              </a:rPr>
              <a:t>Health Manager</a:t>
            </a:r>
            <a:r>
              <a:rPr lang="en-US" altLang="en-US" smtClean="0">
                <a:latin typeface="Arial" panose="020B0604020202020204" pitchFamily="34" charset="0"/>
                <a:cs typeface="Arial" panose="020B0604020202020204" pitchFamily="34" charset="0"/>
              </a:rPr>
              <a:t> monitors applications, reconciles the current state (e.g. running, stopped, crashed) and expected state, and directs Cloud Controller to correct state mismatches.</a:t>
            </a:r>
          </a:p>
          <a:p>
            <a:endParaRPr lang="en-US" altLang="en-US" b="1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86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6493" tIns="43247" rIns="86493" bIns="43247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05819B9D-0ABF-47D8-9EF4-AF8AA0E9FA3B}" type="slidenum">
              <a:rPr lang="en-US" altLang="en-US" sz="3600" smtClean="0">
                <a:latin typeface="Helvetica Light" charset="0"/>
                <a:ea typeface="MS PGothic" panose="020B0600070205080204" pitchFamily="34" charset="-128"/>
                <a:sym typeface="Helvetica Light" charset="0"/>
              </a:rPr>
              <a:pPr>
                <a:spcBef>
                  <a:spcPct val="0"/>
                </a:spcBef>
              </a:pPr>
              <a:t>4</a:t>
            </a:fld>
            <a:endParaRPr lang="en-US" altLang="en-US" sz="3600" smtClean="0">
              <a:latin typeface="Helvetica Light" charset="0"/>
              <a:ea typeface="MS PGothic" panose="020B0600070205080204" pitchFamily="34" charset="-128"/>
              <a:sym typeface="Helvetica Light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297475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891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en-US" b="1" smtClean="0">
                <a:latin typeface="Arial" panose="020B0604020202020204" pitchFamily="34" charset="0"/>
                <a:cs typeface="Arial" panose="020B0604020202020204" pitchFamily="34" charset="0"/>
              </a:rPr>
              <a:t>For application execution</a:t>
            </a:r>
          </a:p>
          <a:p>
            <a:r>
              <a:rPr lang="en-US" altLang="en-US" smtClean="0"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en-US" altLang="en-US" smtClean="0"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Droplet Execution Agent</a:t>
            </a:r>
            <a:r>
              <a:rPr lang="en-US" altLang="en-US" smtClean="0">
                <a:latin typeface="Arial" panose="020B0604020202020204" pitchFamily="34" charset="0"/>
                <a:cs typeface="Arial" panose="020B0604020202020204" pitchFamily="34" charset="0"/>
              </a:rPr>
              <a:t> (DEA)manages application instances, tracks started instances, and broadcasts state messages.</a:t>
            </a:r>
          </a:p>
          <a:p>
            <a:r>
              <a:rPr lang="en-US" altLang="en-US" smtClean="0">
                <a:latin typeface="Arial" panose="020B0604020202020204" pitchFamily="34" charset="0"/>
                <a:cs typeface="Arial" panose="020B0604020202020204" pitchFamily="34" charset="0"/>
              </a:rPr>
              <a:t>Application instances live inside </a:t>
            </a:r>
            <a:r>
              <a:rPr lang="en-US" altLang="en-US" smtClean="0">
                <a:latin typeface="Arial" panose="020B0604020202020204" pitchFamily="34" charset="0"/>
                <a:cs typeface="Arial" panose="020B0604020202020204" pitchFamily="34" charset="0"/>
                <a:hlinkClick r:id="rId4"/>
              </a:rPr>
              <a:t>Warden</a:t>
            </a:r>
            <a:r>
              <a:rPr lang="en-US" altLang="en-US" smtClean="0">
                <a:latin typeface="Arial" panose="020B0604020202020204" pitchFamily="34" charset="0"/>
                <a:cs typeface="Arial" panose="020B0604020202020204" pitchFamily="34" charset="0"/>
              </a:rPr>
              <a:t> containers. Warden manages isolated, ephemeral, and resource-controlled environments.</a:t>
            </a:r>
          </a:p>
          <a:p>
            <a:r>
              <a:rPr lang="en-US" altLang="en-US" smtClean="0">
                <a:latin typeface="Arial" panose="020B0604020202020204" pitchFamily="34" charset="0"/>
                <a:cs typeface="Arial" panose="020B0604020202020204" pitchFamily="34" charset="0"/>
              </a:rPr>
              <a:t>Containerization ensures that application instances run in isolation, get their fair share of resources, and are protected from noisy neighbors.</a:t>
            </a:r>
          </a:p>
          <a:p>
            <a:r>
              <a:rPr lang="en-US" altLang="en-US" b="1" smtClean="0">
                <a:latin typeface="Arial" panose="020B0604020202020204" pitchFamily="34" charset="0"/>
                <a:cs typeface="Arial" panose="020B0604020202020204" pitchFamily="34" charset="0"/>
              </a:rPr>
              <a:t>For application storage - </a:t>
            </a:r>
            <a:r>
              <a:rPr lang="en-US" altLang="en-US" smtClean="0">
                <a:latin typeface="Arial" panose="020B0604020202020204" pitchFamily="34" charset="0"/>
                <a:cs typeface="Arial" panose="020B0604020202020204" pitchFamily="34" charset="0"/>
              </a:rPr>
              <a:t>The blob store holds Application code, Buildpacks, Droplets required for process the application deployment.</a:t>
            </a:r>
          </a:p>
          <a:p>
            <a:r>
              <a:rPr lang="en-US" altLang="en-US" smtClean="0">
                <a:latin typeface="Arial" panose="020B0604020202020204" pitchFamily="34" charset="0"/>
                <a:cs typeface="Arial" panose="020B0604020202020204" pitchFamily="34" charset="0"/>
              </a:rPr>
              <a:t>Applications typically depend on </a:t>
            </a:r>
            <a:r>
              <a:rPr lang="en-US" altLang="en-US" smtClean="0">
                <a:latin typeface="Arial" panose="020B0604020202020204" pitchFamily="34" charset="0"/>
                <a:cs typeface="Arial" panose="020B0604020202020204" pitchFamily="34" charset="0"/>
                <a:hlinkClick r:id="rId5"/>
              </a:rPr>
              <a:t>services</a:t>
            </a:r>
            <a:r>
              <a:rPr lang="en-US" altLang="en-US" smtClean="0">
                <a:latin typeface="Arial" panose="020B0604020202020204" pitchFamily="34" charset="0"/>
                <a:cs typeface="Arial" panose="020B0604020202020204" pitchFamily="34" charset="0"/>
              </a:rPr>
              <a:t> such as databases or third-party SaaS providers. When a developer provisions and binds a service to an application, the service broker for that service is responsible for providing the service instance.</a:t>
            </a:r>
          </a:p>
          <a:p>
            <a:endParaRPr lang="en-US" altLang="en-US" b="1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91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6493" tIns="43247" rIns="86493" bIns="43247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39D4A05B-E129-4539-B6C9-1C6EBCEA13BB}" type="slidenum">
              <a:rPr lang="en-US" altLang="en-US" sz="3600" smtClean="0">
                <a:latin typeface="Helvetica Light" charset="0"/>
                <a:ea typeface="MS PGothic" panose="020B0600070205080204" pitchFamily="34" charset="-128"/>
                <a:sym typeface="Helvetica Light" charset="0"/>
              </a:rPr>
              <a:pPr>
                <a:spcBef>
                  <a:spcPct val="0"/>
                </a:spcBef>
              </a:pPr>
              <a:t>5</a:t>
            </a:fld>
            <a:endParaRPr lang="en-US" altLang="en-US" sz="3600" smtClean="0">
              <a:latin typeface="Helvetica Light" charset="0"/>
              <a:ea typeface="MS PGothic" panose="020B0600070205080204" pitchFamily="34" charset="-128"/>
              <a:sym typeface="Helvetica Light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170840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6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en-US" smtClean="0">
                <a:latin typeface="Arial" panose="020B0604020202020204" pitchFamily="34" charset="0"/>
                <a:cs typeface="Arial" panose="020B0604020202020204" pitchFamily="34" charset="0"/>
              </a:rPr>
              <a:t>The key components for Messaging is </a:t>
            </a:r>
            <a:r>
              <a:rPr lang="en-US" altLang="en-US" b="1" smtClean="0">
                <a:latin typeface="Arial" panose="020B0604020202020204" pitchFamily="34" charset="0"/>
                <a:cs typeface="Arial" panose="020B0604020202020204" pitchFamily="34" charset="0"/>
              </a:rPr>
              <a:t>Message Bus. </a:t>
            </a:r>
            <a:r>
              <a:rPr lang="en-US" altLang="en-US" smtClean="0">
                <a:latin typeface="Arial" panose="020B0604020202020204" pitchFamily="34" charset="0"/>
                <a:cs typeface="Arial" panose="020B0604020202020204" pitchFamily="34" charset="0"/>
              </a:rPr>
              <a:t>Cloud Foundry uses </a:t>
            </a:r>
            <a:r>
              <a:rPr lang="en-US" altLang="en-US" smtClean="0"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NATS</a:t>
            </a:r>
            <a:r>
              <a:rPr lang="en-US" altLang="en-US" smtClean="0">
                <a:latin typeface="Arial" panose="020B0604020202020204" pitchFamily="34" charset="0"/>
                <a:cs typeface="Arial" panose="020B0604020202020204" pitchFamily="34" charset="0"/>
              </a:rPr>
              <a:t>, a lightweight publish-subscribe and distributed queueing messaging system written in Ruby, for internal communication between components.</a:t>
            </a:r>
          </a:p>
          <a:p>
            <a:r>
              <a:rPr lang="en-US" altLang="en-US" b="1" smtClean="0">
                <a:latin typeface="Arial" panose="020B0604020202020204" pitchFamily="34" charset="0"/>
                <a:cs typeface="Arial" panose="020B0604020202020204" pitchFamily="34" charset="0"/>
              </a:rPr>
              <a:t>For Logging and Statistics, </a:t>
            </a:r>
            <a:r>
              <a:rPr lang="en-US" altLang="en-US" smtClean="0">
                <a:latin typeface="Arial" panose="020B0604020202020204" pitchFamily="34" charset="0"/>
                <a:cs typeface="Arial" panose="020B0604020202020204" pitchFamily="34" charset="0"/>
              </a:rPr>
              <a:t>the metrics collector gather metrics from the components. Operators can use this information to monitor an instance of Cloud Foundry.</a:t>
            </a:r>
          </a:p>
          <a:p>
            <a:r>
              <a:rPr lang="en-US" altLang="en-US" smtClean="0">
                <a:latin typeface="Arial" panose="020B0604020202020204" pitchFamily="34" charset="0"/>
                <a:cs typeface="Arial" panose="020B0604020202020204" pitchFamily="34" charset="0"/>
              </a:rPr>
              <a:t>The application log aggregator streams application logs to developers.</a:t>
            </a:r>
          </a:p>
          <a:p>
            <a:endParaRPr lang="en-US" altLang="en-US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96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6493" tIns="43247" rIns="86493" bIns="43247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7A7F3E79-04B3-43E0-9921-461C398F8DC6}" type="slidenum">
              <a:rPr lang="en-US" altLang="en-US" sz="3600" smtClean="0">
                <a:latin typeface="Helvetica Light" charset="0"/>
                <a:ea typeface="MS PGothic" panose="020B0600070205080204" pitchFamily="34" charset="-128"/>
                <a:sym typeface="Helvetica Light" charset="0"/>
              </a:rPr>
              <a:pPr>
                <a:spcBef>
                  <a:spcPct val="0"/>
                </a:spcBef>
              </a:pPr>
              <a:t>6</a:t>
            </a:fld>
            <a:endParaRPr lang="en-US" altLang="en-US" sz="3600" smtClean="0">
              <a:latin typeface="Helvetica Light" charset="0"/>
              <a:ea typeface="MS PGothic" panose="020B0600070205080204" pitchFamily="34" charset="-128"/>
              <a:sym typeface="Helvetica Light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61538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1"/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Rectangle 9"/>
          <p:cNvSpPr/>
          <p:nvPr userDrawn="1"/>
        </p:nvSpPr>
        <p:spPr>
          <a:xfrm>
            <a:off x="6400800" y="0"/>
            <a:ext cx="2743200" cy="685800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pic>
        <p:nvPicPr>
          <p:cNvPr id="7" name="Picture 10" descr="Cloud_word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0200" y="6456363"/>
            <a:ext cx="906463" cy="150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3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3413" y="1433513"/>
            <a:ext cx="2917825" cy="2468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Box 7"/>
          <p:cNvSpPr txBox="1"/>
          <p:nvPr userDrawn="1"/>
        </p:nvSpPr>
        <p:spPr>
          <a:xfrm>
            <a:off x="6629400" y="4937125"/>
            <a:ext cx="1736725" cy="274638"/>
          </a:xfrm>
          <a:prstGeom prst="rect">
            <a:avLst/>
          </a:prstGeom>
          <a:noFill/>
        </p:spPr>
        <p:txBody>
          <a:bodyPr lIns="0" tIns="0" rIns="0" bIns="0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1" kern="0" spc="-30" dirty="0">
                <a:solidFill>
                  <a:srgbClr val="FFFFFF"/>
                </a:solidFill>
                <a:latin typeface="Arial"/>
                <a:cs typeface="Arial"/>
              </a:rPr>
              <a:t>Presented by: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11101" y="3886200"/>
            <a:ext cx="5029200" cy="457200"/>
          </a:xfrm>
        </p:spPr>
        <p:txBody>
          <a:bodyPr lIns="0" tIns="0" rIns="0" bIns="0">
            <a:noAutofit/>
          </a:bodyPr>
          <a:lstStyle>
            <a:lvl1pPr algn="l">
              <a:defRPr sz="2800" b="1">
                <a:solidFill>
                  <a:srgbClr val="FFFFFF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13" name="Text Placeholder 6"/>
          <p:cNvSpPr>
            <a:spLocks noGrp="1"/>
          </p:cNvSpPr>
          <p:nvPr>
            <p:ph type="body" sz="quarter" idx="11"/>
          </p:nvPr>
        </p:nvSpPr>
        <p:spPr>
          <a:xfrm>
            <a:off x="6629400" y="5212080"/>
            <a:ext cx="2377440" cy="274320"/>
          </a:xfrm>
        </p:spPr>
        <p:txBody>
          <a:bodyPr lIns="0" tIns="0" rIns="0" bIns="0" anchor="ctr" anchorCtr="0">
            <a:noAutofit/>
          </a:bodyPr>
          <a:lstStyle>
            <a:lvl1pPr marL="0" indent="0">
              <a:spcBef>
                <a:spcPts val="0"/>
              </a:spcBef>
              <a:buNone/>
              <a:defRPr sz="1600" baseline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14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6629400" y="5486400"/>
            <a:ext cx="2377440" cy="274320"/>
          </a:xfrm>
        </p:spPr>
        <p:txBody>
          <a:bodyPr lIns="0" tIns="0" rIns="0" bIns="0" anchor="ctr" anchorCtr="0">
            <a:noAutofit/>
          </a:bodyPr>
          <a:lstStyle>
            <a:lvl1pPr marL="0" indent="0">
              <a:spcBef>
                <a:spcPts val="0"/>
              </a:spcBef>
              <a:buNone/>
              <a:defRPr sz="1600" baseline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49269854"/>
      </p:ext>
    </p:extLst>
  </p:cSld>
  <p:clrMapOvr>
    <a:masterClrMapping/>
  </p:clrMapOvr>
  <p:transition spd="med"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08233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2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r>
              <a:rPr lang="en-GB" smtClean="0"/>
              <a:t>Click to edit Master title style</a:t>
            </a:r>
            <a:endParaRPr/>
          </a:p>
        </p:txBody>
      </p:sp>
      <p:sp>
        <p:nvSpPr>
          <p:cNvPr id="21" name="Shape 21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/>
          </a:p>
        </p:txBody>
      </p:sp>
      <p:sp>
        <p:nvSpPr>
          <p:cNvPr id="4" name="Shape 4"/>
          <p:cNvSpPr>
            <a:spLocks noGrp="1"/>
          </p:cNvSpPr>
          <p:nvPr>
            <p:ph type="sldNum" sz="quarter" idx="10"/>
          </p:nvPr>
        </p:nvSpPr>
        <p:spPr>
          <a:xfrm>
            <a:off x="182563" y="6537325"/>
            <a:ext cx="366712" cy="184150"/>
          </a:xfrm>
          <a:prstGeom prst="rect">
            <a:avLst/>
          </a:prstGeom>
        </p:spPr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fld id="{1787621B-9FA0-4BB3-86E3-F7475E9408F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69952189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3124200" y="6492875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0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7" r:id="rId1"/>
  </p:sldLayoutIdLst>
  <p:transition spd="med">
    <p:fade/>
  </p:transition>
  <p:timing>
    <p:tnLst>
      <p:par>
        <p:cTn id="1" dur="indefinite" restart="never" nodeType="tmRoot"/>
      </p:par>
    </p:tnLst>
  </p:timing>
  <p:txStyles>
    <p:titleStyle>
      <a:lvl1pPr algn="l" defTabSz="457200" rtl="0" eaLnBrk="0" fontAlgn="base" hangingPunct="0">
        <a:spcBef>
          <a:spcPct val="0"/>
        </a:spcBef>
        <a:spcAft>
          <a:spcPct val="0"/>
        </a:spcAft>
        <a:defRPr sz="2400" b="1" spc="-30">
          <a:solidFill>
            <a:schemeClr val="tx1"/>
          </a:solidFill>
          <a:latin typeface="+mj-lt"/>
          <a:ea typeface="+mj-ea"/>
          <a:cs typeface="+mj-cs"/>
        </a:defRPr>
      </a:lvl1pPr>
      <a:lvl2pPr algn="l" defTabSz="457200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panose="020B0604020202020204" pitchFamily="34" charset="0"/>
        </a:defRPr>
      </a:lvl2pPr>
      <a:lvl3pPr algn="l" defTabSz="457200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panose="020B0604020202020204" pitchFamily="34" charset="0"/>
        </a:defRPr>
      </a:lvl3pPr>
      <a:lvl4pPr algn="l" defTabSz="457200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panose="020B0604020202020204" pitchFamily="34" charset="0"/>
        </a:defRPr>
      </a:lvl4pPr>
      <a:lvl5pPr algn="l" defTabSz="457200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panose="020B0604020202020204" pitchFamily="34" charset="0"/>
        </a:defRPr>
      </a:lvl5pPr>
      <a:lvl6pPr marL="457200" algn="l" defTabSz="457200" rtl="0" fontAlgn="base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panose="020B0604020202020204" pitchFamily="34" charset="0"/>
        </a:defRPr>
      </a:lvl6pPr>
      <a:lvl7pPr marL="914400" algn="l" defTabSz="457200" rtl="0" fontAlgn="base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panose="020B0604020202020204" pitchFamily="34" charset="0"/>
        </a:defRPr>
      </a:lvl7pPr>
      <a:lvl8pPr marL="1371600" algn="l" defTabSz="457200" rtl="0" fontAlgn="base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panose="020B0604020202020204" pitchFamily="34" charset="0"/>
        </a:defRPr>
      </a:lvl8pPr>
      <a:lvl9pPr marL="1828800" algn="l" defTabSz="457200" rtl="0" fontAlgn="base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panose="020B0604020202020204" pitchFamily="34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600" spc="-30">
          <a:solidFill>
            <a:schemeClr val="tx1"/>
          </a:solidFill>
          <a:latin typeface="Arial"/>
          <a:ea typeface="+mn-ea"/>
          <a:cs typeface="+mn-cs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1400" spc="-30">
          <a:solidFill>
            <a:schemeClr val="tx1"/>
          </a:solidFill>
          <a:latin typeface="Arial"/>
          <a:ea typeface="+mn-ea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200" spc="-30">
          <a:solidFill>
            <a:schemeClr val="tx1"/>
          </a:solidFill>
          <a:latin typeface="Arial"/>
          <a:ea typeface="+mn-ea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1100" spc="-30">
          <a:solidFill>
            <a:schemeClr val="tx1"/>
          </a:solidFill>
          <a:latin typeface="Arial"/>
          <a:ea typeface="+mn-ea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100" spc="-30">
          <a:solidFill>
            <a:schemeClr val="tx1"/>
          </a:solidFill>
          <a:latin typeface="Arial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5588" y="587375"/>
            <a:ext cx="8545512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61938" y="1873250"/>
            <a:ext cx="8558212" cy="449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</p:txBody>
      </p:sp>
      <p:sp>
        <p:nvSpPr>
          <p:cNvPr id="2052" name="Line 4"/>
          <p:cNvSpPr>
            <a:spLocks noChangeShapeType="1"/>
          </p:cNvSpPr>
          <p:nvPr/>
        </p:nvSpPr>
        <p:spPr bwMode="auto">
          <a:xfrm>
            <a:off x="260350" y="549275"/>
            <a:ext cx="86201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9" name="Rectangle 6"/>
          <p:cNvSpPr>
            <a:spLocks noChangeArrowheads="1"/>
          </p:cNvSpPr>
          <p:nvPr/>
        </p:nvSpPr>
        <p:spPr bwMode="black">
          <a:xfrm>
            <a:off x="5916613" y="6481763"/>
            <a:ext cx="3054350" cy="231775"/>
          </a:xfrm>
          <a:prstGeom prst="rect">
            <a:avLst/>
          </a:prstGeom>
          <a:noFill/>
          <a:ln>
            <a:noFill/>
          </a:ln>
          <a:extLst/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defRPr/>
            </a:pPr>
            <a:r>
              <a:rPr lang="en-US" sz="900" dirty="0">
                <a:solidFill>
                  <a:srgbClr val="000000"/>
                </a:solidFill>
                <a:cs typeface="+mn-cs"/>
              </a:rPr>
              <a:t>© </a:t>
            </a:r>
            <a:r>
              <a:rPr lang="en-US" sz="900" dirty="0" smtClean="0">
                <a:solidFill>
                  <a:srgbClr val="000000"/>
                </a:solidFill>
                <a:cs typeface="+mn-cs"/>
              </a:rPr>
              <a:t>2015 </a:t>
            </a:r>
            <a:r>
              <a:rPr lang="en-US" sz="900" dirty="0">
                <a:solidFill>
                  <a:srgbClr val="000000"/>
                </a:solidFill>
                <a:cs typeface="+mn-cs"/>
              </a:rPr>
              <a:t>IBM Corporation</a:t>
            </a:r>
          </a:p>
        </p:txBody>
      </p:sp>
      <p:sp>
        <p:nvSpPr>
          <p:cNvPr id="1030" name="Rectangle 6"/>
          <p:cNvSpPr>
            <a:spLocks noChangeArrowheads="1"/>
          </p:cNvSpPr>
          <p:nvPr/>
        </p:nvSpPr>
        <p:spPr bwMode="auto">
          <a:xfrm>
            <a:off x="171450" y="6456363"/>
            <a:ext cx="552450" cy="24765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fld id="{CEE761F0-7B0B-4C47-A17C-12D6CD7CCBDB}" type="slidenum">
              <a:rPr lang="en-US" altLang="en-US" sz="1000" smtClean="0">
                <a:solidFill>
                  <a:srgbClr val="000000"/>
                </a:solidFill>
                <a:ea typeface="MS PGothic" panose="020B0600070205080204" pitchFamily="34" charset="-128"/>
              </a:rPr>
              <a:pPr eaLnBrk="1" hangingPunct="1">
                <a:defRPr/>
              </a:pPr>
              <a:t>‹#›</a:t>
            </a:fld>
            <a:endParaRPr lang="en-US" altLang="en-US" sz="1000" smtClean="0">
              <a:solidFill>
                <a:srgbClr val="000000"/>
              </a:solidFill>
              <a:ea typeface="MS PGothic" panose="020B0600070205080204" pitchFamily="34" charset="-128"/>
            </a:endParaRPr>
          </a:p>
        </p:txBody>
      </p:sp>
      <p:pic>
        <p:nvPicPr>
          <p:cNvPr id="2055" name="Picture 15" descr="IBMCloud black"/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3050" y="338138"/>
            <a:ext cx="1060450" cy="161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6" name="Picture 16" descr="IBM Black"/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47025" y="263525"/>
            <a:ext cx="923925" cy="241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96" r:id="rId1"/>
    <p:sldLayoutId id="2147483798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2200">
          <a:solidFill>
            <a:schemeClr val="tx1"/>
          </a:solidFill>
          <a:latin typeface="+mj-lt"/>
          <a:ea typeface="MS PGothic" panose="020B0600070205080204" pitchFamily="34" charset="-128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200">
          <a:solidFill>
            <a:schemeClr val="tx1"/>
          </a:solidFill>
          <a:latin typeface="Arial" pitchFamily="34" charset="0"/>
          <a:ea typeface="MS PGothic" panose="020B0600070205080204" pitchFamily="34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200">
          <a:solidFill>
            <a:schemeClr val="tx1"/>
          </a:solidFill>
          <a:latin typeface="Arial" pitchFamily="34" charset="0"/>
          <a:ea typeface="MS PGothic" panose="020B0600070205080204" pitchFamily="34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200">
          <a:solidFill>
            <a:schemeClr val="tx1"/>
          </a:solidFill>
          <a:latin typeface="Arial" pitchFamily="34" charset="0"/>
          <a:ea typeface="MS PGothic" panose="020B0600070205080204" pitchFamily="34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200">
          <a:solidFill>
            <a:schemeClr val="tx1"/>
          </a:solidFill>
          <a:latin typeface="Arial" pitchFamily="34" charset="0"/>
          <a:ea typeface="MS PGothic" panose="020B0600070205080204" pitchFamily="34" charset="-128"/>
        </a:defRPr>
      </a:lvl5pPr>
      <a:lvl6pPr marL="457200" algn="l" rtl="0" fontAlgn="base">
        <a:spcBef>
          <a:spcPct val="0"/>
        </a:spcBef>
        <a:spcAft>
          <a:spcPct val="0"/>
        </a:spcAft>
        <a:defRPr sz="2200">
          <a:solidFill>
            <a:schemeClr val="tx1"/>
          </a:solidFill>
          <a:latin typeface="Arial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200">
          <a:solidFill>
            <a:schemeClr val="tx1"/>
          </a:solidFill>
          <a:latin typeface="Arial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200">
          <a:solidFill>
            <a:schemeClr val="tx1"/>
          </a:solidFill>
          <a:latin typeface="Arial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200">
          <a:solidFill>
            <a:schemeClr val="tx1"/>
          </a:solidFill>
          <a:latin typeface="Arial" pitchFamily="34" charset="0"/>
        </a:defRPr>
      </a:lvl9pPr>
    </p:titleStyle>
    <p:bodyStyle>
      <a:lvl1pPr marL="176213" indent="-176213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Wingdings" panose="05000000000000000000" pitchFamily="2" charset="2"/>
        <a:buChar char="§"/>
        <a:defRPr sz="16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1pPr>
      <a:lvl2pPr marL="515938" indent="-225425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-"/>
        <a:defRPr sz="1600">
          <a:solidFill>
            <a:schemeClr val="tx1"/>
          </a:solidFill>
          <a:latin typeface="+mn-lt"/>
          <a:ea typeface="MS PGothic" panose="020B0600070205080204" pitchFamily="34" charset="-128"/>
        </a:defRPr>
      </a:lvl2pPr>
      <a:lvl3pPr marL="804863" indent="-1714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sz="1600">
          <a:solidFill>
            <a:schemeClr val="tx1"/>
          </a:solidFill>
          <a:latin typeface="+mn-lt"/>
          <a:ea typeface="MS PGothic" panose="020B0600070205080204" pitchFamily="34" charset="-128"/>
        </a:defRPr>
      </a:lvl3pPr>
      <a:lvl4pPr marL="1430338" indent="-176213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sz="1400">
          <a:solidFill>
            <a:schemeClr val="tx1"/>
          </a:solidFill>
          <a:latin typeface="+mn-lt"/>
          <a:ea typeface="MS PGothic" panose="020B0600070205080204" pitchFamily="34" charset="-128"/>
        </a:defRPr>
      </a:lvl4pPr>
      <a:lvl5pPr marL="1719263" indent="-793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1200">
          <a:solidFill>
            <a:schemeClr val="tx1"/>
          </a:solidFill>
          <a:latin typeface="+mn-lt"/>
          <a:ea typeface="MS PGothic" panose="020B0600070205080204" pitchFamily="34" charset="-128"/>
        </a:defRPr>
      </a:lvl5pPr>
      <a:lvl6pPr marL="2176463" indent="-7938" algn="l" rtl="0" fontAlgn="base">
        <a:spcBef>
          <a:spcPct val="20000"/>
        </a:spcBef>
        <a:spcAft>
          <a:spcPct val="0"/>
        </a:spcAft>
        <a:buClr>
          <a:schemeClr val="tx1"/>
        </a:buClr>
        <a:defRPr sz="1200">
          <a:solidFill>
            <a:schemeClr val="tx1"/>
          </a:solidFill>
          <a:latin typeface="+mn-lt"/>
        </a:defRPr>
      </a:lvl6pPr>
      <a:lvl7pPr marL="2633663" indent="-7938" algn="l" rtl="0" fontAlgn="base">
        <a:spcBef>
          <a:spcPct val="20000"/>
        </a:spcBef>
        <a:spcAft>
          <a:spcPct val="0"/>
        </a:spcAft>
        <a:buClr>
          <a:schemeClr val="tx1"/>
        </a:buClr>
        <a:defRPr sz="1200">
          <a:solidFill>
            <a:schemeClr val="tx1"/>
          </a:solidFill>
          <a:latin typeface="+mn-lt"/>
        </a:defRPr>
      </a:lvl7pPr>
      <a:lvl8pPr marL="3090863" indent="-7938" algn="l" rtl="0" fontAlgn="base">
        <a:spcBef>
          <a:spcPct val="20000"/>
        </a:spcBef>
        <a:spcAft>
          <a:spcPct val="0"/>
        </a:spcAft>
        <a:buClr>
          <a:schemeClr val="tx1"/>
        </a:buClr>
        <a:defRPr sz="1200">
          <a:solidFill>
            <a:schemeClr val="tx1"/>
          </a:solidFill>
          <a:latin typeface="+mn-lt"/>
        </a:defRPr>
      </a:lvl8pPr>
      <a:lvl9pPr marL="3548063" indent="-7938" algn="l" rtl="0" fontAlgn="base">
        <a:spcBef>
          <a:spcPct val="20000"/>
        </a:spcBef>
        <a:spcAft>
          <a:spcPct val="0"/>
        </a:spcAft>
        <a:buClr>
          <a:schemeClr val="tx1"/>
        </a:buClr>
        <a:defRPr sz="1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docs.cloudfoundry.org/concepts/architecture/uaa.html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ctrTitle"/>
          </p:nvPr>
        </p:nvSpPr>
        <p:spPr>
          <a:xfrm>
            <a:off x="457200" y="4160520"/>
            <a:ext cx="6019800" cy="960438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/>
              <a:t>Bluemix PaaS and Cloud Foundry Infrastructure</a:t>
            </a:r>
            <a:endParaRPr lang="en-US" dirty="0"/>
          </a:p>
        </p:txBody>
      </p:sp>
      <p:sp>
        <p:nvSpPr>
          <p:cNvPr id="2" name="Text Placeholder 1"/>
          <p:cNvSpPr>
            <a:spLocks noGrp="1"/>
          </p:cNvSpPr>
          <p:nvPr>
            <p:ph type="body" sz="quarter" idx="11"/>
          </p:nvPr>
        </p:nvSpPr>
        <p:spPr>
          <a:xfrm>
            <a:off x="6629400" y="5211763"/>
            <a:ext cx="2378075" cy="639762"/>
          </a:xfrm>
        </p:spPr>
        <p:txBody>
          <a:bodyPr/>
          <a:lstStyle/>
          <a:p>
            <a:pPr>
              <a:defRPr/>
            </a:pPr>
            <a:r>
              <a:rPr lang="en-US" dirty="0" smtClean="0"/>
              <a:t>IBM Cloud Ecosystem Development team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298047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itle 1"/>
          <p:cNvSpPr>
            <a:spLocks noGrp="1"/>
          </p:cNvSpPr>
          <p:nvPr>
            <p:ph type="title"/>
          </p:nvPr>
        </p:nvSpPr>
        <p:spPr>
          <a:xfrm>
            <a:off x="3543300" y="2524125"/>
            <a:ext cx="5370513" cy="1862138"/>
          </a:xfrm>
        </p:spPr>
        <p:txBody>
          <a:bodyPr/>
          <a:lstStyle/>
          <a:p>
            <a:pPr algn="ctr"/>
            <a:r>
              <a:rPr lang="en-US" altLang="en-US" sz="2800" smtClean="0">
                <a:solidFill>
                  <a:srgbClr val="0070C0"/>
                </a:solidFill>
              </a:rPr>
              <a:t>Key Infrastructure components </a:t>
            </a:r>
            <a:br>
              <a:rPr lang="en-US" altLang="en-US" sz="2800" smtClean="0">
                <a:solidFill>
                  <a:srgbClr val="0070C0"/>
                </a:solidFill>
              </a:rPr>
            </a:br>
            <a:r>
              <a:rPr lang="en-US" altLang="en-US" sz="2800" smtClean="0">
                <a:solidFill>
                  <a:srgbClr val="0070C0"/>
                </a:solidFill>
              </a:rPr>
              <a:t>of IBM Bluemix PaaS and </a:t>
            </a:r>
            <a:br>
              <a:rPr lang="en-US" altLang="en-US" sz="2800" smtClean="0">
                <a:solidFill>
                  <a:srgbClr val="0070C0"/>
                </a:solidFill>
              </a:rPr>
            </a:br>
            <a:r>
              <a:rPr lang="en-US" altLang="en-US" sz="2800" smtClean="0">
                <a:solidFill>
                  <a:srgbClr val="0070C0"/>
                </a:solidFill>
              </a:rPr>
              <a:t>Cloud Foundry</a:t>
            </a:r>
          </a:p>
        </p:txBody>
      </p:sp>
      <p:grpSp>
        <p:nvGrpSpPr>
          <p:cNvPr id="31747" name="Group 231"/>
          <p:cNvGrpSpPr>
            <a:grpSpLocks/>
          </p:cNvGrpSpPr>
          <p:nvPr/>
        </p:nvGrpSpPr>
        <p:grpSpPr bwMode="auto">
          <a:xfrm>
            <a:off x="161925" y="1965325"/>
            <a:ext cx="4575175" cy="3319463"/>
            <a:chOff x="-76200" y="0"/>
            <a:chExt cx="2002239" cy="1280375"/>
          </a:xfrm>
        </p:grpSpPr>
        <p:sp>
          <p:nvSpPr>
            <p:cNvPr id="31748" name="Shape 229"/>
            <p:cNvSpPr>
              <a:spLocks noChangeArrowheads="1"/>
            </p:cNvSpPr>
            <p:nvPr/>
          </p:nvSpPr>
          <p:spPr bwMode="auto">
            <a:xfrm>
              <a:off x="-76200" y="935147"/>
              <a:ext cx="2002239" cy="3452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400000"/>
                  <a:headEnd/>
                  <a:tailEnd/>
                </a14:hiddenLine>
              </a:ext>
            </a:extLst>
          </p:spPr>
          <p:txBody>
            <a:bodyPr lIns="50800" tIns="50800" rIns="50800" bIns="50800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2300">
                  <a:solidFill>
                    <a:srgbClr val="405059"/>
                  </a:solidFill>
                  <a:sym typeface="Helvetica Neue Thin"/>
                </a:rPr>
                <a:t>IBM </a:t>
              </a:r>
              <a:r>
                <a:rPr lang="en-US" altLang="en-US" sz="2300" b="1">
                  <a:solidFill>
                    <a:srgbClr val="405059"/>
                  </a:solidFill>
                  <a:sym typeface="Helvetica Neue Thin"/>
                </a:rPr>
                <a:t>Bluemix</a:t>
              </a:r>
            </a:p>
          </p:txBody>
        </p:sp>
        <p:pic>
          <p:nvPicPr>
            <p:cNvPr id="31749" name="image3.png" descr="Matt_Logo_400.png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0580" y="0"/>
              <a:ext cx="952910" cy="9529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400000"/>
                  <a:headEnd/>
                  <a:tailEnd/>
                </a14:hiddenLine>
              </a:ext>
            </a:extLst>
          </p:spPr>
        </p:pic>
      </p:grp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609600"/>
            <a:ext cx="8542338" cy="6096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dirty="0" smtClean="0">
                <a:solidFill>
                  <a:srgbClr val="0070C0"/>
                </a:solidFill>
                <a:latin typeface="+mn-lt"/>
                <a:ea typeface="ＭＳ Ｐゴシック" charset="0"/>
              </a:rPr>
              <a:t>Cloud Foundry Architecture</a:t>
            </a:r>
            <a:endParaRPr lang="en-US" dirty="0">
              <a:solidFill>
                <a:srgbClr val="0070C0"/>
              </a:solidFill>
              <a:latin typeface="+mn-lt"/>
              <a:ea typeface="ＭＳ Ｐゴシック" charset="0"/>
            </a:endParaRPr>
          </a:p>
        </p:txBody>
      </p:sp>
      <p:pic>
        <p:nvPicPr>
          <p:cNvPr id="33795" name="Picture 2" descr="Cloud Foundry Architectur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963" y="1096963"/>
            <a:ext cx="8228012" cy="5319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609600"/>
            <a:ext cx="8542338" cy="6096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dirty="0" smtClean="0">
                <a:solidFill>
                  <a:srgbClr val="0070C0"/>
                </a:solidFill>
                <a:latin typeface="+mn-lt"/>
                <a:ea typeface="ＭＳ Ｐゴシック" charset="0"/>
              </a:rPr>
              <a:t>Key Components for Routing, Authentication and App Lifecycle</a:t>
            </a:r>
            <a:endParaRPr lang="en-US" dirty="0">
              <a:solidFill>
                <a:srgbClr val="0070C0"/>
              </a:solidFill>
              <a:latin typeface="+mn-lt"/>
              <a:ea typeface="ＭＳ Ｐゴシック" charset="0"/>
            </a:endParaRPr>
          </a:p>
        </p:txBody>
      </p:sp>
      <p:pic>
        <p:nvPicPr>
          <p:cNvPr id="3584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163" y="1143000"/>
            <a:ext cx="8229600" cy="1738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5844" name="Rectangle 4"/>
          <p:cNvSpPr>
            <a:spLocks noChangeArrowheads="1"/>
          </p:cNvSpPr>
          <p:nvPr/>
        </p:nvSpPr>
        <p:spPr bwMode="auto">
          <a:xfrm>
            <a:off x="304800" y="3017838"/>
            <a:ext cx="8747125" cy="3446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b="1">
                <a:solidFill>
                  <a:srgbClr val="0D9EBB"/>
                </a:solidFill>
              </a:rPr>
              <a:t>Routing</a:t>
            </a:r>
            <a:r>
              <a:rPr lang="en-US" altLang="en-US" b="1"/>
              <a:t> - </a:t>
            </a:r>
            <a:r>
              <a:rPr lang="en-US" altLang="en-US"/>
              <a:t> </a:t>
            </a:r>
            <a:r>
              <a:rPr lang="en-US" altLang="en-US" sz="1600" b="1" i="1"/>
              <a:t>Router</a:t>
            </a:r>
            <a:r>
              <a:rPr lang="en-US" altLang="en-US" sz="1600"/>
              <a:t> routes incoming traffic to the appropriate component, usually the Cloud Controller or a running application on a DEA node</a:t>
            </a:r>
            <a:r>
              <a:rPr lang="en-US" altLang="en-US"/>
              <a:t>.</a:t>
            </a:r>
          </a:p>
          <a:p>
            <a:endParaRPr lang="en-US" altLang="en-US"/>
          </a:p>
          <a:p>
            <a:r>
              <a:rPr lang="en-US" altLang="en-US" b="1">
                <a:solidFill>
                  <a:srgbClr val="0113BF"/>
                </a:solidFill>
              </a:rPr>
              <a:t>Authentication</a:t>
            </a:r>
            <a:r>
              <a:rPr lang="en-US" altLang="en-US" b="1"/>
              <a:t> - </a:t>
            </a:r>
            <a:r>
              <a:rPr lang="en-US" altLang="en-US" sz="1600"/>
              <a:t>The </a:t>
            </a:r>
            <a:r>
              <a:rPr lang="en-US" altLang="en-US" sz="1600" b="1" i="1"/>
              <a:t>OAuth2 server </a:t>
            </a:r>
            <a:r>
              <a:rPr lang="en-US" altLang="en-US" sz="1600"/>
              <a:t>(the </a:t>
            </a:r>
            <a:r>
              <a:rPr lang="en-US" altLang="en-US" sz="1600">
                <a:hlinkClick r:id="rId4"/>
              </a:rPr>
              <a:t>UAA</a:t>
            </a:r>
            <a:r>
              <a:rPr lang="en-US" altLang="en-US" sz="1600"/>
              <a:t>) and </a:t>
            </a:r>
            <a:r>
              <a:rPr lang="en-US" altLang="en-US" sz="1600" b="1" i="1"/>
              <a:t>Login Server </a:t>
            </a:r>
            <a:r>
              <a:rPr lang="en-US" altLang="en-US" sz="1600"/>
              <a:t>work together to provide identity management.</a:t>
            </a:r>
          </a:p>
          <a:p>
            <a:endParaRPr lang="en-US" altLang="en-US" sz="1600"/>
          </a:p>
          <a:p>
            <a:r>
              <a:rPr lang="en-US" altLang="en-US" b="1">
                <a:solidFill>
                  <a:srgbClr val="008000"/>
                </a:solidFill>
              </a:rPr>
              <a:t>App Lifecycle </a:t>
            </a:r>
            <a:r>
              <a:rPr lang="en-US" altLang="en-US"/>
              <a:t>– </a:t>
            </a:r>
            <a:r>
              <a:rPr lang="en-US" altLang="en-US" sz="1600" b="1" i="1"/>
              <a:t>Cloud Controller </a:t>
            </a:r>
            <a:r>
              <a:rPr lang="en-US" altLang="en-US" sz="1600"/>
              <a:t>is responsible for managing the lifecycle of applications. When a developer pushes an application to Cloud Foundry, the Cloud Controller stores the raw application bits, creates a record to track the application metadata, and directs a DEA node to stage and run the application. The Cloud Controller also maintains records of organizations, spaces, services, service instances, user roles, and more. </a:t>
            </a:r>
            <a:r>
              <a:rPr lang="en-US" altLang="en-US" sz="1600" b="1" i="1"/>
              <a:t>Health Manager </a:t>
            </a:r>
            <a:r>
              <a:rPr lang="en-US" altLang="en-US" sz="1600"/>
              <a:t>monitors applications, reconciles the current state (e.g. running, stopped, crashed) and expected state, and directs Cloud Controller to correct state mismatches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609600"/>
            <a:ext cx="8542338" cy="6096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dirty="0" smtClean="0">
                <a:solidFill>
                  <a:srgbClr val="0070C0"/>
                </a:solidFill>
                <a:latin typeface="+mn-lt"/>
                <a:ea typeface="ＭＳ Ｐゴシック" charset="0"/>
              </a:rPr>
              <a:t>Key Components for Application Execution &amp; Storage and Services</a:t>
            </a:r>
            <a:endParaRPr lang="en-US" dirty="0">
              <a:solidFill>
                <a:srgbClr val="0070C0"/>
              </a:solidFill>
              <a:latin typeface="+mn-lt"/>
              <a:ea typeface="ＭＳ Ｐゴシック" charset="0"/>
            </a:endParaRPr>
          </a:p>
        </p:txBody>
      </p:sp>
      <p:pic>
        <p:nvPicPr>
          <p:cNvPr id="37891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9563" y="1050925"/>
            <a:ext cx="7497762" cy="156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5"/>
          <p:cNvSpPr/>
          <p:nvPr/>
        </p:nvSpPr>
        <p:spPr>
          <a:xfrm>
            <a:off x="304800" y="2733675"/>
            <a:ext cx="8747125" cy="387826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defRPr/>
            </a:pPr>
            <a:r>
              <a:rPr lang="en-US" altLang="en-US" b="1" dirty="0">
                <a:solidFill>
                  <a:srgbClr val="7979DD"/>
                </a:solidFill>
              </a:rPr>
              <a:t>Application Execution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altLang="en-US" sz="1600" dirty="0"/>
              <a:t>The </a:t>
            </a:r>
            <a:r>
              <a:rPr lang="en-US" altLang="en-US" sz="1600" b="1" i="1" dirty="0"/>
              <a:t>Droplet Execution Agent </a:t>
            </a:r>
            <a:r>
              <a:rPr lang="en-US" altLang="en-US" sz="1600" dirty="0"/>
              <a:t>(</a:t>
            </a:r>
            <a:r>
              <a:rPr lang="en-US" altLang="en-US" sz="1600" b="1" i="1" dirty="0"/>
              <a:t>DEA</a:t>
            </a:r>
            <a:r>
              <a:rPr lang="en-US" altLang="en-US" sz="1600" dirty="0"/>
              <a:t>) manages application instances, tracks started instances, and broadcasts state messages. Application instances live inside Warden containers. 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altLang="en-US" sz="1600" b="1" i="1" dirty="0"/>
              <a:t>Warden</a:t>
            </a:r>
            <a:r>
              <a:rPr lang="en-US" altLang="en-US" sz="1600" dirty="0"/>
              <a:t> manages isolated, ephemeral, and resource-controlled environments. Containerization ensures that application instances run in isolation, get their fair share of resources, and are protected from noisy neighbors.</a:t>
            </a:r>
          </a:p>
          <a:p>
            <a:pPr>
              <a:defRPr/>
            </a:pPr>
            <a:r>
              <a:rPr lang="en-US" altLang="en-US" sz="1600" b="1" dirty="0">
                <a:solidFill>
                  <a:srgbClr val="7979DD"/>
                </a:solidFill>
              </a:rPr>
              <a:t>Application Storage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altLang="en-US" sz="1600" dirty="0"/>
              <a:t>The </a:t>
            </a:r>
            <a:r>
              <a:rPr lang="en-US" altLang="en-US" sz="1600" b="1" i="1" dirty="0"/>
              <a:t>Blob Store </a:t>
            </a:r>
            <a:r>
              <a:rPr lang="en-US" altLang="en-US" sz="1600" dirty="0"/>
              <a:t>holds Application code, </a:t>
            </a:r>
            <a:r>
              <a:rPr lang="en-US" altLang="en-US" sz="1600" dirty="0" err="1"/>
              <a:t>Buildpacks</a:t>
            </a:r>
            <a:r>
              <a:rPr lang="en-US" altLang="en-US" sz="1600" dirty="0"/>
              <a:t> and Droplets.</a:t>
            </a:r>
          </a:p>
          <a:p>
            <a:pPr>
              <a:defRPr/>
            </a:pPr>
            <a:endParaRPr lang="en-US" altLang="en-US" b="1" dirty="0">
              <a:solidFill>
                <a:srgbClr val="0113BF"/>
              </a:solidFill>
            </a:endParaRPr>
          </a:p>
          <a:p>
            <a:pPr>
              <a:defRPr/>
            </a:pPr>
            <a:r>
              <a:rPr lang="en-US" altLang="en-US" b="1" dirty="0">
                <a:solidFill>
                  <a:srgbClr val="0113BF"/>
                </a:solidFill>
              </a:rPr>
              <a:t>Services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altLang="en-US" sz="1600" dirty="0"/>
              <a:t>Applications typically depend on services such as databases or third-party SaaS providers. When a developer provisions and binds a service to an application, the </a:t>
            </a:r>
            <a:r>
              <a:rPr lang="en-US" altLang="en-US" sz="1600" b="1" i="1" dirty="0"/>
              <a:t>service broker</a:t>
            </a:r>
            <a:r>
              <a:rPr lang="en-US" altLang="en-US" sz="1600" dirty="0"/>
              <a:t> for that service is responsible for providing the service instance.</a:t>
            </a:r>
          </a:p>
          <a:p>
            <a:pPr>
              <a:defRPr/>
            </a:pPr>
            <a:endParaRPr lang="en-US" altLang="en-US" sz="1600" b="1" dirty="0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>
            <a:spLocks/>
          </p:cNvSpPr>
          <p:nvPr/>
        </p:nvSpPr>
        <p:spPr bwMode="auto">
          <a:xfrm>
            <a:off x="228600" y="617538"/>
            <a:ext cx="8542338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>
            <a:norm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+mj-lt"/>
                <a:ea typeface="MS PGothic" panose="020B0600070205080204" pitchFamily="34" charset="-128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MS PGothic" panose="020B0600070205080204" pitchFamily="34" charset="-128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MS PGothic" panose="020B0600070205080204" pitchFamily="34" charset="-128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MS PGothic" panose="020B0600070205080204" pitchFamily="34" charset="-128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MS PGothic" panose="020B0600070205080204" pitchFamily="34" charset="-128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defRPr/>
            </a:pPr>
            <a:r>
              <a:rPr lang="en-US" kern="0" dirty="0" smtClean="0">
                <a:solidFill>
                  <a:srgbClr val="0070C0"/>
                </a:solidFill>
                <a:latin typeface="+mn-lt"/>
                <a:ea typeface="ＭＳ Ｐゴシック" charset="0"/>
              </a:rPr>
              <a:t>Key Components for Messaging, Metrics &amp; Logging</a:t>
            </a:r>
            <a:endParaRPr lang="en-US" kern="0" dirty="0">
              <a:solidFill>
                <a:srgbClr val="0070C0"/>
              </a:solidFill>
              <a:latin typeface="+mn-lt"/>
              <a:ea typeface="ＭＳ Ｐゴシック" charset="0"/>
            </a:endParaRPr>
          </a:p>
        </p:txBody>
      </p:sp>
      <p:pic>
        <p:nvPicPr>
          <p:cNvPr id="39939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3725" y="1557338"/>
            <a:ext cx="7864475" cy="1084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7"/>
          <p:cNvSpPr/>
          <p:nvPr/>
        </p:nvSpPr>
        <p:spPr>
          <a:xfrm>
            <a:off x="460375" y="3108325"/>
            <a:ext cx="8313738" cy="261620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defRPr/>
            </a:pPr>
            <a:r>
              <a:rPr lang="en-US" altLang="en-US" sz="2000" b="1" dirty="0">
                <a:solidFill>
                  <a:srgbClr val="7030A0"/>
                </a:solidFill>
              </a:rPr>
              <a:t>Messaging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altLang="en-US" dirty="0"/>
              <a:t>Cloud Foundry uses </a:t>
            </a:r>
            <a:r>
              <a:rPr lang="en-US" altLang="en-US" sz="1600" b="1" i="1" dirty="0"/>
              <a:t>Message Bus </a:t>
            </a:r>
            <a:r>
              <a:rPr lang="en-US" altLang="en-US" dirty="0"/>
              <a:t>NATS, a lightweight publish-subscribe and distributed queueing messaging system written in Ruby, for internal communication between components.</a:t>
            </a:r>
          </a:p>
          <a:p>
            <a:pPr>
              <a:defRPr/>
            </a:pPr>
            <a:endParaRPr lang="en-US" altLang="en-US" b="1" dirty="0"/>
          </a:p>
          <a:p>
            <a:pPr>
              <a:defRPr/>
            </a:pPr>
            <a:r>
              <a:rPr lang="en-US" altLang="en-US" b="1" dirty="0">
                <a:solidFill>
                  <a:srgbClr val="1C9FE8"/>
                </a:solidFill>
              </a:rPr>
              <a:t>Metrics and Logging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altLang="en-US" dirty="0"/>
              <a:t>The </a:t>
            </a:r>
            <a:r>
              <a:rPr lang="en-US" altLang="en-US" b="1" i="1" dirty="0"/>
              <a:t>metrics collector </a:t>
            </a:r>
            <a:r>
              <a:rPr lang="en-US" altLang="en-US" dirty="0"/>
              <a:t>gathers metrics from the components. Operators can use this information to monitor an instance of Cloud Foundry.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altLang="en-US" dirty="0"/>
              <a:t>The </a:t>
            </a:r>
            <a:r>
              <a:rPr lang="en-US" altLang="en-US" b="1" i="1" dirty="0"/>
              <a:t>application log aggregator </a:t>
            </a:r>
            <a:r>
              <a:rPr lang="en-US" altLang="en-US" dirty="0"/>
              <a:t>streams application logs to developers.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IBM Cloud 2015">
  <a:themeElements>
    <a:clrScheme name="IBM Cloud 2105">
      <a:dk1>
        <a:sysClr val="windowText" lastClr="000000"/>
      </a:dk1>
      <a:lt1>
        <a:sysClr val="window" lastClr="FFFFFF"/>
      </a:lt1>
      <a:dk2>
        <a:srgbClr val="085571"/>
      </a:dk2>
      <a:lt2>
        <a:srgbClr val="81CDF2"/>
      </a:lt2>
      <a:accent1>
        <a:srgbClr val="009EE2"/>
      </a:accent1>
      <a:accent2>
        <a:srgbClr val="1174B9"/>
      </a:accent2>
      <a:accent3>
        <a:srgbClr val="00A39C"/>
      </a:accent3>
      <a:accent4>
        <a:srgbClr val="00706E"/>
      </a:accent4>
      <a:accent5>
        <a:srgbClr val="611773"/>
      </a:accent5>
      <a:accent6>
        <a:srgbClr val="340F51"/>
      </a:accent6>
      <a:hlink>
        <a:srgbClr val="0000FF"/>
      </a:hlink>
      <a:folHlink>
        <a:srgbClr val="800080"/>
      </a:folHlink>
    </a:clrScheme>
    <a:fontScheme name="IBM Cloud 2015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84441"/>
        </a:solidFill>
        <a:ln>
          <a:noFill/>
        </a:ln>
        <a:effectLst/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1200" kern="0" spc="-30" dirty="0" smtClean="0">
            <a:solidFill>
              <a:srgbClr val="FFFFFF"/>
            </a:solidFill>
            <a:latin typeface="Arial"/>
            <a:cs typeface="Arial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IBM Cloud sub">
  <a:themeElements>
    <a:clrScheme name="617-01_SP_Business&amp;IT_Services_Sourcing_Blk_Template_R3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83D1F5"/>
      </a:accent1>
      <a:accent2>
        <a:srgbClr val="003F69"/>
      </a:accent2>
      <a:accent3>
        <a:srgbClr val="FFFFFF"/>
      </a:accent3>
      <a:accent4>
        <a:srgbClr val="000000"/>
      </a:accent4>
      <a:accent5>
        <a:srgbClr val="C1E5F9"/>
      </a:accent5>
      <a:accent6>
        <a:srgbClr val="00385E"/>
      </a:accent6>
      <a:hlink>
        <a:srgbClr val="008ABF"/>
      </a:hlink>
      <a:folHlink>
        <a:srgbClr val="8CC63F"/>
      </a:folHlink>
    </a:clrScheme>
    <a:fontScheme name="617-01_SP_Business&amp;IT_Services_Sourcing_Blk_Template_R3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617-01_SP_Business&amp;IT_Services_Sourcing_Blk_Template_R3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83D1F5"/>
        </a:accent1>
        <a:accent2>
          <a:srgbClr val="003F69"/>
        </a:accent2>
        <a:accent3>
          <a:srgbClr val="FFFFFF"/>
        </a:accent3>
        <a:accent4>
          <a:srgbClr val="000000"/>
        </a:accent4>
        <a:accent5>
          <a:srgbClr val="C1E5F9"/>
        </a:accent5>
        <a:accent6>
          <a:srgbClr val="00385E"/>
        </a:accent6>
        <a:hlink>
          <a:srgbClr val="008ABF"/>
        </a:hlink>
        <a:folHlink>
          <a:srgbClr val="8CC63F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1113</Words>
  <Application>Microsoft Office PowerPoint</Application>
  <PresentationFormat>On-screen Show (4:3)</PresentationFormat>
  <Paragraphs>87</Paragraphs>
  <Slides>6</Slides>
  <Notes>6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6</vt:i4>
      </vt:variant>
    </vt:vector>
  </HeadingPairs>
  <TitlesOfParts>
    <vt:vector size="8" baseType="lpstr">
      <vt:lpstr>IBM Cloud 2015</vt:lpstr>
      <vt:lpstr>IBM Cloud sub</vt:lpstr>
      <vt:lpstr>Bluemix PaaS and Cloud Foundry Infrastructure</vt:lpstr>
      <vt:lpstr>Key Infrastructure components  of IBM Bluemix PaaS and  Cloud Foundry</vt:lpstr>
      <vt:lpstr>Cloud Foundry Architecture</vt:lpstr>
      <vt:lpstr>Key Components for Routing, Authentication and App Lifecycle</vt:lpstr>
      <vt:lpstr>Key Components for Application Execution &amp; Storage and Services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cp:lastModifiedBy/>
  <cp:revision>1</cp:revision>
  <dcterms:created xsi:type="dcterms:W3CDTF">2015-05-08T18:58:46Z</dcterms:created>
  <dcterms:modified xsi:type="dcterms:W3CDTF">2015-09-12T00:11:37Z</dcterms:modified>
</cp:coreProperties>
</file>