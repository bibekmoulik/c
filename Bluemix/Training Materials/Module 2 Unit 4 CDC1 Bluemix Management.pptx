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 id="2147483717" r:id="rId2"/>
  </p:sldMasterIdLst>
  <p:notesMasterIdLst>
    <p:notesMasterId r:id="rId19"/>
  </p:notesMasterIdLst>
  <p:sldIdLst>
    <p:sldId id="333" r:id="rId3"/>
    <p:sldId id="292" r:id="rId4"/>
    <p:sldId id="294" r:id="rId5"/>
    <p:sldId id="326" r:id="rId6"/>
    <p:sldId id="303" r:id="rId7"/>
    <p:sldId id="328" r:id="rId8"/>
    <p:sldId id="302" r:id="rId9"/>
    <p:sldId id="304" r:id="rId10"/>
    <p:sldId id="330" r:id="rId11"/>
    <p:sldId id="307" r:id="rId12"/>
    <p:sldId id="300" r:id="rId13"/>
    <p:sldId id="296" r:id="rId14"/>
    <p:sldId id="295" r:id="rId15"/>
    <p:sldId id="305" r:id="rId16"/>
    <p:sldId id="286" r:id="rId17"/>
    <p:sldId id="309" r:id="rId1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3514">
          <p15:clr>
            <a:srgbClr val="A4A3A4"/>
          </p15:clr>
        </p15:guide>
        <p15:guide id="2" pos="28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426C"/>
    <a:srgbClr val="4EBBEB"/>
    <a:srgbClr val="1A3961"/>
    <a:srgbClr val="183C60"/>
    <a:srgbClr val="113F60"/>
    <a:srgbClr val="123964"/>
    <a:srgbClr val="1B4E77"/>
    <a:srgbClr val="1129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38" autoAdjust="0"/>
    <p:restoredTop sz="74396" autoAdjust="0"/>
  </p:normalViewPr>
  <p:slideViewPr>
    <p:cSldViewPr>
      <p:cViewPr varScale="1">
        <p:scale>
          <a:sx n="51" d="100"/>
          <a:sy n="51" d="100"/>
        </p:scale>
        <p:origin x="-1224" y="-82"/>
      </p:cViewPr>
      <p:guideLst>
        <p:guide orient="horz" pos="3514"/>
        <p:guide pos="2851"/>
      </p:guideLst>
    </p:cSldViewPr>
  </p:slideViewPr>
  <p:outlineViewPr>
    <p:cViewPr>
      <p:scale>
        <a:sx n="33" d="100"/>
        <a:sy n="33" d="100"/>
      </p:scale>
      <p:origin x="42" y="0"/>
    </p:cViewPr>
  </p:outlineViewPr>
  <p:notesTextViewPr>
    <p:cViewPr>
      <p:scale>
        <a:sx n="1" d="1"/>
        <a:sy n="1" d="1"/>
      </p:scale>
      <p:origin x="0" y="0"/>
    </p:cViewPr>
  </p:notesTextViewPr>
  <p:sorterViewPr>
    <p:cViewPr varScale="1">
      <p:scale>
        <a:sx n="1" d="1"/>
        <a:sy n="1" d="1"/>
      </p:scale>
      <p:origin x="0" y="0"/>
    </p:cViewPr>
  </p:sorterViewPr>
  <p:gridSpacing cx="45720" cy="4572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A9F727CD-DF53-4618-A173-CB2746E41BF2}" type="datetimeFigureOut">
              <a:rPr lang="en-US"/>
              <a:pPr>
                <a:defRPr/>
              </a:pPr>
              <a:t>9/11/2015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8A54CF39-C70C-46D2-89D3-8A585749D2EC}" type="slidenum">
              <a:rPr lang="en-US" altLang="en-US"/>
              <a:pPr>
                <a:defRPr/>
              </a:pPr>
              <a:t>‹#›</a:t>
            </a:fld>
            <a:endParaRPr lang="en-US" altLang="en-US"/>
          </a:p>
        </p:txBody>
      </p:sp>
    </p:spTree>
    <p:extLst>
      <p:ext uri="{BB962C8B-B14F-4D97-AF65-F5344CB8AC3E}">
        <p14:creationId xmlns:p14="http://schemas.microsoft.com/office/powerpoint/2010/main" val="217950349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D58D5E-24F9-46AD-A01C-3E48CC0B04A4}" type="slidenum">
              <a:rPr lang="en-US" altLang="en-US" smtClean="0">
                <a:latin typeface="Calibri" panose="020F0502020204030204" pitchFamily="34" charset="0"/>
              </a:rPr>
              <a:pPr/>
              <a:t>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257253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r>
              <a:rPr lang="en-US" altLang="en-US" smtClean="0"/>
              <a:t>It’s important to understand Bluemix concepts and features. Describe the organization management elements in IBM Bluemix PaaS: Spaces, Users, Domains and Quota, Understand IBM Bluemix Regions and how to manage applications in multiple regions</a:t>
            </a:r>
          </a:p>
          <a:p>
            <a:pPr lvl="1"/>
            <a:endParaRPr lang="en-US" altLang="en-US" smtClean="0"/>
          </a:p>
          <a:p>
            <a:pPr eaLnBrk="1" hangingPunct="1"/>
            <a:endParaRPr lang="en-US" altLang="en-US" smtClean="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B3153A0-8EB7-4F40-9272-9241582FD4CC}" type="slidenum">
              <a:rPr lang="en-US" altLang="en-US" smtClean="0">
                <a:latin typeface="Calibri" panose="020F0502020204030204" pitchFamily="34" charset="0"/>
              </a:rPr>
              <a:pPr/>
              <a:t>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036940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r>
              <a:rPr lang="en-US" dirty="0" smtClean="0"/>
              <a:t>In IBM® Bluemix™, you can manage organizations and spaces, including user access, from the dashboard in the user interface. As an administrator, you can use the Manage Organizations page to view and manage the settings of the organization or space, including user access. To open the Manage Organizations page, on the menu go to </a:t>
            </a:r>
            <a:r>
              <a:rPr lang="en-US" i="1" dirty="0" err="1" smtClean="0"/>
              <a:t>user_name</a:t>
            </a:r>
            <a:r>
              <a:rPr lang="en-US" dirty="0" smtClean="0"/>
              <a:t> &gt; Manage Organizations</a:t>
            </a:r>
          </a:p>
          <a:p>
            <a:pPr eaLnBrk="1" hangingPunct="1">
              <a:defRPr/>
            </a:pPr>
            <a:r>
              <a:rPr lang="en-US" altLang="en-US" dirty="0" smtClean="0">
                <a:latin typeface="Arial" panose="020B0604020202020204" pitchFamily="34" charset="0"/>
                <a:cs typeface="Arial" panose="020B0604020202020204" pitchFamily="34" charset="0"/>
              </a:rPr>
              <a:t>In Bluemix, you can use organizations to collaborate between users and to facilitate the logical grouping of project resources in the following ways:</a:t>
            </a:r>
          </a:p>
          <a:p>
            <a:pPr marL="171450" indent="-171450" eaLnBrk="1" hangingPunct="1">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You can be the owner of your own organization, and you can also be the member of other organizations.</a:t>
            </a:r>
          </a:p>
          <a:p>
            <a:pPr marL="171450" indent="-171450" eaLnBrk="1" hangingPunct="1">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You can group a set of spaces, applications, services, domains, routes, and users together in organizations.</a:t>
            </a:r>
          </a:p>
          <a:p>
            <a:pPr marL="171450" indent="-171450" eaLnBrk="1" hangingPunct="1">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You can govern the access to the resources of organizations on a per-user basis.</a:t>
            </a:r>
          </a:p>
          <a:p>
            <a:pPr eaLnBrk="1" hangingPunct="1">
              <a:defRPr/>
            </a:pPr>
            <a:endParaRPr lang="en-US" altLang="en-US" dirty="0" smtClean="0">
              <a:latin typeface="Arial" panose="020B0604020202020204" pitchFamily="34" charset="0"/>
              <a:cs typeface="Arial" panose="020B0604020202020204" pitchFamily="34" charset="0"/>
            </a:endParaRPr>
          </a:p>
          <a:p>
            <a:pPr eaLnBrk="1" hangingPunct="1">
              <a:defRPr/>
            </a:pPr>
            <a:r>
              <a:rPr lang="en-US" altLang="en-US" dirty="0" smtClean="0">
                <a:latin typeface="Arial" panose="020B0604020202020204" pitchFamily="34" charset="0"/>
                <a:cs typeface="Arial" panose="020B0604020202020204" pitchFamily="34" charset="0"/>
              </a:rPr>
              <a:t>When you create an organization, the organization name must be unique in Bluemix. After you create the organization, you will be automatically assigned Organization Manager permission, which enables you to edit the organization name, delete the organization, and create spaces in the organization.</a:t>
            </a:r>
          </a:p>
          <a:p>
            <a:pPr eaLnBrk="1" hangingPunct="1">
              <a:defRPr/>
            </a:pPr>
            <a:endParaRPr lang="en-US" altLang="en-US" dirty="0" smtClean="0">
              <a:latin typeface="Arial" panose="020B0604020202020204" pitchFamily="34" charset="0"/>
              <a:cs typeface="Arial" panose="020B0604020202020204" pitchFamily="34" charset="0"/>
            </a:endParaRPr>
          </a:p>
          <a:p>
            <a:pPr eaLnBrk="1" hangingPunct="1">
              <a:defRPr/>
            </a:pPr>
            <a:r>
              <a:rPr lang="en-US" altLang="en-US" dirty="0" smtClean="0">
                <a:latin typeface="Arial" panose="020B0604020202020204" pitchFamily="34" charset="0"/>
                <a:cs typeface="Arial" panose="020B0604020202020204" pitchFamily="34" charset="0"/>
              </a:rPr>
              <a:t>When you delete an organization, all the spaces, applications, and services within the organization are deleted.</a:t>
            </a:r>
          </a:p>
          <a:p>
            <a:pPr eaLnBrk="1" hangingPunct="1">
              <a:defRPr/>
            </a:pPr>
            <a:r>
              <a:rPr lang="en-US" altLang="en-US" dirty="0" smtClean="0">
                <a:latin typeface="Arial" panose="020B0604020202020204" pitchFamily="34" charset="0"/>
                <a:cs typeface="Arial" panose="020B0604020202020204" pitchFamily="34" charset="0"/>
              </a:rPr>
              <a:t>Bluemix enables collaboration on projects by assigning users within an organization and within the spaces in the organization. You can use the </a:t>
            </a:r>
            <a:r>
              <a:rPr lang="en-US" altLang="en-US" b="1" dirty="0" smtClean="0">
                <a:latin typeface="Arial" panose="020B0604020202020204" pitchFamily="34" charset="0"/>
                <a:cs typeface="Arial" panose="020B0604020202020204" pitchFamily="34" charset="0"/>
              </a:rPr>
              <a:t>USERS</a:t>
            </a:r>
            <a:r>
              <a:rPr lang="en-US" altLang="en-US" dirty="0" smtClean="0">
                <a:latin typeface="Arial" panose="020B0604020202020204" pitchFamily="34" charset="0"/>
                <a:cs typeface="Arial" panose="020B0604020202020204" pitchFamily="34" charset="0"/>
              </a:rPr>
              <a:t> tab to display and manage users of the organization. </a:t>
            </a:r>
          </a:p>
          <a:p>
            <a:pPr eaLnBrk="1" hangingPunct="1">
              <a:defRPr/>
            </a:pPr>
            <a:endParaRPr lang="en-US" altLang="en-US" dirty="0" smtClean="0">
              <a:latin typeface="Arial" panose="020B0604020202020204" pitchFamily="34" charset="0"/>
              <a:cs typeface="Arial" panose="020B0604020202020204" pitchFamily="34" charset="0"/>
            </a:endParaRPr>
          </a:p>
          <a:p>
            <a:pPr eaLnBrk="1" hangingPunct="1">
              <a:defRPr/>
            </a:pPr>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3463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Bluemix dashboard you can see your current organization and Region. Click on the right top most icon to show a drop down list. You</a:t>
            </a:r>
            <a:r>
              <a:rPr lang="en-US" baseline="0" dirty="0" smtClean="0"/>
              <a:t> can select the organization to work on or change the Bluemix region from the drop down list.  You can click on </a:t>
            </a:r>
            <a:r>
              <a:rPr lang="en-US" b="1" baseline="0" dirty="0" smtClean="0"/>
              <a:t>Management Organizations </a:t>
            </a:r>
            <a:r>
              <a:rPr lang="en-US" baseline="0" dirty="0" smtClean="0"/>
              <a:t>from drop down list to show a wizard to manage spaces, users domains and quota of current organization (</a:t>
            </a:r>
            <a:r>
              <a:rPr lang="en-US" baseline="0" dirty="0" err="1" smtClean="0"/>
              <a:t>i.e</a:t>
            </a:r>
            <a:r>
              <a:rPr lang="en-US" baseline="0" dirty="0" smtClean="0"/>
              <a:t> ecodadmi@us.ibm.com).</a:t>
            </a:r>
            <a:endParaRPr lang="en-US" dirty="0"/>
          </a:p>
        </p:txBody>
      </p:sp>
      <p:sp>
        <p:nvSpPr>
          <p:cNvPr id="4" name="Slide Number Placeholder 3"/>
          <p:cNvSpPr>
            <a:spLocks noGrp="1"/>
          </p:cNvSpPr>
          <p:nvPr>
            <p:ph type="sldNum" sz="quarter" idx="10"/>
          </p:nvPr>
        </p:nvSpPr>
        <p:spPr/>
        <p:txBody>
          <a:bodyPr/>
          <a:lstStyle/>
          <a:p>
            <a:pPr>
              <a:defRPr/>
            </a:pPr>
            <a:fld id="{8A54CF39-C70C-46D2-89D3-8A585749D2EC}" type="slidenum">
              <a:rPr lang="en-US" altLang="en-US" smtClean="0"/>
              <a:pPr>
                <a:defRPr/>
              </a:pPr>
              <a:t>4</a:t>
            </a:fld>
            <a:endParaRPr lang="en-US" altLang="en-US"/>
          </a:p>
        </p:txBody>
      </p:sp>
    </p:spTree>
    <p:extLst>
      <p:ext uri="{BB962C8B-B14F-4D97-AF65-F5344CB8AC3E}">
        <p14:creationId xmlns:p14="http://schemas.microsoft.com/office/powerpoint/2010/main" val="909386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455613" lvl="1" eaLnBrk="1" hangingPunct="1"/>
            <a:r>
              <a:rPr lang="en-US" altLang="en-US" sz="1800" smtClean="0">
                <a:latin typeface="Avenir Roman" charset="0"/>
              </a:rPr>
              <a:t>Spaces provide a mechanism to collect related applications, services, and the users that can collaborate on the resources. An organization can contain multiple spaces. All application and service creation within</a:t>
            </a:r>
            <a:r>
              <a:rPr lang="en-US" altLang="en-US" sz="1800" smtClean="0">
                <a:latin typeface="Avenir Roman" charset="0"/>
                <a:ea typeface="ヒラギノ角ゴ ProN W3" charset="-128"/>
                <a:sym typeface="Gill Sans" pitchFamily="34" charset="0"/>
              </a:rPr>
              <a:t> Bluemix</a:t>
            </a:r>
            <a:r>
              <a:rPr lang="en-US" altLang="en-US" sz="900" b="1" baseline="80000" smtClean="0">
                <a:latin typeface="Avenir Roman" charset="0"/>
                <a:ea typeface="ヒラギノ角ゴ ProN W3" charset="-128"/>
                <a:sym typeface="Gill Sans" pitchFamily="34" charset="0"/>
              </a:rPr>
              <a:t>TM</a:t>
            </a:r>
            <a:r>
              <a:rPr lang="en-US" altLang="en-US" sz="1800" smtClean="0">
                <a:latin typeface="Avenir Roman" charset="0"/>
                <a:ea typeface="ヒラギノ角ゴ ProN W3" charset="-128"/>
                <a:sym typeface="Gill Sans" pitchFamily="34" charset="0"/>
              </a:rPr>
              <a:t> </a:t>
            </a:r>
            <a:r>
              <a:rPr lang="en-US" altLang="en-US" sz="1800" smtClean="0">
                <a:latin typeface="Avenir Roman" charset="0"/>
              </a:rPr>
              <a:t>must be associated with a space.</a:t>
            </a:r>
          </a:p>
          <a:p>
            <a:endParaRPr lang="en-US" altLang="en-US"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2DFDE14-EFA7-42C7-B214-75BB1EC5A84B}" type="slidenum">
              <a:rPr lang="en-US" altLang="en-US" smtClean="0">
                <a:latin typeface="Calibri" panose="020F0502020204030204" pitchFamily="34" charset="0"/>
              </a:rPr>
              <a:pPr/>
              <a:t>5</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857814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a:r>
              <a:rPr lang="en-US" altLang="en-US" sz="1800" smtClean="0">
                <a:latin typeface="Avenir Roman" charset="0"/>
              </a:rPr>
              <a:t>A user must be assigned to an organization to be granted permission to the spaces within the organization</a:t>
            </a:r>
            <a:r>
              <a:rPr lang="en-US" altLang="en-US" smtClean="0">
                <a:latin typeface="Avenir Roman" charset="0"/>
              </a:rPr>
              <a:t>.</a:t>
            </a:r>
          </a:p>
          <a:p>
            <a:pPr marL="0" lvl="1"/>
            <a:r>
              <a:rPr lang="en-US" altLang="en-US" smtClean="0">
                <a:latin typeface="Avenir Roman" charset="0"/>
              </a:rPr>
              <a:t>Quota represents the resource limits for the organization. Quota defines the number of services and the amount of memory that can be allocated for use by the organization. Any application or service in a space of the organization contributes to the usage of the quota. The quota is assigned when organizations are created.</a:t>
            </a:r>
          </a:p>
          <a:p>
            <a:pPr marL="0" lvl="1"/>
            <a:endParaRPr lang="en-US" altLang="en-US" smtClean="0">
              <a:latin typeface="Avenir Roman" charset="0"/>
            </a:endParaRPr>
          </a:p>
          <a:p>
            <a:endParaRPr lang="en-US" altLang="en-US" smtClean="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6932DDD-A3E2-4433-A719-717D2211E53B}" type="slidenum">
              <a:rPr lang="en-US" altLang="en-US" smtClean="0">
                <a:latin typeface="Calibri" panose="020F0502020204030204" pitchFamily="34" charset="0"/>
              </a:rPr>
              <a:pPr/>
              <a:t>6</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281840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a:r>
              <a:rPr lang="en-US" altLang="en-US" smtClean="0">
                <a:latin typeface="Avenir Roman" charset="0"/>
              </a:rPr>
              <a:t>In Bluemix, </a:t>
            </a:r>
            <a:r>
              <a:rPr lang="en-US" altLang="en-US" smtClean="0"/>
              <a:t>Organizations are used to manage quotas. Users in an org share memory and service instance quotas</a:t>
            </a:r>
            <a:r>
              <a:rPr lang="en-US" altLang="en-US" smtClean="0">
                <a:latin typeface="Avenir Roman" charset="0"/>
              </a:rPr>
              <a:t> </a:t>
            </a:r>
          </a:p>
          <a:p>
            <a:pPr marL="0" lvl="1"/>
            <a:r>
              <a:rPr lang="en-US" altLang="en-US" smtClean="0">
                <a:latin typeface="Avenir Roman" charset="0"/>
              </a:rPr>
              <a:t>Quota represents the resource limits for the organization. Quota defines the number of services and the amount of memory that can be allocated for use by the organization. Any application or service in a space of the organization contributes to the usage of the quota. The quota is assigned when organizations are created.</a:t>
            </a:r>
          </a:p>
          <a:p>
            <a:pPr marL="0" lvl="1"/>
            <a:r>
              <a:rPr lang="en-US" altLang="en-US" smtClean="0">
                <a:latin typeface="Avenir Roman" charset="0"/>
              </a:rPr>
              <a:t>The example shows the ecodadmi@us.ibm.com org has 2.375GB of memory and 10 services in use. The resources limits of the org are 128G memory and 640GB</a:t>
            </a:r>
          </a:p>
          <a:p>
            <a:endParaRPr lang="en-US" altLang="en-US" smtClean="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126DDBA-8074-4C28-83EC-AE133F83B50C}" type="slidenum">
              <a:rPr lang="en-US" altLang="en-US" smtClean="0">
                <a:latin typeface="Calibri" panose="020F0502020204030204" pitchFamily="34" charset="0"/>
              </a:rPr>
              <a:pPr/>
              <a:t>7</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3170406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In Bluemix, Applications and services are associated with Space.  Every members of the Space can review apps and services, only users with Developer role can create applications in the space.</a:t>
            </a:r>
          </a:p>
          <a:p>
            <a:r>
              <a:rPr lang="en-US" altLang="en-US" smtClean="0"/>
              <a:t>You can add users into the Space, delete users and grand Manager, Developer or Auditor permissions to the user by using Manage Organization wizard.  You need to have Org admin privilege to delete any user Space</a:t>
            </a:r>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EF58AE8-F8EE-494A-AF3D-C040DF7E9262}" type="slidenum">
              <a:rPr lang="en-US" altLang="en-US" smtClean="0">
                <a:latin typeface="Calibri" panose="020F0502020204030204" pitchFamily="34" charset="0"/>
              </a:rPr>
              <a:pPr/>
              <a:t>9</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545832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The URL used to direct requests to an application. A route is made up of an optional host (or subdomain) and a domain that are specified when an application is pushed. For example, in the route myapp.example.com, myapp is the host and example.com is the domain. A route can be associated with one or more applications. Unless a custom domain is specified, Bluemix uses a default shared domain in the route to your application.</a:t>
            </a:r>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8566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lvl="1"/>
            <a:r>
              <a:rPr lang="en-US" altLang="en-US" sz="1800" smtClean="0">
                <a:latin typeface="Avenir Roman" charset="0"/>
              </a:rPr>
              <a:t>Domains provide the route on the Internet that is allocated to the organization. A route has a sub-domain and a domain. A sub-domain is typically the application name. A domain might be a system domain, or a custom domain that is the personally registered for your application. </a:t>
            </a:r>
            <a:r>
              <a:rPr lang="en-US" altLang="en-US" sz="1800" smtClean="0"/>
              <a:t>Note: If you add a custom domain, you must configure your DNS server to resolve your custom domain to point to the Bluemix system domain. In this way, when Bluemix receives a request for your custom domain, it can properly route it to your application</a:t>
            </a:r>
          </a:p>
          <a:p>
            <a:pPr marL="0" lvl="1"/>
            <a:endParaRPr lang="en-US" altLang="en-US" sz="1800" smtClean="0">
              <a:latin typeface="Avenir Roman" charset="0"/>
            </a:endParaRPr>
          </a:p>
          <a:p>
            <a:endParaRPr lang="en-US" altLang="en-US" smtClean="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03888D-C332-4C7A-B89F-885FE4FB5048}" type="slidenum">
              <a:rPr lang="en-US" altLang="en-US" smtClean="0">
                <a:latin typeface="Calibri" panose="020F0502020204030204" pitchFamily="34" charset="0"/>
              </a:rPr>
              <a:pPr/>
              <a:t>11</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548942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r>
              <a:rPr lang="en-US" altLang="en-US" smtClean="0"/>
              <a:t>IBM Cloud offers Bluemix to multiple GEO /World Wide to serve our customer needs.  It’s critical to understand IBM Bluemix Regions and how to manage applications in multiple regions to provide better support to your WW customers.</a:t>
            </a:r>
          </a:p>
          <a:p>
            <a:pPr lvl="1"/>
            <a:endParaRPr lang="en-US" altLang="en-US" smtClean="0"/>
          </a:p>
          <a:p>
            <a:pPr eaLnBrk="1" hangingPunct="1"/>
            <a:endParaRPr lang="en-US" altLang="en-US"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131D4CC-1B0C-46D7-86A6-BF9476B0F899}" type="slidenum">
              <a:rPr lang="en-US" altLang="en-US" smtClean="0">
                <a:latin typeface="Calibri" panose="020F0502020204030204" pitchFamily="34" charset="0"/>
              </a:rPr>
              <a:pPr/>
              <a:t>12</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3914068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latin typeface="Arial" panose="020B0604020202020204" pitchFamily="34" charset="0"/>
                <a:cs typeface="Arial" panose="020B0604020202020204" pitchFamily="34" charset="0"/>
              </a:rPr>
              <a:t>What is Bluemix Region? A Bluemix region is a defined geographical territory that you can deploy your applications to. You can create applications and service instances in different regions with the same Bluemix infrastructure for application management and the same usage details view for billing. You can select the region that is nearest to your customers and deploy your apps to this region to get low application latency. You can also select the region where you want to keep the application data to address security issues. When you build apps in multiple regions, if one region goes down, the apps that are in the other regions continue to run. Your resource allowance is the same for each region that you use.</a:t>
            </a:r>
          </a:p>
          <a:p>
            <a:pPr eaLnBrk="1" hangingPunct="1"/>
            <a:r>
              <a:rPr lang="en-US" altLang="en-US" smtClean="0">
                <a:latin typeface="Arial" panose="020B0604020202020204" pitchFamily="34" charset="0"/>
                <a:cs typeface="Arial" panose="020B0604020202020204" pitchFamily="34" charset="0"/>
              </a:rPr>
              <a:t>If you are using the Bluemix user interface, you can switch to a different region to work with the spaces in that region.</a:t>
            </a:r>
          </a:p>
          <a:p>
            <a:pPr eaLnBrk="1" hangingPunct="1"/>
            <a:r>
              <a:rPr lang="en-US" altLang="en-US" smtClean="0">
                <a:latin typeface="Arial" panose="020B0604020202020204" pitchFamily="34" charset="0"/>
                <a:cs typeface="Arial" panose="020B0604020202020204" pitchFamily="34" charset="0"/>
              </a:rPr>
              <a:t>If you are using the cf command line interface, you must connect to the Bluemix region that you want to work with by using the cf API command and specifying the API endpoint of the region. For example, enter the following command to connect to Bluemix Europe United Kingdom region:</a:t>
            </a:r>
          </a:p>
          <a:p>
            <a:pPr eaLnBrk="1" hangingPunct="1"/>
            <a:r>
              <a:rPr lang="en-US" altLang="en-US" smtClean="0">
                <a:latin typeface="Arial" panose="020B0604020202020204" pitchFamily="34" charset="0"/>
                <a:cs typeface="Arial" panose="020B0604020202020204" pitchFamily="34" charset="0"/>
              </a:rPr>
              <a:t>cf api https://api.eu-gb.bluemix.net</a:t>
            </a:r>
          </a:p>
          <a:p>
            <a:pPr eaLnBrk="1" hangingPunct="1"/>
            <a:r>
              <a:rPr lang="en-US" altLang="en-US" smtClean="0"/>
              <a:t>If you are using the Eclipse tools, you must connect to the Bluemix region that you want to work with by creating a Bluemix server and specifying the API endpoint of the region. A unique prefix is assigned to each region. Bluemix provides the following regions and region prefixes.</a:t>
            </a:r>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9548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latin typeface="Arial" panose="020B0604020202020204" pitchFamily="34" charset="0"/>
                <a:cs typeface="Arial" panose="020B0604020202020204" pitchFamily="34" charset="0"/>
              </a:rPr>
              <a:t>Bluemix offers multiple regions. You can create applications and service instances in different regions with the same Bluemix infrastructure for application management and the same usage details view for billing. You can select the region that is nearest to your customers and deploy your apps to this region to get low application latency. You can also select the region where you want to keep the application data to address security issues. When you build apps in multiple regions, if one region goes down, the apps that are in the other regions continue to run. Your resource allowance is the same for each region that you use.</a:t>
            </a:r>
          </a:p>
          <a:p>
            <a:pPr eaLnBrk="1" hangingPunct="1"/>
            <a:r>
              <a:rPr lang="en-US" altLang="en-US" smtClean="0">
                <a:latin typeface="Arial" panose="020B0604020202020204" pitchFamily="34" charset="0"/>
                <a:cs typeface="Arial" panose="020B0604020202020204" pitchFamily="34" charset="0"/>
              </a:rPr>
              <a:t>If you are using the Bluemix user interface, you can switch to a different region to work with the spaces in that region.</a:t>
            </a:r>
          </a:p>
          <a:p>
            <a:pPr eaLnBrk="1" hangingPunct="1"/>
            <a:r>
              <a:rPr lang="en-US" altLang="en-US" smtClean="0">
                <a:latin typeface="Arial" panose="020B0604020202020204" pitchFamily="34" charset="0"/>
                <a:cs typeface="Arial" panose="020B0604020202020204" pitchFamily="34" charset="0"/>
              </a:rPr>
              <a:t>If you are using the cf command line interface, you must connect to the Bluemix region that you want to work with by using the cf API command and specifying the API endpoint of the region. For example, enter the following command to connect to Bluemix Europe United Kingdom region:</a:t>
            </a:r>
          </a:p>
          <a:p>
            <a:pPr eaLnBrk="1" hangingPunct="1"/>
            <a:r>
              <a:rPr lang="en-US" altLang="en-US" smtClean="0">
                <a:latin typeface="Arial" panose="020B0604020202020204" pitchFamily="34" charset="0"/>
                <a:cs typeface="Arial" panose="020B0604020202020204" pitchFamily="34" charset="0"/>
              </a:rPr>
              <a:t>cf api https://api.eu-gb.bluemix.net</a:t>
            </a:r>
          </a:p>
          <a:p>
            <a:endParaRPr lang="en-US" altLang="en-US" smtClean="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78AB08D-62F5-455D-A01B-075D7FAD099B}" type="slidenum">
              <a:rPr lang="en-US" altLang="en-US" smtClean="0">
                <a:latin typeface="Calibri" panose="020F0502020204030204" pitchFamily="34" charset="0"/>
              </a:rPr>
              <a:pPr/>
              <a:t>14</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1852246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Please post your questions or find the answers on Bluemix Community https://ibm.biz/BdXGBL</a:t>
            </a:r>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C892905-8C2A-4A31-80E7-F43B0BBF5B01}" type="slidenum">
              <a:rPr lang="en-US" altLang="en-US" smtClean="0">
                <a:latin typeface="Calibri" panose="020F0502020204030204" pitchFamily="34" charset="0"/>
              </a:rPr>
              <a:pPr/>
              <a:t>16</a:t>
            </a:fld>
            <a:endParaRPr lang="en-US" altLang="en-US" smtClean="0">
              <a:latin typeface="Calibri" panose="020F0502020204030204" pitchFamily="34" charset="0"/>
            </a:endParaRPr>
          </a:p>
        </p:txBody>
      </p:sp>
    </p:spTree>
    <p:extLst>
      <p:ext uri="{BB962C8B-B14F-4D97-AF65-F5344CB8AC3E}">
        <p14:creationId xmlns:p14="http://schemas.microsoft.com/office/powerpoint/2010/main" val="26536165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p:nvPr userDrawn="1"/>
        </p:nvSpPr>
        <p:spPr>
          <a:xfrm>
            <a:off x="0" y="0"/>
            <a:ext cx="9144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9"/>
          <p:cNvSpPr/>
          <p:nvPr userDrawn="1"/>
        </p:nvSpPr>
        <p:spPr>
          <a:xfrm>
            <a:off x="6400800" y="0"/>
            <a:ext cx="27432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7" name="Picture 10" descr="Cloud_word.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680200" y="6456363"/>
            <a:ext cx="906463"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33413" y="1433513"/>
            <a:ext cx="2917825"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7"/>
          <p:cNvSpPr txBox="1"/>
          <p:nvPr userDrawn="1"/>
        </p:nvSpPr>
        <p:spPr>
          <a:xfrm>
            <a:off x="6629400" y="4937125"/>
            <a:ext cx="1736725" cy="274638"/>
          </a:xfrm>
          <a:prstGeom prst="rect">
            <a:avLst/>
          </a:prstGeom>
          <a:noFill/>
        </p:spPr>
        <p:txBody>
          <a:bodyPr lIns="0" tIns="0" rIns="0" bIns="0" anchor="ctr"/>
          <a:lstStyle/>
          <a:p>
            <a:pPr eaLnBrk="1" fontAlgn="auto" hangingPunct="1">
              <a:spcBef>
                <a:spcPts val="0"/>
              </a:spcBef>
              <a:spcAft>
                <a:spcPts val="0"/>
              </a:spcAft>
              <a:defRPr/>
            </a:pPr>
            <a:r>
              <a:rPr lang="en-US" sz="1600" b="1" kern="0" spc="-30" dirty="0">
                <a:solidFill>
                  <a:srgbClr val="FFFFFF"/>
                </a:solidFill>
                <a:latin typeface="Arial"/>
                <a:cs typeface="Arial"/>
              </a:rPr>
              <a:t>Presented by:</a:t>
            </a:r>
          </a:p>
        </p:txBody>
      </p:sp>
      <p:sp>
        <p:nvSpPr>
          <p:cNvPr id="2" name="Title 1"/>
          <p:cNvSpPr>
            <a:spLocks noGrp="1"/>
          </p:cNvSpPr>
          <p:nvPr>
            <p:ph type="ctrTitle"/>
          </p:nvPr>
        </p:nvSpPr>
        <p:spPr>
          <a:xfrm>
            <a:off x="1311101" y="3886200"/>
            <a:ext cx="5029200" cy="457200"/>
          </a:xfrm>
        </p:spPr>
        <p:txBody>
          <a:bodyPr lIns="0" tIns="0" rIns="0" bIns="0">
            <a:noAutofit/>
          </a:bodyPr>
          <a:lstStyle>
            <a:lvl1pPr algn="l">
              <a:defRPr sz="2800" b="1">
                <a:solidFill>
                  <a:srgbClr val="FFFFFF"/>
                </a:solidFill>
              </a:defRPr>
            </a:lvl1pPr>
          </a:lstStyle>
          <a:p>
            <a:r>
              <a:rPr lang="en-US" dirty="0" smtClean="0"/>
              <a:t>Click to edit Master title style</a:t>
            </a:r>
            <a:endParaRPr lang="en-US" dirty="0"/>
          </a:p>
        </p:txBody>
      </p:sp>
      <p:sp>
        <p:nvSpPr>
          <p:cNvPr id="13" name="Text Placeholder 6"/>
          <p:cNvSpPr>
            <a:spLocks noGrp="1"/>
          </p:cNvSpPr>
          <p:nvPr>
            <p:ph type="body" sz="quarter" idx="11"/>
          </p:nvPr>
        </p:nvSpPr>
        <p:spPr>
          <a:xfrm>
            <a:off x="6629400" y="521208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
        <p:nvSpPr>
          <p:cNvPr id="14" name="Text Placeholder 6"/>
          <p:cNvSpPr>
            <a:spLocks noGrp="1"/>
          </p:cNvSpPr>
          <p:nvPr>
            <p:ph type="body" sz="quarter" idx="12"/>
          </p:nvPr>
        </p:nvSpPr>
        <p:spPr>
          <a:xfrm>
            <a:off x="6629400" y="548640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p:txBody>
      </p:sp>
    </p:spTree>
    <p:extLst>
      <p:ext uri="{BB962C8B-B14F-4D97-AF65-F5344CB8AC3E}">
        <p14:creationId xmlns:p14="http://schemas.microsoft.com/office/powerpoint/2010/main" val="143130965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5540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Shape 20"/>
          <p:cNvSpPr>
            <a:spLocks noGrp="1"/>
          </p:cNvSpPr>
          <p:nvPr>
            <p:ph type="title"/>
          </p:nvPr>
        </p:nvSpPr>
        <p:spPr>
          <a:prstGeom prst="rect">
            <a:avLst/>
          </a:prstGeom>
        </p:spPr>
        <p:txBody>
          <a:bodyPr/>
          <a:lstStyle/>
          <a:p>
            <a:pPr lvl="0"/>
            <a:r>
              <a:rPr lang="en-GB" smtClean="0"/>
              <a:t>Click to edit Master title style</a:t>
            </a:r>
            <a:endParaRPr/>
          </a:p>
        </p:txBody>
      </p:sp>
      <p:sp>
        <p:nvSpPr>
          <p:cNvPr id="21" name="Shape 21"/>
          <p:cNvSpPr>
            <a:spLocks noGrp="1"/>
          </p:cNvSpPr>
          <p:nvPr>
            <p:ph type="body" idx="1"/>
          </p:nvPr>
        </p:nvSpPr>
        <p:spPr>
          <a:prstGeom prst="rect">
            <a:avLst/>
          </a:prstGeo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a:p>
        </p:txBody>
      </p:sp>
      <p:sp>
        <p:nvSpPr>
          <p:cNvPr id="4" name="Shape 4"/>
          <p:cNvSpPr>
            <a:spLocks noGrp="1"/>
          </p:cNvSpPr>
          <p:nvPr>
            <p:ph type="sldNum" sz="quarter" idx="10"/>
          </p:nvPr>
        </p:nvSpPr>
        <p:spPr>
          <a:xfrm>
            <a:off x="182563" y="6537325"/>
            <a:ext cx="366712" cy="184150"/>
          </a:xfrm>
          <a:prstGeom prst="rect">
            <a:avLst/>
          </a:prstGeom>
        </p:spPr>
        <p:txBody>
          <a:bodyPr/>
          <a:lstStyle>
            <a:lvl1pPr eaLnBrk="1" hangingPunct="1">
              <a:defRPr/>
            </a:lvl1pPr>
          </a:lstStyle>
          <a:p>
            <a:pPr>
              <a:defRPr/>
            </a:pPr>
            <a:fld id="{86983D93-EF06-4D64-80FF-EF0A500886CF}" type="slidenum">
              <a:rPr lang="en-US" altLang="en-US"/>
              <a:pPr>
                <a:defRPr/>
              </a:pPr>
              <a:t>‹#›</a:t>
            </a:fld>
            <a:endParaRPr lang="en-US" altLang="en-US"/>
          </a:p>
        </p:txBody>
      </p:sp>
    </p:spTree>
    <p:extLst>
      <p:ext uri="{BB962C8B-B14F-4D97-AF65-F5344CB8AC3E}">
        <p14:creationId xmlns:p14="http://schemas.microsoft.com/office/powerpoint/2010/main" val="52721229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8" name="Shape 18"/>
          <p:cNvSpPr>
            <a:spLocks noGrp="1"/>
          </p:cNvSpPr>
          <p:nvPr>
            <p:ph type="title"/>
          </p:nvPr>
        </p:nvSpPr>
        <p:spPr>
          <a:prstGeom prst="rect">
            <a:avLst/>
          </a:prstGeom>
        </p:spPr>
        <p:txBody>
          <a:bodyPr/>
          <a:lstStyle/>
          <a:p>
            <a:pPr lvl="0"/>
            <a:r>
              <a:rPr lang="en-GB" smtClean="0"/>
              <a:t>Click to edit Master title style</a:t>
            </a:r>
            <a:endParaRPr/>
          </a:p>
        </p:txBody>
      </p:sp>
    </p:spTree>
    <p:extLst>
      <p:ext uri="{BB962C8B-B14F-4D97-AF65-F5344CB8AC3E}">
        <p14:creationId xmlns:p14="http://schemas.microsoft.com/office/powerpoint/2010/main" val="4246306084"/>
      </p:ext>
    </p:extLst>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000">
                <a:solidFill>
                  <a:schemeClr val="tx1">
                    <a:tint val="75000"/>
                  </a:schemeClr>
                </a:solidFill>
                <a:latin typeface="+mn-lt"/>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804" r:id="rId1"/>
  </p:sldLayoutIdLst>
  <p:transition spd="med">
    <p:fade/>
  </p:transition>
  <p:timing>
    <p:tnLst>
      <p:par>
        <p:cTn id="1" dur="indefinite" restart="never" nodeType="tmRoot"/>
      </p:par>
    </p:tnLst>
  </p:timing>
  <p:txStyles>
    <p:titleStyle>
      <a:lvl1pPr algn="l" defTabSz="457200" rtl="0" eaLnBrk="0" fontAlgn="base" hangingPunct="0">
        <a:spcBef>
          <a:spcPct val="0"/>
        </a:spcBef>
        <a:spcAft>
          <a:spcPct val="0"/>
        </a:spcAft>
        <a:defRPr sz="2400" b="1" spc="-30">
          <a:solidFill>
            <a:schemeClr val="tx1"/>
          </a:solidFill>
          <a:latin typeface="+mj-lt"/>
          <a:ea typeface="+mj-ea"/>
          <a:cs typeface="+mj-cs"/>
        </a:defRPr>
      </a:lvl1pPr>
      <a:lvl2pPr algn="l" defTabSz="457200" rtl="0" eaLnBrk="0" fontAlgn="base" hangingPunct="0">
        <a:spcBef>
          <a:spcPct val="0"/>
        </a:spcBef>
        <a:spcAft>
          <a:spcPct val="0"/>
        </a:spcAft>
        <a:defRPr sz="2400" b="1">
          <a:solidFill>
            <a:schemeClr val="tx1"/>
          </a:solidFill>
          <a:latin typeface="Arial" panose="020B0604020202020204" pitchFamily="34" charset="0"/>
        </a:defRPr>
      </a:lvl2pPr>
      <a:lvl3pPr algn="l" defTabSz="457200" rtl="0" eaLnBrk="0" fontAlgn="base" hangingPunct="0">
        <a:spcBef>
          <a:spcPct val="0"/>
        </a:spcBef>
        <a:spcAft>
          <a:spcPct val="0"/>
        </a:spcAft>
        <a:defRPr sz="2400" b="1">
          <a:solidFill>
            <a:schemeClr val="tx1"/>
          </a:solidFill>
          <a:latin typeface="Arial" panose="020B0604020202020204" pitchFamily="34" charset="0"/>
        </a:defRPr>
      </a:lvl3pPr>
      <a:lvl4pPr algn="l" defTabSz="457200" rtl="0" eaLnBrk="0" fontAlgn="base" hangingPunct="0">
        <a:spcBef>
          <a:spcPct val="0"/>
        </a:spcBef>
        <a:spcAft>
          <a:spcPct val="0"/>
        </a:spcAft>
        <a:defRPr sz="2400" b="1">
          <a:solidFill>
            <a:schemeClr val="tx1"/>
          </a:solidFill>
          <a:latin typeface="Arial" panose="020B0604020202020204" pitchFamily="34" charset="0"/>
        </a:defRPr>
      </a:lvl4pPr>
      <a:lvl5pPr algn="l" defTabSz="457200" rtl="0" eaLnBrk="0" fontAlgn="base" hangingPunct="0">
        <a:spcBef>
          <a:spcPct val="0"/>
        </a:spcBef>
        <a:spcAft>
          <a:spcPct val="0"/>
        </a:spcAft>
        <a:defRPr sz="2400" b="1">
          <a:solidFill>
            <a:schemeClr val="tx1"/>
          </a:solidFill>
          <a:latin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1600" spc="-30">
          <a:solidFill>
            <a:schemeClr val="tx1"/>
          </a:solidFill>
          <a:latin typeface="Arial"/>
          <a:ea typeface="+mn-ea"/>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1400" spc="-30">
          <a:solidFill>
            <a:schemeClr val="tx1"/>
          </a:solidFill>
          <a:latin typeface="Arial"/>
          <a:ea typeface="+mn-ea"/>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1200" spc="-30">
          <a:solidFill>
            <a:schemeClr val="tx1"/>
          </a:solidFill>
          <a:latin typeface="Arial"/>
          <a:ea typeface="+mn-ea"/>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1100" spc="-30">
          <a:solidFill>
            <a:schemeClr val="tx1"/>
          </a:solidFill>
          <a:latin typeface="Arial"/>
          <a:ea typeface="+mn-ea"/>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1100" spc="-3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55588" y="587375"/>
            <a:ext cx="85455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261938" y="1873250"/>
            <a:ext cx="8558212"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p:txBody>
      </p:sp>
      <p:sp>
        <p:nvSpPr>
          <p:cNvPr id="2052" name="Line 4"/>
          <p:cNvSpPr>
            <a:spLocks noChangeShapeType="1"/>
          </p:cNvSpPr>
          <p:nvPr/>
        </p:nvSpPr>
        <p:spPr bwMode="auto">
          <a:xfrm>
            <a:off x="260350" y="549275"/>
            <a:ext cx="8620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9" name="Rectangle 6"/>
          <p:cNvSpPr>
            <a:spLocks noChangeArrowheads="1"/>
          </p:cNvSpPr>
          <p:nvPr/>
        </p:nvSpPr>
        <p:spPr bwMode="black">
          <a:xfrm>
            <a:off x="5916613" y="6481763"/>
            <a:ext cx="3054350" cy="231775"/>
          </a:xfrm>
          <a:prstGeom prst="rect">
            <a:avLst/>
          </a:prstGeom>
          <a:noFill/>
          <a:ln>
            <a:noFill/>
          </a:ln>
          <a:extLst/>
        </p:spPr>
        <p:txBody>
          <a:bodyPr lIns="92075" tIns="46038" rIns="92075" bIns="46038">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US" sz="900" dirty="0">
                <a:solidFill>
                  <a:srgbClr val="000000"/>
                </a:solidFill>
                <a:cs typeface="+mn-cs"/>
              </a:rPr>
              <a:t>© </a:t>
            </a:r>
            <a:r>
              <a:rPr lang="en-US" sz="900" dirty="0" smtClean="0">
                <a:solidFill>
                  <a:srgbClr val="000000"/>
                </a:solidFill>
                <a:cs typeface="+mn-cs"/>
              </a:rPr>
              <a:t>2015 </a:t>
            </a:r>
            <a:r>
              <a:rPr lang="en-US" sz="900" dirty="0">
                <a:solidFill>
                  <a:srgbClr val="000000"/>
                </a:solidFill>
                <a:cs typeface="+mn-cs"/>
              </a:rPr>
              <a:t>IBM Corporation</a:t>
            </a:r>
          </a:p>
        </p:txBody>
      </p:sp>
      <p:sp>
        <p:nvSpPr>
          <p:cNvPr id="1030" name="Rectangle 6"/>
          <p:cNvSpPr>
            <a:spLocks noChangeArrowheads="1"/>
          </p:cNvSpPr>
          <p:nvPr/>
        </p:nvSpPr>
        <p:spPr bwMode="auto">
          <a:xfrm>
            <a:off x="171450" y="6456363"/>
            <a:ext cx="552450" cy="247650"/>
          </a:xfrm>
          <a:prstGeom prst="rect">
            <a:avLst/>
          </a:prstGeom>
          <a:noFill/>
          <a:ln>
            <a:noFill/>
          </a:ln>
          <a:effectLs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fld id="{F0322895-BD90-45C8-95B7-95D62B9F82FE}" type="slidenum">
              <a:rPr lang="en-US" altLang="en-US" sz="1000" smtClean="0">
                <a:solidFill>
                  <a:srgbClr val="000000"/>
                </a:solidFill>
                <a:ea typeface="MS PGothic" panose="020B0600070205080204" pitchFamily="34" charset="-128"/>
              </a:rPr>
              <a:pPr eaLnBrk="1" hangingPunct="1">
                <a:defRPr/>
              </a:pPr>
              <a:t>‹#›</a:t>
            </a:fld>
            <a:endParaRPr lang="en-US" altLang="en-US" sz="1000" smtClean="0">
              <a:solidFill>
                <a:srgbClr val="000000"/>
              </a:solidFill>
              <a:ea typeface="MS PGothic" panose="020B0600070205080204" pitchFamily="34" charset="-128"/>
            </a:endParaRPr>
          </a:p>
        </p:txBody>
      </p:sp>
      <p:pic>
        <p:nvPicPr>
          <p:cNvPr id="2055" name="Picture 15" descr="IBMCloud black"/>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273050" y="338138"/>
            <a:ext cx="106045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Picture 16" descr="IBM Black"/>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947025" y="263525"/>
            <a:ext cx="9239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3" r:id="rId1"/>
    <p:sldLayoutId id="2147483805" r:id="rId2"/>
    <p:sldLayoutId id="2147483806" r:id="rId3"/>
  </p:sldLayoutIdLst>
  <p:txStyles>
    <p:title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p:titleStyle>
    <p:body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www.ng.bluemix.net/docs/#overview/overview.html#overview" TargetMode="External"/><Relationship Id="rId7" Type="http://schemas.openxmlformats.org/officeDocument/2006/relationships/hyperlink" Target="http://docs.cloudfoundry.org/devguide/installcf/whats-new-v6.html#domains-etc" TargetMode="External"/><Relationship Id="rId2" Type="http://schemas.openxmlformats.org/officeDocument/2006/relationships/hyperlink" Target="https://www.ng.bluemix.net/docs/#services/services.html" TargetMode="External"/><Relationship Id="rId1" Type="http://schemas.openxmlformats.org/officeDocument/2006/relationships/slideLayout" Target="../slideLayouts/slideLayout4.xml"/><Relationship Id="rId6" Type="http://schemas.openxmlformats.org/officeDocument/2006/relationships/hyperlink" Target="https://www.ng.bluemix.net/docs/" TargetMode="External"/><Relationship Id="rId5" Type="http://schemas.openxmlformats.org/officeDocument/2006/relationships/hyperlink" Target="http://docs.cloudfoundry.org/devguide/installcf/whats-new-v6.html" TargetMode="External"/><Relationship Id="rId4" Type="http://schemas.openxmlformats.org/officeDocument/2006/relationships/hyperlink" Target="https://www.ng.bluemix.net/docs/#overview/overview.html#ov_intro__reg"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eveloper.ibm.com/bluemix/?cm_mc_uid=94933803266914350890234&amp;cm_mc_sid_50200000=1435089023#https://developer.ibm.com/bluemix/?cm_mc_uid=94933803266914350890234&amp;cm_mc_sid_50200000=1435089023"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hyperlink" Target="https://ibm.biz/BdXGB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57200" y="4160520"/>
            <a:ext cx="6019800" cy="960438"/>
          </a:xfrm>
        </p:spPr>
        <p:txBody>
          <a:bodyPr/>
          <a:lstStyle/>
          <a:p>
            <a:pPr eaLnBrk="1" fontAlgn="auto" hangingPunct="1">
              <a:spcAft>
                <a:spcPts val="0"/>
              </a:spcAft>
              <a:defRPr/>
            </a:pPr>
            <a:r>
              <a:rPr lang="en-US" dirty="0" smtClean="0"/>
              <a:t>Bluemix Operational Management</a:t>
            </a:r>
            <a:endParaRPr lang="en-US" dirty="0"/>
          </a:p>
        </p:txBody>
      </p:sp>
      <p:sp>
        <p:nvSpPr>
          <p:cNvPr id="2" name="Text Placeholder 1"/>
          <p:cNvSpPr>
            <a:spLocks noGrp="1"/>
          </p:cNvSpPr>
          <p:nvPr>
            <p:ph type="body" sz="quarter" idx="11"/>
          </p:nvPr>
        </p:nvSpPr>
        <p:spPr>
          <a:xfrm>
            <a:off x="6629400" y="5211763"/>
            <a:ext cx="2378075" cy="639762"/>
          </a:xfrm>
        </p:spPr>
        <p:txBody>
          <a:bodyPr/>
          <a:lstStyle/>
          <a:p>
            <a:pPr>
              <a:defRPr/>
            </a:pPr>
            <a:r>
              <a:rPr lang="en-US" dirty="0" smtClean="0"/>
              <a:t>IBM Cloud Ecosystem Development team</a:t>
            </a:r>
            <a:endParaRPr 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3757613" y="1920875"/>
            <a:ext cx="5386387" cy="3179763"/>
          </a:xfrm>
        </p:spPr>
        <p:txBody>
          <a:bodyPr/>
          <a:lstStyle/>
          <a:p>
            <a:pPr algn="ctr"/>
            <a:r>
              <a:rPr lang="en-US" altLang="en-US" sz="3600" smtClean="0">
                <a:solidFill>
                  <a:srgbClr val="0070C0"/>
                </a:solidFill>
              </a:rPr>
              <a:t>Concepts of </a:t>
            </a:r>
            <a:br>
              <a:rPr lang="en-US" altLang="en-US" sz="3600" smtClean="0">
                <a:solidFill>
                  <a:srgbClr val="0070C0"/>
                </a:solidFill>
              </a:rPr>
            </a:br>
            <a:r>
              <a:rPr lang="en-US" altLang="en-US" sz="3600" smtClean="0">
                <a:solidFill>
                  <a:srgbClr val="0070C0"/>
                </a:solidFill>
              </a:rPr>
              <a:t>Organizations, Domains Spaces, Users, and Quota</a:t>
            </a:r>
          </a:p>
        </p:txBody>
      </p:sp>
      <p:grpSp>
        <p:nvGrpSpPr>
          <p:cNvPr id="9220" name="Group 231"/>
          <p:cNvGrpSpPr>
            <a:grpSpLocks/>
          </p:cNvGrpSpPr>
          <p:nvPr/>
        </p:nvGrpSpPr>
        <p:grpSpPr bwMode="auto">
          <a:xfrm>
            <a:off x="366713" y="2239963"/>
            <a:ext cx="4575175" cy="3317875"/>
            <a:chOff x="-76200" y="0"/>
            <a:chExt cx="2002239" cy="1280375"/>
          </a:xfrm>
        </p:grpSpPr>
        <p:sp>
          <p:nvSpPr>
            <p:cNvPr id="9221" name="Shape 229"/>
            <p:cNvSpPr>
              <a:spLocks noChangeArrowheads="1"/>
            </p:cNvSpPr>
            <p:nvPr/>
          </p:nvSpPr>
          <p:spPr bwMode="auto">
            <a:xfrm>
              <a:off x="-76200" y="935147"/>
              <a:ext cx="2002239" cy="34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300">
                  <a:solidFill>
                    <a:srgbClr val="405059"/>
                  </a:solidFill>
                  <a:sym typeface="Helvetica Neue Thin"/>
                </a:rPr>
                <a:t>IBM </a:t>
              </a:r>
              <a:r>
                <a:rPr lang="en-US" altLang="en-US" sz="2300" b="1">
                  <a:solidFill>
                    <a:srgbClr val="405059"/>
                  </a:solidFill>
                  <a:sym typeface="Helvetica Neue Thin"/>
                </a:rPr>
                <a:t>Bluemix</a:t>
              </a:r>
            </a:p>
          </p:txBody>
        </p:sp>
        <p:pic>
          <p:nvPicPr>
            <p:cNvPr id="9222" name="image3.png" descr="Matt_Logo_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80" y="0"/>
              <a:ext cx="952910" cy="952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279400" y="546100"/>
            <a:ext cx="8545513" cy="554038"/>
          </a:xfrm>
        </p:spPr>
        <p:txBody>
          <a:bodyPr/>
          <a:lstStyle/>
          <a:p>
            <a:pPr eaLnBrk="1" hangingPunct="1"/>
            <a:r>
              <a:rPr lang="en-US" altLang="en-US" b="1" smtClean="0">
                <a:solidFill>
                  <a:srgbClr val="0070C0"/>
                </a:solidFill>
                <a:cs typeface="Arial" panose="020B0604020202020204" pitchFamily="34" charset="0"/>
              </a:rPr>
              <a:t>Organization - The grouping methodology for users in Bluemix</a:t>
            </a:r>
          </a:p>
        </p:txBody>
      </p:sp>
      <p:grpSp>
        <p:nvGrpSpPr>
          <p:cNvPr id="11267" name="Group 16"/>
          <p:cNvGrpSpPr>
            <a:grpSpLocks/>
          </p:cNvGrpSpPr>
          <p:nvPr/>
        </p:nvGrpSpPr>
        <p:grpSpPr bwMode="auto">
          <a:xfrm>
            <a:off x="1325563" y="1208088"/>
            <a:ext cx="6492875" cy="2193925"/>
            <a:chOff x="1371601" y="1319520"/>
            <a:chExt cx="6441474" cy="2299039"/>
          </a:xfrm>
        </p:grpSpPr>
        <p:sp>
          <p:nvSpPr>
            <p:cNvPr id="7" name="Rounded Rectangle 6"/>
            <p:cNvSpPr>
              <a:spLocks noChangeArrowheads="1"/>
            </p:cNvSpPr>
            <p:nvPr/>
          </p:nvSpPr>
          <p:spPr bwMode="auto">
            <a:xfrm>
              <a:off x="1371601" y="3250912"/>
              <a:ext cx="6400526" cy="367647"/>
            </a:xfrm>
            <a:prstGeom prst="roundRect">
              <a:avLst>
                <a:gd name="adj" fmla="val 16667"/>
              </a:avLst>
            </a:prstGeom>
            <a:blipFill dpi="0" rotWithShape="1">
              <a:blip r:embed="rId3"/>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687" dirty="0">
                  <a:solidFill>
                    <a:srgbClr val="FFFFFF"/>
                  </a:solidFill>
                  <a:latin typeface="+mn-lt"/>
                  <a:sym typeface="Helvetica Light"/>
                </a:rPr>
                <a:t>Spaces</a:t>
              </a:r>
            </a:p>
          </p:txBody>
        </p:sp>
        <p:grpSp>
          <p:nvGrpSpPr>
            <p:cNvPr id="11270" name="Group 8"/>
            <p:cNvGrpSpPr>
              <a:grpSpLocks/>
            </p:cNvGrpSpPr>
            <p:nvPr/>
          </p:nvGrpSpPr>
          <p:grpSpPr bwMode="auto">
            <a:xfrm>
              <a:off x="1371601" y="1319520"/>
              <a:ext cx="6441474" cy="2115512"/>
              <a:chOff x="1371601" y="1319520"/>
              <a:chExt cx="6441474" cy="2115512"/>
            </a:xfrm>
          </p:grpSpPr>
          <p:sp>
            <p:nvSpPr>
              <p:cNvPr id="3" name="Rounded Rectangle 2"/>
              <p:cNvSpPr>
                <a:spLocks noChangeArrowheads="1"/>
              </p:cNvSpPr>
              <p:nvPr/>
            </p:nvSpPr>
            <p:spPr bwMode="auto">
              <a:xfrm>
                <a:off x="4412795" y="1319520"/>
                <a:ext cx="1578082" cy="367646"/>
              </a:xfrm>
              <a:prstGeom prst="roundRect">
                <a:avLst>
                  <a:gd name="adj" fmla="val 16667"/>
                </a:avLst>
              </a:prstGeom>
              <a:blipFill dpi="0" rotWithShape="1">
                <a:blip r:embed="rId3"/>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687" dirty="0">
                    <a:solidFill>
                      <a:srgbClr val="FFFFFF"/>
                    </a:solidFill>
                    <a:latin typeface="+mn-lt"/>
                    <a:sym typeface="Helvetica Light"/>
                  </a:rPr>
                  <a:t>Organization</a:t>
                </a:r>
              </a:p>
            </p:txBody>
          </p:sp>
          <p:sp>
            <p:nvSpPr>
              <p:cNvPr id="4" name="Rounded Rectangle 3"/>
              <p:cNvSpPr>
                <a:spLocks noChangeArrowheads="1"/>
              </p:cNvSpPr>
              <p:nvPr/>
            </p:nvSpPr>
            <p:spPr bwMode="auto">
              <a:xfrm>
                <a:off x="2596898" y="2279393"/>
                <a:ext cx="1579657" cy="365983"/>
              </a:xfrm>
              <a:prstGeom prst="roundRect">
                <a:avLst>
                  <a:gd name="adj" fmla="val 16667"/>
                </a:avLst>
              </a:prstGeom>
              <a:blipFill dpi="0" rotWithShape="1">
                <a:blip r:embed="rId3"/>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687" dirty="0">
                    <a:solidFill>
                      <a:srgbClr val="FFFFFF"/>
                    </a:solidFill>
                    <a:latin typeface="+mn-lt"/>
                    <a:sym typeface="Helvetica Light"/>
                  </a:rPr>
                  <a:t>Domains</a:t>
                </a:r>
              </a:p>
            </p:txBody>
          </p:sp>
          <p:sp>
            <p:nvSpPr>
              <p:cNvPr id="5" name="Rounded Rectangle 4"/>
              <p:cNvSpPr>
                <a:spLocks noChangeArrowheads="1"/>
              </p:cNvSpPr>
              <p:nvPr/>
            </p:nvSpPr>
            <p:spPr bwMode="auto">
              <a:xfrm>
                <a:off x="4417520" y="2279393"/>
                <a:ext cx="1578082" cy="365983"/>
              </a:xfrm>
              <a:prstGeom prst="roundRect">
                <a:avLst>
                  <a:gd name="adj" fmla="val 16667"/>
                </a:avLst>
              </a:prstGeom>
              <a:blipFill dpi="0" rotWithShape="1">
                <a:blip r:embed="rId3"/>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687" dirty="0">
                    <a:solidFill>
                      <a:srgbClr val="FFFFFF"/>
                    </a:solidFill>
                    <a:latin typeface="+mn-lt"/>
                    <a:sym typeface="Helvetica Light"/>
                  </a:rPr>
                  <a:t>Users</a:t>
                </a:r>
              </a:p>
            </p:txBody>
          </p:sp>
          <p:sp>
            <p:nvSpPr>
              <p:cNvPr id="6" name="Rounded Rectangle 5"/>
              <p:cNvSpPr>
                <a:spLocks noChangeArrowheads="1"/>
              </p:cNvSpPr>
              <p:nvPr/>
            </p:nvSpPr>
            <p:spPr bwMode="auto">
              <a:xfrm>
                <a:off x="6234993" y="2279393"/>
                <a:ext cx="1578082" cy="365983"/>
              </a:xfrm>
              <a:prstGeom prst="roundRect">
                <a:avLst>
                  <a:gd name="adj" fmla="val 16667"/>
                </a:avLst>
              </a:prstGeom>
              <a:blipFill dpi="0" rotWithShape="1">
                <a:blip r:embed="rId3"/>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687" dirty="0">
                    <a:solidFill>
                      <a:srgbClr val="FFFFFF"/>
                    </a:solidFill>
                    <a:latin typeface="+mn-lt"/>
                    <a:sym typeface="Helvetica Light"/>
                  </a:rPr>
                  <a:t>Quota</a:t>
                </a:r>
              </a:p>
            </p:txBody>
          </p:sp>
          <p:cxnSp>
            <p:nvCxnSpPr>
              <p:cNvPr id="10" name="Elbow Connector 9"/>
              <p:cNvCxnSpPr>
                <a:stCxn id="3" idx="1"/>
                <a:endCxn id="7" idx="1"/>
              </p:cNvCxnSpPr>
              <p:nvPr/>
            </p:nvCxnSpPr>
            <p:spPr>
              <a:xfrm rot="10800000" flipV="1">
                <a:off x="1371601" y="1502512"/>
                <a:ext cx="3041194" cy="1933056"/>
              </a:xfrm>
              <a:prstGeom prst="bentConnector3">
                <a:avLst>
                  <a:gd name="adj1" fmla="val 107516"/>
                </a:avLst>
              </a:prstGeom>
              <a:noFill/>
              <a:ln w="25400" cap="flat">
                <a:solidFill>
                  <a:srgbClr val="000000"/>
                </a:solidFill>
                <a:prstDash val="solid"/>
                <a:miter lim="400000"/>
                <a:tailEnd type="arrow"/>
              </a:ln>
              <a:effectLst/>
            </p:spPr>
            <p:style>
              <a:lnRef idx="0">
                <a:scrgbClr r="0" g="0" b="0"/>
              </a:lnRef>
              <a:fillRef idx="0">
                <a:scrgbClr r="0" g="0" b="0"/>
              </a:fillRef>
              <a:effectRef idx="0">
                <a:scrgbClr r="0" g="0" b="0"/>
              </a:effectRef>
              <a:fontRef idx="none"/>
            </p:style>
          </p:cxnSp>
          <p:cxnSp>
            <p:nvCxnSpPr>
              <p:cNvPr id="12" name="Elbow Connector 11"/>
              <p:cNvCxnSpPr>
                <a:stCxn id="3" idx="2"/>
                <a:endCxn id="4" idx="0"/>
              </p:cNvCxnSpPr>
              <p:nvPr/>
            </p:nvCxnSpPr>
            <p:spPr>
              <a:xfrm rot="5400000">
                <a:off x="3997774" y="1075331"/>
                <a:ext cx="592227" cy="1815898"/>
              </a:xfrm>
              <a:prstGeom prst="bentConnector3">
                <a:avLst/>
              </a:prstGeom>
              <a:noFill/>
              <a:ln w="25400" cap="flat">
                <a:solidFill>
                  <a:srgbClr val="000000"/>
                </a:solidFill>
                <a:prstDash val="solid"/>
                <a:miter lim="400000"/>
                <a:tailEnd type="arrow"/>
              </a:ln>
              <a:effectLst/>
            </p:spPr>
            <p:style>
              <a:lnRef idx="0">
                <a:scrgbClr r="0" g="0" b="0"/>
              </a:lnRef>
              <a:fillRef idx="0">
                <a:scrgbClr r="0" g="0" b="0"/>
              </a:fillRef>
              <a:effectRef idx="0">
                <a:scrgbClr r="0" g="0" b="0"/>
              </a:effectRef>
              <a:fontRef idx="none"/>
            </p:style>
          </p:cxnSp>
          <p:cxnSp>
            <p:nvCxnSpPr>
              <p:cNvPr id="14" name="Elbow Connector 13"/>
              <p:cNvCxnSpPr>
                <a:stCxn id="3" idx="2"/>
                <a:endCxn id="5" idx="0"/>
              </p:cNvCxnSpPr>
              <p:nvPr/>
            </p:nvCxnSpPr>
            <p:spPr>
              <a:xfrm rot="16200000" flipH="1">
                <a:off x="4908085" y="1980918"/>
                <a:ext cx="592227" cy="4724"/>
              </a:xfrm>
              <a:prstGeom prst="bentConnector3">
                <a:avLst/>
              </a:prstGeom>
              <a:noFill/>
              <a:ln w="25400" cap="flat">
                <a:solidFill>
                  <a:srgbClr val="000000"/>
                </a:solidFill>
                <a:prstDash val="solid"/>
                <a:miter lim="400000"/>
                <a:tailEnd type="arrow"/>
              </a:ln>
              <a:effectLst/>
            </p:spPr>
            <p:style>
              <a:lnRef idx="0">
                <a:scrgbClr r="0" g="0" b="0"/>
              </a:lnRef>
              <a:fillRef idx="0">
                <a:scrgbClr r="0" g="0" b="0"/>
              </a:fillRef>
              <a:effectRef idx="0">
                <a:scrgbClr r="0" g="0" b="0"/>
              </a:effectRef>
              <a:fontRef idx="none"/>
            </p:style>
          </p:cxnSp>
          <p:cxnSp>
            <p:nvCxnSpPr>
              <p:cNvPr id="16" name="Elbow Connector 15"/>
              <p:cNvCxnSpPr>
                <a:stCxn id="3" idx="2"/>
                <a:endCxn id="6" idx="0"/>
              </p:cNvCxnSpPr>
              <p:nvPr/>
            </p:nvCxnSpPr>
            <p:spPr>
              <a:xfrm rot="16200000" flipH="1">
                <a:off x="5816822" y="1072181"/>
                <a:ext cx="592227" cy="1822196"/>
              </a:xfrm>
              <a:prstGeom prst="bentConnector3">
                <a:avLst/>
              </a:prstGeom>
              <a:noFill/>
              <a:ln w="25400" cap="flat">
                <a:solidFill>
                  <a:srgbClr val="000000"/>
                </a:solidFill>
                <a:prstDash val="solid"/>
                <a:miter lim="400000"/>
                <a:tailEnd type="arrow"/>
              </a:ln>
              <a:effectLst/>
            </p:spPr>
            <p:style>
              <a:lnRef idx="0">
                <a:scrgbClr r="0" g="0" b="0"/>
              </a:lnRef>
              <a:fillRef idx="0">
                <a:scrgbClr r="0" g="0" b="0"/>
              </a:fillRef>
              <a:effectRef idx="0">
                <a:scrgbClr r="0" g="0" b="0"/>
              </a:effectRef>
              <a:fontRef idx="none"/>
            </p:style>
          </p:cxnSp>
          <p:cxnSp>
            <p:nvCxnSpPr>
              <p:cNvPr id="18" name="Elbow Connector 17"/>
              <p:cNvCxnSpPr>
                <a:stCxn id="4" idx="2"/>
                <a:endCxn id="7" idx="0"/>
              </p:cNvCxnSpPr>
              <p:nvPr/>
            </p:nvCxnSpPr>
            <p:spPr>
              <a:xfrm rot="16200000" flipH="1">
                <a:off x="3675302" y="2356014"/>
                <a:ext cx="607200" cy="1185925"/>
              </a:xfrm>
              <a:prstGeom prst="bentConnector3">
                <a:avLst/>
              </a:prstGeom>
              <a:noFill/>
              <a:ln w="25400" cap="flat">
                <a:solidFill>
                  <a:srgbClr val="000000"/>
                </a:solidFill>
                <a:prstDash val="solid"/>
                <a:miter lim="400000"/>
                <a:tailEnd type="arrow"/>
              </a:ln>
              <a:effectLst/>
            </p:spPr>
            <p:style>
              <a:lnRef idx="0">
                <a:scrgbClr r="0" g="0" b="0"/>
              </a:lnRef>
              <a:fillRef idx="0">
                <a:scrgbClr r="0" g="0" b="0"/>
              </a:fillRef>
              <a:effectRef idx="0">
                <a:scrgbClr r="0" g="0" b="0"/>
              </a:effectRef>
              <a:fontRef idx="none"/>
            </p:style>
          </p:cxnSp>
          <p:cxnSp>
            <p:nvCxnSpPr>
              <p:cNvPr id="20" name="Elbow Connector 19"/>
              <p:cNvCxnSpPr>
                <a:stCxn id="5" idx="2"/>
                <a:endCxn id="7" idx="0"/>
              </p:cNvCxnSpPr>
              <p:nvPr/>
            </p:nvCxnSpPr>
            <p:spPr>
              <a:xfrm rot="5400000">
                <a:off x="4585613" y="2631627"/>
                <a:ext cx="607200" cy="634697"/>
              </a:xfrm>
              <a:prstGeom prst="bentConnector3">
                <a:avLst/>
              </a:prstGeom>
              <a:noFill/>
              <a:ln w="25400" cap="flat">
                <a:solidFill>
                  <a:srgbClr val="000000"/>
                </a:solidFill>
                <a:prstDash val="solid"/>
                <a:miter lim="400000"/>
                <a:tailEnd type="arrow"/>
              </a:ln>
              <a:effectLst/>
            </p:spPr>
            <p:style>
              <a:lnRef idx="0">
                <a:scrgbClr r="0" g="0" b="0"/>
              </a:lnRef>
              <a:fillRef idx="0">
                <a:scrgbClr r="0" g="0" b="0"/>
              </a:fillRef>
              <a:effectRef idx="0">
                <a:scrgbClr r="0" g="0" b="0"/>
              </a:effectRef>
              <a:fontRef idx="none"/>
            </p:style>
          </p:cxnSp>
        </p:grpSp>
      </p:grpSp>
      <p:sp>
        <p:nvSpPr>
          <p:cNvPr id="11268" name="TextBox 1"/>
          <p:cNvSpPr txBox="1">
            <a:spLocks noChangeArrowheads="1"/>
          </p:cNvSpPr>
          <p:nvPr/>
        </p:nvSpPr>
        <p:spPr bwMode="auto">
          <a:xfrm>
            <a:off x="592138" y="3605213"/>
            <a:ext cx="825341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buFont typeface="Arial" panose="020B0604020202020204" pitchFamily="34" charset="0"/>
              <a:buChar char="•"/>
            </a:pPr>
            <a:r>
              <a:rPr lang="en-US" altLang="en-US" sz="2000"/>
              <a:t>Is defined by domains, spaces, users and quota. Organization name must be unique in Bluemix</a:t>
            </a:r>
          </a:p>
          <a:p>
            <a:pPr>
              <a:buFont typeface="Arial" panose="020B0604020202020204" pitchFamily="34" charset="0"/>
              <a:buChar char="•"/>
            </a:pPr>
            <a:r>
              <a:rPr lang="en-US" altLang="en-US" sz="2000"/>
              <a:t>Users in an org share memory and service instance quotas </a:t>
            </a:r>
          </a:p>
          <a:p>
            <a:pPr>
              <a:buFont typeface="Arial" panose="020B0604020202020204" pitchFamily="34" charset="0"/>
              <a:buChar char="•"/>
            </a:pPr>
            <a:r>
              <a:rPr lang="en-US" altLang="en-US" sz="2000"/>
              <a:t>Administrator can use </a:t>
            </a:r>
            <a:r>
              <a:rPr lang="en-US" altLang="en-US" sz="2000" i="1"/>
              <a:t>Manage Organizations </a:t>
            </a:r>
            <a:r>
              <a:rPr lang="en-US" altLang="en-US" sz="2000"/>
              <a:t>page on Bluemix dashboard to view ands manage the settings of the organization</a:t>
            </a:r>
          </a:p>
          <a:p>
            <a:pPr>
              <a:buFont typeface="Arial" panose="020B0604020202020204" pitchFamily="34" charset="0"/>
              <a:buChar char="•"/>
            </a:pPr>
            <a:r>
              <a:rPr lang="en-US" altLang="en-US" sz="2000"/>
              <a:t>Can be used to collaborate between users and to facilitate the logical grouping of project resources</a:t>
            </a:r>
          </a:p>
          <a:p>
            <a:pPr>
              <a:buFont typeface="Arial" panose="020B0604020202020204" pitchFamily="34" charset="0"/>
              <a:buChar char="•"/>
            </a:pPr>
            <a:r>
              <a:rPr lang="en-US" altLang="en-US" sz="2000"/>
              <a:t>When delete an organization, all the spaces, applications, and services within the organization are deleted.</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79400" y="1524312"/>
            <a:ext cx="8793884" cy="3101338"/>
          </a:xfrm>
          <a:prstGeom prst="rect">
            <a:avLst/>
          </a:prstGeom>
        </p:spPr>
      </p:pic>
      <p:sp>
        <p:nvSpPr>
          <p:cNvPr id="5" name="Rounded Rectangular Callout 4"/>
          <p:cNvSpPr>
            <a:spLocks noChangeArrowheads="1"/>
          </p:cNvSpPr>
          <p:nvPr/>
        </p:nvSpPr>
        <p:spPr bwMode="auto">
          <a:xfrm>
            <a:off x="6355080" y="1060638"/>
            <a:ext cx="1371600" cy="509587"/>
          </a:xfrm>
          <a:prstGeom prst="wedgeRoundRectCallout">
            <a:avLst>
              <a:gd name="adj1" fmla="val 129675"/>
              <a:gd name="adj2" fmla="val 121901"/>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lIns="35719" tIns="35719" rIns="35719" bIns="35719" anchor="ctr">
            <a:spAutoFit/>
          </a:bodyPr>
          <a:lstStyle/>
          <a:p>
            <a:pPr algn="ctr" eaLnBrk="1" fontAlgn="auto" latinLnBrk="1" hangingPunct="1">
              <a:spcBef>
                <a:spcPts val="0"/>
              </a:spcBef>
              <a:spcAft>
                <a:spcPts val="0"/>
              </a:spcAft>
              <a:defRPr/>
            </a:pPr>
            <a:r>
              <a:rPr lang="en-US" sz="1266" dirty="0">
                <a:solidFill>
                  <a:srgbClr val="FFFFFF"/>
                </a:solidFill>
                <a:latin typeface="+mn-lt"/>
                <a:sym typeface="Helvetica Light"/>
              </a:rPr>
              <a:t>1. Click to  show drop down list.</a:t>
            </a:r>
          </a:p>
        </p:txBody>
      </p:sp>
      <p:sp>
        <p:nvSpPr>
          <p:cNvPr id="6" name="Rounded Rectangular Callout 5"/>
          <p:cNvSpPr>
            <a:spLocks noChangeArrowheads="1"/>
          </p:cNvSpPr>
          <p:nvPr/>
        </p:nvSpPr>
        <p:spPr bwMode="auto">
          <a:xfrm>
            <a:off x="6695844" y="5252753"/>
            <a:ext cx="2377440" cy="726370"/>
          </a:xfrm>
          <a:prstGeom prst="wedgeRoundRectCallout">
            <a:avLst>
              <a:gd name="adj1" fmla="val 9786"/>
              <a:gd name="adj2" fmla="val -346787"/>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wrap="square" lIns="35719" tIns="35719" rIns="35719" bIns="35719" anchor="ctr">
            <a:spAutoFit/>
          </a:bodyPr>
          <a:lstStyle/>
          <a:p>
            <a:pPr algn="ctr" eaLnBrk="1" fontAlgn="auto" latinLnBrk="1" hangingPunct="1">
              <a:spcBef>
                <a:spcPts val="0"/>
              </a:spcBef>
              <a:spcAft>
                <a:spcPts val="0"/>
              </a:spcAft>
              <a:defRPr/>
            </a:pPr>
            <a:r>
              <a:rPr lang="en-US" sz="1266" dirty="0">
                <a:solidFill>
                  <a:srgbClr val="FFFFFF"/>
                </a:solidFill>
                <a:latin typeface="+mn-lt"/>
                <a:sym typeface="Helvetica Light"/>
              </a:rPr>
              <a:t>2. Click to  select </a:t>
            </a:r>
            <a:r>
              <a:rPr lang="en-US" sz="1266" i="1" dirty="0">
                <a:solidFill>
                  <a:srgbClr val="FFFFFF"/>
                </a:solidFill>
                <a:latin typeface="+mn-lt"/>
                <a:sym typeface="Helvetica Light"/>
              </a:rPr>
              <a:t>Management </a:t>
            </a:r>
            <a:r>
              <a:rPr lang="en-US" sz="1266" i="1" dirty="0" smtClean="0">
                <a:solidFill>
                  <a:srgbClr val="FFFFFF"/>
                </a:solidFill>
                <a:latin typeface="+mn-lt"/>
                <a:sym typeface="Helvetica Light"/>
              </a:rPr>
              <a:t>Organizations </a:t>
            </a:r>
            <a:r>
              <a:rPr lang="en-US" sz="1266" dirty="0">
                <a:solidFill>
                  <a:srgbClr val="FFFFFF"/>
                </a:solidFill>
                <a:latin typeface="+mn-lt"/>
                <a:sym typeface="Helvetica Light"/>
              </a:rPr>
              <a:t>option from drop down list.</a:t>
            </a:r>
          </a:p>
        </p:txBody>
      </p:sp>
      <p:sp>
        <p:nvSpPr>
          <p:cNvPr id="13317" name="Title 1"/>
          <p:cNvSpPr>
            <a:spLocks noGrp="1"/>
          </p:cNvSpPr>
          <p:nvPr>
            <p:ph type="title"/>
          </p:nvPr>
        </p:nvSpPr>
        <p:spPr>
          <a:xfrm>
            <a:off x="279400" y="546100"/>
            <a:ext cx="8545513" cy="554038"/>
          </a:xfrm>
        </p:spPr>
        <p:txBody>
          <a:bodyPr/>
          <a:lstStyle/>
          <a:p>
            <a:pPr eaLnBrk="1" hangingPunct="1"/>
            <a:r>
              <a:rPr lang="en-US" altLang="en-US" b="1" smtClean="0">
                <a:solidFill>
                  <a:srgbClr val="0070C0"/>
                </a:solidFill>
                <a:cs typeface="Arial" panose="020B0604020202020204" pitchFamily="34" charset="0"/>
              </a:rPr>
              <a:t>Manage Organizations from Bluemix Dashboard</a:t>
            </a:r>
          </a:p>
        </p:txBody>
      </p:sp>
      <p:sp>
        <p:nvSpPr>
          <p:cNvPr id="8" name="Rounded Rectangular Callout 7"/>
          <p:cNvSpPr>
            <a:spLocks noChangeArrowheads="1"/>
          </p:cNvSpPr>
          <p:nvPr/>
        </p:nvSpPr>
        <p:spPr bwMode="auto">
          <a:xfrm>
            <a:off x="1581103" y="924988"/>
            <a:ext cx="1645921" cy="510850"/>
          </a:xfrm>
          <a:prstGeom prst="wedgeRoundRectCallout">
            <a:avLst>
              <a:gd name="adj1" fmla="val -123188"/>
              <a:gd name="adj2" fmla="val 135895"/>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wrap="square" lIns="35719" tIns="35719" rIns="35719" bIns="35719" anchor="ctr">
            <a:spAutoFit/>
          </a:bodyPr>
          <a:lstStyle/>
          <a:p>
            <a:pPr algn="ctr" eaLnBrk="1" fontAlgn="auto" latinLnBrk="1" hangingPunct="1">
              <a:spcBef>
                <a:spcPts val="0"/>
              </a:spcBef>
              <a:spcAft>
                <a:spcPts val="0"/>
              </a:spcAft>
              <a:defRPr/>
            </a:pPr>
            <a:r>
              <a:rPr lang="en-US" sz="1266" dirty="0" smtClean="0">
                <a:solidFill>
                  <a:srgbClr val="FFFFFF"/>
                </a:solidFill>
                <a:latin typeface="+mn-lt"/>
                <a:sym typeface="Helvetica Light"/>
              </a:rPr>
              <a:t>Current</a:t>
            </a:r>
            <a:endParaRPr lang="en-US" sz="1266" dirty="0">
              <a:solidFill>
                <a:srgbClr val="FFFFFF"/>
              </a:solidFill>
              <a:latin typeface="+mn-lt"/>
              <a:sym typeface="Helvetica Light"/>
            </a:endParaRPr>
          </a:p>
          <a:p>
            <a:pPr algn="ctr" eaLnBrk="1" fontAlgn="auto" latinLnBrk="1" hangingPunct="1">
              <a:spcBef>
                <a:spcPts val="0"/>
              </a:spcBef>
              <a:spcAft>
                <a:spcPts val="0"/>
              </a:spcAft>
              <a:defRPr/>
            </a:pPr>
            <a:r>
              <a:rPr lang="en-US" sz="1266" dirty="0">
                <a:solidFill>
                  <a:srgbClr val="FFFFFF"/>
                </a:solidFill>
                <a:latin typeface="+mn-lt"/>
                <a:sym typeface="Helvetica Light"/>
              </a:rPr>
              <a:t>organization.</a:t>
            </a:r>
          </a:p>
        </p:txBody>
      </p:sp>
      <p:sp>
        <p:nvSpPr>
          <p:cNvPr id="9" name="Rounded Rectangular Callout 8"/>
          <p:cNvSpPr>
            <a:spLocks noChangeArrowheads="1"/>
          </p:cNvSpPr>
          <p:nvPr/>
        </p:nvSpPr>
        <p:spPr bwMode="auto">
          <a:xfrm>
            <a:off x="6355079" y="3314700"/>
            <a:ext cx="798367" cy="510850"/>
          </a:xfrm>
          <a:prstGeom prst="wedgeRoundRectCallout">
            <a:avLst>
              <a:gd name="adj1" fmla="val 78071"/>
              <a:gd name="adj2" fmla="val 20442"/>
              <a:gd name="adj3" fmla="val 16667"/>
            </a:avLst>
          </a:prstGeom>
          <a:blipFill dpi="0" rotWithShape="1">
            <a:blip r:embed="rId4"/>
            <a:srcRect/>
            <a:tile tx="0" ty="0" sx="100000" sy="100000" flip="none" algn="tl"/>
          </a:blipFill>
          <a:ln>
            <a:noFill/>
          </a:ln>
          <a:effectLst>
            <a:outerShdw blurRad="38100" dist="25400" dir="5400000" rotWithShape="0">
              <a:srgbClr val="808080">
                <a:alpha val="50000"/>
              </a:srgbClr>
            </a:outerShdw>
          </a:effectLst>
          <a:extLst>
            <a:ext uri="{91240B29-F687-4F45-9708-019B960494DF}">
              <a14:hiddenLine xmlns:a14="http://schemas.microsoft.com/office/drawing/2010/main" w="12700">
                <a:solidFill>
                  <a:srgbClr val="000000"/>
                </a:solidFill>
                <a:miter lim="400000"/>
                <a:headEnd/>
                <a:tailEnd/>
              </a14:hiddenLine>
            </a:ext>
          </a:extLst>
        </p:spPr>
        <p:txBody>
          <a:bodyPr wrap="square" lIns="35719" tIns="35719" rIns="35719" bIns="35719" anchor="ctr">
            <a:spAutoFit/>
          </a:bodyPr>
          <a:lstStyle/>
          <a:p>
            <a:pPr algn="ctr" eaLnBrk="1" fontAlgn="auto" latinLnBrk="1" hangingPunct="1">
              <a:spcBef>
                <a:spcPts val="0"/>
              </a:spcBef>
              <a:spcAft>
                <a:spcPts val="0"/>
              </a:spcAft>
              <a:defRPr/>
            </a:pPr>
            <a:r>
              <a:rPr lang="en-US" sz="1266" dirty="0" smtClean="0">
                <a:solidFill>
                  <a:srgbClr val="FFFFFF"/>
                </a:solidFill>
                <a:latin typeface="+mn-lt"/>
                <a:sym typeface="Helvetica Light"/>
              </a:rPr>
              <a:t>Current </a:t>
            </a:r>
          </a:p>
          <a:p>
            <a:pPr algn="ctr" eaLnBrk="1" fontAlgn="auto" latinLnBrk="1" hangingPunct="1">
              <a:spcBef>
                <a:spcPts val="0"/>
              </a:spcBef>
              <a:spcAft>
                <a:spcPts val="0"/>
              </a:spcAft>
              <a:defRPr/>
            </a:pPr>
            <a:r>
              <a:rPr lang="en-US" sz="1266" dirty="0" smtClean="0">
                <a:solidFill>
                  <a:srgbClr val="FFFFFF"/>
                </a:solidFill>
                <a:latin typeface="+mn-lt"/>
                <a:sym typeface="Helvetica Light"/>
              </a:rPr>
              <a:t>Region</a:t>
            </a:r>
            <a:endParaRPr lang="en-US" sz="1266" dirty="0">
              <a:solidFill>
                <a:srgbClr val="FFFFFF"/>
              </a:solidFill>
              <a:latin typeface="+mn-lt"/>
              <a:sym typeface="Helvetica Light"/>
            </a:endParaRPr>
          </a:p>
        </p:txBody>
      </p:sp>
      <p:pic>
        <p:nvPicPr>
          <p:cNvPr id="10"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01583" y="2057400"/>
            <a:ext cx="5897563" cy="4714875"/>
          </a:xfrm>
          <a:prstGeom prst="rect">
            <a:avLst/>
          </a:prstGeom>
          <a:noFill/>
          <a:ln>
            <a:noFill/>
          </a:ln>
          <a:effectLst>
            <a:glow rad="127000">
              <a:schemeClr val="accent1"/>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55588" y="587375"/>
            <a:ext cx="8659812" cy="554038"/>
          </a:xfrm>
        </p:spPr>
        <p:txBody>
          <a:bodyPr/>
          <a:lstStyle/>
          <a:p>
            <a:pPr eaLnBrk="1" hangingPunct="1"/>
            <a:r>
              <a:rPr lang="en-US" altLang="en-US" smtClean="0">
                <a:solidFill>
                  <a:srgbClr val="0070C0"/>
                </a:solidFill>
                <a:cs typeface="Arial" panose="020B0604020202020204" pitchFamily="34" charset="0"/>
              </a:rPr>
              <a:t>Space – An Organization unit and A sub-group within Bluemix Org</a:t>
            </a:r>
          </a:p>
        </p:txBody>
      </p:sp>
      <p:sp>
        <p:nvSpPr>
          <p:cNvPr id="5" name="Content Placeholder 2"/>
          <p:cNvSpPr txBox="1">
            <a:spLocks/>
          </p:cNvSpPr>
          <p:nvPr/>
        </p:nvSpPr>
        <p:spPr>
          <a:xfrm>
            <a:off x="285750" y="1141413"/>
            <a:ext cx="6664325" cy="5487987"/>
          </a:xfrm>
          <a:prstGeom prst="rect">
            <a:avLst/>
          </a:prstGeom>
        </p:spPr>
        <p:txBody>
          <a:bodyPr/>
          <a:lst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a:lstStyle>
          <a:p>
            <a:pPr>
              <a:defRPr/>
            </a:pPr>
            <a:r>
              <a:rPr lang="en-US" sz="1800" kern="0" dirty="0"/>
              <a:t>C</a:t>
            </a:r>
            <a:r>
              <a:rPr lang="en-US" sz="1800" kern="0" dirty="0" smtClean="0"/>
              <a:t>ontains applications and services in the Cloud Foundry infrastructure and can be used to store and track application resources</a:t>
            </a:r>
          </a:p>
          <a:p>
            <a:pPr marL="0" indent="0">
              <a:buFont typeface="Wingdings" panose="05000000000000000000" pitchFamily="2" charset="2"/>
              <a:buNone/>
              <a:defRPr/>
            </a:pPr>
            <a:endParaRPr lang="en-US" sz="1800" kern="0" dirty="0" smtClean="0"/>
          </a:p>
          <a:p>
            <a:pPr>
              <a:defRPr/>
            </a:pPr>
            <a:r>
              <a:rPr lang="en-US" sz="1800" kern="0" dirty="0" smtClean="0"/>
              <a:t>An organization can contain multiple spaces. In Bluemix, you must associate all the applications and services that you create with a space.</a:t>
            </a:r>
          </a:p>
          <a:p>
            <a:pPr marL="0" indent="0">
              <a:buFont typeface="Wingdings" panose="05000000000000000000" pitchFamily="2" charset="2"/>
              <a:buNone/>
              <a:defRPr/>
            </a:pPr>
            <a:endParaRPr lang="en-US" sz="1800" kern="0" dirty="0" smtClean="0"/>
          </a:p>
          <a:p>
            <a:pPr>
              <a:defRPr/>
            </a:pPr>
            <a:r>
              <a:rPr lang="en-US" sz="1800" kern="0" dirty="0" smtClean="0"/>
              <a:t>Users who are members of an org are given access to one or more of its spaces, with permissions associated with a particular role (such as developer, manager, or auditor). </a:t>
            </a:r>
          </a:p>
          <a:p>
            <a:pPr marL="0" indent="0">
              <a:buFont typeface="Wingdings" panose="05000000000000000000" pitchFamily="2" charset="2"/>
              <a:buNone/>
              <a:defRPr/>
            </a:pPr>
            <a:endParaRPr lang="en-US" sz="1800" kern="0" dirty="0" smtClean="0"/>
          </a:p>
          <a:p>
            <a:pPr>
              <a:defRPr/>
            </a:pPr>
            <a:r>
              <a:rPr lang="en-US" sz="1800" kern="0" dirty="0" smtClean="0"/>
              <a:t>Any member of the space can view apps, but only members with the developer role can create apps and add service instances to the space. </a:t>
            </a:r>
          </a:p>
          <a:p>
            <a:pPr marL="0" indent="0">
              <a:buFont typeface="Wingdings" panose="05000000000000000000" pitchFamily="2" charset="2"/>
              <a:buNone/>
              <a:defRPr/>
            </a:pPr>
            <a:endParaRPr lang="en-US" sz="1800" kern="0" dirty="0" smtClean="0"/>
          </a:p>
          <a:p>
            <a:pPr>
              <a:defRPr/>
            </a:pPr>
            <a:r>
              <a:rPr lang="en-US" sz="1800" kern="0" dirty="0" smtClean="0"/>
              <a:t>Applications and service instances are associated with spaces</a:t>
            </a:r>
          </a:p>
          <a:p>
            <a:pPr marL="0" indent="0">
              <a:buFont typeface="Wingdings" panose="05000000000000000000" pitchFamily="2" charset="2"/>
              <a:buNone/>
              <a:defRPr/>
            </a:pPr>
            <a:endParaRPr lang="en-US" kern="0" dirty="0" smtClean="0"/>
          </a:p>
          <a:p>
            <a:pPr marL="0" indent="0">
              <a:buFont typeface="Wingdings" panose="05000000000000000000" pitchFamily="2" charset="2"/>
              <a:buNone/>
              <a:defRPr/>
            </a:pPr>
            <a:endParaRPr lang="en-US" kern="0" dirty="0"/>
          </a:p>
        </p:txBody>
      </p:sp>
      <p:pic>
        <p:nvPicPr>
          <p:cNvPr id="15364"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50075" y="1325563"/>
            <a:ext cx="2057400"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55588" y="587375"/>
            <a:ext cx="8659812" cy="554038"/>
          </a:xfrm>
        </p:spPr>
        <p:txBody>
          <a:bodyPr/>
          <a:lstStyle/>
          <a:p>
            <a:pPr eaLnBrk="1" hangingPunct="1"/>
            <a:r>
              <a:rPr lang="en-US" altLang="en-US" smtClean="0">
                <a:solidFill>
                  <a:srgbClr val="0070C0"/>
                </a:solidFill>
                <a:cs typeface="Arial" panose="020B0604020202020204" pitchFamily="34" charset="0"/>
              </a:rPr>
              <a:t>Bluemix User – The basic role in organizations and spaces</a:t>
            </a:r>
          </a:p>
        </p:txBody>
      </p:sp>
      <p:sp>
        <p:nvSpPr>
          <p:cNvPr id="5" name="Content Placeholder 2"/>
          <p:cNvSpPr txBox="1">
            <a:spLocks/>
          </p:cNvSpPr>
          <p:nvPr/>
        </p:nvSpPr>
        <p:spPr>
          <a:xfrm>
            <a:off x="255588" y="1006475"/>
            <a:ext cx="8888412" cy="2743200"/>
          </a:xfrm>
          <a:prstGeom prst="rect">
            <a:avLst/>
          </a:prstGeom>
        </p:spPr>
        <p:txBody>
          <a:bodyPr/>
          <a:lst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a:lstStyle>
          <a:p>
            <a:pPr>
              <a:defRPr/>
            </a:pPr>
            <a:r>
              <a:rPr lang="en-US" sz="1800" kern="0" dirty="0" smtClean="0"/>
              <a:t>Bluemix user must be assigned to an organization before the user can be granted permissions to the spaces within the organization. </a:t>
            </a:r>
          </a:p>
          <a:p>
            <a:pPr>
              <a:defRPr/>
            </a:pPr>
            <a:r>
              <a:rPr lang="en-US" sz="1800" kern="0" dirty="0" smtClean="0"/>
              <a:t>User can switch organizations and </a:t>
            </a:r>
            <a:r>
              <a:rPr lang="en-US" sz="1800" dirty="0" smtClean="0"/>
              <a:t>view resources of only one organization at a time</a:t>
            </a:r>
            <a:r>
              <a:rPr lang="en-US" sz="1800" kern="0" dirty="0" smtClean="0"/>
              <a:t> </a:t>
            </a:r>
          </a:p>
          <a:p>
            <a:pPr>
              <a:defRPr/>
            </a:pPr>
            <a:r>
              <a:rPr lang="en-US" sz="1800" kern="0" dirty="0" smtClean="0"/>
              <a:t> An user can be either a member or a collaborator of an organization: </a:t>
            </a:r>
          </a:p>
          <a:p>
            <a:pPr lvl="1">
              <a:defRPr/>
            </a:pPr>
            <a:r>
              <a:rPr lang="en-US" sz="1800" kern="0" dirty="0" smtClean="0"/>
              <a:t> You are a collaborator of an organization, if you already have a Bluemix account, and someone else invites you to the organization.</a:t>
            </a:r>
          </a:p>
          <a:p>
            <a:pPr lvl="1">
              <a:defRPr/>
            </a:pPr>
            <a:r>
              <a:rPr lang="en-US" sz="1800" kern="0" dirty="0" smtClean="0"/>
              <a:t> You are a member of an organization if you don't have a Bluemix account, but then someone invites you to the organization and you sign up for Bluemix from the invitation.</a:t>
            </a:r>
          </a:p>
          <a:p>
            <a:pPr marL="0" indent="0">
              <a:buFont typeface="Wingdings" panose="05000000000000000000" pitchFamily="2" charset="2"/>
              <a:buNone/>
              <a:defRPr/>
            </a:pPr>
            <a:endParaRPr lang="en-US" sz="2400" kern="0" dirty="0" smtClean="0">
              <a:solidFill>
                <a:srgbClr val="0070C0"/>
              </a:solidFill>
            </a:endParaRPr>
          </a:p>
          <a:p>
            <a:pPr marL="0" indent="0">
              <a:buFont typeface="Wingdings" panose="05000000000000000000" pitchFamily="2" charset="2"/>
              <a:buNone/>
              <a:defRPr/>
            </a:pPr>
            <a:endParaRPr lang="en-US" sz="1800" kern="0" dirty="0" smtClean="0"/>
          </a:p>
          <a:p>
            <a:pPr marL="0" indent="0">
              <a:buFont typeface="Wingdings" panose="05000000000000000000" pitchFamily="2" charset="2"/>
              <a:buNone/>
              <a:defRPr/>
            </a:pPr>
            <a:endParaRPr lang="en-US" kern="0" dirty="0"/>
          </a:p>
        </p:txBody>
      </p:sp>
      <p:pic>
        <p:nvPicPr>
          <p:cNvPr id="1741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3978275"/>
            <a:ext cx="6583363" cy="270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255588" y="587375"/>
            <a:ext cx="8659812" cy="554038"/>
          </a:xfrm>
        </p:spPr>
        <p:txBody>
          <a:bodyPr/>
          <a:lstStyle/>
          <a:p>
            <a:pPr eaLnBrk="1" hangingPunct="1"/>
            <a:r>
              <a:rPr lang="en-US" altLang="en-US" smtClean="0">
                <a:solidFill>
                  <a:srgbClr val="0070C0"/>
                </a:solidFill>
                <a:cs typeface="Arial" panose="020B0604020202020204" pitchFamily="34" charset="0"/>
              </a:rPr>
              <a:t>Bluemix Quota – The organization resource limits</a:t>
            </a:r>
          </a:p>
        </p:txBody>
      </p:sp>
      <p:sp>
        <p:nvSpPr>
          <p:cNvPr id="5" name="Content Placeholder 2"/>
          <p:cNvSpPr txBox="1">
            <a:spLocks/>
          </p:cNvSpPr>
          <p:nvPr/>
        </p:nvSpPr>
        <p:spPr>
          <a:xfrm>
            <a:off x="255588" y="1006475"/>
            <a:ext cx="8751887" cy="2193925"/>
          </a:xfrm>
          <a:prstGeom prst="rect">
            <a:avLst/>
          </a:prstGeom>
        </p:spPr>
        <p:txBody>
          <a:bodyPr/>
          <a:lst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a:lstStyle>
          <a:p>
            <a:pPr>
              <a:defRPr/>
            </a:pPr>
            <a:r>
              <a:rPr lang="en-US" altLang="en-US" sz="2400" dirty="0" smtClean="0">
                <a:cs typeface="Arial" panose="020B0604020202020204" pitchFamily="34" charset="0"/>
              </a:rPr>
              <a:t> </a:t>
            </a:r>
            <a:r>
              <a:rPr lang="en-US" altLang="en-US" sz="1800" dirty="0" smtClean="0">
                <a:cs typeface="Arial" panose="020B0604020202020204" pitchFamily="34" charset="0"/>
              </a:rPr>
              <a:t>Represents the resource limits for the organization and defines the number of services and the amount of memory that can be allocated for use by the organization.</a:t>
            </a:r>
          </a:p>
          <a:p>
            <a:pPr>
              <a:defRPr/>
            </a:pPr>
            <a:r>
              <a:rPr lang="en-US" altLang="en-US" sz="1800" dirty="0" smtClean="0">
                <a:cs typeface="Arial" panose="020B0604020202020204" pitchFamily="34" charset="0"/>
              </a:rPr>
              <a:t>Any applications or services in a space of the organization contributes to the usage of the quota. </a:t>
            </a:r>
          </a:p>
          <a:p>
            <a:pPr>
              <a:defRPr/>
            </a:pPr>
            <a:r>
              <a:rPr lang="en-US" altLang="en-US" sz="1800" dirty="0" smtClean="0">
                <a:cs typeface="Arial" panose="020B0604020202020204" pitchFamily="34" charset="0"/>
              </a:rPr>
              <a:t>The quota is assigned when organizations are created.</a:t>
            </a:r>
          </a:p>
          <a:p>
            <a:pPr>
              <a:defRPr/>
            </a:pPr>
            <a:endParaRPr lang="en-US" sz="2400" kern="0" dirty="0" smtClean="0">
              <a:solidFill>
                <a:srgbClr val="0070C0"/>
              </a:solidFill>
            </a:endParaRPr>
          </a:p>
          <a:p>
            <a:pPr marL="0" indent="0">
              <a:buFont typeface="Wingdings" panose="05000000000000000000" pitchFamily="2" charset="2"/>
              <a:buNone/>
              <a:defRPr/>
            </a:pPr>
            <a:endParaRPr lang="en-US" sz="1800" kern="0" dirty="0" smtClean="0"/>
          </a:p>
          <a:p>
            <a:pPr marL="0" indent="0">
              <a:buFont typeface="Wingdings" panose="05000000000000000000" pitchFamily="2" charset="2"/>
              <a:buNone/>
              <a:defRPr/>
            </a:pPr>
            <a:endParaRPr lang="en-US" kern="0" dirty="0"/>
          </a:p>
        </p:txBody>
      </p:sp>
      <p:pic>
        <p:nvPicPr>
          <p:cNvPr id="1946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3206750"/>
            <a:ext cx="533400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255588" y="587375"/>
            <a:ext cx="8545512" cy="555625"/>
          </a:xfrm>
        </p:spPr>
        <p:txBody>
          <a:bodyPr/>
          <a:lstStyle/>
          <a:p>
            <a:pPr eaLnBrk="1" hangingPunct="1"/>
            <a:r>
              <a:rPr lang="en-US" altLang="en-US" smtClean="0">
                <a:solidFill>
                  <a:srgbClr val="0070C0"/>
                </a:solidFill>
                <a:cs typeface="Arial" panose="020B0604020202020204" pitchFamily="34" charset="0"/>
              </a:rPr>
              <a:t>Bluemix Roles and Permissions</a:t>
            </a:r>
          </a:p>
        </p:txBody>
      </p:sp>
      <p:sp>
        <p:nvSpPr>
          <p:cNvPr id="4" name="Rectangle 3"/>
          <p:cNvSpPr/>
          <p:nvPr/>
        </p:nvSpPr>
        <p:spPr>
          <a:xfrm>
            <a:off x="411163" y="1371600"/>
            <a:ext cx="8275637" cy="4586288"/>
          </a:xfrm>
          <a:prstGeom prst="rect">
            <a:avLst/>
          </a:prstGeom>
        </p:spPr>
        <p:txBody>
          <a:bodyPr>
            <a:spAutoFit/>
          </a:bodyPr>
          <a:lstStyle/>
          <a:p>
            <a:pPr marL="342900" indent="-342900">
              <a:buFont typeface="Arial" panose="020B0604020202020204" pitchFamily="34" charset="0"/>
              <a:buChar char="•"/>
              <a:defRPr/>
            </a:pPr>
            <a:r>
              <a:rPr lang="en-US" sz="2000" dirty="0">
                <a:solidFill>
                  <a:srgbClr val="00B0F0"/>
                </a:solidFill>
              </a:rPr>
              <a:t>Organization Roles</a:t>
            </a:r>
          </a:p>
          <a:p>
            <a:pPr marL="742950" lvl="1" indent="-285750">
              <a:buFont typeface="Arial" panose="020B0604020202020204" pitchFamily="34" charset="0"/>
              <a:buChar char="•"/>
              <a:defRPr/>
            </a:pPr>
            <a:r>
              <a:rPr lang="en-US" b="1" dirty="0"/>
              <a:t>Organization users </a:t>
            </a:r>
            <a:r>
              <a:rPr lang="en-US" dirty="0"/>
              <a:t>can view the settings of the organization</a:t>
            </a:r>
          </a:p>
          <a:p>
            <a:pPr lvl="1">
              <a:defRPr/>
            </a:pPr>
            <a:endParaRPr lang="en-US" dirty="0"/>
          </a:p>
          <a:p>
            <a:pPr marL="742950" lvl="1" indent="-285750">
              <a:buFont typeface="Arial" panose="020B0604020202020204" pitchFamily="34" charset="0"/>
              <a:buChar char="•"/>
              <a:defRPr/>
            </a:pPr>
            <a:r>
              <a:rPr lang="en-US" b="1" dirty="0"/>
              <a:t>Organization managers</a:t>
            </a:r>
            <a:r>
              <a:rPr lang="en-US" dirty="0"/>
              <a:t> can create spaces and add users to the organization or spaces.</a:t>
            </a:r>
          </a:p>
          <a:p>
            <a:pPr lvl="1">
              <a:defRPr/>
            </a:pPr>
            <a:endParaRPr lang="en-US" dirty="0"/>
          </a:p>
          <a:p>
            <a:pPr marL="742950" lvl="1" indent="-285750">
              <a:buFont typeface="Arial" panose="020B0604020202020204" pitchFamily="34" charset="0"/>
              <a:buChar char="•"/>
              <a:defRPr/>
            </a:pPr>
            <a:r>
              <a:rPr lang="en-US" b="1" dirty="0"/>
              <a:t>Billing managers</a:t>
            </a:r>
            <a:r>
              <a:rPr lang="en-US" dirty="0"/>
              <a:t> can view organization charges.</a:t>
            </a:r>
          </a:p>
          <a:p>
            <a:pPr lvl="1">
              <a:defRPr/>
            </a:pPr>
            <a:endParaRPr lang="en-US" dirty="0"/>
          </a:p>
          <a:p>
            <a:pPr marL="742950" lvl="1" indent="-285750">
              <a:buFont typeface="Arial" panose="020B0604020202020204" pitchFamily="34" charset="0"/>
              <a:buChar char="•"/>
              <a:defRPr/>
            </a:pPr>
            <a:r>
              <a:rPr lang="en-US" b="1" dirty="0"/>
              <a:t>Auditors</a:t>
            </a:r>
            <a:r>
              <a:rPr lang="en-US" dirty="0"/>
              <a:t> can view all organization and space content.</a:t>
            </a:r>
          </a:p>
          <a:p>
            <a:pPr lvl="1">
              <a:defRPr/>
            </a:pPr>
            <a:endParaRPr lang="en-US" dirty="0"/>
          </a:p>
          <a:p>
            <a:pPr marL="285750" indent="-285750">
              <a:buFont typeface="Arial" panose="020B0604020202020204" pitchFamily="34" charset="0"/>
              <a:buChar char="•"/>
              <a:defRPr/>
            </a:pPr>
            <a:r>
              <a:rPr lang="en-US" sz="2000" dirty="0">
                <a:solidFill>
                  <a:srgbClr val="00B0F0"/>
                </a:solidFill>
              </a:rPr>
              <a:t>Space Roles</a:t>
            </a:r>
          </a:p>
          <a:p>
            <a:pPr marL="742950" lvl="1" indent="-285750">
              <a:buFont typeface="Arial" panose="020B0604020202020204" pitchFamily="34" charset="0"/>
              <a:buChar char="•"/>
              <a:defRPr/>
            </a:pPr>
            <a:r>
              <a:rPr lang="en-US" b="1" dirty="0"/>
              <a:t>Space managers</a:t>
            </a:r>
            <a:r>
              <a:rPr lang="en-US" dirty="0"/>
              <a:t> can add users to the space.</a:t>
            </a:r>
          </a:p>
          <a:p>
            <a:pPr lvl="1">
              <a:defRPr/>
            </a:pPr>
            <a:endParaRPr lang="en-US" dirty="0"/>
          </a:p>
          <a:p>
            <a:pPr marL="742950" lvl="1" indent="-285750">
              <a:buFont typeface="Arial" panose="020B0604020202020204" pitchFamily="34" charset="0"/>
              <a:buChar char="•"/>
              <a:defRPr/>
            </a:pPr>
            <a:r>
              <a:rPr lang="en-US" b="1" dirty="0"/>
              <a:t>Developers</a:t>
            </a:r>
            <a:r>
              <a:rPr lang="en-US" dirty="0"/>
              <a:t> can add and configure applications and services.</a:t>
            </a:r>
          </a:p>
          <a:p>
            <a:pPr lvl="1">
              <a:defRPr/>
            </a:pPr>
            <a:endParaRPr lang="en-US" dirty="0"/>
          </a:p>
          <a:p>
            <a:pPr marL="742950" lvl="1" indent="-285750">
              <a:buFont typeface="Arial" panose="020B0604020202020204" pitchFamily="34" charset="0"/>
              <a:buChar char="•"/>
              <a:defRPr/>
            </a:pPr>
            <a:r>
              <a:rPr lang="en-US" b="1" dirty="0"/>
              <a:t>Auditors</a:t>
            </a:r>
            <a:r>
              <a:rPr lang="en-US" dirty="0"/>
              <a:t> can only view content in the space.</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096963"/>
            <a:ext cx="7785100" cy="549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itle 1"/>
          <p:cNvSpPr>
            <a:spLocks noGrp="1"/>
          </p:cNvSpPr>
          <p:nvPr>
            <p:ph type="title"/>
          </p:nvPr>
        </p:nvSpPr>
        <p:spPr>
          <a:xfrm>
            <a:off x="255588" y="587375"/>
            <a:ext cx="8545512" cy="555625"/>
          </a:xfrm>
        </p:spPr>
        <p:txBody>
          <a:bodyPr/>
          <a:lstStyle/>
          <a:p>
            <a:pPr eaLnBrk="1" hangingPunct="1"/>
            <a:r>
              <a:rPr lang="en-US" altLang="en-US" smtClean="0">
                <a:solidFill>
                  <a:srgbClr val="0070C0"/>
                </a:solidFill>
                <a:cs typeface="Arial" panose="020B0604020202020204" pitchFamily="34" charset="0"/>
              </a:rPr>
              <a:t>Managing Roles and Permissions of Space </a:t>
            </a: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55588" y="593725"/>
            <a:ext cx="8888412" cy="457200"/>
          </a:xfrm>
        </p:spPr>
        <p:txBody>
          <a:bodyPr/>
          <a:lstStyle/>
          <a:p>
            <a:pPr eaLnBrk="1" hangingPunct="1"/>
            <a:r>
              <a:rPr lang="en-US" altLang="en-US" smtClean="0">
                <a:solidFill>
                  <a:srgbClr val="0070C0"/>
                </a:solidFill>
                <a:cs typeface="Arial" panose="020B0604020202020204" pitchFamily="34" charset="0"/>
              </a:rPr>
              <a:t>Bluemix Routes</a:t>
            </a:r>
          </a:p>
        </p:txBody>
      </p:sp>
      <p:sp>
        <p:nvSpPr>
          <p:cNvPr id="62467" name="TextBox 1"/>
          <p:cNvSpPr txBox="1">
            <a:spLocks noChangeArrowheads="1"/>
          </p:cNvSpPr>
          <p:nvPr/>
        </p:nvSpPr>
        <p:spPr bwMode="auto">
          <a:xfrm>
            <a:off x="241300" y="1371600"/>
            <a:ext cx="870585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defRPr/>
            </a:pPr>
            <a:r>
              <a:rPr lang="en-US" sz="2000" dirty="0" smtClean="0"/>
              <a:t>The URL used to direct requests to an application. </a:t>
            </a:r>
          </a:p>
          <a:p>
            <a:pPr marL="0" indent="0" eaLnBrk="1" hangingPunct="1">
              <a:defRPr/>
            </a:pPr>
            <a:endParaRPr lang="en-US" altLang="en-US" sz="2000" dirty="0" smtClean="0"/>
          </a:p>
          <a:p>
            <a:pPr eaLnBrk="1" hangingPunct="1">
              <a:buFont typeface="Arial" panose="020B0604020202020204" pitchFamily="34" charset="0"/>
              <a:buChar char="•"/>
              <a:defRPr/>
            </a:pPr>
            <a:r>
              <a:rPr lang="en-US" sz="2000" dirty="0" smtClean="0"/>
              <a:t>A route is made up of an optional host (or subdomain) and a domain that are specified when an application is pushed.</a:t>
            </a:r>
          </a:p>
          <a:p>
            <a:pPr marL="0" indent="0" eaLnBrk="1" hangingPunct="1">
              <a:defRPr/>
            </a:pPr>
            <a:endParaRPr lang="en-US" altLang="en-US" sz="2000" dirty="0" smtClean="0"/>
          </a:p>
          <a:p>
            <a:pPr>
              <a:buFont typeface="Arial" panose="020B0604020202020204" pitchFamily="34" charset="0"/>
              <a:buChar char="•"/>
              <a:defRPr/>
            </a:pPr>
            <a:r>
              <a:rPr lang="en-US" sz="2000" dirty="0" smtClean="0"/>
              <a:t>A route can be associated with one or more applications. Unless a custom domain is specified, Bluemix uses a default shared domain in the route to your application.</a:t>
            </a:r>
          </a:p>
        </p:txBody>
      </p:sp>
      <p:pic>
        <p:nvPicPr>
          <p:cNvPr id="2458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6525" y="4343400"/>
            <a:ext cx="8915400"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5588" y="1050925"/>
            <a:ext cx="8548687" cy="2881313"/>
          </a:xfrm>
        </p:spPr>
        <p:txBody>
          <a:bodyPr/>
          <a:lstStyle/>
          <a:p>
            <a:pPr>
              <a:defRPr/>
            </a:pPr>
            <a:r>
              <a:rPr lang="en-US" sz="2000" dirty="0"/>
              <a:t> </a:t>
            </a:r>
            <a:r>
              <a:rPr lang="en-US" sz="1800" dirty="0" smtClean="0"/>
              <a:t>Provide </a:t>
            </a:r>
            <a:r>
              <a:rPr lang="en-US" sz="1800" dirty="0"/>
              <a:t>the route on the internet that is allocated to the organization. A route has a sub-domain and a domain. A sub-domain is typically the application name. A domain might be a system domain, or a custom domain that you registered for your application. </a:t>
            </a:r>
            <a:endParaRPr lang="en-US" sz="1800" dirty="0" smtClean="0"/>
          </a:p>
          <a:p>
            <a:pPr>
              <a:defRPr/>
            </a:pPr>
            <a:r>
              <a:rPr lang="en-US" sz="1800" dirty="0" smtClean="0"/>
              <a:t>Part of a naming hierarchy that specifies the route. For example, example.com.</a:t>
            </a:r>
          </a:p>
          <a:p>
            <a:pPr>
              <a:defRPr/>
            </a:pPr>
            <a:r>
              <a:rPr lang="en-US" sz="1800" dirty="0" smtClean="0"/>
              <a:t> In Bluemix, domains are associated with orgs. Domain objects are not directly bound to apps</a:t>
            </a:r>
          </a:p>
          <a:p>
            <a:pPr marL="0" indent="0">
              <a:buFont typeface="Wingdings" panose="05000000000000000000" pitchFamily="2" charset="2"/>
              <a:buNone/>
              <a:defRPr/>
            </a:pPr>
            <a:endParaRPr lang="en-US" sz="1800" dirty="0"/>
          </a:p>
        </p:txBody>
      </p:sp>
      <p:sp>
        <p:nvSpPr>
          <p:cNvPr id="26627" name="Title 1"/>
          <p:cNvSpPr>
            <a:spLocks noGrp="1"/>
          </p:cNvSpPr>
          <p:nvPr>
            <p:ph type="title"/>
          </p:nvPr>
        </p:nvSpPr>
        <p:spPr>
          <a:xfrm>
            <a:off x="255588" y="587375"/>
            <a:ext cx="8659812" cy="554038"/>
          </a:xfrm>
        </p:spPr>
        <p:txBody>
          <a:bodyPr/>
          <a:lstStyle/>
          <a:p>
            <a:pPr eaLnBrk="1" hangingPunct="1"/>
            <a:r>
              <a:rPr lang="en-US" altLang="en-US" smtClean="0">
                <a:solidFill>
                  <a:srgbClr val="0070C0"/>
                </a:solidFill>
                <a:cs typeface="Arial" panose="020B0604020202020204" pitchFamily="34" charset="0"/>
              </a:rPr>
              <a:t>Bluemix Domains</a:t>
            </a:r>
          </a:p>
        </p:txBody>
      </p:sp>
      <p:pic>
        <p:nvPicPr>
          <p:cNvPr id="2662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38" y="4114800"/>
            <a:ext cx="4822825" cy="209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892675" y="2916238"/>
            <a:ext cx="3748088" cy="394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744913" y="2801938"/>
            <a:ext cx="5262562" cy="1765300"/>
          </a:xfrm>
        </p:spPr>
        <p:txBody>
          <a:bodyPr/>
          <a:lstStyle/>
          <a:p>
            <a:pPr algn="ctr"/>
            <a:r>
              <a:rPr lang="en-US" altLang="en-US" sz="3600" smtClean="0">
                <a:solidFill>
                  <a:srgbClr val="0070C0"/>
                </a:solidFill>
              </a:rPr>
              <a:t>Concept of </a:t>
            </a:r>
            <a:br>
              <a:rPr lang="en-US" altLang="en-US" sz="3600" smtClean="0">
                <a:solidFill>
                  <a:srgbClr val="0070C0"/>
                </a:solidFill>
              </a:rPr>
            </a:br>
            <a:r>
              <a:rPr lang="en-US" altLang="en-US" sz="3600" smtClean="0">
                <a:solidFill>
                  <a:srgbClr val="0070C0"/>
                </a:solidFill>
              </a:rPr>
              <a:t>Regions</a:t>
            </a:r>
          </a:p>
        </p:txBody>
      </p:sp>
      <p:grpSp>
        <p:nvGrpSpPr>
          <p:cNvPr id="28675" name="Group 231"/>
          <p:cNvGrpSpPr>
            <a:grpSpLocks/>
          </p:cNvGrpSpPr>
          <p:nvPr/>
        </p:nvGrpSpPr>
        <p:grpSpPr bwMode="auto">
          <a:xfrm>
            <a:off x="366713" y="2239963"/>
            <a:ext cx="4575175" cy="3317875"/>
            <a:chOff x="-76200" y="0"/>
            <a:chExt cx="2002239" cy="1280375"/>
          </a:xfrm>
        </p:grpSpPr>
        <p:sp>
          <p:nvSpPr>
            <p:cNvPr id="28676" name="Shape 229"/>
            <p:cNvSpPr>
              <a:spLocks noChangeArrowheads="1"/>
            </p:cNvSpPr>
            <p:nvPr/>
          </p:nvSpPr>
          <p:spPr bwMode="auto">
            <a:xfrm>
              <a:off x="-76200" y="935147"/>
              <a:ext cx="2002239" cy="34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300">
                  <a:solidFill>
                    <a:srgbClr val="405059"/>
                  </a:solidFill>
                  <a:sym typeface="Helvetica Neue Thin"/>
                </a:rPr>
                <a:t>IBM </a:t>
              </a:r>
              <a:r>
                <a:rPr lang="en-US" altLang="en-US" sz="2300" b="1">
                  <a:solidFill>
                    <a:srgbClr val="405059"/>
                  </a:solidFill>
                  <a:sym typeface="Helvetica Neue Thin"/>
                </a:rPr>
                <a:t>Bluemix</a:t>
              </a:r>
            </a:p>
          </p:txBody>
        </p:sp>
        <p:pic>
          <p:nvPicPr>
            <p:cNvPr id="28677" name="image3.png" descr="Matt_Logo_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580" y="0"/>
              <a:ext cx="952910" cy="952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gr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255588" y="603001"/>
            <a:ext cx="8895144" cy="463550"/>
          </a:xfrm>
        </p:spPr>
        <p:txBody>
          <a:bodyPr/>
          <a:lstStyle/>
          <a:p>
            <a:pPr eaLnBrk="1" hangingPunct="1"/>
            <a:r>
              <a:rPr lang="en-US" altLang="en-US" sz="2000" b="1" dirty="0" smtClean="0">
                <a:solidFill>
                  <a:srgbClr val="0070C0"/>
                </a:solidFill>
                <a:cs typeface="Arial" panose="020B0604020202020204" pitchFamily="34" charset="0"/>
              </a:rPr>
              <a:t>Bluemix Region– A  Defined Geographical Territory for App Deployment</a:t>
            </a:r>
          </a:p>
        </p:txBody>
      </p:sp>
      <p:sp>
        <p:nvSpPr>
          <p:cNvPr id="62467" name="TextBox 1"/>
          <p:cNvSpPr txBox="1">
            <a:spLocks noChangeArrowheads="1"/>
          </p:cNvSpPr>
          <p:nvPr/>
        </p:nvSpPr>
        <p:spPr bwMode="auto">
          <a:xfrm>
            <a:off x="255588" y="1050925"/>
            <a:ext cx="6059487"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defRPr/>
            </a:pPr>
            <a:r>
              <a:rPr lang="en-US" altLang="en-US" dirty="0" smtClean="0"/>
              <a:t>A unique prefix, CF API endpoint &amp; UI console are assigned to each region</a:t>
            </a:r>
          </a:p>
          <a:p>
            <a:pPr marL="0" indent="0" eaLnBrk="1" hangingPunct="1">
              <a:defRPr/>
            </a:pPr>
            <a:endParaRPr lang="en-US" altLang="en-US" dirty="0" smtClean="0"/>
          </a:p>
          <a:p>
            <a:pPr eaLnBrk="1" hangingPunct="1">
              <a:buFont typeface="Arial" panose="020B0604020202020204" pitchFamily="34" charset="0"/>
              <a:buChar char="•"/>
              <a:defRPr/>
            </a:pPr>
            <a:r>
              <a:rPr lang="en-US" altLang="en-US" dirty="0" smtClean="0"/>
              <a:t>Applications and service instances can be created in different regions with same Bluemix infrastructure</a:t>
            </a:r>
          </a:p>
          <a:p>
            <a:pPr eaLnBrk="1" hangingPunct="1">
              <a:buFont typeface="Arial" panose="020B0604020202020204" pitchFamily="34" charset="0"/>
              <a:buChar char="•"/>
              <a:defRPr/>
            </a:pPr>
            <a:endParaRPr lang="en-US" altLang="en-US" dirty="0" smtClean="0"/>
          </a:p>
          <a:p>
            <a:pPr>
              <a:buFont typeface="Arial" panose="020B0604020202020204" pitchFamily="34" charset="0"/>
              <a:buChar char="•"/>
              <a:defRPr/>
            </a:pPr>
            <a:r>
              <a:rPr lang="en-US" dirty="0" smtClean="0"/>
              <a:t>You can switch to a different region to work with the spaces in that region from Bluemix Dashboard UI Console after log in to Bluemix</a:t>
            </a:r>
          </a:p>
          <a:p>
            <a:pPr>
              <a:buFont typeface="Arial" panose="020B0604020202020204" pitchFamily="34" charset="0"/>
              <a:buChar char="•"/>
              <a:defRPr/>
            </a:pPr>
            <a:endParaRPr lang="en-US" dirty="0"/>
          </a:p>
          <a:p>
            <a:pPr>
              <a:buFont typeface="Arial" panose="020B0604020202020204" pitchFamily="34" charset="0"/>
              <a:buChar char="•"/>
              <a:defRPr/>
            </a:pPr>
            <a:r>
              <a:rPr lang="en-US" dirty="0" smtClean="0"/>
              <a:t>If using the </a:t>
            </a:r>
            <a:r>
              <a:rPr lang="en-US" dirty="0" err="1" smtClean="0"/>
              <a:t>cf</a:t>
            </a:r>
            <a:r>
              <a:rPr lang="en-US" dirty="0" smtClean="0"/>
              <a:t> command line interface, you must connect to the Bluemix region that you want to work with by using the </a:t>
            </a:r>
            <a:r>
              <a:rPr lang="en-US" dirty="0" err="1" smtClean="0"/>
              <a:t>cf</a:t>
            </a:r>
            <a:r>
              <a:rPr lang="en-US" dirty="0" smtClean="0"/>
              <a:t> API command and specifying the CF API endpoint of the region. For example, </a:t>
            </a:r>
            <a:endParaRPr lang="en-US" altLang="en-US" dirty="0" smtClean="0"/>
          </a:p>
          <a:p>
            <a:pPr lvl="1" eaLnBrk="1" hangingPunct="1">
              <a:buFont typeface="Arial" panose="020B0604020202020204" pitchFamily="34" charset="0"/>
              <a:buChar char="•"/>
              <a:defRPr/>
            </a:pPr>
            <a:r>
              <a:rPr lang="en-US" dirty="0" smtClean="0"/>
              <a:t>$ </a:t>
            </a:r>
            <a:r>
              <a:rPr lang="en-US" dirty="0" err="1" smtClean="0"/>
              <a:t>cf</a:t>
            </a:r>
            <a:r>
              <a:rPr lang="en-US" dirty="0" smtClean="0"/>
              <a:t>  </a:t>
            </a:r>
            <a:r>
              <a:rPr lang="en-US" dirty="0" err="1" smtClean="0"/>
              <a:t>api</a:t>
            </a:r>
            <a:r>
              <a:rPr lang="en-US" dirty="0" smtClean="0"/>
              <a:t> https://api.eu-gb.bluemix.net</a:t>
            </a:r>
            <a:r>
              <a:rPr lang="en-US" altLang="en-US" dirty="0" smtClean="0"/>
              <a:t> </a:t>
            </a:r>
          </a:p>
        </p:txBody>
      </p:sp>
      <p:graphicFrame>
        <p:nvGraphicFramePr>
          <p:cNvPr id="7" name="Table 6"/>
          <p:cNvGraphicFramePr>
            <a:graphicFrameLocks noGrp="1"/>
          </p:cNvGraphicFramePr>
          <p:nvPr/>
        </p:nvGraphicFramePr>
        <p:xfrm>
          <a:off x="685800" y="5291138"/>
          <a:ext cx="7620000" cy="1524000"/>
        </p:xfrm>
        <a:graphic>
          <a:graphicData uri="http://schemas.openxmlformats.org/drawingml/2006/table">
            <a:tbl>
              <a:tblPr/>
              <a:tblGrid>
                <a:gridCol w="1905000"/>
                <a:gridCol w="1905000"/>
                <a:gridCol w="1905000"/>
                <a:gridCol w="1905000"/>
              </a:tblGrid>
              <a:tr h="311150">
                <a:tc gridSpan="4">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dirty="0" smtClean="0">
                          <a:ln>
                            <a:noFill/>
                          </a:ln>
                          <a:solidFill>
                            <a:srgbClr val="FFFFFF"/>
                          </a:solidFill>
                          <a:effectLst/>
                          <a:latin typeface="Arial" panose="020B0604020202020204" pitchFamily="34" charset="0"/>
                          <a:cs typeface="Arial" panose="020B0604020202020204" pitchFamily="34" charset="0"/>
                        </a:rPr>
                        <a:t>Bluemix region list</a:t>
                      </a:r>
                      <a:endParaRPr kumimoji="0" lang="en-US" altLang="en-US" sz="1000" b="1" i="0" u="none" strike="noStrike" cap="none" normalizeH="0" baseline="0" dirty="0" smtClean="0">
                        <a:ln>
                          <a:noFill/>
                        </a:ln>
                        <a:solidFill>
                          <a:srgbClr val="FFFFFF"/>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311150">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smtClean="0">
                          <a:ln>
                            <a:noFill/>
                          </a:ln>
                          <a:solidFill>
                            <a:srgbClr val="FFFFFF"/>
                          </a:solidFill>
                          <a:effectLst/>
                          <a:latin typeface="Arial" panose="020B0604020202020204" pitchFamily="34" charset="0"/>
                          <a:cs typeface="Arial" panose="020B0604020202020204" pitchFamily="34" charset="0"/>
                        </a:rPr>
                        <a:t>Region name</a:t>
                      </a:r>
                      <a:endParaRPr kumimoji="0" lang="en-US" altLang="en-US" sz="1000" b="1" i="0" u="none" strike="noStrike" cap="none" normalizeH="0" baseline="0" smtClean="0">
                        <a:ln>
                          <a:noFill/>
                        </a:ln>
                        <a:solidFill>
                          <a:srgbClr val="FFFFFF"/>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Region prefix</a:t>
                      </a:r>
                      <a:endParaRPr kumimoji="0" lang="en-US" altLang="en-US" sz="1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EEFB"/>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CF api endpoint</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EEFB"/>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UI console</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EEFB"/>
                    </a:solidFill>
                  </a:tcPr>
                </a:tc>
              </a:tr>
              <a:tr h="311150">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smtClean="0">
                          <a:ln>
                            <a:noFill/>
                          </a:ln>
                          <a:solidFill>
                            <a:srgbClr val="FFFFFF"/>
                          </a:solidFill>
                          <a:effectLst/>
                          <a:latin typeface="Arial" panose="020B0604020202020204" pitchFamily="34" charset="0"/>
                          <a:cs typeface="Arial" panose="020B0604020202020204" pitchFamily="34" charset="0"/>
                        </a:rPr>
                        <a:t>US South region</a:t>
                      </a:r>
                      <a:endParaRPr kumimoji="0" lang="en-US" altLang="en-US" sz="1000" b="1" i="0" u="none" strike="noStrike" cap="none" normalizeH="0" baseline="0" smtClean="0">
                        <a:ln>
                          <a:noFill/>
                        </a:ln>
                        <a:solidFill>
                          <a:srgbClr val="FFFFFF"/>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us-south</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7FD"/>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api.ng.bluemix.net</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7FD"/>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console.ng.bluemix.net</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7FD"/>
                    </a:solidFill>
                  </a:tcPr>
                </a:tc>
              </a:tr>
              <a:tr h="590550">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1" i="0" u="none" strike="noStrike" cap="none" normalizeH="0" baseline="0" smtClean="0">
                          <a:ln>
                            <a:noFill/>
                          </a:ln>
                          <a:solidFill>
                            <a:srgbClr val="FFFFFF"/>
                          </a:solidFill>
                          <a:effectLst/>
                          <a:latin typeface="Arial" panose="020B0604020202020204" pitchFamily="34" charset="0"/>
                          <a:cs typeface="Arial" panose="020B0604020202020204" pitchFamily="34" charset="0"/>
                        </a:rPr>
                        <a:t>Europe United Kingdom region</a:t>
                      </a:r>
                      <a:endParaRPr kumimoji="0" lang="en-US" altLang="en-US" sz="1000" b="1" i="0" u="none" strike="noStrike" cap="none" normalizeH="0" baseline="0" smtClean="0">
                        <a:ln>
                          <a:noFill/>
                        </a:ln>
                        <a:solidFill>
                          <a:srgbClr val="FFFFFF"/>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eu-gb</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EEFB"/>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rgbClr val="000000"/>
                          </a:solidFill>
                          <a:effectLst/>
                          <a:latin typeface="Arial" panose="020B0604020202020204" pitchFamily="34" charset="0"/>
                          <a:cs typeface="Arial" panose="020B0604020202020204" pitchFamily="34" charset="0"/>
                        </a:rPr>
                        <a:t>api.eu-gb.bluemix.net</a:t>
                      </a:r>
                      <a:endParaRPr kumimoji="0" lang="en-US" altLang="en-US" sz="1000" b="0" i="0" u="none" strike="noStrike" cap="none" normalizeH="0" baseline="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EEFB"/>
                    </a:solidFill>
                  </a:tcPr>
                </a:tc>
                <a:tc>
                  <a:txBody>
                    <a:bodyPr/>
                    <a:lstStyle>
                      <a:lvl1pPr>
                        <a:spcBef>
                          <a:spcPct val="20000"/>
                        </a:spcBef>
                        <a:buClr>
                          <a:schemeClr val="tx1"/>
                        </a:buClr>
                        <a:buFont typeface="Wingdings" panose="05000000000000000000" pitchFamily="2" charset="2"/>
                        <a:defRPr sz="14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tx1"/>
                        </a:buClr>
                        <a:buFont typeface="Symbol" panose="05050102010706020507" pitchFamily="18" charset="2"/>
                        <a:defRPr sz="14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defRPr sz="1200">
                          <a:solidFill>
                            <a:schemeClr val="tx1"/>
                          </a:solidFill>
                          <a:latin typeface="Arial" panose="020B0604020202020204" pitchFamily="34" charset="0"/>
                          <a:ea typeface="MS PGothic" panose="020B0600070205080204" pitchFamily="34" charset="-128"/>
                        </a:defRPr>
                      </a:lvl4pPr>
                      <a:lvl5pPr marL="2057400" indent="-228600">
                        <a:spcBef>
                          <a:spcPct val="20000"/>
                        </a:spcBef>
                        <a:buClr>
                          <a:schemeClr val="tx1"/>
                        </a:buClr>
                        <a:defRPr sz="1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defRPr sz="1000">
                          <a:solidFill>
                            <a:schemeClr val="tx1"/>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console.eu-gb.bluemix.net</a:t>
                      </a:r>
                      <a:endParaRPr kumimoji="0" lang="en-US" altLang="en-US" sz="1000" b="0" i="0" u="none" strike="noStrike" cap="none" normalizeH="0" baseline="0" dirty="0" smtClean="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9EEFB"/>
                    </a:solidFill>
                  </a:tcPr>
                </a:tc>
              </a:tr>
            </a:tbl>
          </a:graphicData>
        </a:graphic>
      </p:graphicFrame>
      <p:pic>
        <p:nvPicPr>
          <p:cNvPr id="3" name="Picture 2"/>
          <p:cNvPicPr>
            <a:picLocks noChangeAspect="1"/>
          </p:cNvPicPr>
          <p:nvPr/>
        </p:nvPicPr>
        <p:blipFill>
          <a:blip r:embed="rId3"/>
          <a:stretch>
            <a:fillRect/>
          </a:stretch>
        </p:blipFill>
        <p:spPr>
          <a:xfrm>
            <a:off x="6315075" y="1160611"/>
            <a:ext cx="2828925" cy="3400425"/>
          </a:xfrm>
          <a:prstGeom prst="rect">
            <a:avLst/>
          </a:prstGeom>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255588" y="587375"/>
            <a:ext cx="8545512" cy="555625"/>
          </a:xfrm>
        </p:spPr>
        <p:txBody>
          <a:bodyPr/>
          <a:lstStyle/>
          <a:p>
            <a:pPr eaLnBrk="1" hangingPunct="1"/>
            <a:r>
              <a:rPr lang="en-US" altLang="en-US" smtClean="0">
                <a:solidFill>
                  <a:srgbClr val="0070C0"/>
                </a:solidFill>
                <a:cs typeface="Arial" panose="020B0604020202020204" pitchFamily="34" charset="0"/>
              </a:rPr>
              <a:t>Manage Applications in Multiple Bluemix Regions</a:t>
            </a:r>
          </a:p>
        </p:txBody>
      </p:sp>
      <p:sp>
        <p:nvSpPr>
          <p:cNvPr id="5" name="Rectangle 4"/>
          <p:cNvSpPr/>
          <p:nvPr/>
        </p:nvSpPr>
        <p:spPr>
          <a:xfrm>
            <a:off x="311150" y="1143000"/>
            <a:ext cx="8434388" cy="4708525"/>
          </a:xfrm>
          <a:prstGeom prst="rect">
            <a:avLst/>
          </a:prstGeom>
        </p:spPr>
        <p:txBody>
          <a:bodyPr>
            <a:spAutoFit/>
          </a:bodyPr>
          <a:lstStyle/>
          <a:p>
            <a:pPr marL="285750" indent="-285750">
              <a:buFont typeface="Arial" panose="020B0604020202020204" pitchFamily="34" charset="0"/>
              <a:buChar char="•"/>
              <a:defRPr/>
            </a:pPr>
            <a:r>
              <a:rPr lang="en-US" sz="2000" dirty="0"/>
              <a:t>Applications and service instances can be created in different regions.</a:t>
            </a:r>
          </a:p>
          <a:p>
            <a:pPr>
              <a:defRPr/>
            </a:pPr>
            <a:r>
              <a:rPr lang="en-US" sz="2000" dirty="0"/>
              <a:t> </a:t>
            </a:r>
          </a:p>
          <a:p>
            <a:pPr marL="285750" indent="-285750">
              <a:buFont typeface="Arial" panose="020B0604020202020204" pitchFamily="34" charset="0"/>
              <a:buChar char="•"/>
              <a:defRPr/>
            </a:pPr>
            <a:r>
              <a:rPr lang="en-US" sz="2000" dirty="0"/>
              <a:t>Select the region that is nearest to your customers and deploy your apps to this region to get low application latency. </a:t>
            </a:r>
          </a:p>
          <a:p>
            <a:pPr>
              <a:defRPr/>
            </a:pPr>
            <a:endParaRPr lang="en-US" sz="2000" dirty="0"/>
          </a:p>
          <a:p>
            <a:pPr marL="285750" indent="-285750">
              <a:buFont typeface="Arial" panose="020B0604020202020204" pitchFamily="34" charset="0"/>
              <a:buChar char="•"/>
              <a:defRPr/>
            </a:pPr>
            <a:r>
              <a:rPr lang="en-US" sz="2000" dirty="0"/>
              <a:t>Select the region where you want to keep the application data to address country regulatory and security issues. </a:t>
            </a:r>
          </a:p>
          <a:p>
            <a:pPr>
              <a:defRPr/>
            </a:pPr>
            <a:endParaRPr lang="en-US" sz="2000" dirty="0"/>
          </a:p>
          <a:p>
            <a:pPr marL="285750" indent="-285750">
              <a:buFont typeface="Arial" panose="020B0604020202020204" pitchFamily="34" charset="0"/>
              <a:buChar char="•"/>
              <a:defRPr/>
            </a:pPr>
            <a:r>
              <a:rPr lang="en-US" sz="2000" dirty="0"/>
              <a:t>When build apps in multiple regions, if one region goes down, the apps that are in the other regions continue to run. </a:t>
            </a:r>
          </a:p>
          <a:p>
            <a:pPr>
              <a:defRPr/>
            </a:pPr>
            <a:endParaRPr lang="en-US" sz="2000" dirty="0"/>
          </a:p>
          <a:p>
            <a:pPr marL="285750" indent="-285750">
              <a:buFont typeface="Arial" panose="020B0604020202020204" pitchFamily="34" charset="0"/>
              <a:buChar char="•"/>
              <a:defRPr/>
            </a:pPr>
            <a:r>
              <a:rPr lang="en-US" sz="2000" dirty="0"/>
              <a:t>Your resource allowance is the same for each region that you use.</a:t>
            </a:r>
          </a:p>
          <a:p>
            <a:pPr>
              <a:defRPr/>
            </a:pPr>
            <a:endParaRPr lang="en-US" sz="2000" dirty="0"/>
          </a:p>
          <a:p>
            <a:pPr marL="285750" indent="-285750">
              <a:buFont typeface="Arial" panose="020B0604020202020204" pitchFamily="34" charset="0"/>
              <a:buChar char="•"/>
              <a:defRPr/>
            </a:pPr>
            <a:r>
              <a:rPr lang="en-US" sz="2000" dirty="0"/>
              <a:t>Services available in Bluemix catalog and service plan might not the same across regions</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71475" y="609600"/>
            <a:ext cx="8543925" cy="304800"/>
          </a:xfrm>
          <a:prstGeom prst="rect">
            <a:avLst/>
          </a:prstGeom>
          <a:noFill/>
          <a:ln w="9525">
            <a:noFill/>
            <a:miter lim="800000"/>
            <a:headEnd/>
            <a:tailEnd/>
          </a:ln>
        </p:spPr>
        <p:txBody>
          <a:bodyPr lIns="0" tIns="0" rIns="0" bIns="0">
            <a:spAutoFit/>
          </a:bodyPr>
          <a:lstStyle>
            <a:lvl1pPr algn="l" rtl="0" eaLnBrk="1" fontAlgn="base" hangingPunct="1">
              <a:lnSpc>
                <a:spcPct val="90000"/>
              </a:lnSpc>
              <a:spcBef>
                <a:spcPct val="0"/>
              </a:spcBef>
              <a:spcAft>
                <a:spcPct val="0"/>
              </a:spcAft>
              <a:defRPr sz="2200" b="1">
                <a:solidFill>
                  <a:srgbClr val="0070C0"/>
                </a:solidFill>
                <a:latin typeface="+mj-lt"/>
                <a:ea typeface="+mj-ea"/>
                <a:cs typeface="+mj-cs"/>
              </a:defRPr>
            </a:lvl1pPr>
            <a:lvl2pPr algn="l" rtl="0" eaLnBrk="1" fontAlgn="base" hangingPunct="1">
              <a:lnSpc>
                <a:spcPct val="90000"/>
              </a:lnSpc>
              <a:spcBef>
                <a:spcPct val="0"/>
              </a:spcBef>
              <a:spcAft>
                <a:spcPct val="0"/>
              </a:spcAft>
              <a:defRPr sz="2400">
                <a:solidFill>
                  <a:srgbClr val="008ABF"/>
                </a:solidFill>
                <a:latin typeface="Arial" pitchFamily="34" charset="0"/>
              </a:defRPr>
            </a:lvl2pPr>
            <a:lvl3pPr algn="l" rtl="0" eaLnBrk="1" fontAlgn="base" hangingPunct="1">
              <a:lnSpc>
                <a:spcPct val="90000"/>
              </a:lnSpc>
              <a:spcBef>
                <a:spcPct val="0"/>
              </a:spcBef>
              <a:spcAft>
                <a:spcPct val="0"/>
              </a:spcAft>
              <a:defRPr sz="2400">
                <a:solidFill>
                  <a:srgbClr val="008ABF"/>
                </a:solidFill>
                <a:latin typeface="Arial" pitchFamily="34" charset="0"/>
              </a:defRPr>
            </a:lvl3pPr>
            <a:lvl4pPr algn="l" rtl="0" eaLnBrk="1" fontAlgn="base" hangingPunct="1">
              <a:lnSpc>
                <a:spcPct val="90000"/>
              </a:lnSpc>
              <a:spcBef>
                <a:spcPct val="0"/>
              </a:spcBef>
              <a:spcAft>
                <a:spcPct val="0"/>
              </a:spcAft>
              <a:defRPr sz="2400">
                <a:solidFill>
                  <a:srgbClr val="008ABF"/>
                </a:solidFill>
                <a:latin typeface="Arial" pitchFamily="34" charset="0"/>
              </a:defRPr>
            </a:lvl4pPr>
            <a:lvl5pPr algn="l" rtl="0" eaLnBrk="1" fontAlgn="base" hangingPunct="1">
              <a:lnSpc>
                <a:spcPct val="90000"/>
              </a:lnSpc>
              <a:spcBef>
                <a:spcPct val="0"/>
              </a:spcBef>
              <a:spcAft>
                <a:spcPct val="0"/>
              </a:spcAft>
              <a:defRPr sz="2400">
                <a:solidFill>
                  <a:srgbClr val="008ABF"/>
                </a:solidFill>
                <a:latin typeface="Arial" pitchFamily="34" charset="0"/>
              </a:defRPr>
            </a:lvl5pPr>
            <a:lvl6pPr marL="457082" algn="l" rtl="0" eaLnBrk="1" fontAlgn="base" hangingPunct="1">
              <a:lnSpc>
                <a:spcPct val="90000"/>
              </a:lnSpc>
              <a:spcBef>
                <a:spcPct val="0"/>
              </a:spcBef>
              <a:spcAft>
                <a:spcPct val="0"/>
              </a:spcAft>
              <a:defRPr sz="2600">
                <a:solidFill>
                  <a:schemeClr val="hlink"/>
                </a:solidFill>
                <a:latin typeface="Arial" pitchFamily="34" charset="0"/>
              </a:defRPr>
            </a:lvl6pPr>
            <a:lvl7pPr marL="914165" algn="l" rtl="0" eaLnBrk="1" fontAlgn="base" hangingPunct="1">
              <a:lnSpc>
                <a:spcPct val="90000"/>
              </a:lnSpc>
              <a:spcBef>
                <a:spcPct val="0"/>
              </a:spcBef>
              <a:spcAft>
                <a:spcPct val="0"/>
              </a:spcAft>
              <a:defRPr sz="2600">
                <a:solidFill>
                  <a:schemeClr val="hlink"/>
                </a:solidFill>
                <a:latin typeface="Arial" pitchFamily="34" charset="0"/>
              </a:defRPr>
            </a:lvl7pPr>
            <a:lvl8pPr marL="1371250" algn="l" rtl="0" eaLnBrk="1" fontAlgn="base" hangingPunct="1">
              <a:lnSpc>
                <a:spcPct val="90000"/>
              </a:lnSpc>
              <a:spcBef>
                <a:spcPct val="0"/>
              </a:spcBef>
              <a:spcAft>
                <a:spcPct val="0"/>
              </a:spcAft>
              <a:defRPr sz="2600">
                <a:solidFill>
                  <a:schemeClr val="hlink"/>
                </a:solidFill>
                <a:latin typeface="Arial" pitchFamily="34" charset="0"/>
              </a:defRPr>
            </a:lvl8pPr>
            <a:lvl9pPr marL="1828332" algn="l" rtl="0" eaLnBrk="1" fontAlgn="base" hangingPunct="1">
              <a:lnSpc>
                <a:spcPct val="90000"/>
              </a:lnSpc>
              <a:spcBef>
                <a:spcPct val="0"/>
              </a:spcBef>
              <a:spcAft>
                <a:spcPct val="0"/>
              </a:spcAft>
              <a:defRPr sz="2600">
                <a:solidFill>
                  <a:schemeClr val="hlink"/>
                </a:solidFill>
                <a:latin typeface="Arial" pitchFamily="34" charset="0"/>
              </a:defRPr>
            </a:lvl9pPr>
          </a:lstStyle>
          <a:p>
            <a:pPr>
              <a:defRPr/>
            </a:pPr>
            <a:r>
              <a:rPr lang="en-US" kern="0" dirty="0" smtClean="0"/>
              <a:t>Bookmarks &amp; References</a:t>
            </a:r>
            <a:endParaRPr lang="en-US" kern="0" dirty="0"/>
          </a:p>
        </p:txBody>
      </p:sp>
      <p:sp>
        <p:nvSpPr>
          <p:cNvPr id="6" name="Content Placeholder 2"/>
          <p:cNvSpPr txBox="1">
            <a:spLocks/>
          </p:cNvSpPr>
          <p:nvPr/>
        </p:nvSpPr>
        <p:spPr>
          <a:xfrm>
            <a:off x="304800" y="1524000"/>
            <a:ext cx="8839200" cy="4343400"/>
          </a:xfrm>
          <a:prstGeom prst="rect">
            <a:avLst/>
          </a:prstGeom>
        </p:spPr>
        <p:txBody>
          <a:bodyPr/>
          <a:lstStyle>
            <a:lvl1pPr marL="176213" indent="-176213"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anose="05050102010706020507"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a:lstStyle>
          <a:p>
            <a:pPr>
              <a:defRPr/>
            </a:pPr>
            <a:r>
              <a:rPr lang="en-US" u="sng" kern="0" dirty="0" smtClean="0">
                <a:hlinkClick r:id="rId2"/>
              </a:rPr>
              <a:t>https://www.ng.bluemix.net/docs/#services/services.html</a:t>
            </a:r>
            <a:endParaRPr lang="en-US" u="sng" kern="0" dirty="0" smtClean="0"/>
          </a:p>
          <a:p>
            <a:pPr>
              <a:defRPr/>
            </a:pPr>
            <a:r>
              <a:rPr lang="en-US" u="sng" dirty="0">
                <a:hlinkClick r:id="rId3"/>
              </a:rPr>
              <a:t>https://www.ng.bluemix.net/docs/#</a:t>
            </a:r>
            <a:r>
              <a:rPr lang="en-US" u="sng" dirty="0" smtClean="0">
                <a:hlinkClick r:id="rId3"/>
              </a:rPr>
              <a:t>overview/overview.html#overview</a:t>
            </a:r>
            <a:endParaRPr lang="en-US" u="sng" dirty="0" smtClean="0"/>
          </a:p>
          <a:p>
            <a:pPr>
              <a:defRPr/>
            </a:pPr>
            <a:r>
              <a:rPr lang="en-US" dirty="0">
                <a:hlinkClick r:id="rId4"/>
              </a:rPr>
              <a:t>https://www.ng.bluemix.net/docs/#overview/overview.html#ov_intro__</a:t>
            </a:r>
            <a:r>
              <a:rPr lang="en-US" dirty="0" smtClean="0">
                <a:hlinkClick r:id="rId4"/>
              </a:rPr>
              <a:t>reg</a:t>
            </a:r>
            <a:endParaRPr lang="en-US" dirty="0" smtClean="0"/>
          </a:p>
          <a:p>
            <a:pPr>
              <a:defRPr/>
            </a:pPr>
            <a:r>
              <a:rPr lang="en-US" u="sng" dirty="0">
                <a:hlinkClick r:id="rId5"/>
              </a:rPr>
              <a:t>http://docs.cloudfoundry.org/devguide/installcf/whats-new-v6.html</a:t>
            </a:r>
            <a:endParaRPr lang="en-US" dirty="0"/>
          </a:p>
          <a:p>
            <a:pPr>
              <a:defRPr/>
            </a:pPr>
            <a:r>
              <a:rPr lang="en-US" u="sng" dirty="0">
                <a:hlinkClick r:id="rId6"/>
              </a:rPr>
              <a:t>https://www.ng.bluemix.net/docs</a:t>
            </a:r>
            <a:r>
              <a:rPr lang="en-US" u="sng" dirty="0" smtClean="0">
                <a:hlinkClick r:id="rId6"/>
              </a:rPr>
              <a:t>/#</a:t>
            </a:r>
            <a:endParaRPr lang="en-US" u="sng" dirty="0" smtClean="0"/>
          </a:p>
          <a:p>
            <a:pPr>
              <a:defRPr/>
            </a:pPr>
            <a:r>
              <a:rPr lang="en-US" dirty="0">
                <a:hlinkClick r:id="rId7"/>
              </a:rPr>
              <a:t>http://docs.cloudfoundry.org/devguide/installcf/whats-new-v6.html#domains-etc</a:t>
            </a:r>
            <a:endParaRPr lang="en-US" dirty="0"/>
          </a:p>
          <a:p>
            <a:pPr>
              <a:defRPr/>
            </a:pPr>
            <a:endParaRPr lang="en-US" kern="0" dirty="0" smtClean="0"/>
          </a:p>
          <a:p>
            <a:pPr marL="0" indent="0">
              <a:buFont typeface="Wingdings" panose="05000000000000000000" pitchFamily="2" charset="2"/>
              <a:buNone/>
              <a:defRPr/>
            </a:pPr>
            <a:endParaRPr lang="en-US" kern="0" dirty="0"/>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txBox="1">
            <a:spLocks/>
          </p:cNvSpPr>
          <p:nvPr/>
        </p:nvSpPr>
        <p:spPr bwMode="auto">
          <a:xfrm>
            <a:off x="639763" y="1874838"/>
            <a:ext cx="777240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1pPr>
            <a:lvl2pPr marL="515938" indent="-225425">
              <a:spcBef>
                <a:spcPct val="20000"/>
              </a:spcBef>
              <a:buClr>
                <a:schemeClr val="tx1"/>
              </a:buClr>
              <a:buFont typeface="Symbol" panose="05050102010706020507" pitchFamily="18" charset="2"/>
              <a:buChar char="-"/>
              <a:defRPr sz="1600">
                <a:solidFill>
                  <a:schemeClr val="tx1"/>
                </a:solidFill>
                <a:latin typeface="Arial" panose="020B0604020202020204" pitchFamily="34" charset="0"/>
                <a:ea typeface="MS PGothic" panose="020B0600070205080204" pitchFamily="34" charset="-128"/>
              </a:defRPr>
            </a:lvl2pPr>
            <a:lvl3pPr marL="804863" indent="-171450">
              <a:spcBef>
                <a:spcPct val="20000"/>
              </a:spcBef>
              <a:buClr>
                <a:schemeClr val="tx1"/>
              </a:buClr>
              <a:buChar char="•"/>
              <a:defRPr sz="1600">
                <a:solidFill>
                  <a:schemeClr val="tx1"/>
                </a:solidFill>
                <a:latin typeface="Arial" panose="020B0604020202020204" pitchFamily="34" charset="0"/>
                <a:ea typeface="MS PGothic" panose="020B0600070205080204" pitchFamily="34" charset="-128"/>
              </a:defRPr>
            </a:lvl3pPr>
            <a:lvl4pPr marL="1430338" indent="-176213">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1719263" indent="-7938">
              <a:spcBef>
                <a:spcPct val="20000"/>
              </a:spcBef>
              <a:buClr>
                <a:schemeClr val="tx1"/>
              </a:buClr>
              <a:defRPr sz="1200">
                <a:solidFill>
                  <a:schemeClr val="tx1"/>
                </a:solidFill>
                <a:latin typeface="Arial" panose="020B0604020202020204" pitchFamily="34" charset="0"/>
                <a:ea typeface="MS PGothic" panose="020B0600070205080204" pitchFamily="34" charset="-128"/>
              </a:defRPr>
            </a:lvl5pPr>
            <a:lvl6pPr marL="21764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6pPr>
            <a:lvl7pPr marL="26336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7pPr>
            <a:lvl8pPr marL="30908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8pPr>
            <a:lvl9pPr marL="3548063" indent="-7938" eaLnBrk="0" fontAlgn="base" hangingPunct="0">
              <a:spcBef>
                <a:spcPct val="20000"/>
              </a:spcBef>
              <a:spcAft>
                <a:spcPct val="0"/>
              </a:spcAft>
              <a:buClr>
                <a:schemeClr val="tx1"/>
              </a:buCl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0000"/>
              </a:lnSpc>
              <a:spcBef>
                <a:spcPct val="0"/>
              </a:spcBef>
              <a:buClrTx/>
              <a:buFontTx/>
              <a:buNone/>
            </a:pPr>
            <a:r>
              <a:rPr lang="en-US" altLang="en-US" sz="4000" b="1">
                <a:solidFill>
                  <a:srgbClr val="008ABF"/>
                </a:solidFill>
                <a:hlinkClick r:id="rId3"/>
              </a:rPr>
              <a:t>QUESTIONS?</a:t>
            </a:r>
            <a:endParaRPr lang="en-US" altLang="en-US" sz="4000" b="1">
              <a:solidFill>
                <a:srgbClr val="008ABF"/>
              </a:solidFill>
            </a:endParaRPr>
          </a:p>
          <a:p>
            <a:pPr algn="ctr" eaLnBrk="1" hangingPunct="1">
              <a:lnSpc>
                <a:spcPct val="90000"/>
              </a:lnSpc>
              <a:spcBef>
                <a:spcPct val="0"/>
              </a:spcBef>
              <a:buClrTx/>
              <a:buFontTx/>
              <a:buNone/>
            </a:pPr>
            <a:endParaRPr lang="en-US" altLang="en-US" sz="4000" b="1">
              <a:solidFill>
                <a:srgbClr val="008ABF"/>
              </a:solidFill>
            </a:endParaRPr>
          </a:p>
          <a:p>
            <a:pPr algn="ctr" eaLnBrk="1" hangingPunct="1">
              <a:lnSpc>
                <a:spcPct val="90000"/>
              </a:lnSpc>
              <a:spcBef>
                <a:spcPct val="0"/>
              </a:spcBef>
              <a:buClrTx/>
              <a:buFontTx/>
              <a:buNone/>
            </a:pPr>
            <a:r>
              <a:rPr lang="en-US" altLang="en-US" sz="2000"/>
              <a:t>Get help from Bluemix development team and Stack Overflow community </a:t>
            </a:r>
          </a:p>
          <a:p>
            <a:pPr algn="ctr" eaLnBrk="1" hangingPunct="1">
              <a:lnSpc>
                <a:spcPct val="90000"/>
              </a:lnSpc>
              <a:spcBef>
                <a:spcPct val="0"/>
              </a:spcBef>
              <a:buClrTx/>
              <a:buFontTx/>
              <a:buNone/>
            </a:pPr>
            <a:r>
              <a:rPr lang="en-US" altLang="en-US" sz="2000"/>
              <a:t>Visit:  </a:t>
            </a:r>
            <a:r>
              <a:rPr lang="en-US" altLang="en-US" sz="2000" b="1">
                <a:solidFill>
                  <a:srgbClr val="008ABF"/>
                </a:solidFill>
                <a:hlinkClick r:id="rId4"/>
              </a:rPr>
              <a:t>HTTPS://IBM.BIZ/BDXGBL</a:t>
            </a:r>
            <a:endParaRPr lang="en-US" altLang="en-US" sz="2000" b="1">
              <a:solidFill>
                <a:srgbClr val="008ABF"/>
              </a:solidFill>
            </a:endParaRPr>
          </a:p>
          <a:p>
            <a:pPr algn="ctr" eaLnBrk="1" hangingPunct="1">
              <a:lnSpc>
                <a:spcPct val="90000"/>
              </a:lnSpc>
              <a:spcBef>
                <a:spcPct val="0"/>
              </a:spcBef>
              <a:buClrTx/>
              <a:buFontTx/>
              <a:buNone/>
            </a:pPr>
            <a:endParaRPr lang="en-US" altLang="en-US" sz="2000"/>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IBM Cloud 2015">
  <a:themeElements>
    <a:clrScheme name="IBM Cloud 2105">
      <a:dk1>
        <a:sysClr val="windowText" lastClr="000000"/>
      </a:dk1>
      <a:lt1>
        <a:sysClr val="window" lastClr="FFFFFF"/>
      </a:lt1>
      <a:dk2>
        <a:srgbClr val="085571"/>
      </a:dk2>
      <a:lt2>
        <a:srgbClr val="81CDF2"/>
      </a:lt2>
      <a:accent1>
        <a:srgbClr val="009EE2"/>
      </a:accent1>
      <a:accent2>
        <a:srgbClr val="1174B9"/>
      </a:accent2>
      <a:accent3>
        <a:srgbClr val="00A39C"/>
      </a:accent3>
      <a:accent4>
        <a:srgbClr val="00706E"/>
      </a:accent4>
      <a:accent5>
        <a:srgbClr val="611773"/>
      </a:accent5>
      <a:accent6>
        <a:srgbClr val="340F51"/>
      </a:accent6>
      <a:hlink>
        <a:srgbClr val="0000FF"/>
      </a:hlink>
      <a:folHlink>
        <a:srgbClr val="800080"/>
      </a:folHlink>
    </a:clrScheme>
    <a:fontScheme name="IBM Cloud 201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8444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kern="0" spc="-30" dirty="0" smtClean="0">
            <a:solidFill>
              <a:srgbClr val="FFFFFF"/>
            </a:solidFill>
            <a:latin typeface="Arial"/>
            <a:cs typeface="Arial"/>
          </a:defRPr>
        </a:defPPr>
      </a:lstStyle>
    </a:txDef>
  </a:objectDefaults>
  <a:extraClrSchemeLst/>
</a:theme>
</file>

<file path=ppt/theme/theme2.xml><?xml version="1.0" encoding="utf-8"?>
<a:theme xmlns:a="http://schemas.openxmlformats.org/drawingml/2006/main" name="IBM Cloud sub">
  <a:themeElements>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fontScheme name="617-01_SP_Business&amp;IT_Services_Sourcing_Blk_Template_R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2199</Words>
  <Application>Microsoft Office PowerPoint</Application>
  <PresentationFormat>On-screen Show (4:3)</PresentationFormat>
  <Paragraphs>162</Paragraphs>
  <Slides>16</Slides>
  <Notes>14</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IBM Cloud 2015</vt:lpstr>
      <vt:lpstr>IBM Cloud sub</vt:lpstr>
      <vt:lpstr>Bluemix Operational Management</vt:lpstr>
      <vt:lpstr>Concepts of  Organizations, Domains Spaces, Users, and Quota</vt:lpstr>
      <vt:lpstr>Organization - The grouping methodology for users in Bluemix</vt:lpstr>
      <vt:lpstr>Manage Organizations from Bluemix Dashboard</vt:lpstr>
      <vt:lpstr>Space – An Organization unit and A sub-group within Bluemix Org</vt:lpstr>
      <vt:lpstr>Bluemix User – The basic role in organizations and spaces</vt:lpstr>
      <vt:lpstr>Bluemix Quota – The organization resource limits</vt:lpstr>
      <vt:lpstr>Bluemix Roles and Permissions</vt:lpstr>
      <vt:lpstr>Managing Roles and Permissions of Space </vt:lpstr>
      <vt:lpstr>Bluemix Routes</vt:lpstr>
      <vt:lpstr>Bluemix Domains</vt:lpstr>
      <vt:lpstr>Concept of  Regions</vt:lpstr>
      <vt:lpstr>Bluemix Region– A  Defined Geographical Territory for App Deployment</vt:lpstr>
      <vt:lpstr>Manage Applications in Multiple Bluemix Regions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2015-05-08T18:58:46Z</dcterms:created>
  <dcterms:modified xsi:type="dcterms:W3CDTF">2015-09-12T00:16:35Z</dcterms:modified>
</cp:coreProperties>
</file>