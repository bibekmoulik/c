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 id="2147483717" r:id="rId2"/>
  </p:sldMasterIdLst>
  <p:notesMasterIdLst>
    <p:notesMasterId r:id="rId15"/>
  </p:notesMasterIdLst>
  <p:sldIdLst>
    <p:sldId id="333" r:id="rId3"/>
    <p:sldId id="258" r:id="rId4"/>
    <p:sldId id="337" r:id="rId5"/>
    <p:sldId id="260" r:id="rId6"/>
    <p:sldId id="291" r:id="rId7"/>
    <p:sldId id="289" r:id="rId8"/>
    <p:sldId id="339" r:id="rId9"/>
    <p:sldId id="341" r:id="rId10"/>
    <p:sldId id="264" r:id="rId11"/>
    <p:sldId id="263" r:id="rId12"/>
    <p:sldId id="265" r:id="rId13"/>
    <p:sldId id="266" r:id="rId1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3514">
          <p15:clr>
            <a:srgbClr val="A4A3A4"/>
          </p15:clr>
        </p15:guide>
        <p15:guide id="2" pos="28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9FE8"/>
    <a:srgbClr val="0113BF"/>
    <a:srgbClr val="7979DD"/>
    <a:srgbClr val="0D9EBB"/>
    <a:srgbClr val="008000"/>
    <a:srgbClr val="0D426C"/>
    <a:srgbClr val="4EBBEB"/>
    <a:srgbClr val="1A3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38" autoAdjust="0"/>
    <p:restoredTop sz="70048" autoAdjust="0"/>
  </p:normalViewPr>
  <p:slideViewPr>
    <p:cSldViewPr>
      <p:cViewPr varScale="1">
        <p:scale>
          <a:sx n="48" d="100"/>
          <a:sy n="48" d="100"/>
        </p:scale>
        <p:origin x="-1296" y="-72"/>
      </p:cViewPr>
      <p:guideLst>
        <p:guide orient="horz" pos="3514"/>
        <p:guide pos="2851"/>
      </p:guideLst>
    </p:cSldViewPr>
  </p:slideViewPr>
  <p:outlineViewPr>
    <p:cViewPr>
      <p:scale>
        <a:sx n="33" d="100"/>
        <a:sy n="33" d="100"/>
      </p:scale>
      <p:origin x="42" y="0"/>
    </p:cViewPr>
  </p:outlineViewPr>
  <p:notesTextViewPr>
    <p:cViewPr>
      <p:scale>
        <a:sx n="1" d="1"/>
        <a:sy n="1" d="1"/>
      </p:scale>
      <p:origin x="0" y="0"/>
    </p:cViewPr>
  </p:notesTextViewPr>
  <p:sorterViewPr>
    <p:cViewPr varScale="1">
      <p:scale>
        <a:sx n="1" d="1"/>
        <a:sy n="1" d="1"/>
      </p:scale>
      <p:origin x="0" y="0"/>
    </p:cViewPr>
  </p:sorterViewPr>
  <p:gridSpacing cx="45720" cy="4572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70693CD-0A78-4F2C-B694-0AE6F79A48D9}" type="datetimeFigureOut">
              <a:rPr lang="en-US"/>
              <a:pPr>
                <a:defRPr/>
              </a:pPr>
              <a:t>9/11/2015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9D0C442-0542-4696-8703-05C08221016C}" type="slidenum">
              <a:rPr lang="en-US" altLang="en-US"/>
              <a:pPr>
                <a:defRPr/>
              </a:pPr>
              <a:t>‹#›</a:t>
            </a:fld>
            <a:endParaRPr lang="en-US" altLang="en-US"/>
          </a:p>
        </p:txBody>
      </p:sp>
    </p:spTree>
    <p:extLst>
      <p:ext uri="{BB962C8B-B14F-4D97-AF65-F5344CB8AC3E}">
        <p14:creationId xmlns:p14="http://schemas.microsoft.com/office/powerpoint/2010/main" val="4517054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2EA7698-2F17-4A72-83FD-A73A1448A272}" type="slidenum">
              <a:rPr lang="en-US" altLang="en-US" smtClean="0">
                <a:latin typeface="Calibri" panose="020F0502020204030204" pitchFamily="34" charset="0"/>
              </a:rPr>
              <a:pPr/>
              <a:t>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952527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smtClean="0">
                <a:latin typeface="Arial" panose="020B0604020202020204" pitchFamily="34" charset="0"/>
                <a:cs typeface="Arial" panose="020B0604020202020204" pitchFamily="34" charset="0"/>
              </a:rPr>
              <a:t>TOR</a:t>
            </a:r>
            <a:r>
              <a:rPr lang="en-US" altLang="en-US" baseline="0" dirty="0" smtClean="0">
                <a:latin typeface="Arial" panose="020B0604020202020204" pitchFamily="34" charset="0"/>
                <a:cs typeface="Arial" panose="020B0604020202020204" pitchFamily="34" charset="0"/>
              </a:rPr>
              <a:t> note – this set objective is for all of section 2. Suggest highlighting first bullet (2.1), or omit this slide</a:t>
            </a:r>
            <a:endParaRPr lang="en-US" altLang="en-US" dirty="0" smtClean="0">
              <a:latin typeface="Arial" panose="020B0604020202020204" pitchFamily="34" charset="0"/>
              <a:cs typeface="Arial" panose="020B0604020202020204" pitchFamily="34" charset="0"/>
            </a:endParaRPr>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F338EA0-3BF1-46E2-893D-CC37BEA977C0}" type="slidenum">
              <a:rPr lang="en-US" altLang="en-US" smtClean="0">
                <a:latin typeface="Calibri" panose="020F0502020204030204" pitchFamily="34" charset="0"/>
              </a:rPr>
              <a:pPr/>
              <a:t>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554863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hape 698"/>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Shape 699"/>
          <p:cNvSpPr>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In Bluemix, an application, or </a:t>
            </a:r>
            <a:r>
              <a:rPr lang="en-US" altLang="en-US" i="1" smtClean="0"/>
              <a:t>app</a:t>
            </a:r>
            <a:r>
              <a:rPr lang="en-US" altLang="en-US" smtClean="0"/>
              <a:t>, represents the artifact that a developer is building. The application lifecycle in Bluemix and Cloud Foundry are identical, regardless of how you push the application to the Bluemix.</a:t>
            </a:r>
          </a:p>
          <a:p>
            <a:pPr>
              <a:buFont typeface="Wingdings" panose="05000000000000000000" pitchFamily="2" charset="2"/>
              <a:buNone/>
            </a:pPr>
            <a:r>
              <a:rPr lang="en-US" altLang="en-US" b="1" smtClean="0">
                <a:latin typeface="Arial" panose="020B0604020202020204" pitchFamily="34" charset="0"/>
                <a:cs typeface="Arial" panose="020B0604020202020204" pitchFamily="34" charset="0"/>
              </a:rPr>
              <a:t>We</a:t>
            </a:r>
            <a:r>
              <a:rPr lang="ja-JP" altLang="en-US" b="1" smtClean="0">
                <a:latin typeface="Arial" panose="020B0604020202020204" pitchFamily="34" charset="0"/>
                <a:cs typeface="Arial" panose="020B0604020202020204" pitchFamily="34" charset="0"/>
              </a:rPr>
              <a:t>’</a:t>
            </a:r>
            <a:r>
              <a:rPr lang="en-US" altLang="ja-JP" b="1" smtClean="0">
                <a:latin typeface="Arial" panose="020B0604020202020204" pitchFamily="34" charset="0"/>
                <a:cs typeface="Arial" panose="020B0604020202020204" pitchFamily="34" charset="0"/>
              </a:rPr>
              <a:t>ve seen apps created in Bluemix and have derived four key categories of use cases from that data. Web Application and Mobile Back ends are two most common categories that Bluemix applications fall into.  </a:t>
            </a:r>
            <a:r>
              <a:rPr lang="en-US" altLang="en-US" smtClean="0"/>
              <a:t>Mobile Apps: Mobile apps run outside of the Bluemix environment and use services that the mobile apps are exposed to. Web Apps: Web apps consist of all the code that is required to be run or referenced at run time.</a:t>
            </a:r>
          </a:p>
          <a:p>
            <a:endParaRPr lang="en-US" altLang="ja-JP" b="1" smtClean="0">
              <a:latin typeface="Arial" panose="020B0604020202020204" pitchFamily="34" charset="0"/>
            </a:endParaRPr>
          </a:p>
          <a:p>
            <a:r>
              <a:rPr lang="en-US" altLang="en-US" smtClean="0">
                <a:latin typeface="Arial" panose="020B0604020202020204" pitchFamily="34" charset="0"/>
                <a:cs typeface="Arial" panose="020B0604020202020204" pitchFamily="34" charset="0"/>
              </a:rPr>
              <a:t>*Reference key categories and a selection of bullets mentioned on the slide</a:t>
            </a:r>
          </a:p>
        </p:txBody>
      </p:sp>
    </p:spTree>
    <p:extLst>
      <p:ext uri="{BB962C8B-B14F-4D97-AF65-F5344CB8AC3E}">
        <p14:creationId xmlns:p14="http://schemas.microsoft.com/office/powerpoint/2010/main" val="1531265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Before create an application in Bluemix, it’s important to understand Bluemix concepts and features.</a:t>
            </a:r>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6B97C03-6855-481A-BA35-4809455CD40D}" type="slidenum">
              <a:rPr lang="en-US" altLang="en-US" smtClean="0">
                <a:latin typeface="Calibri" panose="020F0502020204030204" pitchFamily="34" charset="0"/>
              </a:rPr>
              <a:pPr/>
              <a:t>4</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452585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A list of common Bluemix components will be used when you start building your applications in Bluemix environment. This slide shows the definition of Bluemix Starter, Boilerplate, Runtime, Buildpack and Service.  Bluemix is designed for self-service oriented support.  Each of these components in the list provide documentation with instructions to help you get started. You can choose from a package of sample code and services such as Bolierplate  or start from scratch with Runtime (the set of resources used to run the application) or Runtime environment (an integrated set of resources that are used to run a program or process) to build your applications. Bluemix also allows your to bring your own Buildpacks ( a collection of scripts that prepare your code to run on Bluemix) for your application.</a:t>
            </a:r>
          </a:p>
          <a:p>
            <a:r>
              <a:rPr lang="en-US" altLang="en-US" smtClean="0"/>
              <a:t>We will discuss the components in detail later.</a:t>
            </a:r>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79816D7-FBB2-4BAA-AA96-947622838B57}" type="slidenum">
              <a:rPr lang="en-US" altLang="en-US" smtClean="0">
                <a:latin typeface="Calibri" panose="020F0502020204030204" pitchFamily="34" charset="0"/>
              </a:rPr>
              <a:pPr/>
              <a:t>5</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44487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a:p>
            <a:r>
              <a:rPr lang="en-US" altLang="en-US" smtClean="0"/>
              <a:t>Bluemix is an environment for you to develop apps and use services that provide ready-to-use functions. Bluemix also provides an environment to host application artifacts that run on an application server such as Liberty. By using SoftLayer, Bluemix deploys virtual containers that host each deployed app. In this environment, the app can use pre-built services (including third-party services) to make app assembly easy. </a:t>
            </a:r>
          </a:p>
          <a:p>
            <a:r>
              <a:rPr lang="en-US" altLang="en-US" smtClean="0"/>
              <a:t>As a developer, you can interact with the Bluemix infrastructure by using a browser-based user interface. You can also use a Cloud Foundry command line interface, called cf, to deploy web apps.</a:t>
            </a:r>
          </a:p>
          <a:p>
            <a:r>
              <a:rPr lang="en-US" altLang="en-US" smtClean="0"/>
              <a:t>Clients—which can be mobile apps, apps that run externally, apps that are built on Bluemix, or developers that are using browsers—interact with the Bluemix-hosted apps. Clients use REST or HTTP APIs to route requests through Bluemix to one of the app instances or the composite services.</a:t>
            </a:r>
          </a:p>
          <a:p>
            <a:r>
              <a:rPr lang="en-US" altLang="en-US" smtClean="0"/>
              <a:t>This is Bluemix Public PaaS architecture.  IBM also offers Dedicated Bluemix environment which replicates public Bluemix architecture with additional customizations for enterprise customers or MSPs.</a:t>
            </a:r>
          </a:p>
          <a:p>
            <a:endParaRPr lang="en-US" altLang="en-US" smtClean="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2C6FE5-11E8-42D1-A734-BE1A897F1BC3}" type="slidenum">
              <a:rPr lang="en-US" altLang="en-US" smtClean="0">
                <a:latin typeface="Calibri" panose="020F0502020204030204" pitchFamily="34" charset="0"/>
              </a:rPr>
              <a:pPr/>
              <a:t>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166941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hape 140"/>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Shape 141"/>
          <p:cNvSpPr>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solidFill>
                  <a:srgbClr val="000000"/>
                </a:solidFill>
                <a:latin typeface="Arial" panose="020B0604020202020204" pitchFamily="34" charset="0"/>
                <a:cs typeface="Arial" panose="020B0604020202020204" pitchFamily="34" charset="0"/>
              </a:rPr>
              <a:t>Bluemix users/developers can manage their accounts and applications from Bluemix console dashboard UI by using web browsers.</a:t>
            </a:r>
          </a:p>
        </p:txBody>
      </p:sp>
    </p:spTree>
    <p:extLst>
      <p:ext uri="{BB962C8B-B14F-4D97-AF65-F5344CB8AC3E}">
        <p14:creationId xmlns:p14="http://schemas.microsoft.com/office/powerpoint/2010/main" val="1224098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Bluemix provides a list services that can be used by applications without requiring you to manage the setup and operation of those services</a:t>
            </a:r>
          </a:p>
          <a:p>
            <a:r>
              <a:rPr lang="en-US" altLang="en-US" smtClean="0"/>
              <a:t>Available services are organized and listed in Catalog, including production-ready, Beta and experimental services.</a:t>
            </a:r>
          </a:p>
          <a:p>
            <a:r>
              <a:rPr lang="en-US" altLang="en-US" smtClean="0"/>
              <a:t>The services in catalog are from IBM, 3</a:t>
            </a:r>
            <a:r>
              <a:rPr lang="en-US" altLang="en-US" baseline="30000" smtClean="0"/>
              <a:t>rd</a:t>
            </a:r>
            <a:r>
              <a:rPr lang="en-US" altLang="en-US" smtClean="0"/>
              <a:t> party and community. Users can filter and search the services and view the brief description for each of service offering.</a:t>
            </a: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722ACC0-48A9-497E-BA92-E080A5FA0796}" type="slidenum">
              <a:rPr lang="en-US" altLang="en-US" smtClean="0">
                <a:latin typeface="Calibri" panose="020F0502020204030204" pitchFamily="34" charset="0"/>
              </a:rPr>
              <a:pPr/>
              <a:t>8</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4126277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In Bluemix, A </a:t>
            </a:r>
            <a:r>
              <a:rPr lang="en-US" altLang="en-US" i="1" smtClean="0"/>
              <a:t>starter</a:t>
            </a:r>
            <a:r>
              <a:rPr lang="en-US" altLang="en-US" smtClean="0"/>
              <a:t> is a template that includes predefined services and application code that is configured with a particular buildpack. There are two types of starters: boilerplates and runtimes.</a:t>
            </a:r>
          </a:p>
          <a:p>
            <a:pPr eaLnBrk="1" hangingPunct="1"/>
            <a:r>
              <a:rPr lang="en-US" altLang="en-US" smtClean="0">
                <a:latin typeface="Arial" panose="020B0604020202020204" pitchFamily="34" charset="0"/>
                <a:cs typeface="Arial" panose="020B0604020202020204" pitchFamily="34" charset="0"/>
              </a:rPr>
              <a:t>A </a:t>
            </a:r>
            <a:r>
              <a:rPr lang="en-US" altLang="en-US" i="1" smtClean="0">
                <a:latin typeface="Arial" panose="020B0604020202020204" pitchFamily="34" charset="0"/>
                <a:cs typeface="Arial" panose="020B0604020202020204" pitchFamily="34" charset="0"/>
              </a:rPr>
              <a:t>runtime</a:t>
            </a:r>
            <a:r>
              <a:rPr lang="en-US" altLang="en-US" smtClean="0">
                <a:latin typeface="Arial" panose="020B0604020202020204" pitchFamily="34" charset="0"/>
                <a:cs typeface="Arial" panose="020B0604020202020204" pitchFamily="34" charset="0"/>
              </a:rPr>
              <a:t> is the set of resources that is used to run an application. Bluemix provides </a:t>
            </a:r>
            <a:r>
              <a:rPr lang="en-US" altLang="en-US" i="1" smtClean="0">
                <a:latin typeface="Arial" panose="020B0604020202020204" pitchFamily="34" charset="0"/>
                <a:cs typeface="Arial" panose="020B0604020202020204" pitchFamily="34" charset="0"/>
              </a:rPr>
              <a:t>runtime environments</a:t>
            </a:r>
            <a:r>
              <a:rPr lang="en-US" altLang="en-US" smtClean="0">
                <a:latin typeface="Arial" panose="020B0604020202020204" pitchFamily="34" charset="0"/>
                <a:cs typeface="Arial" panose="020B0604020202020204" pitchFamily="34" charset="0"/>
              </a:rPr>
              <a:t> as containers for different types of applications. The runtime environments are integrated as buildpacks into Bluemix, are automatically configured for use, and require little to no maintenance.</a:t>
            </a:r>
          </a:p>
          <a:p>
            <a:pPr eaLnBrk="1" hangingPunct="1"/>
            <a:r>
              <a:rPr lang="en-US" altLang="en-US" smtClean="0">
                <a:latin typeface="Arial" panose="020B0604020202020204" pitchFamily="34" charset="0"/>
                <a:cs typeface="Arial" panose="020B0604020202020204" pitchFamily="34" charset="0"/>
              </a:rPr>
              <a:t>A </a:t>
            </a:r>
            <a:r>
              <a:rPr lang="en-US" altLang="en-US" i="1" smtClean="0">
                <a:latin typeface="Arial" panose="020B0604020202020204" pitchFamily="34" charset="0"/>
                <a:cs typeface="Arial" panose="020B0604020202020204" pitchFamily="34" charset="0"/>
              </a:rPr>
              <a:t>buildpack</a:t>
            </a:r>
            <a:r>
              <a:rPr lang="en-US" altLang="en-US" smtClean="0">
                <a:latin typeface="Arial" panose="020B0604020202020204" pitchFamily="34" charset="0"/>
                <a:cs typeface="Arial" panose="020B0604020202020204" pitchFamily="34" charset="0"/>
              </a:rPr>
              <a:t> is a collection of scripts that prepare your code for execution on the target PaaS. A buildpack gathers the runtime and framework dependencies of an application. Then, it packages them with the application into a droplet that can be deployed to the cloud. </a:t>
            </a:r>
          </a:p>
          <a:p>
            <a:pPr eaLnBrk="1" hangingPunct="1"/>
            <a:endParaRPr lang="en-US" altLang="en-US" smtClean="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A64DD2-5972-436B-BD4B-8315AF827CC1}" type="slidenum">
              <a:rPr lang="en-US" altLang="en-US" smtClean="0">
                <a:latin typeface="Calibri" panose="020F0502020204030204" pitchFamily="34" charset="0"/>
              </a:rPr>
              <a:pPr/>
              <a:t>9</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745918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hape 140"/>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Shape 141"/>
          <p:cNvSpPr>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A </a:t>
            </a:r>
            <a:r>
              <a:rPr lang="en-US" altLang="en-US" i="1" smtClean="0"/>
              <a:t>boilerplate</a:t>
            </a:r>
            <a:r>
              <a:rPr lang="en-US" altLang="en-US" smtClean="0"/>
              <a:t> is a container for an application and its associated runtime environment and predefined services for a particular domain. You can use a boilerplate to quickly get up and running. For example, you can select the Mobile Cloud boilerplate to host mobile and web applications and accelerate development time of server-side scripts by using the mobile app template and SDK.</a:t>
            </a:r>
          </a:p>
          <a:p>
            <a:pPr eaLnBrk="1" hangingPunct="1"/>
            <a:endParaRPr lang="en-US" altLang="en-US" smtClean="0"/>
          </a:p>
          <a:p>
            <a:pPr eaLnBrk="1" hangingPunct="1">
              <a:spcBef>
                <a:spcPct val="0"/>
              </a:spcBef>
            </a:pPr>
            <a:endParaRPr lang="en-US" altLang="en-US" smtClean="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7842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latin typeface="Arial" panose="020B0604020202020204" pitchFamily="34" charset="0"/>
                <a:cs typeface="Arial" panose="020B0604020202020204" pitchFamily="34" charset="0"/>
              </a:rPr>
              <a:t>A </a:t>
            </a:r>
            <a:r>
              <a:rPr lang="en-US" altLang="en-US" i="1" smtClean="0">
                <a:latin typeface="Arial" panose="020B0604020202020204" pitchFamily="34" charset="0"/>
                <a:cs typeface="Arial" panose="020B0604020202020204" pitchFamily="34" charset="0"/>
              </a:rPr>
              <a:t>service</a:t>
            </a:r>
            <a:r>
              <a:rPr lang="en-US" altLang="en-US" smtClean="0">
                <a:latin typeface="Arial" panose="020B0604020202020204" pitchFamily="34" charset="0"/>
                <a:cs typeface="Arial" panose="020B0604020202020204" pitchFamily="34" charset="0"/>
              </a:rPr>
              <a:t> is a cloud extension that is hosted by Bluemix. The service provides functionality that is ready-for-use by the app's running code. The predefined services that are provided by Bluemix include database, messaging, push notifications for mobile apps, and elastic caching for web apps.</a:t>
            </a:r>
          </a:p>
          <a:p>
            <a:pPr eaLnBrk="1" hangingPunct="1"/>
            <a:r>
              <a:rPr lang="en-US" altLang="en-US" smtClean="0"/>
              <a:t>You can create your own services in Bluemix. These services can vary in complexity. They can be simple utilities, such as the functions you might see in a runtime library. Alternatively, they can be complex business logic that you might see in a business process modeling service or a database.</a:t>
            </a:r>
          </a:p>
          <a:p>
            <a:pPr eaLnBrk="1" hangingPunct="1"/>
            <a:r>
              <a:rPr lang="en-US" altLang="en-US" smtClean="0"/>
              <a:t>Bluemix simplifies the use of services by provisioning new instances of the service, and binding those service instances to your application. The management of the service is handled automatically by Bluemix. For all available services in Bluemix, see the catalog in the Bluemix user interface.</a:t>
            </a:r>
          </a:p>
          <a:p>
            <a:pPr eaLnBrk="1" hangingPunct="1"/>
            <a:endParaRPr lang="en-US" altLang="en-US" smtClean="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1AA35A-09F1-48FF-A356-6626E118E41B}" type="slidenum">
              <a:rPr lang="en-US" altLang="en-US" smtClean="0">
                <a:latin typeface="Calibri" panose="020F0502020204030204" pitchFamily="34" charset="0"/>
              </a:rPr>
              <a:pPr/>
              <a:t>11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723267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latin typeface="Arial" panose="020B0604020202020204" pitchFamily="34" charset="0"/>
                <a:cs typeface="Arial" panose="020B0604020202020204" pitchFamily="34" charset="0"/>
              </a:rPr>
              <a:t>BlueMix Services - In Bluemix/Cloud Foundry there are two types of services – User provided service instances and Managed service instances.</a:t>
            </a:r>
          </a:p>
          <a:p>
            <a:pPr eaLnBrk="1" hangingPunct="1"/>
            <a:r>
              <a:rPr lang="en-US" altLang="en-US" smtClean="0">
                <a:latin typeface="Arial" panose="020B0604020202020204" pitchFamily="34" charset="0"/>
                <a:cs typeface="Arial" panose="020B0604020202020204" pitchFamily="34" charset="0"/>
              </a:rPr>
              <a:t>Managed Services have been integrated with Bluemix/Cloud Foundry via APIs and enable end-users to provision new service instances and credentials on demand. User-provided Service Instances are a mechanism to deliver credentials to applications for service instances which have been pre-provisioned outside of Bluemix/Cloud Foundry. A Managed Service integrates with Bluemix/Cloud Foundry via a </a:t>
            </a:r>
            <a:r>
              <a:rPr lang="en-US" altLang="en-US" b="1" smtClean="0">
                <a:latin typeface="Arial" panose="020B0604020202020204" pitchFamily="34" charset="0"/>
                <a:cs typeface="Arial" panose="020B0604020202020204" pitchFamily="34" charset="0"/>
              </a:rPr>
              <a:t>service broker </a:t>
            </a:r>
            <a:r>
              <a:rPr lang="en-US" altLang="en-US" smtClean="0">
                <a:latin typeface="Arial" panose="020B0604020202020204" pitchFamily="34" charset="0"/>
                <a:cs typeface="Arial" panose="020B0604020202020204" pitchFamily="34" charset="0"/>
              </a:rPr>
              <a:t>that implements the Service Broker API. Service broker advertises a catalog of service offerings and service plans to Cloud controller, and receive calls from Cloud controller for four functions: create, delete, bind, and unbind. The broker then passes these calls onto the service itself. Cloud controller sets the VCAP_SERVICES environment variable when binding your application to a service.</a:t>
            </a:r>
          </a:p>
          <a:p>
            <a:pPr eaLnBrk="1" hangingPunct="1"/>
            <a:endParaRPr lang="en-US" altLang="en-US" smtClean="0">
              <a:latin typeface="Arial" panose="020B0604020202020204" pitchFamily="34" charset="0"/>
              <a:cs typeface="Arial" panose="020B0604020202020204" pitchFamily="34" charset="0"/>
            </a:endParaRPr>
          </a:p>
          <a:p>
            <a:pPr eaLnBrk="1" hangingPunct="1"/>
            <a:endParaRPr lang="en-US" altLang="en-US" smtClean="0"/>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A318E1-F99C-44D5-8A0B-0DC242BD1F41}" type="slidenum">
              <a:rPr lang="en-US" altLang="en-US" smtClean="0">
                <a:latin typeface="Calibri" panose="020F0502020204030204" pitchFamily="34" charset="0"/>
              </a:rPr>
              <a:pPr/>
              <a:t>12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3266401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9"/>
          <p:cNvSpPr/>
          <p:nvPr userDrawn="1"/>
        </p:nvSpPr>
        <p:spPr>
          <a:xfrm>
            <a:off x="6400800" y="0"/>
            <a:ext cx="27432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10" descr="Cloud_word.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80200" y="6456363"/>
            <a:ext cx="906463"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3413" y="1433513"/>
            <a:ext cx="2917825"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7"/>
          <p:cNvSpPr txBox="1"/>
          <p:nvPr userDrawn="1"/>
        </p:nvSpPr>
        <p:spPr>
          <a:xfrm>
            <a:off x="6629400" y="4937125"/>
            <a:ext cx="1736725" cy="274638"/>
          </a:xfrm>
          <a:prstGeom prst="rect">
            <a:avLst/>
          </a:prstGeom>
          <a:noFill/>
        </p:spPr>
        <p:txBody>
          <a:bodyPr lIns="0" tIns="0" rIns="0" bIns="0" anchor="ctr"/>
          <a:lstStyle/>
          <a:p>
            <a:pPr eaLnBrk="1" fontAlgn="auto" hangingPunct="1">
              <a:spcBef>
                <a:spcPts val="0"/>
              </a:spcBef>
              <a:spcAft>
                <a:spcPts val="0"/>
              </a:spcAft>
              <a:defRPr/>
            </a:pPr>
            <a:r>
              <a:rPr lang="en-US" sz="1600" b="1" kern="0" spc="-30" dirty="0">
                <a:solidFill>
                  <a:srgbClr val="FFFFFF"/>
                </a:solidFill>
                <a:latin typeface="Arial"/>
                <a:cs typeface="Arial"/>
              </a:rPr>
              <a:t>Presented by:</a:t>
            </a:r>
          </a:p>
        </p:txBody>
      </p:sp>
      <p:sp>
        <p:nvSpPr>
          <p:cNvPr id="2" name="Title 1"/>
          <p:cNvSpPr>
            <a:spLocks noGrp="1"/>
          </p:cNvSpPr>
          <p:nvPr>
            <p:ph type="ctrTitle"/>
          </p:nvPr>
        </p:nvSpPr>
        <p:spPr>
          <a:xfrm>
            <a:off x="1311101" y="3886200"/>
            <a:ext cx="5029200" cy="457200"/>
          </a:xfrm>
        </p:spPr>
        <p:txBody>
          <a:bodyPr lIns="0" tIns="0" rIns="0" bIns="0">
            <a:noAutofit/>
          </a:bodyPr>
          <a:lstStyle>
            <a:lvl1pPr algn="l">
              <a:defRPr sz="2800" b="1">
                <a:solidFill>
                  <a:srgbClr val="FFFFFF"/>
                </a:solidFill>
              </a:defRPr>
            </a:lvl1pPr>
          </a:lstStyle>
          <a:p>
            <a:r>
              <a:rPr lang="en-US" dirty="0" smtClean="0"/>
              <a:t>Click to edit Master title style</a:t>
            </a:r>
            <a:endParaRPr lang="en-US" dirty="0"/>
          </a:p>
        </p:txBody>
      </p:sp>
      <p:sp>
        <p:nvSpPr>
          <p:cNvPr id="13" name="Text Placeholder 6"/>
          <p:cNvSpPr>
            <a:spLocks noGrp="1"/>
          </p:cNvSpPr>
          <p:nvPr>
            <p:ph type="body" sz="quarter" idx="11"/>
          </p:nvPr>
        </p:nvSpPr>
        <p:spPr>
          <a:xfrm>
            <a:off x="6629400" y="521208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4" name="Text Placeholder 6"/>
          <p:cNvSpPr>
            <a:spLocks noGrp="1"/>
          </p:cNvSpPr>
          <p:nvPr>
            <p:ph type="body" sz="quarter" idx="12"/>
          </p:nvPr>
        </p:nvSpPr>
        <p:spPr>
          <a:xfrm>
            <a:off x="6629400" y="548640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Tree>
    <p:extLst>
      <p:ext uri="{BB962C8B-B14F-4D97-AF65-F5344CB8AC3E}">
        <p14:creationId xmlns:p14="http://schemas.microsoft.com/office/powerpoint/2010/main" val="164926985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80823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Shape 20"/>
          <p:cNvSpPr>
            <a:spLocks noGrp="1"/>
          </p:cNvSpPr>
          <p:nvPr>
            <p:ph type="title"/>
          </p:nvPr>
        </p:nvSpPr>
        <p:spPr>
          <a:prstGeom prst="rect">
            <a:avLst/>
          </a:prstGeom>
        </p:spPr>
        <p:txBody>
          <a:bodyPr/>
          <a:lstStyle/>
          <a:p>
            <a:pPr lvl="0"/>
            <a:r>
              <a:rPr lang="en-GB" smtClean="0"/>
              <a:t>Click to edit Master title style</a:t>
            </a:r>
            <a:endParaRPr/>
          </a:p>
        </p:txBody>
      </p:sp>
      <p:sp>
        <p:nvSpPr>
          <p:cNvPr id="21" name="Shape 21"/>
          <p:cNvSpPr>
            <a:spLocks noGrp="1"/>
          </p:cNvSpPr>
          <p:nvPr>
            <p:ph type="body" idx="1"/>
          </p:nvPr>
        </p:nvSpPr>
        <p:spPr>
          <a:prstGeom prst="rect">
            <a:avLst/>
          </a:prstGeo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Shape 4"/>
          <p:cNvSpPr>
            <a:spLocks noGrp="1"/>
          </p:cNvSpPr>
          <p:nvPr>
            <p:ph type="sldNum" sz="quarter" idx="10"/>
          </p:nvPr>
        </p:nvSpPr>
        <p:spPr>
          <a:xfrm>
            <a:off x="182563" y="6537325"/>
            <a:ext cx="366712" cy="184150"/>
          </a:xfrm>
          <a:prstGeom prst="rect">
            <a:avLst/>
          </a:prstGeom>
        </p:spPr>
        <p:txBody>
          <a:bodyPr/>
          <a:lstStyle>
            <a:lvl1pPr eaLnBrk="1" hangingPunct="1">
              <a:defRPr/>
            </a:lvl1pPr>
          </a:lstStyle>
          <a:p>
            <a:pPr>
              <a:defRPr/>
            </a:pPr>
            <a:fld id="{1787621B-9FA0-4BB3-86E3-F7475E9408F6}" type="slidenum">
              <a:rPr lang="en-US" altLang="en-US"/>
              <a:pPr>
                <a:defRPr/>
              </a:pPr>
              <a:t>‹#›</a:t>
            </a:fld>
            <a:endParaRPr lang="en-US" altLang="en-US"/>
          </a:p>
        </p:txBody>
      </p:sp>
    </p:spTree>
    <p:extLst>
      <p:ext uri="{BB962C8B-B14F-4D97-AF65-F5344CB8AC3E}">
        <p14:creationId xmlns:p14="http://schemas.microsoft.com/office/powerpoint/2010/main" val="346995218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8" name="Shape 18"/>
          <p:cNvSpPr>
            <a:spLocks noGrp="1"/>
          </p:cNvSpPr>
          <p:nvPr>
            <p:ph type="title"/>
          </p:nvPr>
        </p:nvSpPr>
        <p:spPr>
          <a:prstGeom prst="rect">
            <a:avLst/>
          </a:prstGeom>
        </p:spPr>
        <p:txBody>
          <a:bodyPr/>
          <a:lstStyle/>
          <a:p>
            <a:pPr lvl="0"/>
            <a:r>
              <a:rPr lang="en-GB" smtClean="0"/>
              <a:t>Click to edit Master title style</a:t>
            </a:r>
            <a:endParaRPr/>
          </a:p>
        </p:txBody>
      </p:sp>
    </p:spTree>
    <p:extLst>
      <p:ext uri="{BB962C8B-B14F-4D97-AF65-F5344CB8AC3E}">
        <p14:creationId xmlns:p14="http://schemas.microsoft.com/office/powerpoint/2010/main" val="273636396"/>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000">
                <a:solidFill>
                  <a:schemeClr val="tx1">
                    <a:tint val="75000"/>
                  </a:schemeClr>
                </a:solidFill>
                <a:latin typeface="+mn-lt"/>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97" r:id="rId1"/>
  </p:sldLayoutIdLst>
  <p:transition spd="med">
    <p:fade/>
  </p:transition>
  <p:timing>
    <p:tnLst>
      <p:par>
        <p:cTn id="1" dur="indefinite" restart="never" nodeType="tmRoot"/>
      </p:par>
    </p:tnLst>
  </p:timing>
  <p:txStyles>
    <p:titleStyle>
      <a:lvl1pPr algn="l" defTabSz="457200" rtl="0" eaLnBrk="0" fontAlgn="base" hangingPunct="0">
        <a:spcBef>
          <a:spcPct val="0"/>
        </a:spcBef>
        <a:spcAft>
          <a:spcPct val="0"/>
        </a:spcAft>
        <a:defRPr sz="2400" b="1" spc="-30">
          <a:solidFill>
            <a:schemeClr val="tx1"/>
          </a:solidFill>
          <a:latin typeface="+mj-lt"/>
          <a:ea typeface="+mj-ea"/>
          <a:cs typeface="+mj-cs"/>
        </a:defRPr>
      </a:lvl1pPr>
      <a:lvl2pPr algn="l" defTabSz="457200" rtl="0" eaLnBrk="0" fontAlgn="base" hangingPunct="0">
        <a:spcBef>
          <a:spcPct val="0"/>
        </a:spcBef>
        <a:spcAft>
          <a:spcPct val="0"/>
        </a:spcAft>
        <a:defRPr sz="2400" b="1">
          <a:solidFill>
            <a:schemeClr val="tx1"/>
          </a:solidFill>
          <a:latin typeface="Arial" panose="020B0604020202020204" pitchFamily="34" charset="0"/>
        </a:defRPr>
      </a:lvl2pPr>
      <a:lvl3pPr algn="l" defTabSz="457200" rtl="0" eaLnBrk="0" fontAlgn="base" hangingPunct="0">
        <a:spcBef>
          <a:spcPct val="0"/>
        </a:spcBef>
        <a:spcAft>
          <a:spcPct val="0"/>
        </a:spcAft>
        <a:defRPr sz="2400" b="1">
          <a:solidFill>
            <a:schemeClr val="tx1"/>
          </a:solidFill>
          <a:latin typeface="Arial" panose="020B0604020202020204" pitchFamily="34" charset="0"/>
        </a:defRPr>
      </a:lvl3pPr>
      <a:lvl4pPr algn="l" defTabSz="457200" rtl="0" eaLnBrk="0" fontAlgn="base" hangingPunct="0">
        <a:spcBef>
          <a:spcPct val="0"/>
        </a:spcBef>
        <a:spcAft>
          <a:spcPct val="0"/>
        </a:spcAft>
        <a:defRPr sz="2400" b="1">
          <a:solidFill>
            <a:schemeClr val="tx1"/>
          </a:solidFill>
          <a:latin typeface="Arial" panose="020B0604020202020204" pitchFamily="34" charset="0"/>
        </a:defRPr>
      </a:lvl4pPr>
      <a:lvl5pPr algn="l" defTabSz="457200" rtl="0" eaLnBrk="0" fontAlgn="base" hangingPunct="0">
        <a:spcBef>
          <a:spcPct val="0"/>
        </a:spcBef>
        <a:spcAft>
          <a:spcPct val="0"/>
        </a:spcAft>
        <a:defRPr sz="2400" b="1">
          <a:solidFill>
            <a:schemeClr val="tx1"/>
          </a:solidFill>
          <a:latin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1600" spc="-30">
          <a:solidFill>
            <a:schemeClr val="tx1"/>
          </a:solidFill>
          <a:latin typeface="Arial"/>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1400" spc="-30">
          <a:solidFill>
            <a:schemeClr val="tx1"/>
          </a:solidFill>
          <a:latin typeface="Arial"/>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1200" spc="-30">
          <a:solidFill>
            <a:schemeClr val="tx1"/>
          </a:solidFill>
          <a:latin typeface="Arial"/>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55588" y="587375"/>
            <a:ext cx="85455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261938" y="1873250"/>
            <a:ext cx="855821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2052" name="Line 4"/>
          <p:cNvSpPr>
            <a:spLocks noChangeShapeType="1"/>
          </p:cNvSpPr>
          <p:nvPr/>
        </p:nvSpPr>
        <p:spPr bwMode="auto">
          <a:xfrm>
            <a:off x="260350" y="549275"/>
            <a:ext cx="8620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 name="Rectangle 6"/>
          <p:cNvSpPr>
            <a:spLocks noChangeArrowheads="1"/>
          </p:cNvSpPr>
          <p:nvPr/>
        </p:nvSpPr>
        <p:spPr bwMode="black">
          <a:xfrm>
            <a:off x="5916613" y="6481763"/>
            <a:ext cx="3054350" cy="231775"/>
          </a:xfrm>
          <a:prstGeom prst="rect">
            <a:avLst/>
          </a:prstGeom>
          <a:noFill/>
          <a:ln>
            <a:noFill/>
          </a:ln>
          <a:extLst/>
        </p:spPr>
        <p:txBody>
          <a:bodyPr lIns="92075" tIns="46038" rIns="92075" bIns="46038">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sz="900" dirty="0">
                <a:solidFill>
                  <a:srgbClr val="000000"/>
                </a:solidFill>
                <a:cs typeface="+mn-cs"/>
              </a:rPr>
              <a:t>© </a:t>
            </a:r>
            <a:r>
              <a:rPr lang="en-US" sz="900" dirty="0" smtClean="0">
                <a:solidFill>
                  <a:srgbClr val="000000"/>
                </a:solidFill>
                <a:cs typeface="+mn-cs"/>
              </a:rPr>
              <a:t>2015 </a:t>
            </a:r>
            <a:r>
              <a:rPr lang="en-US" sz="900" dirty="0">
                <a:solidFill>
                  <a:srgbClr val="000000"/>
                </a:solidFill>
                <a:cs typeface="+mn-cs"/>
              </a:rPr>
              <a:t>IBM Corporation</a:t>
            </a:r>
          </a:p>
        </p:txBody>
      </p:sp>
      <p:sp>
        <p:nvSpPr>
          <p:cNvPr id="1030" name="Rectangle 6"/>
          <p:cNvSpPr>
            <a:spLocks noChangeArrowheads="1"/>
          </p:cNvSpPr>
          <p:nvPr/>
        </p:nvSpPr>
        <p:spPr bwMode="auto">
          <a:xfrm>
            <a:off x="171450" y="6456363"/>
            <a:ext cx="552450" cy="247650"/>
          </a:xfrm>
          <a:prstGeom prst="rect">
            <a:avLst/>
          </a:prstGeom>
          <a:noFill/>
          <a:ln>
            <a:noFill/>
          </a:ln>
          <a:effectLs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fld id="{CEE761F0-7B0B-4C47-A17C-12D6CD7CCBDB}" type="slidenum">
              <a:rPr lang="en-US" altLang="en-US" sz="1000" smtClean="0">
                <a:solidFill>
                  <a:srgbClr val="000000"/>
                </a:solidFill>
                <a:ea typeface="MS PGothic" panose="020B0600070205080204" pitchFamily="34" charset="-128"/>
              </a:rPr>
              <a:pPr eaLnBrk="1" hangingPunct="1">
                <a:defRPr/>
              </a:pPr>
              <a:t>‹#›</a:t>
            </a:fld>
            <a:endParaRPr lang="en-US" altLang="en-US" sz="1000" smtClean="0">
              <a:solidFill>
                <a:srgbClr val="000000"/>
              </a:solidFill>
              <a:ea typeface="MS PGothic" panose="020B0600070205080204" pitchFamily="34" charset="-128"/>
            </a:endParaRPr>
          </a:p>
        </p:txBody>
      </p:sp>
      <p:pic>
        <p:nvPicPr>
          <p:cNvPr id="2055" name="Picture 15" descr="IBMCloud black"/>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73050" y="338138"/>
            <a:ext cx="10604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16" descr="IBM Black"/>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947025" y="263525"/>
            <a:ext cx="923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6" r:id="rId1"/>
    <p:sldLayoutId id="2147483798" r:id="rId2"/>
    <p:sldLayoutId id="2147483799" r:id="rId3"/>
  </p:sldLayoutIdLst>
  <p:txStyles>
    <p:title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p:titleStyle>
    <p:body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1.xml"/><Relationship Id="rId16"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57200" y="4160520"/>
            <a:ext cx="6019800" cy="960438"/>
          </a:xfrm>
        </p:spPr>
        <p:txBody>
          <a:bodyPr/>
          <a:lstStyle/>
          <a:p>
            <a:pPr eaLnBrk="1" fontAlgn="auto" hangingPunct="1">
              <a:spcAft>
                <a:spcPts val="0"/>
              </a:spcAft>
              <a:defRPr/>
            </a:pPr>
            <a:r>
              <a:rPr lang="en-US" dirty="0" smtClean="0"/>
              <a:t>Bluemix platform as a service (PaaS)</a:t>
            </a:r>
            <a:endParaRPr lang="en-US" dirty="0"/>
          </a:p>
        </p:txBody>
      </p:sp>
      <p:sp>
        <p:nvSpPr>
          <p:cNvPr id="2" name="Text Placeholder 1"/>
          <p:cNvSpPr>
            <a:spLocks noGrp="1"/>
          </p:cNvSpPr>
          <p:nvPr>
            <p:ph type="body" sz="quarter" idx="11"/>
          </p:nvPr>
        </p:nvSpPr>
        <p:spPr>
          <a:xfrm>
            <a:off x="6629400" y="5211763"/>
            <a:ext cx="2378075" cy="639762"/>
          </a:xfrm>
        </p:spPr>
        <p:txBody>
          <a:bodyPr/>
          <a:lstStyle/>
          <a:p>
            <a:pPr>
              <a:defRPr/>
            </a:pPr>
            <a:r>
              <a:rPr lang="en-US" dirty="0" smtClean="0"/>
              <a:t>IBM Cloud Ecosystem Development team</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71475" y="600075"/>
            <a:ext cx="8543925" cy="331788"/>
          </a:xfrm>
        </p:spPr>
        <p:txBody>
          <a:bodyPr/>
          <a:lstStyle/>
          <a:p>
            <a:pPr eaLnBrk="1" hangingPunct="1"/>
            <a:r>
              <a:rPr lang="en-US" altLang="en-US" smtClean="0">
                <a:solidFill>
                  <a:srgbClr val="0070C0"/>
                </a:solidFill>
              </a:rPr>
              <a:t>Objective</a:t>
            </a:r>
          </a:p>
        </p:txBody>
      </p:sp>
      <p:sp>
        <p:nvSpPr>
          <p:cNvPr id="19458" name="Content Placeholder 2"/>
          <p:cNvSpPr>
            <a:spLocks noGrp="1"/>
          </p:cNvSpPr>
          <p:nvPr>
            <p:ph idx="1"/>
          </p:nvPr>
        </p:nvSpPr>
        <p:spPr>
          <a:xfrm>
            <a:off x="261938" y="1143000"/>
            <a:ext cx="8558212" cy="5226050"/>
          </a:xfrm>
        </p:spPr>
        <p:txBody>
          <a:bodyPr/>
          <a:lstStyle/>
          <a:p>
            <a:pPr eaLnBrk="1" hangingPunct="1">
              <a:defRPr/>
            </a:pPr>
            <a:r>
              <a:rPr lang="en-US" altLang="en-US" dirty="0" smtClean="0"/>
              <a:t>After completing this module you will be able to:</a:t>
            </a:r>
          </a:p>
          <a:p>
            <a:pPr lvl="1">
              <a:defRPr/>
            </a:pPr>
            <a:r>
              <a:rPr lang="en-US" dirty="0" smtClean="0"/>
              <a:t>Describe </a:t>
            </a:r>
            <a:r>
              <a:rPr lang="en-US" dirty="0"/>
              <a:t>key components of IBM Bluemix PaaS application framework</a:t>
            </a:r>
          </a:p>
          <a:p>
            <a:pPr marL="339725" lvl="1" indent="0">
              <a:buFont typeface="Symbol" panose="05050102010706020507" pitchFamily="18" charset="2"/>
              <a:buNone/>
              <a:defRPr/>
            </a:pPr>
            <a:endParaRPr lang="en-US" dirty="0"/>
          </a:p>
          <a:p>
            <a:pPr lvl="1">
              <a:defRPr/>
            </a:pPr>
            <a:r>
              <a:rPr lang="en-US" dirty="0" smtClean="0"/>
              <a:t>Describe </a:t>
            </a:r>
            <a:r>
              <a:rPr lang="en-US" dirty="0"/>
              <a:t>key infrastructure components of IBM Bluemix PaaS and Cloud Foundry</a:t>
            </a:r>
          </a:p>
          <a:p>
            <a:pPr marL="339725" lvl="1" indent="0">
              <a:buFont typeface="Symbol" panose="05050102010706020507" pitchFamily="18" charset="2"/>
              <a:buNone/>
              <a:defRPr/>
            </a:pPr>
            <a:r>
              <a:rPr lang="en-US" dirty="0"/>
              <a:t>	</a:t>
            </a:r>
            <a:endParaRPr lang="en-US" dirty="0" smtClean="0"/>
          </a:p>
          <a:p>
            <a:pPr lvl="1">
              <a:defRPr/>
            </a:pPr>
            <a:r>
              <a:rPr lang="en-US" dirty="0" smtClean="0"/>
              <a:t>Explain </a:t>
            </a:r>
            <a:r>
              <a:rPr lang="en-US" dirty="0"/>
              <a:t>the process of staging an application in IBM Bluemix PaaS</a:t>
            </a:r>
          </a:p>
          <a:p>
            <a:pPr lvl="1">
              <a:defRPr/>
            </a:pPr>
            <a:endParaRPr lang="en-US" dirty="0"/>
          </a:p>
          <a:p>
            <a:pPr lvl="1">
              <a:defRPr/>
            </a:pPr>
            <a:r>
              <a:rPr lang="en-US" dirty="0" smtClean="0"/>
              <a:t>Describe </a:t>
            </a:r>
            <a:r>
              <a:rPr lang="en-US" dirty="0"/>
              <a:t>the organization management elements in IBM Bluemix PaaS: Spaces, Users, Domains and Quota</a:t>
            </a:r>
          </a:p>
          <a:p>
            <a:pPr marL="339725" lvl="1" indent="0">
              <a:buFont typeface="Symbol" panose="05050102010706020507" pitchFamily="18" charset="2"/>
              <a:buNone/>
              <a:defRPr/>
            </a:pPr>
            <a:endParaRPr lang="en-US" dirty="0"/>
          </a:p>
          <a:p>
            <a:pPr lvl="1">
              <a:defRPr/>
            </a:pPr>
            <a:r>
              <a:rPr lang="en-US" dirty="0" smtClean="0"/>
              <a:t>Understand </a:t>
            </a:r>
            <a:r>
              <a:rPr lang="en-US" dirty="0"/>
              <a:t>IBM Bluemix Regions and how to manage applications in multiple regions</a:t>
            </a:r>
          </a:p>
          <a:p>
            <a:pPr lvl="1">
              <a:defRPr/>
            </a:pPr>
            <a:endParaRPr lang="en-US" dirty="0"/>
          </a:p>
          <a:p>
            <a:pPr lvl="1">
              <a:defRPr/>
            </a:pPr>
            <a:r>
              <a:rPr lang="en-US" dirty="0" smtClean="0"/>
              <a:t>Use </a:t>
            </a:r>
            <a:r>
              <a:rPr lang="en-US" dirty="0"/>
              <a:t>the Cloud Foundry CLI (</a:t>
            </a:r>
            <a:r>
              <a:rPr lang="en-US" dirty="0" err="1"/>
              <a:t>cf</a:t>
            </a:r>
            <a:r>
              <a:rPr lang="en-US" dirty="0"/>
              <a:t>) tool to manage applications in IBM Bluemix PaaS</a:t>
            </a:r>
          </a:p>
          <a:p>
            <a:pPr marL="339725" lvl="1" indent="0">
              <a:buFont typeface="Symbol" panose="05050102010706020507" pitchFamily="18" charset="2"/>
              <a:buNone/>
              <a:defRPr/>
            </a:pPr>
            <a:endParaRPr lang="en-US" altLang="en-US" dirty="0" smtClean="0"/>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p:cNvSpPr/>
          <p:nvPr/>
        </p:nvSpPr>
        <p:spPr>
          <a:xfrm>
            <a:off x="4373563" y="1463675"/>
            <a:ext cx="2587625" cy="393700"/>
          </a:xfrm>
          <a:prstGeom prst="ellipse">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1267" name="Group 672"/>
          <p:cNvGrpSpPr>
            <a:grpSpLocks/>
          </p:cNvGrpSpPr>
          <p:nvPr/>
        </p:nvGrpSpPr>
        <p:grpSpPr bwMode="auto">
          <a:xfrm>
            <a:off x="354013" y="1463675"/>
            <a:ext cx="4019550" cy="334963"/>
            <a:chOff x="-38017" y="389645"/>
            <a:chExt cx="5713922" cy="477834"/>
          </a:xfrm>
        </p:grpSpPr>
        <p:sp>
          <p:nvSpPr>
            <p:cNvPr id="11296" name="Shape 670"/>
            <p:cNvSpPr>
              <a:spLocks noChangeShapeType="1"/>
            </p:cNvSpPr>
            <p:nvPr/>
          </p:nvSpPr>
          <p:spPr bwMode="auto">
            <a:xfrm>
              <a:off x="-37999" y="389645"/>
              <a:ext cx="5713904" cy="2"/>
            </a:xfrm>
            <a:prstGeom prst="line">
              <a:avLst/>
            </a:prstGeom>
            <a:noFill/>
            <a:ln w="25400">
              <a:solidFill>
                <a:srgbClr val="1796B3"/>
              </a:solidFill>
              <a:miter lim="400000"/>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6895" name="Shape 671"/>
            <p:cNvSpPr>
              <a:spLocks noChangeArrowheads="1"/>
            </p:cNvSpPr>
            <p:nvPr/>
          </p:nvSpPr>
          <p:spPr bwMode="auto">
            <a:xfrm>
              <a:off x="-38017" y="482495"/>
              <a:ext cx="3251880" cy="38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nchor="ctr">
              <a:spAutoFit/>
            </a:bodyPr>
            <a:lstStyle>
              <a:lvl1pPr defTabSz="457200">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buSzTx/>
                <a:buFontTx/>
                <a:buNone/>
                <a:defRPr/>
              </a:pPr>
              <a:r>
                <a:rPr lang="en-US" altLang="en-US" sz="1758" b="1" dirty="0" smtClean="0">
                  <a:solidFill>
                    <a:srgbClr val="1796B3"/>
                  </a:solidFill>
                  <a:sym typeface="Helvetica Neue Bold for IBM" charset="0"/>
                </a:rPr>
                <a:t>Web Applications</a:t>
              </a:r>
            </a:p>
          </p:txBody>
        </p:sp>
      </p:grpSp>
      <p:grpSp>
        <p:nvGrpSpPr>
          <p:cNvPr id="11268" name="Group 675"/>
          <p:cNvGrpSpPr>
            <a:grpSpLocks/>
          </p:cNvGrpSpPr>
          <p:nvPr/>
        </p:nvGrpSpPr>
        <p:grpSpPr bwMode="auto">
          <a:xfrm>
            <a:off x="4675188" y="1463675"/>
            <a:ext cx="4016375" cy="334963"/>
            <a:chOff x="-38017" y="389645"/>
            <a:chExt cx="5713922" cy="477834"/>
          </a:xfrm>
        </p:grpSpPr>
        <p:sp>
          <p:nvSpPr>
            <p:cNvPr id="11294" name="Shape 673"/>
            <p:cNvSpPr>
              <a:spLocks noChangeShapeType="1"/>
            </p:cNvSpPr>
            <p:nvPr/>
          </p:nvSpPr>
          <p:spPr bwMode="auto">
            <a:xfrm>
              <a:off x="-37999" y="389645"/>
              <a:ext cx="5713904" cy="2"/>
            </a:xfrm>
            <a:prstGeom prst="line">
              <a:avLst/>
            </a:prstGeom>
            <a:noFill/>
            <a:ln w="25400">
              <a:solidFill>
                <a:srgbClr val="19A38C"/>
              </a:solidFill>
              <a:miter lim="400000"/>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6893" name="Shape 674"/>
            <p:cNvSpPr>
              <a:spLocks noChangeArrowheads="1"/>
            </p:cNvSpPr>
            <p:nvPr/>
          </p:nvSpPr>
          <p:spPr bwMode="auto">
            <a:xfrm>
              <a:off x="-38017" y="482495"/>
              <a:ext cx="3252193" cy="38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nchor="ctr">
              <a:spAutoFit/>
            </a:bodyPr>
            <a:lstStyle>
              <a:lvl1pPr defTabSz="457200">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buSzTx/>
                <a:buFontTx/>
                <a:buNone/>
                <a:defRPr/>
              </a:pPr>
              <a:r>
                <a:rPr lang="en-US" altLang="en-US" sz="1758" b="1" dirty="0" smtClean="0">
                  <a:solidFill>
                    <a:srgbClr val="19A38C"/>
                  </a:solidFill>
                  <a:sym typeface="Helvetica Neue Bold for IBM" charset="0"/>
                </a:rPr>
                <a:t>Mobile Back Ends</a:t>
              </a:r>
            </a:p>
          </p:txBody>
        </p:sp>
      </p:grpSp>
      <p:grpSp>
        <p:nvGrpSpPr>
          <p:cNvPr id="11269" name="Group 678"/>
          <p:cNvGrpSpPr>
            <a:grpSpLocks/>
          </p:cNvGrpSpPr>
          <p:nvPr/>
        </p:nvGrpSpPr>
        <p:grpSpPr bwMode="auto">
          <a:xfrm>
            <a:off x="354013" y="4013200"/>
            <a:ext cx="4019550" cy="334963"/>
            <a:chOff x="-38017" y="389645"/>
            <a:chExt cx="5713922" cy="477836"/>
          </a:xfrm>
        </p:grpSpPr>
        <p:sp>
          <p:nvSpPr>
            <p:cNvPr id="11292" name="Shape 676"/>
            <p:cNvSpPr>
              <a:spLocks noChangeShapeType="1"/>
            </p:cNvSpPr>
            <p:nvPr/>
          </p:nvSpPr>
          <p:spPr bwMode="auto">
            <a:xfrm>
              <a:off x="-37999" y="389645"/>
              <a:ext cx="5713904" cy="2"/>
            </a:xfrm>
            <a:prstGeom prst="line">
              <a:avLst/>
            </a:prstGeom>
            <a:noFill/>
            <a:ln w="25400">
              <a:solidFill>
                <a:srgbClr val="F39019"/>
              </a:solidFill>
              <a:miter lim="400000"/>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6891" name="Shape 677"/>
            <p:cNvSpPr>
              <a:spLocks noChangeArrowheads="1"/>
            </p:cNvSpPr>
            <p:nvPr/>
          </p:nvSpPr>
          <p:spPr bwMode="auto">
            <a:xfrm>
              <a:off x="-38017" y="482495"/>
              <a:ext cx="4962446" cy="384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nchor="ctr">
              <a:spAutoFit/>
            </a:bodyPr>
            <a:lstStyle>
              <a:lvl1pPr defTabSz="457200">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buSzTx/>
                <a:buFontTx/>
                <a:buNone/>
                <a:defRPr/>
              </a:pPr>
              <a:r>
                <a:rPr lang="en-US" altLang="en-US" sz="1758" b="1" smtClean="0">
                  <a:solidFill>
                    <a:srgbClr val="F39019"/>
                  </a:solidFill>
                  <a:sym typeface="Helvetica Neue Bold for IBM" charset="0"/>
                </a:rPr>
                <a:t>APIs and On-Prem Integration</a:t>
              </a:r>
            </a:p>
          </p:txBody>
        </p:sp>
      </p:grpSp>
      <p:grpSp>
        <p:nvGrpSpPr>
          <p:cNvPr id="11270" name="Group 681"/>
          <p:cNvGrpSpPr>
            <a:grpSpLocks/>
          </p:cNvGrpSpPr>
          <p:nvPr/>
        </p:nvGrpSpPr>
        <p:grpSpPr bwMode="auto">
          <a:xfrm>
            <a:off x="4675188" y="4013200"/>
            <a:ext cx="4016375" cy="311150"/>
            <a:chOff x="-38016" y="389645"/>
            <a:chExt cx="5713921" cy="444214"/>
          </a:xfrm>
        </p:grpSpPr>
        <p:sp>
          <p:nvSpPr>
            <p:cNvPr id="11290" name="Shape 679"/>
            <p:cNvSpPr>
              <a:spLocks noChangeShapeType="1"/>
            </p:cNvSpPr>
            <p:nvPr/>
          </p:nvSpPr>
          <p:spPr bwMode="auto">
            <a:xfrm>
              <a:off x="-37999" y="389645"/>
              <a:ext cx="5713904" cy="2"/>
            </a:xfrm>
            <a:prstGeom prst="line">
              <a:avLst/>
            </a:prstGeom>
            <a:noFill/>
            <a:ln w="25400">
              <a:solidFill>
                <a:srgbClr val="405059"/>
              </a:solidFill>
              <a:miter lim="400000"/>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6889" name="Shape 680"/>
            <p:cNvSpPr>
              <a:spLocks noChangeArrowheads="1"/>
            </p:cNvSpPr>
            <p:nvPr/>
          </p:nvSpPr>
          <p:spPr bwMode="auto">
            <a:xfrm>
              <a:off x="-38016" y="516563"/>
              <a:ext cx="5296104" cy="31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nchor="ctr"/>
            <a:lstStyle>
              <a:lvl1pPr defTabSz="457200">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defTabSz="4572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457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buSzTx/>
                <a:buFontTx/>
                <a:buNone/>
                <a:defRPr/>
              </a:pPr>
              <a:r>
                <a:rPr lang="en-US" altLang="en-US" sz="1758" b="1" smtClean="0">
                  <a:solidFill>
                    <a:srgbClr val="405059"/>
                  </a:solidFill>
                  <a:sym typeface="Helvetica Neue Bold for IBM" charset="0"/>
                </a:rPr>
                <a:t>Analytics and Reporting</a:t>
              </a:r>
            </a:p>
          </p:txBody>
        </p:sp>
      </p:grpSp>
      <p:grpSp>
        <p:nvGrpSpPr>
          <p:cNvPr id="11271" name="Group 685"/>
          <p:cNvGrpSpPr>
            <a:grpSpLocks/>
          </p:cNvGrpSpPr>
          <p:nvPr/>
        </p:nvGrpSpPr>
        <p:grpSpPr bwMode="auto">
          <a:xfrm>
            <a:off x="368300" y="1857375"/>
            <a:ext cx="3606800" cy="1989138"/>
            <a:chOff x="0" y="0"/>
            <a:chExt cx="5131173" cy="2828788"/>
          </a:xfrm>
        </p:grpSpPr>
        <p:sp>
          <p:nvSpPr>
            <p:cNvPr id="36885" name="Shape 682"/>
            <p:cNvSpPr>
              <a:spLocks noChangeArrowheads="1"/>
            </p:cNvSpPr>
            <p:nvPr/>
          </p:nvSpPr>
          <p:spPr bwMode="auto">
            <a:xfrm>
              <a:off x="0" y="0"/>
              <a:ext cx="5131173" cy="8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Enabling </a:t>
              </a:r>
              <a:r>
                <a:rPr lang="en-US" altLang="en-US" sz="1547" b="1" smtClean="0">
                  <a:sym typeface="Helvetica Neue Light" charset="0"/>
                </a:rPr>
                <a:t>online experiences in the physical store</a:t>
              </a:r>
              <a:r>
                <a:rPr lang="en-US" altLang="en-US" sz="1547" smtClean="0">
                  <a:sym typeface="Helvetica Neue Light" charset="0"/>
                </a:rPr>
                <a:t> for retail</a:t>
              </a:r>
            </a:p>
          </p:txBody>
        </p:sp>
        <p:sp>
          <p:nvSpPr>
            <p:cNvPr id="36886" name="Shape 683"/>
            <p:cNvSpPr>
              <a:spLocks noChangeArrowheads="1"/>
            </p:cNvSpPr>
            <p:nvPr/>
          </p:nvSpPr>
          <p:spPr bwMode="auto">
            <a:xfrm>
              <a:off x="0" y="821771"/>
              <a:ext cx="5131173" cy="8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Leverages BlueMix for data collection APIs and dashboards</a:t>
              </a:r>
            </a:p>
          </p:txBody>
        </p:sp>
        <p:sp>
          <p:nvSpPr>
            <p:cNvPr id="36887" name="Shape 684"/>
            <p:cNvSpPr>
              <a:spLocks noChangeArrowheads="1"/>
            </p:cNvSpPr>
            <p:nvPr/>
          </p:nvSpPr>
          <p:spPr bwMode="auto">
            <a:xfrm>
              <a:off x="0" y="1681921"/>
              <a:ext cx="5131173" cy="1146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Reduction of </a:t>
              </a:r>
              <a:r>
                <a:rPr lang="en-US" altLang="en-US" sz="1547" b="1" smtClean="0">
                  <a:sym typeface="Helvetica Neue Light" charset="0"/>
                </a:rPr>
                <a:t>infrastructure setup from days to minutes</a:t>
              </a:r>
              <a:r>
                <a:rPr lang="en-US" altLang="en-US" sz="1547" smtClean="0">
                  <a:sym typeface="Helvetica Neue Light" charset="0"/>
                </a:rPr>
                <a:t> by moving off of a pure IaaS</a:t>
              </a:r>
            </a:p>
          </p:txBody>
        </p:sp>
      </p:grpSp>
      <p:grpSp>
        <p:nvGrpSpPr>
          <p:cNvPr id="11272" name="Group 689"/>
          <p:cNvGrpSpPr>
            <a:grpSpLocks/>
          </p:cNvGrpSpPr>
          <p:nvPr/>
        </p:nvGrpSpPr>
        <p:grpSpPr bwMode="auto">
          <a:xfrm>
            <a:off x="4737100" y="1857375"/>
            <a:ext cx="3779838" cy="1966913"/>
            <a:chOff x="0" y="0"/>
            <a:chExt cx="5376946" cy="2797544"/>
          </a:xfrm>
        </p:grpSpPr>
        <p:sp>
          <p:nvSpPr>
            <p:cNvPr id="36882" name="Shape 686"/>
            <p:cNvSpPr>
              <a:spLocks noChangeArrowheads="1"/>
            </p:cNvSpPr>
            <p:nvPr/>
          </p:nvSpPr>
          <p:spPr bwMode="auto">
            <a:xfrm>
              <a:off x="0" y="1989214"/>
              <a:ext cx="5376946" cy="8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Integrated into iOS and Android native applications using </a:t>
              </a:r>
              <a:r>
                <a:rPr lang="en-US" altLang="en-US" sz="1547" b="1" smtClean="0">
                  <a:sym typeface="Helvetica Neue Light" charset="0"/>
                </a:rPr>
                <a:t>BlueMix SDK</a:t>
              </a:r>
            </a:p>
          </p:txBody>
        </p:sp>
        <p:sp>
          <p:nvSpPr>
            <p:cNvPr id="36883" name="Shape 687"/>
            <p:cNvSpPr>
              <a:spLocks noChangeArrowheads="1"/>
            </p:cNvSpPr>
            <p:nvPr/>
          </p:nvSpPr>
          <p:spPr bwMode="auto">
            <a:xfrm>
              <a:off x="0" y="1153790"/>
              <a:ext cx="5130794" cy="8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Cloud Code for </a:t>
              </a:r>
              <a:r>
                <a:rPr lang="en-US" altLang="en-US" sz="1547" b="1" smtClean="0">
                  <a:sym typeface="Helvetica Neue Light" charset="0"/>
                </a:rPr>
                <a:t>offloading business logic</a:t>
              </a:r>
              <a:r>
                <a:rPr lang="en-US" altLang="en-US" sz="1547" smtClean="0">
                  <a:sym typeface="Helvetica Neue Light" charset="0"/>
                </a:rPr>
                <a:t> from the mobile client</a:t>
              </a:r>
            </a:p>
          </p:txBody>
        </p:sp>
        <p:sp>
          <p:nvSpPr>
            <p:cNvPr id="36884" name="Shape 688"/>
            <p:cNvSpPr>
              <a:spLocks noChangeArrowheads="1"/>
            </p:cNvSpPr>
            <p:nvPr/>
          </p:nvSpPr>
          <p:spPr bwMode="auto">
            <a:xfrm>
              <a:off x="0" y="0"/>
              <a:ext cx="5130794" cy="1147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b="1" smtClean="0">
                  <a:sym typeface="Helvetica Neue Light" charset="0"/>
                </a:rPr>
                <a:t>Back end services replacing custom code</a:t>
              </a:r>
              <a:r>
                <a:rPr lang="en-US" altLang="en-US" sz="1547" smtClean="0">
                  <a:sym typeface="Helvetica Neue Light" charset="0"/>
                </a:rPr>
                <a:t> hosted on IaaS (e.g. Push Notification)</a:t>
              </a:r>
            </a:p>
          </p:txBody>
        </p:sp>
      </p:grpSp>
      <p:grpSp>
        <p:nvGrpSpPr>
          <p:cNvPr id="11273" name="Group 693"/>
          <p:cNvGrpSpPr>
            <a:grpSpLocks/>
          </p:cNvGrpSpPr>
          <p:nvPr/>
        </p:nvGrpSpPr>
        <p:grpSpPr bwMode="auto">
          <a:xfrm>
            <a:off x="368300" y="4421188"/>
            <a:ext cx="3606800" cy="1739900"/>
            <a:chOff x="0" y="0"/>
            <a:chExt cx="5131173" cy="2474568"/>
          </a:xfrm>
        </p:grpSpPr>
        <p:sp>
          <p:nvSpPr>
            <p:cNvPr id="36879" name="Shape 690"/>
            <p:cNvSpPr>
              <a:spLocks noChangeArrowheads="1"/>
            </p:cNvSpPr>
            <p:nvPr/>
          </p:nvSpPr>
          <p:spPr bwMode="auto">
            <a:xfrm>
              <a:off x="0" y="0"/>
              <a:ext cx="5131173" cy="808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Providing APIs that are </a:t>
              </a:r>
              <a:r>
                <a:rPr lang="en-US" altLang="en-US" sz="1547" b="1" smtClean="0">
                  <a:sym typeface="Helvetica Neue Light" charset="0"/>
                </a:rPr>
                <a:t>integrated into the BlueMix experience</a:t>
              </a:r>
            </a:p>
          </p:txBody>
        </p:sp>
        <p:sp>
          <p:nvSpPr>
            <p:cNvPr id="36880" name="Shape 691"/>
            <p:cNvSpPr>
              <a:spLocks noChangeArrowheads="1"/>
            </p:cNvSpPr>
            <p:nvPr/>
          </p:nvSpPr>
          <p:spPr bwMode="auto">
            <a:xfrm>
              <a:off x="0" y="808299"/>
              <a:ext cx="5131173" cy="808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Leveraging </a:t>
              </a:r>
              <a:r>
                <a:rPr lang="en-US" altLang="en-US" sz="1547" b="1" smtClean="0">
                  <a:sym typeface="Helvetica Neue Light" charset="0"/>
                </a:rPr>
                <a:t>existing on premise databases and technologies</a:t>
              </a:r>
            </a:p>
          </p:txBody>
        </p:sp>
        <p:sp>
          <p:nvSpPr>
            <p:cNvPr id="36881" name="Shape 692"/>
            <p:cNvSpPr>
              <a:spLocks noChangeArrowheads="1"/>
            </p:cNvSpPr>
            <p:nvPr/>
          </p:nvSpPr>
          <p:spPr bwMode="auto">
            <a:xfrm>
              <a:off x="0" y="1666269"/>
              <a:ext cx="5131173" cy="808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Building mobile applications that connect to on-prem data via Bluemix</a:t>
              </a:r>
            </a:p>
          </p:txBody>
        </p:sp>
      </p:grpSp>
      <p:grpSp>
        <p:nvGrpSpPr>
          <p:cNvPr id="11274" name="Group 697"/>
          <p:cNvGrpSpPr>
            <a:grpSpLocks/>
          </p:cNvGrpSpPr>
          <p:nvPr/>
        </p:nvGrpSpPr>
        <p:grpSpPr bwMode="auto">
          <a:xfrm>
            <a:off x="4737100" y="4421188"/>
            <a:ext cx="3606800" cy="2035175"/>
            <a:chOff x="0" y="0"/>
            <a:chExt cx="5131173" cy="2896094"/>
          </a:xfrm>
        </p:grpSpPr>
        <p:sp>
          <p:nvSpPr>
            <p:cNvPr id="36876" name="Shape 694"/>
            <p:cNvSpPr>
              <a:spLocks noChangeArrowheads="1"/>
            </p:cNvSpPr>
            <p:nvPr/>
          </p:nvSpPr>
          <p:spPr bwMode="auto">
            <a:xfrm>
              <a:off x="0" y="0"/>
              <a:ext cx="5131173" cy="80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Embed </a:t>
              </a:r>
              <a:r>
                <a:rPr lang="en-US" altLang="en-US" sz="1547" b="1" smtClean="0">
                  <a:sym typeface="Helvetica Neue Light" charset="0"/>
                </a:rPr>
                <a:t>IBM Cognos business intelligence</a:t>
              </a:r>
              <a:r>
                <a:rPr lang="en-US" altLang="en-US" sz="1547" smtClean="0">
                  <a:sym typeface="Helvetica Neue Light" charset="0"/>
                </a:rPr>
                <a:t> content into apps</a:t>
              </a:r>
            </a:p>
          </p:txBody>
        </p:sp>
        <p:sp>
          <p:nvSpPr>
            <p:cNvPr id="36877" name="Shape 695"/>
            <p:cNvSpPr>
              <a:spLocks noChangeArrowheads="1"/>
            </p:cNvSpPr>
            <p:nvPr/>
          </p:nvSpPr>
          <p:spPr bwMode="auto">
            <a:xfrm>
              <a:off x="0" y="860695"/>
              <a:ext cx="5131173" cy="80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Use </a:t>
              </a:r>
              <a:r>
                <a:rPr lang="en-US" altLang="en-US" sz="1547" b="1" smtClean="0">
                  <a:sym typeface="Helvetica Neue Light" charset="0"/>
                </a:rPr>
                <a:t>IBM Analytics Warehouse</a:t>
              </a:r>
              <a:r>
                <a:rPr lang="en-US" altLang="en-US" sz="1547" smtClean="0">
                  <a:sym typeface="Helvetica Neue Light" charset="0"/>
                </a:rPr>
                <a:t> to store and analyze business data</a:t>
              </a:r>
            </a:p>
          </p:txBody>
        </p:sp>
        <p:sp>
          <p:nvSpPr>
            <p:cNvPr id="36878" name="Shape 696"/>
            <p:cNvSpPr>
              <a:spLocks noChangeArrowheads="1"/>
            </p:cNvSpPr>
            <p:nvPr/>
          </p:nvSpPr>
          <p:spPr bwMode="auto">
            <a:xfrm>
              <a:off x="0" y="1748500"/>
              <a:ext cx="5131173" cy="114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1" tIns="45711" rIns="45711" bIns="45711">
              <a:spAutoFit/>
            </a:bodyPr>
            <a:lstStyle>
              <a:lvl1pPr marL="271463" indent="-271463">
                <a:buSzPct val="75000"/>
                <a:buChar char="•"/>
                <a:defRPr sz="36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buChar char="•"/>
                <a:defRPr sz="36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eaLnBrk="1" hangingPunct="1">
                <a:spcBef>
                  <a:spcPts val="2953"/>
                </a:spcBef>
                <a:defRPr/>
              </a:pPr>
              <a:r>
                <a:rPr lang="en-US" altLang="en-US" sz="1547" smtClean="0">
                  <a:sym typeface="Helvetica Neue Light" charset="0"/>
                </a:rPr>
                <a:t>Gain immediate </a:t>
              </a:r>
              <a:r>
                <a:rPr lang="en-US" altLang="en-US" sz="1547" b="1" smtClean="0">
                  <a:sym typeface="Helvetica Neue Light" charset="0"/>
                </a:rPr>
                <a:t>visibility and control</a:t>
              </a:r>
              <a:r>
                <a:rPr lang="en-US" altLang="en-US" sz="1547" smtClean="0">
                  <a:sym typeface="Helvetica Neue Light" charset="0"/>
                </a:rPr>
                <a:t> over app </a:t>
              </a:r>
              <a:r>
                <a:rPr lang="en-US" altLang="en-US" sz="1547" b="1" smtClean="0">
                  <a:sym typeface="Helvetica Neue Light" charset="0"/>
                </a:rPr>
                <a:t>performance</a:t>
              </a:r>
              <a:r>
                <a:rPr lang="en-US" altLang="en-US" sz="1547" smtClean="0">
                  <a:sym typeface="Helvetica Neue Light" charset="0"/>
                </a:rPr>
                <a:t> and availability</a:t>
              </a:r>
            </a:p>
          </p:txBody>
        </p:sp>
      </p:grpSp>
      <p:sp>
        <p:nvSpPr>
          <p:cNvPr id="11275" name="Title 1"/>
          <p:cNvSpPr>
            <a:spLocks noGrp="1"/>
          </p:cNvSpPr>
          <p:nvPr>
            <p:ph type="title"/>
          </p:nvPr>
        </p:nvSpPr>
        <p:spPr>
          <a:xfrm>
            <a:off x="371475" y="609600"/>
            <a:ext cx="8543925" cy="458788"/>
          </a:xfrm>
        </p:spPr>
        <p:txBody>
          <a:bodyPr/>
          <a:lstStyle/>
          <a:p>
            <a:r>
              <a:rPr lang="en-US" altLang="en-US" smtClean="0">
                <a:solidFill>
                  <a:srgbClr val="0070C0"/>
                </a:solidFill>
              </a:rPr>
              <a:t>Bluemix Applications</a:t>
            </a:r>
          </a:p>
        </p:txBody>
      </p:sp>
      <p:sp>
        <p:nvSpPr>
          <p:cNvPr id="11276" name="TextBox 3"/>
          <p:cNvSpPr txBox="1">
            <a:spLocks noChangeArrowheads="1"/>
          </p:cNvSpPr>
          <p:nvPr/>
        </p:nvSpPr>
        <p:spPr bwMode="auto">
          <a:xfrm>
            <a:off x="230188" y="1093788"/>
            <a:ext cx="3883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Use cases categories</a:t>
            </a:r>
          </a:p>
        </p:txBody>
      </p:sp>
      <p:sp>
        <p:nvSpPr>
          <p:cNvPr id="5" name="Oval 4"/>
          <p:cNvSpPr/>
          <p:nvPr/>
        </p:nvSpPr>
        <p:spPr>
          <a:xfrm>
            <a:off x="230188" y="1463675"/>
            <a:ext cx="2192337" cy="393700"/>
          </a:xfrm>
          <a:prstGeom prst="ellipse">
            <a:avLst/>
          </a:prstGeom>
          <a:noFill/>
          <a:ln>
            <a:solidFill>
              <a:srgbClr val="1C9FE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med"/>
  <p:timing>
    <p:tnLst>
      <p:par>
        <p:cTn id="1" dur="indefinite" restart="never" fill="hold"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543300" y="2524125"/>
            <a:ext cx="5370513" cy="1862138"/>
          </a:xfrm>
        </p:spPr>
        <p:txBody>
          <a:bodyPr/>
          <a:lstStyle/>
          <a:p>
            <a:pPr algn="ctr"/>
            <a:r>
              <a:rPr lang="en-US" altLang="en-US" sz="2800" smtClean="0">
                <a:solidFill>
                  <a:srgbClr val="0070C0"/>
                </a:solidFill>
              </a:rPr>
              <a:t>Key components of IBM Bluemix PaaS application framework </a:t>
            </a:r>
          </a:p>
        </p:txBody>
      </p:sp>
      <p:grpSp>
        <p:nvGrpSpPr>
          <p:cNvPr id="13315" name="Group 231"/>
          <p:cNvGrpSpPr>
            <a:grpSpLocks/>
          </p:cNvGrpSpPr>
          <p:nvPr/>
        </p:nvGrpSpPr>
        <p:grpSpPr bwMode="auto">
          <a:xfrm>
            <a:off x="161925" y="1965325"/>
            <a:ext cx="4575175" cy="3319463"/>
            <a:chOff x="-76200" y="0"/>
            <a:chExt cx="2002239" cy="1280375"/>
          </a:xfrm>
        </p:grpSpPr>
        <p:sp>
          <p:nvSpPr>
            <p:cNvPr id="13316" name="Shape 229"/>
            <p:cNvSpPr>
              <a:spLocks noChangeArrowheads="1"/>
            </p:cNvSpPr>
            <p:nvPr/>
          </p:nvSpPr>
          <p:spPr bwMode="auto">
            <a:xfrm>
              <a:off x="-76200" y="935147"/>
              <a:ext cx="2002239" cy="34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300">
                  <a:solidFill>
                    <a:srgbClr val="405059"/>
                  </a:solidFill>
                  <a:sym typeface="Helvetica Neue Thin"/>
                </a:rPr>
                <a:t>IBM </a:t>
              </a:r>
              <a:r>
                <a:rPr lang="en-US" altLang="en-US" sz="2300" b="1">
                  <a:solidFill>
                    <a:srgbClr val="405059"/>
                  </a:solidFill>
                  <a:sym typeface="Helvetica Neue Thin"/>
                </a:rPr>
                <a:t>Bluemix</a:t>
              </a:r>
            </a:p>
          </p:txBody>
        </p:sp>
        <p:pic>
          <p:nvPicPr>
            <p:cNvPr id="13317" name="image3.png" descr="Matt_Logo_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80" y="0"/>
              <a:ext cx="952910" cy="95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mtClean="0">
                <a:solidFill>
                  <a:srgbClr val="0070C0"/>
                </a:solidFill>
              </a:rPr>
              <a:t>Terminology</a:t>
            </a:r>
          </a:p>
        </p:txBody>
      </p:sp>
      <p:sp>
        <p:nvSpPr>
          <p:cNvPr id="3" name="Content Placeholder 2"/>
          <p:cNvSpPr>
            <a:spLocks noGrp="1"/>
          </p:cNvSpPr>
          <p:nvPr>
            <p:ph idx="1"/>
          </p:nvPr>
        </p:nvSpPr>
        <p:spPr>
          <a:xfrm>
            <a:off x="304800" y="1143000"/>
            <a:ext cx="8839200" cy="5303838"/>
          </a:xfrm>
        </p:spPr>
        <p:txBody>
          <a:bodyPr/>
          <a:lstStyle/>
          <a:p>
            <a:pPr>
              <a:defRPr/>
            </a:pPr>
            <a:r>
              <a:rPr lang="en-US" sz="1800" b="1" dirty="0" smtClean="0"/>
              <a:t>Starter</a:t>
            </a:r>
            <a:r>
              <a:rPr lang="en-US" sz="1800" dirty="0" smtClean="0"/>
              <a:t> - A </a:t>
            </a:r>
            <a:r>
              <a:rPr lang="en-US" sz="1800" i="1" dirty="0"/>
              <a:t>starter</a:t>
            </a:r>
            <a:r>
              <a:rPr lang="en-US" sz="1800" dirty="0"/>
              <a:t> is a template that includes predefined services and application code that is configured with a particular buildpack. There are two types of starters: boilerplates and runtimes.</a:t>
            </a:r>
          </a:p>
          <a:p>
            <a:pPr>
              <a:defRPr/>
            </a:pPr>
            <a:r>
              <a:rPr lang="en-US" sz="1800" b="1" dirty="0" smtClean="0"/>
              <a:t>Boilerplate</a:t>
            </a:r>
            <a:r>
              <a:rPr lang="en-US" sz="1800" dirty="0" smtClean="0"/>
              <a:t> - A </a:t>
            </a:r>
            <a:r>
              <a:rPr lang="en-US" sz="1800" i="1" dirty="0"/>
              <a:t>boilerplate</a:t>
            </a:r>
            <a:r>
              <a:rPr lang="en-US" sz="1800" dirty="0"/>
              <a:t> is a container for an application and its associated runtime environment and predefined services for a particular domain. </a:t>
            </a:r>
          </a:p>
          <a:p>
            <a:pPr>
              <a:defRPr/>
            </a:pPr>
            <a:r>
              <a:rPr lang="en-US" sz="1800" b="1" dirty="0" smtClean="0"/>
              <a:t>Runtime</a:t>
            </a:r>
            <a:r>
              <a:rPr lang="en-US" sz="1800" dirty="0" smtClean="0"/>
              <a:t> - A </a:t>
            </a:r>
            <a:r>
              <a:rPr lang="en-US" sz="1800" i="1" dirty="0"/>
              <a:t>runtime</a:t>
            </a:r>
            <a:r>
              <a:rPr lang="en-US" sz="1800" dirty="0"/>
              <a:t> is the set of resources that is used to run an application. Bluemix provides runtime environments as containers for different types of applications. The </a:t>
            </a:r>
            <a:r>
              <a:rPr lang="en-US" sz="1800" i="1" dirty="0"/>
              <a:t>runtime environments </a:t>
            </a:r>
            <a:r>
              <a:rPr lang="en-US" sz="1800" dirty="0"/>
              <a:t>are integrated as buildpacks into Bluemix, are automatically configured for use, and require little to no maintenance.</a:t>
            </a:r>
          </a:p>
          <a:p>
            <a:pPr>
              <a:defRPr/>
            </a:pPr>
            <a:r>
              <a:rPr lang="en-US" sz="1800" b="1" dirty="0" smtClean="0"/>
              <a:t>Buildpack</a:t>
            </a:r>
            <a:r>
              <a:rPr lang="en-US" sz="1800" dirty="0" smtClean="0"/>
              <a:t> - A </a:t>
            </a:r>
            <a:r>
              <a:rPr lang="en-US" sz="1800" i="1" dirty="0"/>
              <a:t>buildpack</a:t>
            </a:r>
            <a:r>
              <a:rPr lang="en-US" sz="1800" dirty="0"/>
              <a:t> is a collection of scripts that prepare your code for execution on the target PaaS. A buildpack gathers the runtime and framework dependencies of an application. Then, it packages them with the application into a droplet that can be deployed to the cloud. </a:t>
            </a:r>
            <a:endParaRPr lang="en-US" sz="1800" dirty="0" smtClean="0"/>
          </a:p>
          <a:p>
            <a:pPr>
              <a:defRPr/>
            </a:pPr>
            <a:r>
              <a:rPr lang="en-US" sz="1800" b="1" dirty="0" smtClean="0"/>
              <a:t>Service</a:t>
            </a:r>
            <a:r>
              <a:rPr lang="en-US" sz="1800" dirty="0" smtClean="0"/>
              <a:t> - A </a:t>
            </a:r>
            <a:r>
              <a:rPr lang="en-US" sz="1800" i="1" dirty="0"/>
              <a:t>service</a:t>
            </a:r>
            <a:r>
              <a:rPr lang="en-US" sz="1800" dirty="0"/>
              <a:t> is a cloud extension that is hosted by Bluemix. The service provides functionality that is ready-for-use by the app's running code. The predefined services that are provided by Bluemix include database, messaging, push notifications for mobile apps, and elastic caching for web apps.</a:t>
            </a:r>
          </a:p>
          <a:p>
            <a:pPr>
              <a:defRPr/>
            </a:pPr>
            <a:endParaRPr lang="en-US" sz="1400" dirty="0"/>
          </a:p>
          <a:p>
            <a:pPr>
              <a:lnSpc>
                <a:spcPct val="80000"/>
              </a:lnSpc>
              <a:buFontTx/>
              <a:buChar char="•"/>
              <a:defRPr/>
            </a:pPr>
            <a:endParaRPr lang="en-US" altLang="en-US" sz="1400" dirty="0" smtClean="0"/>
          </a:p>
          <a:p>
            <a:pPr marL="0" indent="0">
              <a:buFont typeface="Wingdings" panose="05000000000000000000" pitchFamily="2" charset="2"/>
              <a:buNone/>
              <a:defRPr/>
            </a:pPr>
            <a:endParaRPr lang="en-US" sz="1400" i="1" dirty="0"/>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55588" y="587375"/>
            <a:ext cx="8545512" cy="601663"/>
          </a:xfrm>
        </p:spPr>
        <p:txBody>
          <a:bodyPr/>
          <a:lstStyle/>
          <a:p>
            <a:pPr eaLnBrk="1" hangingPunct="1"/>
            <a:r>
              <a:rPr lang="en-US" altLang="en-US" smtClean="0">
                <a:solidFill>
                  <a:srgbClr val="0070C0"/>
                </a:solidFill>
                <a:cs typeface="Arial" panose="020B0604020202020204" pitchFamily="34" charset="0"/>
              </a:rPr>
              <a:t>High Level Bluemix Public PaaS Architecture</a:t>
            </a:r>
            <a:endParaRPr lang="en-US" altLang="en-US" smtClean="0">
              <a:solidFill>
                <a:srgbClr val="C00000"/>
              </a:solidFill>
              <a:cs typeface="Arial" panose="020B0604020202020204" pitchFamily="34" charset="0"/>
            </a:endParaRPr>
          </a:p>
        </p:txBody>
      </p:sp>
      <p:pic>
        <p:nvPicPr>
          <p:cNvPr id="1741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8075" y="1050925"/>
            <a:ext cx="4429125" cy="55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34569" y="1593271"/>
            <a:ext cx="8709765" cy="4314824"/>
          </a:xfrm>
          <a:prstGeom prst="rect">
            <a:avLst/>
          </a:prstGeom>
        </p:spPr>
      </p:pic>
      <p:sp>
        <p:nvSpPr>
          <p:cNvPr id="19459" name="Title 1"/>
          <p:cNvSpPr>
            <a:spLocks noGrp="1"/>
          </p:cNvSpPr>
          <p:nvPr>
            <p:ph type="title"/>
          </p:nvPr>
        </p:nvSpPr>
        <p:spPr>
          <a:xfrm>
            <a:off x="299624" y="598050"/>
            <a:ext cx="8545512" cy="426896"/>
          </a:xfrm>
        </p:spPr>
        <p:txBody>
          <a:bodyPr/>
          <a:lstStyle/>
          <a:p>
            <a:pPr eaLnBrk="1" hangingPunct="1"/>
            <a:r>
              <a:rPr lang="en-US" altLang="en-US" smtClean="0">
                <a:solidFill>
                  <a:srgbClr val="0070C0"/>
                </a:solidFill>
                <a:cs typeface="Arial" panose="020B0604020202020204" pitchFamily="34" charset="0"/>
              </a:rPr>
              <a:t>Bluemix Console Dashboard UI</a:t>
            </a:r>
          </a:p>
        </p:txBody>
      </p:sp>
      <p:sp>
        <p:nvSpPr>
          <p:cNvPr id="13" name="Rounded Rectangular Callout 12"/>
          <p:cNvSpPr>
            <a:spLocks noChangeArrowheads="1"/>
          </p:cNvSpPr>
          <p:nvPr/>
        </p:nvSpPr>
        <p:spPr bwMode="auto">
          <a:xfrm>
            <a:off x="5446737" y="1017038"/>
            <a:ext cx="777875" cy="271462"/>
          </a:xfrm>
          <a:prstGeom prst="wedgeRoundRectCallout">
            <a:avLst>
              <a:gd name="adj1" fmla="val 79217"/>
              <a:gd name="adj2" fmla="val 175804"/>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Menu</a:t>
            </a:r>
          </a:p>
        </p:txBody>
      </p:sp>
      <p:sp>
        <p:nvSpPr>
          <p:cNvPr id="19" name="Rounded Rectangular Callout 18"/>
          <p:cNvSpPr>
            <a:spLocks noChangeArrowheads="1"/>
          </p:cNvSpPr>
          <p:nvPr/>
        </p:nvSpPr>
        <p:spPr bwMode="auto">
          <a:xfrm>
            <a:off x="299624" y="1115938"/>
            <a:ext cx="950913" cy="271462"/>
          </a:xfrm>
          <a:prstGeom prst="wedgeRoundRectCallout">
            <a:avLst>
              <a:gd name="adj1" fmla="val -31647"/>
              <a:gd name="adj2" fmla="val 245837"/>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Organization</a:t>
            </a:r>
          </a:p>
        </p:txBody>
      </p:sp>
      <p:sp>
        <p:nvSpPr>
          <p:cNvPr id="20" name="Rounded Rectangular Callout 19"/>
          <p:cNvSpPr>
            <a:spLocks noChangeArrowheads="1"/>
          </p:cNvSpPr>
          <p:nvPr/>
        </p:nvSpPr>
        <p:spPr bwMode="auto">
          <a:xfrm>
            <a:off x="7197857" y="1181528"/>
            <a:ext cx="463550" cy="271462"/>
          </a:xfrm>
          <a:prstGeom prst="wedgeRoundRectCallout">
            <a:avLst>
              <a:gd name="adj1" fmla="val 198005"/>
              <a:gd name="adj2" fmla="val 145957"/>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Trial</a:t>
            </a:r>
          </a:p>
        </p:txBody>
      </p:sp>
      <p:sp>
        <p:nvSpPr>
          <p:cNvPr id="21" name="Rounded Rectangular Callout 20"/>
          <p:cNvSpPr>
            <a:spLocks noChangeArrowheads="1"/>
          </p:cNvSpPr>
          <p:nvPr/>
        </p:nvSpPr>
        <p:spPr bwMode="auto">
          <a:xfrm>
            <a:off x="7661407" y="881307"/>
            <a:ext cx="1477963" cy="271462"/>
          </a:xfrm>
          <a:prstGeom prst="wedgeRoundRectCallout">
            <a:avLst>
              <a:gd name="adj1" fmla="val 14644"/>
              <a:gd name="adj2" fmla="val 240993"/>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Quick Stat and Notify</a:t>
            </a:r>
          </a:p>
        </p:txBody>
      </p:sp>
      <p:sp>
        <p:nvSpPr>
          <p:cNvPr id="22" name="Rounded Rectangular Callout 21"/>
          <p:cNvSpPr>
            <a:spLocks noChangeArrowheads="1"/>
          </p:cNvSpPr>
          <p:nvPr/>
        </p:nvSpPr>
        <p:spPr bwMode="auto">
          <a:xfrm>
            <a:off x="8078788" y="2433638"/>
            <a:ext cx="792162" cy="271462"/>
          </a:xfrm>
          <a:prstGeom prst="wedgeRoundRectCallout">
            <a:avLst>
              <a:gd name="adj1" fmla="val 55100"/>
              <a:gd name="adj2" fmla="val -309091"/>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Account</a:t>
            </a:r>
          </a:p>
        </p:txBody>
      </p:sp>
      <p:sp>
        <p:nvSpPr>
          <p:cNvPr id="23" name="Rounded Rectangular Callout 22"/>
          <p:cNvSpPr>
            <a:spLocks noChangeArrowheads="1"/>
          </p:cNvSpPr>
          <p:nvPr/>
        </p:nvSpPr>
        <p:spPr bwMode="auto">
          <a:xfrm>
            <a:off x="7681119" y="3177710"/>
            <a:ext cx="793750" cy="462893"/>
          </a:xfrm>
          <a:prstGeom prst="wedgeRoundRectCallout">
            <a:avLst>
              <a:gd name="adj1" fmla="val -87690"/>
              <a:gd name="adj2" fmla="val -148644"/>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smtClean="0">
                <a:solidFill>
                  <a:srgbClr val="FFFFFF"/>
                </a:solidFill>
                <a:latin typeface="+mn-lt"/>
                <a:sym typeface="Helvetica Light"/>
              </a:rPr>
              <a:t>Usage </a:t>
            </a:r>
          </a:p>
          <a:p>
            <a:pPr algn="ctr" eaLnBrk="1" fontAlgn="auto" latinLnBrk="1" hangingPunct="1">
              <a:spcBef>
                <a:spcPts val="0"/>
              </a:spcBef>
              <a:spcAft>
                <a:spcPts val="0"/>
              </a:spcAft>
              <a:defRPr/>
            </a:pPr>
            <a:r>
              <a:rPr lang="en-US" sz="1125" dirty="0" smtClean="0">
                <a:solidFill>
                  <a:srgbClr val="FFFFFF"/>
                </a:solidFill>
                <a:latin typeface="+mn-lt"/>
                <a:sym typeface="Helvetica Light"/>
              </a:rPr>
              <a:t>Status</a:t>
            </a:r>
            <a:endParaRPr lang="en-US" sz="1125" dirty="0">
              <a:solidFill>
                <a:srgbClr val="FFFFFF"/>
              </a:solidFill>
              <a:latin typeface="+mn-lt"/>
              <a:sym typeface="Helvetica Light"/>
            </a:endParaRPr>
          </a:p>
        </p:txBody>
      </p:sp>
      <p:sp>
        <p:nvSpPr>
          <p:cNvPr id="24" name="Rounded Rectangular Callout 23"/>
          <p:cNvSpPr>
            <a:spLocks noChangeArrowheads="1"/>
          </p:cNvSpPr>
          <p:nvPr/>
        </p:nvSpPr>
        <p:spPr bwMode="auto">
          <a:xfrm>
            <a:off x="7429632" y="6091016"/>
            <a:ext cx="793750" cy="461963"/>
          </a:xfrm>
          <a:prstGeom prst="wedgeRoundRectCallout">
            <a:avLst>
              <a:gd name="adj1" fmla="val -403473"/>
              <a:gd name="adj2" fmla="val -347770"/>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Deployed</a:t>
            </a:r>
          </a:p>
          <a:p>
            <a:pPr algn="ctr" eaLnBrk="1" fontAlgn="auto" latinLnBrk="1" hangingPunct="1">
              <a:spcBef>
                <a:spcPts val="0"/>
              </a:spcBef>
              <a:spcAft>
                <a:spcPts val="0"/>
              </a:spcAft>
              <a:defRPr/>
            </a:pPr>
            <a:r>
              <a:rPr lang="en-US" sz="1125" dirty="0">
                <a:solidFill>
                  <a:srgbClr val="FFFFFF"/>
                </a:solidFill>
                <a:latin typeface="+mn-lt"/>
                <a:sym typeface="Helvetica Light"/>
              </a:rPr>
              <a:t>Apps</a:t>
            </a:r>
          </a:p>
        </p:txBody>
      </p:sp>
      <p:sp>
        <p:nvSpPr>
          <p:cNvPr id="25" name="Rounded Rectangular Callout 24"/>
          <p:cNvSpPr>
            <a:spLocks noChangeArrowheads="1"/>
          </p:cNvSpPr>
          <p:nvPr/>
        </p:nvSpPr>
        <p:spPr bwMode="auto">
          <a:xfrm>
            <a:off x="1574594" y="1251669"/>
            <a:ext cx="777875" cy="271462"/>
          </a:xfrm>
          <a:prstGeom prst="wedgeRoundRectCallout">
            <a:avLst>
              <a:gd name="adj1" fmla="val -161844"/>
              <a:gd name="adj2" fmla="val 462001"/>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Spaces</a:t>
            </a:r>
          </a:p>
        </p:txBody>
      </p:sp>
      <p:sp>
        <p:nvSpPr>
          <p:cNvPr id="26" name="Rounded Rectangular Callout 25"/>
          <p:cNvSpPr>
            <a:spLocks noChangeArrowheads="1"/>
          </p:cNvSpPr>
          <p:nvPr/>
        </p:nvSpPr>
        <p:spPr bwMode="auto">
          <a:xfrm>
            <a:off x="594360" y="6202449"/>
            <a:ext cx="842963" cy="463550"/>
          </a:xfrm>
          <a:prstGeom prst="wedgeRoundRectCallout">
            <a:avLst>
              <a:gd name="adj1" fmla="val 5545"/>
              <a:gd name="adj2" fmla="val -183777"/>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a:solidFill>
                  <a:srgbClr val="FFFFFF"/>
                </a:solidFill>
                <a:latin typeface="+mn-lt"/>
                <a:sym typeface="Helvetica Light"/>
              </a:rPr>
              <a:t>Dashboard Menu</a:t>
            </a:r>
          </a:p>
        </p:txBody>
      </p:sp>
      <p:sp>
        <p:nvSpPr>
          <p:cNvPr id="15" name="Rounded Rectangular Callout 14"/>
          <p:cNvSpPr>
            <a:spLocks noChangeArrowheads="1"/>
          </p:cNvSpPr>
          <p:nvPr/>
        </p:nvSpPr>
        <p:spPr bwMode="auto">
          <a:xfrm>
            <a:off x="4252913" y="6212052"/>
            <a:ext cx="1193824" cy="462893"/>
          </a:xfrm>
          <a:prstGeom prst="wedgeRoundRectCallout">
            <a:avLst>
              <a:gd name="adj1" fmla="val -146429"/>
              <a:gd name="adj2" fmla="val -185856"/>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wrap="square" lIns="35719" tIns="35719" rIns="35719" bIns="35719" anchor="ctr">
            <a:spAutoFit/>
          </a:bodyPr>
          <a:lstStyle/>
          <a:p>
            <a:pPr algn="ctr" eaLnBrk="1" fontAlgn="auto" latinLnBrk="1" hangingPunct="1">
              <a:spcBef>
                <a:spcPts val="0"/>
              </a:spcBef>
              <a:spcAft>
                <a:spcPts val="0"/>
              </a:spcAft>
              <a:defRPr/>
            </a:pPr>
            <a:r>
              <a:rPr lang="en-US" sz="1125" dirty="0" smtClean="0">
                <a:solidFill>
                  <a:srgbClr val="FFFFFF"/>
                </a:solidFill>
                <a:latin typeface="+mn-lt"/>
                <a:sym typeface="Helvetica Light"/>
              </a:rPr>
              <a:t>Service </a:t>
            </a:r>
          </a:p>
          <a:p>
            <a:pPr algn="ctr" eaLnBrk="1" fontAlgn="auto" latinLnBrk="1" hangingPunct="1">
              <a:spcBef>
                <a:spcPts val="0"/>
              </a:spcBef>
              <a:spcAft>
                <a:spcPts val="0"/>
              </a:spcAft>
              <a:defRPr/>
            </a:pPr>
            <a:r>
              <a:rPr lang="en-US" sz="1125" dirty="0" smtClean="0">
                <a:solidFill>
                  <a:srgbClr val="FFFFFF"/>
                </a:solidFill>
                <a:latin typeface="+mn-lt"/>
                <a:sym typeface="Helvetica Light"/>
              </a:rPr>
              <a:t>Instances</a:t>
            </a:r>
            <a:endParaRPr lang="en-US" sz="1125" dirty="0">
              <a:solidFill>
                <a:srgbClr val="FFFFFF"/>
              </a:solidFill>
              <a:latin typeface="+mn-lt"/>
              <a:sym typeface="Helvetica Light"/>
            </a:endParaRPr>
          </a:p>
        </p:txBody>
      </p:sp>
      <p:sp>
        <p:nvSpPr>
          <p:cNvPr id="16" name="Rounded Rectangular Callout 15"/>
          <p:cNvSpPr>
            <a:spLocks noChangeArrowheads="1"/>
          </p:cNvSpPr>
          <p:nvPr/>
        </p:nvSpPr>
        <p:spPr bwMode="auto">
          <a:xfrm>
            <a:off x="7826507" y="4542902"/>
            <a:ext cx="793750" cy="462893"/>
          </a:xfrm>
          <a:prstGeom prst="wedgeRoundRectCallout">
            <a:avLst>
              <a:gd name="adj1" fmla="val -215344"/>
              <a:gd name="adj2" fmla="val -33857"/>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125" dirty="0" smtClean="0">
                <a:solidFill>
                  <a:srgbClr val="FFFFFF"/>
                </a:solidFill>
                <a:latin typeface="+mn-lt"/>
                <a:sym typeface="Helvetica Light"/>
              </a:rPr>
              <a:t>App </a:t>
            </a:r>
          </a:p>
          <a:p>
            <a:pPr algn="ctr" eaLnBrk="1" fontAlgn="auto" latinLnBrk="1" hangingPunct="1">
              <a:spcBef>
                <a:spcPts val="0"/>
              </a:spcBef>
              <a:spcAft>
                <a:spcPts val="0"/>
              </a:spcAft>
              <a:defRPr/>
            </a:pPr>
            <a:r>
              <a:rPr lang="en-US" sz="1125" dirty="0" smtClean="0">
                <a:solidFill>
                  <a:srgbClr val="FFFFFF"/>
                </a:solidFill>
                <a:latin typeface="+mn-lt"/>
                <a:sym typeface="Helvetica Light"/>
              </a:rPr>
              <a:t>Status</a:t>
            </a:r>
            <a:endParaRPr lang="en-US" sz="1125" dirty="0">
              <a:solidFill>
                <a:srgbClr val="FFFFFF"/>
              </a:solidFill>
              <a:latin typeface="+mn-lt"/>
              <a:sym typeface="Helvetica Light"/>
            </a:endParaRPr>
          </a:p>
        </p:txBody>
      </p:sp>
    </p:spTree>
    <p:extLst>
      <p:ext uri="{BB962C8B-B14F-4D97-AF65-F5344CB8AC3E}">
        <p14:creationId xmlns:p14="http://schemas.microsoft.com/office/powerpoint/2010/main" val="992907484"/>
      </p:ext>
    </p:extLst>
  </p:cSld>
  <p:clrMapOvr>
    <a:masterClrMapping/>
  </p:clrMapOvr>
  <p:transition/>
  <p:timing>
    <p:tnLst>
      <p:par>
        <p:cTn id="1" dur="indefinite" restart="never" fill="hold"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11480" y="1574256"/>
            <a:ext cx="8458200" cy="4655635"/>
          </a:xfrm>
          <a:prstGeom prst="rect">
            <a:avLst/>
          </a:prstGeom>
        </p:spPr>
      </p:pic>
      <p:sp>
        <p:nvSpPr>
          <p:cNvPr id="21506" name="Title 1"/>
          <p:cNvSpPr>
            <a:spLocks noGrp="1"/>
          </p:cNvSpPr>
          <p:nvPr>
            <p:ph type="title"/>
          </p:nvPr>
        </p:nvSpPr>
        <p:spPr>
          <a:xfrm>
            <a:off x="158750" y="608013"/>
            <a:ext cx="8545513" cy="414337"/>
          </a:xfrm>
        </p:spPr>
        <p:txBody>
          <a:bodyPr/>
          <a:lstStyle/>
          <a:p>
            <a:pPr eaLnBrk="1" hangingPunct="1"/>
            <a:r>
              <a:rPr lang="en-US" altLang="en-US" smtClean="0">
                <a:solidFill>
                  <a:srgbClr val="0070C0"/>
                </a:solidFill>
                <a:cs typeface="Arial" panose="020B0604020202020204" pitchFamily="34" charset="0"/>
              </a:rPr>
              <a:t>Catalog  </a:t>
            </a:r>
            <a:endParaRPr lang="en-US" altLang="en-US" smtClean="0">
              <a:solidFill>
                <a:srgbClr val="FF0000"/>
              </a:solidFill>
              <a:cs typeface="Arial" panose="020B0604020202020204" pitchFamily="34" charset="0"/>
            </a:endParaRPr>
          </a:p>
        </p:txBody>
      </p:sp>
      <p:sp>
        <p:nvSpPr>
          <p:cNvPr id="6" name="Rounded Rectangular Callout 5"/>
          <p:cNvSpPr>
            <a:spLocks noChangeArrowheads="1"/>
          </p:cNvSpPr>
          <p:nvPr/>
        </p:nvSpPr>
        <p:spPr bwMode="auto">
          <a:xfrm>
            <a:off x="2468880" y="1112795"/>
            <a:ext cx="836613" cy="295275"/>
          </a:xfrm>
          <a:prstGeom prst="wedgeRoundRectCallout">
            <a:avLst>
              <a:gd name="adj1" fmla="val -97564"/>
              <a:gd name="adj2" fmla="val 242130"/>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266" dirty="0">
                <a:solidFill>
                  <a:srgbClr val="FFFFFF"/>
                </a:solidFill>
                <a:latin typeface="+mn-lt"/>
                <a:sym typeface="Helvetica Light"/>
              </a:rPr>
              <a:t>Search</a:t>
            </a:r>
          </a:p>
        </p:txBody>
      </p:sp>
      <p:sp>
        <p:nvSpPr>
          <p:cNvPr id="9" name="Rounded Rectangular Callout 8"/>
          <p:cNvSpPr>
            <a:spLocks noChangeArrowheads="1"/>
          </p:cNvSpPr>
          <p:nvPr/>
        </p:nvSpPr>
        <p:spPr bwMode="auto">
          <a:xfrm>
            <a:off x="1417320" y="6396077"/>
            <a:ext cx="660400" cy="295275"/>
          </a:xfrm>
          <a:prstGeom prst="wedgeRoundRectCallout">
            <a:avLst>
              <a:gd name="adj1" fmla="val -99054"/>
              <a:gd name="adj2" fmla="val -351291"/>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266" dirty="0">
                <a:solidFill>
                  <a:srgbClr val="FFFFFF"/>
                </a:solidFill>
                <a:latin typeface="+mn-lt"/>
                <a:sym typeface="Helvetica Light"/>
              </a:rPr>
              <a:t>Filter</a:t>
            </a:r>
          </a:p>
        </p:txBody>
      </p:sp>
    </p:spTree>
    <p:extLst>
      <p:ext uri="{BB962C8B-B14F-4D97-AF65-F5344CB8AC3E}">
        <p14:creationId xmlns:p14="http://schemas.microsoft.com/office/powerpoint/2010/main" val="1062537124"/>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smtClean="0">
                <a:solidFill>
                  <a:srgbClr val="0070C0"/>
                </a:solidFill>
                <a:cs typeface="Arial" panose="020B0604020202020204" pitchFamily="34" charset="0"/>
              </a:rPr>
              <a:t>Starters - Runtimes</a:t>
            </a:r>
          </a:p>
        </p:txBody>
      </p:sp>
      <p:sp>
        <p:nvSpPr>
          <p:cNvPr id="25603" name="Text Placeholder 2"/>
          <p:cNvSpPr>
            <a:spLocks noGrp="1"/>
          </p:cNvSpPr>
          <p:nvPr>
            <p:ph type="body" idx="1"/>
          </p:nvPr>
        </p:nvSpPr>
        <p:spPr>
          <a:xfrm>
            <a:off x="304800" y="1042988"/>
            <a:ext cx="8839200" cy="3043237"/>
          </a:xfrm>
        </p:spPr>
        <p:txBody>
          <a:bodyPr/>
          <a:lstStyle/>
          <a:p>
            <a:pPr eaLnBrk="1" hangingPunct="1">
              <a:lnSpc>
                <a:spcPct val="80000"/>
              </a:lnSpc>
              <a:defRPr/>
            </a:pPr>
            <a:r>
              <a:rPr lang="en-US" altLang="en-US" sz="1800" b="1" dirty="0">
                <a:solidFill>
                  <a:srgbClr val="000000"/>
                </a:solidFill>
                <a:cs typeface="Arial" panose="020B0604020202020204" pitchFamily="34" charset="0"/>
              </a:rPr>
              <a:t>Starters</a:t>
            </a:r>
            <a:r>
              <a:rPr lang="en-US" altLang="en-US" dirty="0">
                <a:solidFill>
                  <a:srgbClr val="000000"/>
                </a:solidFill>
                <a:cs typeface="Arial" panose="020B0604020202020204" pitchFamily="34" charset="0"/>
              </a:rPr>
              <a:t> – A template that includes predefined services and application code.  Two type of starter- Boilerplates and </a:t>
            </a:r>
            <a:r>
              <a:rPr lang="en-US" altLang="en-US" dirty="0" smtClean="0">
                <a:solidFill>
                  <a:srgbClr val="000000"/>
                </a:solidFill>
                <a:cs typeface="Arial" panose="020B0604020202020204" pitchFamily="34" charset="0"/>
              </a:rPr>
              <a:t>Runtimes</a:t>
            </a:r>
          </a:p>
          <a:p>
            <a:pPr marL="0" indent="0" eaLnBrk="1" hangingPunct="1">
              <a:lnSpc>
                <a:spcPct val="80000"/>
              </a:lnSpc>
              <a:buFont typeface="Wingdings" panose="05000000000000000000" pitchFamily="2" charset="2"/>
              <a:buNone/>
              <a:defRPr/>
            </a:pPr>
            <a:endParaRPr lang="en-US" altLang="en-US" b="1" dirty="0" smtClean="0">
              <a:cs typeface="Arial" panose="020B0604020202020204" pitchFamily="34" charset="0"/>
            </a:endParaRPr>
          </a:p>
          <a:p>
            <a:pPr eaLnBrk="1" hangingPunct="1">
              <a:lnSpc>
                <a:spcPct val="80000"/>
              </a:lnSpc>
              <a:defRPr/>
            </a:pPr>
            <a:r>
              <a:rPr lang="en-US" altLang="en-US" b="1" dirty="0" smtClean="0">
                <a:cs typeface="Arial" panose="020B0604020202020204" pitchFamily="34" charset="0"/>
              </a:rPr>
              <a:t>Runtimes</a:t>
            </a:r>
          </a:p>
          <a:p>
            <a:pPr lvl="1" eaLnBrk="1" hangingPunct="1">
              <a:defRPr/>
            </a:pPr>
            <a:r>
              <a:rPr lang="en-US" altLang="en-US" dirty="0" smtClean="0">
                <a:cs typeface="Arial" panose="020B0604020202020204" pitchFamily="34" charset="0"/>
              </a:rPr>
              <a:t>Deploying a runtime will deploy a starter ‘hello world’ application </a:t>
            </a:r>
          </a:p>
          <a:p>
            <a:pPr lvl="2" eaLnBrk="1" hangingPunct="1">
              <a:defRPr/>
            </a:pPr>
            <a:r>
              <a:rPr lang="en-US" altLang="en-US" dirty="0" smtClean="0">
                <a:cs typeface="Arial" panose="020B0604020202020204" pitchFamily="34" charset="0"/>
              </a:rPr>
              <a:t>Quick start with starter application code provided</a:t>
            </a:r>
          </a:p>
          <a:p>
            <a:pPr lvl="1" eaLnBrk="1" hangingPunct="1">
              <a:defRPr/>
            </a:pPr>
            <a:r>
              <a:rPr lang="en-US" altLang="en-US" b="1" dirty="0" err="1" smtClean="0">
                <a:cs typeface="Arial" panose="020B0604020202020204" pitchFamily="34" charset="0"/>
              </a:rPr>
              <a:t>Buildpack</a:t>
            </a:r>
            <a:r>
              <a:rPr lang="en-US" altLang="en-US" dirty="0" err="1" smtClean="0">
                <a:cs typeface="Arial" panose="020B0604020202020204" pitchFamily="34" charset="0"/>
              </a:rPr>
              <a:t>s</a:t>
            </a:r>
            <a:r>
              <a:rPr lang="en-US" altLang="en-US" dirty="0" smtClean="0">
                <a:cs typeface="Arial" panose="020B0604020202020204" pitchFamily="34" charset="0"/>
              </a:rPr>
              <a:t> provide the runtime for an application running on Bluemix.</a:t>
            </a:r>
          </a:p>
          <a:p>
            <a:pPr lvl="2" eaLnBrk="1" hangingPunct="1">
              <a:defRPr/>
            </a:pPr>
            <a:r>
              <a:rPr lang="en-US" altLang="en-US" dirty="0" smtClean="0">
                <a:cs typeface="Arial" panose="020B0604020202020204" pitchFamily="34" charset="0"/>
              </a:rPr>
              <a:t>Built-in IBM </a:t>
            </a:r>
            <a:r>
              <a:rPr lang="en-US" altLang="en-US" dirty="0" err="1" smtClean="0">
                <a:cs typeface="Arial" panose="020B0604020202020204" pitchFamily="34" charset="0"/>
              </a:rPr>
              <a:t>buildpacks</a:t>
            </a:r>
            <a:endParaRPr lang="en-US" altLang="en-US" dirty="0" smtClean="0">
              <a:cs typeface="Arial" panose="020B0604020202020204" pitchFamily="34" charset="0"/>
            </a:endParaRPr>
          </a:p>
          <a:p>
            <a:pPr lvl="2" eaLnBrk="1" hangingPunct="1">
              <a:defRPr/>
            </a:pPr>
            <a:r>
              <a:rPr lang="en-US" altLang="en-US" dirty="0" smtClean="0">
                <a:cs typeface="Arial" panose="020B0604020202020204" pitchFamily="34" charset="0"/>
              </a:rPr>
              <a:t>Built-in community </a:t>
            </a:r>
            <a:r>
              <a:rPr lang="en-US" altLang="en-US" dirty="0" err="1" smtClean="0">
                <a:cs typeface="Arial" panose="020B0604020202020204" pitchFamily="34" charset="0"/>
              </a:rPr>
              <a:t>buildpacks</a:t>
            </a:r>
            <a:r>
              <a:rPr lang="en-US" altLang="en-US" dirty="0" smtClean="0">
                <a:cs typeface="Arial" panose="020B0604020202020204" pitchFamily="34" charset="0"/>
              </a:rPr>
              <a:t> – Provided by Cloud Foundry Community </a:t>
            </a:r>
          </a:p>
          <a:p>
            <a:pPr lvl="2" eaLnBrk="1" hangingPunct="1">
              <a:defRPr/>
            </a:pPr>
            <a:r>
              <a:rPr lang="en-US" altLang="en-US" dirty="0" smtClean="0">
                <a:cs typeface="Arial" panose="020B0604020202020204" pitchFamily="34" charset="0"/>
              </a:rPr>
              <a:t>External </a:t>
            </a:r>
            <a:r>
              <a:rPr lang="en-US" altLang="en-US" dirty="0" err="1" smtClean="0">
                <a:cs typeface="Arial" panose="020B0604020202020204" pitchFamily="34" charset="0"/>
              </a:rPr>
              <a:t>buildpacks</a:t>
            </a:r>
            <a:r>
              <a:rPr lang="en-US" altLang="en-US" dirty="0" smtClean="0">
                <a:cs typeface="Arial" panose="020B0604020202020204" pitchFamily="34" charset="0"/>
              </a:rPr>
              <a:t>( a.k.a. Bring your own </a:t>
            </a:r>
            <a:r>
              <a:rPr lang="en-US" altLang="en-US" dirty="0" err="1" smtClean="0">
                <a:cs typeface="Arial" panose="020B0604020202020204" pitchFamily="34" charset="0"/>
              </a:rPr>
              <a:t>buildpacks</a:t>
            </a:r>
            <a:r>
              <a:rPr lang="en-US" altLang="en-US" dirty="0" smtClean="0">
                <a:cs typeface="Arial" panose="020B0604020202020204" pitchFamily="34" charset="0"/>
              </a:rPr>
              <a:t> )– Cloud Foundry CLI deployment only, cannot deploy from web UI</a:t>
            </a:r>
          </a:p>
        </p:txBody>
      </p:sp>
      <p:pic>
        <p:nvPicPr>
          <p:cNvPr id="2355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813" y="4086225"/>
            <a:ext cx="819785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mtClean="0">
                <a:solidFill>
                  <a:srgbClr val="0070C0"/>
                </a:solidFill>
                <a:cs typeface="Arial" panose="020B0604020202020204" pitchFamily="34" charset="0"/>
              </a:rPr>
              <a:t>Starters - Boilerplates</a:t>
            </a:r>
          </a:p>
        </p:txBody>
      </p:sp>
      <p:sp>
        <p:nvSpPr>
          <p:cNvPr id="60418" name="Text Placeholder 2"/>
          <p:cNvSpPr>
            <a:spLocks noGrp="1"/>
          </p:cNvSpPr>
          <p:nvPr>
            <p:ph type="body" idx="1"/>
          </p:nvPr>
        </p:nvSpPr>
        <p:spPr>
          <a:xfrm>
            <a:off x="304800" y="928688"/>
            <a:ext cx="8839200" cy="2138362"/>
          </a:xfrm>
        </p:spPr>
        <p:txBody>
          <a:bodyPr/>
          <a:lstStyle/>
          <a:p>
            <a:pPr eaLnBrk="1" hangingPunct="1">
              <a:defRPr/>
            </a:pPr>
            <a:r>
              <a:rPr lang="en-US" altLang="en-US" dirty="0" smtClean="0">
                <a:solidFill>
                  <a:srgbClr val="000000"/>
                </a:solidFill>
                <a:cs typeface="Arial" panose="020B0604020202020204" pitchFamily="34" charset="0"/>
              </a:rPr>
              <a:t>Boilerplates</a:t>
            </a:r>
          </a:p>
          <a:p>
            <a:pPr lvl="1" eaLnBrk="1" hangingPunct="1">
              <a:defRPr/>
            </a:pPr>
            <a:r>
              <a:rPr lang="en-US" altLang="en-US" sz="1687" dirty="0">
                <a:solidFill>
                  <a:srgbClr val="000000"/>
                </a:solidFill>
                <a:ea typeface="Arial" panose="020B0604020202020204" pitchFamily="34" charset="0"/>
                <a:cs typeface="Arial" panose="020B0604020202020204" pitchFamily="34" charset="0"/>
              </a:rPr>
              <a:t>Deploys a Runtime, service(s) and sample code</a:t>
            </a:r>
          </a:p>
          <a:p>
            <a:pPr lvl="2" eaLnBrk="1" hangingPunct="1">
              <a:defRPr/>
            </a:pPr>
            <a:r>
              <a:rPr lang="en-US" altLang="en-US" sz="1687" dirty="0">
                <a:solidFill>
                  <a:srgbClr val="000000"/>
                </a:solidFill>
                <a:ea typeface="Arial" panose="020B0604020202020204" pitchFamily="34" charset="0"/>
                <a:cs typeface="Arial" panose="020B0604020202020204" pitchFamily="34" charset="0"/>
              </a:rPr>
              <a:t>Quick start with access to sample application code</a:t>
            </a:r>
          </a:p>
        </p:txBody>
      </p:sp>
      <p:pic>
        <p:nvPicPr>
          <p:cNvPr id="2560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513" y="2422525"/>
            <a:ext cx="8888412"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fill="hold"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solidFill>
                  <a:srgbClr val="0070C0"/>
                </a:solidFill>
              </a:rPr>
              <a:t>Bluemix Services</a:t>
            </a:r>
          </a:p>
        </p:txBody>
      </p:sp>
      <p:sp>
        <p:nvSpPr>
          <p:cNvPr id="22531" name="Text Placeholder 2"/>
          <p:cNvSpPr>
            <a:spLocks noGrp="1"/>
          </p:cNvSpPr>
          <p:nvPr>
            <p:ph type="body" idx="1"/>
          </p:nvPr>
        </p:nvSpPr>
        <p:spPr>
          <a:xfrm>
            <a:off x="182563" y="1055688"/>
            <a:ext cx="6862762" cy="5437187"/>
          </a:xfrm>
        </p:spPr>
        <p:txBody>
          <a:bodyPr/>
          <a:lstStyle/>
          <a:p>
            <a:pPr>
              <a:defRPr/>
            </a:pPr>
            <a:r>
              <a:rPr lang="en-US" altLang="en-US" dirty="0" smtClean="0"/>
              <a:t>A </a:t>
            </a:r>
            <a:r>
              <a:rPr lang="en-US" altLang="en-US" sz="1800" i="1" dirty="0" smtClean="0"/>
              <a:t>service</a:t>
            </a:r>
            <a:r>
              <a:rPr lang="en-US" altLang="en-US" sz="1800" dirty="0" smtClean="0"/>
              <a:t> is a cloud extension that is hosted by Bluemix.</a:t>
            </a:r>
            <a:r>
              <a:rPr lang="en-US" altLang="en-US" dirty="0" smtClean="0"/>
              <a:t> </a:t>
            </a:r>
          </a:p>
          <a:p>
            <a:pPr>
              <a:defRPr/>
            </a:pPr>
            <a:r>
              <a:rPr lang="en-US" altLang="en-US" sz="1800" dirty="0" smtClean="0"/>
              <a:t>The building blocks of applications</a:t>
            </a:r>
          </a:p>
          <a:p>
            <a:pPr>
              <a:defRPr/>
            </a:pPr>
            <a:r>
              <a:rPr lang="en-US" altLang="en-US" sz="1800" dirty="0" smtClean="0"/>
              <a:t>The service provides functionality that is ready-for-use by the app's running code. </a:t>
            </a:r>
          </a:p>
          <a:p>
            <a:pPr lvl="1">
              <a:defRPr/>
            </a:pPr>
            <a:r>
              <a:rPr lang="en-US" altLang="en-US" dirty="0" smtClean="0"/>
              <a:t>Predefined services available from IBM, 3</a:t>
            </a:r>
            <a:r>
              <a:rPr lang="en-US" altLang="en-US" baseline="30000" dirty="0" smtClean="0"/>
              <a:t>rd</a:t>
            </a:r>
            <a:r>
              <a:rPr lang="en-US" altLang="en-US" dirty="0" smtClean="0"/>
              <a:t> party and community on Bluemix </a:t>
            </a:r>
          </a:p>
          <a:p>
            <a:pPr lvl="1">
              <a:defRPr/>
            </a:pPr>
            <a:r>
              <a:rPr lang="en-US" altLang="en-US" dirty="0" smtClean="0"/>
              <a:t>Bluemix provisions new service instances and binds services to applications</a:t>
            </a:r>
          </a:p>
          <a:p>
            <a:pPr>
              <a:defRPr/>
            </a:pPr>
            <a:r>
              <a:rPr lang="en-US" altLang="en-US" sz="1800" dirty="0" smtClean="0"/>
              <a:t>Two types of services:</a:t>
            </a:r>
          </a:p>
          <a:p>
            <a:pPr lvl="1">
              <a:defRPr/>
            </a:pPr>
            <a:r>
              <a:rPr lang="en-US" sz="1800" dirty="0" smtClean="0"/>
              <a:t>Managed Service: </a:t>
            </a:r>
            <a:r>
              <a:rPr lang="en-US" sz="1400" dirty="0" smtClean="0"/>
              <a:t>A Managed Service integrates with Bluemix/Cloud Foundry via a service broker that implements the Service Broker API. Service broker advertises a catalog of service offerings and service plans to Bluemix/Cloud Foundry, and receive calls from Cloud Foundry for four functions: create, delete, bind, and unbind. The broker then passes these calls onto the service itself.</a:t>
            </a:r>
          </a:p>
          <a:p>
            <a:pPr lvl="1">
              <a:defRPr/>
            </a:pPr>
            <a:r>
              <a:rPr lang="en-US" sz="1800" dirty="0"/>
              <a:t>User Provided </a:t>
            </a:r>
            <a:r>
              <a:rPr lang="en-US" sz="1800" dirty="0" smtClean="0"/>
              <a:t>Service</a:t>
            </a:r>
            <a:r>
              <a:rPr lang="en-US" sz="1400" dirty="0" smtClean="0"/>
              <a:t>: </a:t>
            </a:r>
            <a:r>
              <a:rPr lang="en-US" sz="1400" dirty="0"/>
              <a:t>Managed Services have been integrated with Bluemix/Cloud Foundry via APIs and enable end-users to provision new service instances and credentials on demand. User-provided Service Instances are a mechanism to deliver credentials to applications for service instances which have been pre-provisioned outside of Bluemix/Cloud Foundry.</a:t>
            </a:r>
          </a:p>
          <a:p>
            <a:pPr lvl="1">
              <a:defRPr/>
            </a:pPr>
            <a:endParaRPr lang="en-US" sz="1400" dirty="0" smtClean="0"/>
          </a:p>
          <a:p>
            <a:pPr marL="290513" lvl="1" indent="0">
              <a:buFont typeface="Symbol" panose="05050102010706020507" pitchFamily="18" charset="2"/>
              <a:buNone/>
              <a:defRPr/>
            </a:pPr>
            <a:endParaRPr lang="en-US" altLang="en-US" dirty="0" smtClean="0"/>
          </a:p>
          <a:p>
            <a:pPr>
              <a:defRPr/>
            </a:pPr>
            <a:endParaRPr lang="en-US" altLang="en-US" dirty="0" smtClean="0"/>
          </a:p>
        </p:txBody>
      </p:sp>
      <p:grpSp>
        <p:nvGrpSpPr>
          <p:cNvPr id="5" name="Group 268"/>
          <p:cNvGrpSpPr>
            <a:grpSpLocks/>
          </p:cNvGrpSpPr>
          <p:nvPr/>
        </p:nvGrpSpPr>
        <p:grpSpPr bwMode="auto">
          <a:xfrm>
            <a:off x="7707313" y="1801813"/>
            <a:ext cx="663575" cy="581025"/>
            <a:chOff x="0" y="0"/>
            <a:chExt cx="1110294" cy="983404"/>
          </a:xfrm>
        </p:grpSpPr>
        <p:pic>
          <p:nvPicPr>
            <p:cNvPr id="27683" name="image84.png" descr="cloudant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94" y="187495"/>
              <a:ext cx="609707" cy="608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84"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400000"/>
                  <a:headEnd/>
                  <a:tailEnd/>
                </a14:hiddenLine>
              </a:ext>
            </a:extLst>
          </p:spPr>
        </p:pic>
      </p:grpSp>
      <p:grpSp>
        <p:nvGrpSpPr>
          <p:cNvPr id="8" name="Group 271"/>
          <p:cNvGrpSpPr>
            <a:grpSpLocks/>
          </p:cNvGrpSpPr>
          <p:nvPr/>
        </p:nvGrpSpPr>
        <p:grpSpPr bwMode="auto">
          <a:xfrm>
            <a:off x="8210550" y="914400"/>
            <a:ext cx="663575" cy="582613"/>
            <a:chOff x="0" y="0"/>
            <a:chExt cx="1110294" cy="983404"/>
          </a:xfrm>
        </p:grpSpPr>
        <p:pic>
          <p:nvPicPr>
            <p:cNvPr id="27681" name="image73.png" descr="Data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760" y="205508"/>
              <a:ext cx="543019" cy="54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82"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11" name="Group 274"/>
          <p:cNvGrpSpPr>
            <a:grpSpLocks/>
          </p:cNvGrpSpPr>
          <p:nvPr/>
        </p:nvGrpSpPr>
        <p:grpSpPr bwMode="auto">
          <a:xfrm>
            <a:off x="8270875" y="2663825"/>
            <a:ext cx="663575" cy="582613"/>
            <a:chOff x="0" y="0"/>
            <a:chExt cx="1110294" cy="983404"/>
          </a:xfrm>
        </p:grpSpPr>
        <p:pic>
          <p:nvPicPr>
            <p:cNvPr id="27679" name="image86.png" descr="watson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580" y="173734"/>
              <a:ext cx="609705" cy="609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80"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14" name="Group 277"/>
          <p:cNvGrpSpPr>
            <a:grpSpLocks/>
          </p:cNvGrpSpPr>
          <p:nvPr/>
        </p:nvGrpSpPr>
        <p:grpSpPr bwMode="auto">
          <a:xfrm>
            <a:off x="7186613" y="1509713"/>
            <a:ext cx="663575" cy="582612"/>
            <a:chOff x="0" y="0"/>
            <a:chExt cx="1110294" cy="983404"/>
          </a:xfrm>
        </p:grpSpPr>
        <p:pic>
          <p:nvPicPr>
            <p:cNvPr id="27677" name="image65.png" descr="AppScan_64x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019" y="170753"/>
              <a:ext cx="609705" cy="60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78"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17" name="Group 280"/>
          <p:cNvGrpSpPr>
            <a:grpSpLocks/>
          </p:cNvGrpSpPr>
          <p:nvPr/>
        </p:nvGrpSpPr>
        <p:grpSpPr bwMode="auto">
          <a:xfrm>
            <a:off x="7735888" y="1239838"/>
            <a:ext cx="663575" cy="582612"/>
            <a:chOff x="0" y="0"/>
            <a:chExt cx="1110294" cy="983404"/>
          </a:xfrm>
        </p:grpSpPr>
        <p:pic>
          <p:nvPicPr>
            <p:cNvPr id="27675" name="image71.png" descr="datacache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932" y="215619"/>
              <a:ext cx="531031" cy="531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76"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0" name="Group 283"/>
          <p:cNvGrpSpPr>
            <a:grpSpLocks/>
          </p:cNvGrpSpPr>
          <p:nvPr/>
        </p:nvGrpSpPr>
        <p:grpSpPr bwMode="auto">
          <a:xfrm>
            <a:off x="8264525" y="2092325"/>
            <a:ext cx="663575" cy="582613"/>
            <a:chOff x="0" y="0"/>
            <a:chExt cx="1110294" cy="983404"/>
          </a:xfrm>
        </p:grpSpPr>
        <p:pic>
          <p:nvPicPr>
            <p:cNvPr id="27673" name="image87.png" descr="api_management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023" y="178724"/>
              <a:ext cx="608365" cy="608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74"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3" name="Group 286"/>
          <p:cNvGrpSpPr>
            <a:grpSpLocks/>
          </p:cNvGrpSpPr>
          <p:nvPr/>
        </p:nvGrpSpPr>
        <p:grpSpPr bwMode="auto">
          <a:xfrm>
            <a:off x="7215188" y="2740025"/>
            <a:ext cx="665162" cy="584200"/>
            <a:chOff x="0" y="0"/>
            <a:chExt cx="1110294" cy="983404"/>
          </a:xfrm>
        </p:grpSpPr>
        <p:pic>
          <p:nvPicPr>
            <p:cNvPr id="27671" name="image74.png" descr="Push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739" y="171602"/>
              <a:ext cx="609705" cy="60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72"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6" name="Group 289"/>
          <p:cNvGrpSpPr>
            <a:grpSpLocks/>
          </p:cNvGrpSpPr>
          <p:nvPr/>
        </p:nvGrpSpPr>
        <p:grpSpPr bwMode="auto">
          <a:xfrm>
            <a:off x="7212013" y="2132013"/>
            <a:ext cx="665162" cy="582612"/>
            <a:chOff x="0" y="0"/>
            <a:chExt cx="1110294" cy="983404"/>
          </a:xfrm>
        </p:grpSpPr>
        <p:pic>
          <p:nvPicPr>
            <p:cNvPr id="27669" name="image75.png" descr="mqa_6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378" y="212983"/>
              <a:ext cx="609705" cy="60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70"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9" name="Group 292"/>
          <p:cNvGrpSpPr>
            <a:grpSpLocks/>
          </p:cNvGrpSpPr>
          <p:nvPr/>
        </p:nvGrpSpPr>
        <p:grpSpPr bwMode="auto">
          <a:xfrm>
            <a:off x="7802563" y="2995613"/>
            <a:ext cx="663575" cy="582612"/>
            <a:chOff x="0" y="0"/>
            <a:chExt cx="1110294" cy="983404"/>
          </a:xfrm>
        </p:grpSpPr>
        <p:pic>
          <p:nvPicPr>
            <p:cNvPr id="27667" name="image76.png" descr="twilio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9243" y="182460"/>
              <a:ext cx="608908" cy="608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68" name="hexagongreen.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32" name="Group 295"/>
          <p:cNvGrpSpPr>
            <a:grpSpLocks/>
          </p:cNvGrpSpPr>
          <p:nvPr/>
        </p:nvGrpSpPr>
        <p:grpSpPr bwMode="auto">
          <a:xfrm>
            <a:off x="7748588" y="2400300"/>
            <a:ext cx="663575" cy="582613"/>
            <a:chOff x="0" y="0"/>
            <a:chExt cx="1110294" cy="983404"/>
          </a:xfrm>
        </p:grpSpPr>
        <p:pic>
          <p:nvPicPr>
            <p:cNvPr id="27665" name="image93.png" descr="agile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580" y="178696"/>
              <a:ext cx="609705" cy="609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66" name="hexag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35" name="Group 298"/>
          <p:cNvGrpSpPr>
            <a:grpSpLocks/>
          </p:cNvGrpSpPr>
          <p:nvPr/>
        </p:nvGrpSpPr>
        <p:grpSpPr bwMode="auto">
          <a:xfrm>
            <a:off x="8258175" y="1501775"/>
            <a:ext cx="660400" cy="579438"/>
            <a:chOff x="0" y="0"/>
            <a:chExt cx="1105016" cy="978728"/>
          </a:xfrm>
        </p:grpSpPr>
        <p:pic>
          <p:nvPicPr>
            <p:cNvPr id="27663" name="image78.pn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9559" y="246398"/>
              <a:ext cx="609606" cy="49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7664" name="hexagongreen.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105017"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iterate>
                                    <p:tmAbs val="0"/>
                                  </p:iterate>
                                  <p:childTnLst>
                                    <p:set>
                                      <p:cBhvr>
                                        <p:cTn id="6" fill="hold"/>
                                        <p:tgtEl>
                                          <p:spTgt spid="17"/>
                                        </p:tgtEl>
                                        <p:attrNameLst>
                                          <p:attrName>style.visibility</p:attrName>
                                        </p:attrNameLst>
                                      </p:cBhvr>
                                      <p:to>
                                        <p:strVal val="visible"/>
                                      </p:to>
                                    </p:set>
                                    <p:anim calcmode="lin" valueType="num">
                                      <p:cBhvr>
                                        <p:cTn id="7" dur="100" fill="hold"/>
                                        <p:tgtEl>
                                          <p:spTgt spid="17"/>
                                        </p:tgtEl>
                                        <p:attrNameLst>
                                          <p:attrName>ppt_w</p:attrName>
                                        </p:attrNameLst>
                                      </p:cBhvr>
                                      <p:tavLst>
                                        <p:tav tm="0">
                                          <p:val>
                                            <p:fltVal val="0"/>
                                          </p:val>
                                        </p:tav>
                                        <p:tav tm="100000">
                                          <p:val>
                                            <p:strVal val="#ppt_w"/>
                                          </p:val>
                                        </p:tav>
                                      </p:tavLst>
                                    </p:anim>
                                    <p:anim calcmode="lin" valueType="num">
                                      <p:cBhvr>
                                        <p:cTn id="8" dur="100" fill="hold"/>
                                        <p:tgtEl>
                                          <p:spTgt spid="17"/>
                                        </p:tgtEl>
                                        <p:attrNameLst>
                                          <p:attrName>ppt_h</p:attrName>
                                        </p:attrNameLst>
                                      </p:cBhvr>
                                      <p:tavLst>
                                        <p:tav tm="0">
                                          <p:val>
                                            <p:fltVal val="0"/>
                                          </p:val>
                                        </p:tav>
                                        <p:tav tm="100000">
                                          <p:val>
                                            <p:strVal val="#ppt_h"/>
                                          </p:val>
                                        </p:tav>
                                      </p:tavLst>
                                    </p:anim>
                                  </p:childTnLst>
                                </p:cTn>
                              </p:par>
                            </p:childTnLst>
                          </p:cTn>
                        </p:par>
                        <p:par>
                          <p:cTn id="9" fill="hold" nodeType="afterGroup">
                            <p:stCondLst>
                              <p:cond delay="100"/>
                            </p:stCondLst>
                            <p:childTnLst>
                              <p:par>
                                <p:cTn id="10" presetID="23" presetClass="entr" presetSubtype="16" fill="hold" grpId="0" nodeType="afterEffect">
                                  <p:stCondLst>
                                    <p:cond delay="0"/>
                                  </p:stCondLst>
                                  <p:iterate>
                                    <p:tmAbs val="0"/>
                                  </p:iterate>
                                  <p:childTnLst>
                                    <p:set>
                                      <p:cBhvr>
                                        <p:cTn id="11" fill="hold"/>
                                        <p:tgtEl>
                                          <p:spTgt spid="26"/>
                                        </p:tgtEl>
                                        <p:attrNameLst>
                                          <p:attrName>style.visibility</p:attrName>
                                        </p:attrNameLst>
                                      </p:cBhvr>
                                      <p:to>
                                        <p:strVal val="visible"/>
                                      </p:to>
                                    </p:set>
                                    <p:anim calcmode="lin" valueType="num">
                                      <p:cBhvr>
                                        <p:cTn id="12" dur="100" fill="hold"/>
                                        <p:tgtEl>
                                          <p:spTgt spid="26"/>
                                        </p:tgtEl>
                                        <p:attrNameLst>
                                          <p:attrName>ppt_w</p:attrName>
                                        </p:attrNameLst>
                                      </p:cBhvr>
                                      <p:tavLst>
                                        <p:tav tm="0">
                                          <p:val>
                                            <p:fltVal val="0"/>
                                          </p:val>
                                        </p:tav>
                                        <p:tav tm="100000">
                                          <p:val>
                                            <p:strVal val="#ppt_w"/>
                                          </p:val>
                                        </p:tav>
                                      </p:tavLst>
                                    </p:anim>
                                    <p:anim calcmode="lin" valueType="num">
                                      <p:cBhvr>
                                        <p:cTn id="13" dur="100" fill="hold"/>
                                        <p:tgtEl>
                                          <p:spTgt spid="26"/>
                                        </p:tgtEl>
                                        <p:attrNameLst>
                                          <p:attrName>ppt_h</p:attrName>
                                        </p:attrNameLst>
                                      </p:cBhvr>
                                      <p:tavLst>
                                        <p:tav tm="0">
                                          <p:val>
                                            <p:fltVal val="0"/>
                                          </p:val>
                                        </p:tav>
                                        <p:tav tm="100000">
                                          <p:val>
                                            <p:strVal val="#ppt_h"/>
                                          </p:val>
                                        </p:tav>
                                      </p:tavLst>
                                    </p:anim>
                                  </p:childTnLst>
                                </p:cTn>
                              </p:par>
                            </p:childTnLst>
                          </p:cTn>
                        </p:par>
                        <p:par>
                          <p:cTn id="14" fill="hold" nodeType="afterGroup">
                            <p:stCondLst>
                              <p:cond delay="200"/>
                            </p:stCondLst>
                            <p:childTnLst>
                              <p:par>
                                <p:cTn id="15" presetID="23" presetClass="entr" presetSubtype="16" fill="hold" grpId="0" nodeType="afterEffect">
                                  <p:stCondLst>
                                    <p:cond delay="0"/>
                                  </p:stCondLst>
                                  <p:iterate>
                                    <p:tmAbs val="0"/>
                                  </p:iterate>
                                  <p:childTnLst>
                                    <p:set>
                                      <p:cBhvr>
                                        <p:cTn id="16" fill="hold"/>
                                        <p:tgtEl>
                                          <p:spTgt spid="14"/>
                                        </p:tgtEl>
                                        <p:attrNameLst>
                                          <p:attrName>style.visibility</p:attrName>
                                        </p:attrNameLst>
                                      </p:cBhvr>
                                      <p:to>
                                        <p:strVal val="visible"/>
                                      </p:to>
                                    </p:set>
                                    <p:anim calcmode="lin" valueType="num">
                                      <p:cBhvr>
                                        <p:cTn id="17" dur="100" fill="hold"/>
                                        <p:tgtEl>
                                          <p:spTgt spid="14"/>
                                        </p:tgtEl>
                                        <p:attrNameLst>
                                          <p:attrName>ppt_w</p:attrName>
                                        </p:attrNameLst>
                                      </p:cBhvr>
                                      <p:tavLst>
                                        <p:tav tm="0">
                                          <p:val>
                                            <p:fltVal val="0"/>
                                          </p:val>
                                        </p:tav>
                                        <p:tav tm="100000">
                                          <p:val>
                                            <p:strVal val="#ppt_w"/>
                                          </p:val>
                                        </p:tav>
                                      </p:tavLst>
                                    </p:anim>
                                    <p:anim calcmode="lin" valueType="num">
                                      <p:cBhvr>
                                        <p:cTn id="18" dur="100" fill="hold"/>
                                        <p:tgtEl>
                                          <p:spTgt spid="14"/>
                                        </p:tgtEl>
                                        <p:attrNameLst>
                                          <p:attrName>ppt_h</p:attrName>
                                        </p:attrNameLst>
                                      </p:cBhvr>
                                      <p:tavLst>
                                        <p:tav tm="0">
                                          <p:val>
                                            <p:fltVal val="0"/>
                                          </p:val>
                                        </p:tav>
                                        <p:tav tm="100000">
                                          <p:val>
                                            <p:strVal val="#ppt_h"/>
                                          </p:val>
                                        </p:tav>
                                      </p:tavLst>
                                    </p:anim>
                                  </p:childTnLst>
                                </p:cTn>
                              </p:par>
                            </p:childTnLst>
                          </p:cTn>
                        </p:par>
                        <p:par>
                          <p:cTn id="19" fill="hold" nodeType="afterGroup">
                            <p:stCondLst>
                              <p:cond delay="300"/>
                            </p:stCondLst>
                            <p:childTnLst>
                              <p:par>
                                <p:cTn id="20" presetID="23" presetClass="entr" presetSubtype="16" fill="hold" grpId="0" nodeType="afterEffect">
                                  <p:stCondLst>
                                    <p:cond delay="0"/>
                                  </p:stCondLst>
                                  <p:iterate>
                                    <p:tmAbs val="0"/>
                                  </p:iterate>
                                  <p:childTnLst>
                                    <p:set>
                                      <p:cBhvr>
                                        <p:cTn id="21" fill="hold"/>
                                        <p:tgtEl>
                                          <p:spTgt spid="5"/>
                                        </p:tgtEl>
                                        <p:attrNameLst>
                                          <p:attrName>style.visibility</p:attrName>
                                        </p:attrNameLst>
                                      </p:cBhvr>
                                      <p:to>
                                        <p:strVal val="visible"/>
                                      </p:to>
                                    </p:set>
                                    <p:anim calcmode="lin" valueType="num">
                                      <p:cBhvr>
                                        <p:cTn id="22" dur="100" fill="hold"/>
                                        <p:tgtEl>
                                          <p:spTgt spid="5"/>
                                        </p:tgtEl>
                                        <p:attrNameLst>
                                          <p:attrName>ppt_w</p:attrName>
                                        </p:attrNameLst>
                                      </p:cBhvr>
                                      <p:tavLst>
                                        <p:tav tm="0">
                                          <p:val>
                                            <p:fltVal val="0"/>
                                          </p:val>
                                        </p:tav>
                                        <p:tav tm="100000">
                                          <p:val>
                                            <p:strVal val="#ppt_w"/>
                                          </p:val>
                                        </p:tav>
                                      </p:tavLst>
                                    </p:anim>
                                    <p:anim calcmode="lin" valueType="num">
                                      <p:cBhvr>
                                        <p:cTn id="23" dur="100" fill="hold"/>
                                        <p:tgtEl>
                                          <p:spTgt spid="5"/>
                                        </p:tgtEl>
                                        <p:attrNameLst>
                                          <p:attrName>ppt_h</p:attrName>
                                        </p:attrNameLst>
                                      </p:cBhvr>
                                      <p:tavLst>
                                        <p:tav tm="0">
                                          <p:val>
                                            <p:fltVal val="0"/>
                                          </p:val>
                                        </p:tav>
                                        <p:tav tm="100000">
                                          <p:val>
                                            <p:strVal val="#ppt_h"/>
                                          </p:val>
                                        </p:tav>
                                      </p:tavLst>
                                    </p:anim>
                                  </p:childTnLst>
                                </p:cTn>
                              </p:par>
                            </p:childTnLst>
                          </p:cTn>
                        </p:par>
                        <p:par>
                          <p:cTn id="24" fill="hold" nodeType="afterGroup">
                            <p:stCondLst>
                              <p:cond delay="400"/>
                            </p:stCondLst>
                            <p:childTnLst>
                              <p:par>
                                <p:cTn id="25" presetID="23" presetClass="entr" presetSubtype="16" fill="hold" grpId="0" nodeType="afterEffect">
                                  <p:stCondLst>
                                    <p:cond delay="0"/>
                                  </p:stCondLst>
                                  <p:iterate>
                                    <p:tmAbs val="0"/>
                                  </p:iterate>
                                  <p:childTnLst>
                                    <p:set>
                                      <p:cBhvr>
                                        <p:cTn id="26" fill="hold"/>
                                        <p:tgtEl>
                                          <p:spTgt spid="23"/>
                                        </p:tgtEl>
                                        <p:attrNameLst>
                                          <p:attrName>style.visibility</p:attrName>
                                        </p:attrNameLst>
                                      </p:cBhvr>
                                      <p:to>
                                        <p:strVal val="visible"/>
                                      </p:to>
                                    </p:set>
                                    <p:anim calcmode="lin" valueType="num">
                                      <p:cBhvr>
                                        <p:cTn id="27" dur="100" fill="hold"/>
                                        <p:tgtEl>
                                          <p:spTgt spid="23"/>
                                        </p:tgtEl>
                                        <p:attrNameLst>
                                          <p:attrName>ppt_w</p:attrName>
                                        </p:attrNameLst>
                                      </p:cBhvr>
                                      <p:tavLst>
                                        <p:tav tm="0">
                                          <p:val>
                                            <p:fltVal val="0"/>
                                          </p:val>
                                        </p:tav>
                                        <p:tav tm="100000">
                                          <p:val>
                                            <p:strVal val="#ppt_w"/>
                                          </p:val>
                                        </p:tav>
                                      </p:tavLst>
                                    </p:anim>
                                    <p:anim calcmode="lin" valueType="num">
                                      <p:cBhvr>
                                        <p:cTn id="28" dur="100" fill="hold"/>
                                        <p:tgtEl>
                                          <p:spTgt spid="23"/>
                                        </p:tgtEl>
                                        <p:attrNameLst>
                                          <p:attrName>ppt_h</p:attrName>
                                        </p:attrNameLst>
                                      </p:cBhvr>
                                      <p:tavLst>
                                        <p:tav tm="0">
                                          <p:val>
                                            <p:fltVal val="0"/>
                                          </p:val>
                                        </p:tav>
                                        <p:tav tm="100000">
                                          <p:val>
                                            <p:strVal val="#ppt_h"/>
                                          </p:val>
                                        </p:tav>
                                      </p:tavLst>
                                    </p:anim>
                                  </p:childTnLst>
                                </p:cTn>
                              </p:par>
                            </p:childTnLst>
                          </p:cTn>
                        </p:par>
                        <p:par>
                          <p:cTn id="29" fill="hold" nodeType="afterGroup">
                            <p:stCondLst>
                              <p:cond delay="500"/>
                            </p:stCondLst>
                            <p:childTnLst>
                              <p:par>
                                <p:cTn id="30" presetID="23" presetClass="entr" presetSubtype="16" fill="hold" grpId="0" nodeType="afterEffect">
                                  <p:stCondLst>
                                    <p:cond delay="0"/>
                                  </p:stCondLst>
                                  <p:iterate>
                                    <p:tmAbs val="0"/>
                                  </p:iterate>
                                  <p:childTnLst>
                                    <p:set>
                                      <p:cBhvr>
                                        <p:cTn id="31" fill="hold"/>
                                        <p:tgtEl>
                                          <p:spTgt spid="32"/>
                                        </p:tgtEl>
                                        <p:attrNameLst>
                                          <p:attrName>style.visibility</p:attrName>
                                        </p:attrNameLst>
                                      </p:cBhvr>
                                      <p:to>
                                        <p:strVal val="visible"/>
                                      </p:to>
                                    </p:set>
                                    <p:anim calcmode="lin" valueType="num">
                                      <p:cBhvr>
                                        <p:cTn id="32" dur="100" fill="hold"/>
                                        <p:tgtEl>
                                          <p:spTgt spid="32"/>
                                        </p:tgtEl>
                                        <p:attrNameLst>
                                          <p:attrName>ppt_w</p:attrName>
                                        </p:attrNameLst>
                                      </p:cBhvr>
                                      <p:tavLst>
                                        <p:tav tm="0">
                                          <p:val>
                                            <p:fltVal val="0"/>
                                          </p:val>
                                        </p:tav>
                                        <p:tav tm="100000">
                                          <p:val>
                                            <p:strVal val="#ppt_w"/>
                                          </p:val>
                                        </p:tav>
                                      </p:tavLst>
                                    </p:anim>
                                    <p:anim calcmode="lin" valueType="num">
                                      <p:cBhvr>
                                        <p:cTn id="33" dur="100" fill="hold"/>
                                        <p:tgtEl>
                                          <p:spTgt spid="32"/>
                                        </p:tgtEl>
                                        <p:attrNameLst>
                                          <p:attrName>ppt_h</p:attrName>
                                        </p:attrNameLst>
                                      </p:cBhvr>
                                      <p:tavLst>
                                        <p:tav tm="0">
                                          <p:val>
                                            <p:fltVal val="0"/>
                                          </p:val>
                                        </p:tav>
                                        <p:tav tm="100000">
                                          <p:val>
                                            <p:strVal val="#ppt_h"/>
                                          </p:val>
                                        </p:tav>
                                      </p:tavLst>
                                    </p:anim>
                                  </p:childTnLst>
                                </p:cTn>
                              </p:par>
                            </p:childTnLst>
                          </p:cTn>
                        </p:par>
                        <p:par>
                          <p:cTn id="34" fill="hold" nodeType="afterGroup">
                            <p:stCondLst>
                              <p:cond delay="600"/>
                            </p:stCondLst>
                            <p:childTnLst>
                              <p:par>
                                <p:cTn id="35" presetID="23" presetClass="entr" presetSubtype="16" fill="hold" grpId="0" nodeType="afterEffect">
                                  <p:stCondLst>
                                    <p:cond delay="0"/>
                                  </p:stCondLst>
                                  <p:iterate>
                                    <p:tmAbs val="0"/>
                                  </p:iterate>
                                  <p:childTnLst>
                                    <p:set>
                                      <p:cBhvr>
                                        <p:cTn id="36" fill="hold"/>
                                        <p:tgtEl>
                                          <p:spTgt spid="20"/>
                                        </p:tgtEl>
                                        <p:attrNameLst>
                                          <p:attrName>style.visibility</p:attrName>
                                        </p:attrNameLst>
                                      </p:cBhvr>
                                      <p:to>
                                        <p:strVal val="visible"/>
                                      </p:to>
                                    </p:set>
                                    <p:anim calcmode="lin" valueType="num">
                                      <p:cBhvr>
                                        <p:cTn id="37" dur="100" fill="hold"/>
                                        <p:tgtEl>
                                          <p:spTgt spid="20"/>
                                        </p:tgtEl>
                                        <p:attrNameLst>
                                          <p:attrName>ppt_w</p:attrName>
                                        </p:attrNameLst>
                                      </p:cBhvr>
                                      <p:tavLst>
                                        <p:tav tm="0">
                                          <p:val>
                                            <p:fltVal val="0"/>
                                          </p:val>
                                        </p:tav>
                                        <p:tav tm="100000">
                                          <p:val>
                                            <p:strVal val="#ppt_w"/>
                                          </p:val>
                                        </p:tav>
                                      </p:tavLst>
                                    </p:anim>
                                    <p:anim calcmode="lin" valueType="num">
                                      <p:cBhvr>
                                        <p:cTn id="38" dur="100" fill="hold"/>
                                        <p:tgtEl>
                                          <p:spTgt spid="20"/>
                                        </p:tgtEl>
                                        <p:attrNameLst>
                                          <p:attrName>ppt_h</p:attrName>
                                        </p:attrNameLst>
                                      </p:cBhvr>
                                      <p:tavLst>
                                        <p:tav tm="0">
                                          <p:val>
                                            <p:fltVal val="0"/>
                                          </p:val>
                                        </p:tav>
                                        <p:tav tm="100000">
                                          <p:val>
                                            <p:strVal val="#ppt_h"/>
                                          </p:val>
                                        </p:tav>
                                      </p:tavLst>
                                    </p:anim>
                                  </p:childTnLst>
                                </p:cTn>
                              </p:par>
                            </p:childTnLst>
                          </p:cTn>
                        </p:par>
                        <p:par>
                          <p:cTn id="39" fill="hold" nodeType="afterGroup">
                            <p:stCondLst>
                              <p:cond delay="700"/>
                            </p:stCondLst>
                            <p:childTnLst>
                              <p:par>
                                <p:cTn id="40" presetID="23" presetClass="entr" presetSubtype="16" fill="hold" grpId="0" nodeType="afterEffect">
                                  <p:stCondLst>
                                    <p:cond delay="0"/>
                                  </p:stCondLst>
                                  <p:iterate>
                                    <p:tmAbs val="0"/>
                                  </p:iterate>
                                  <p:childTnLst>
                                    <p:set>
                                      <p:cBhvr>
                                        <p:cTn id="41" fill="hold"/>
                                        <p:tgtEl>
                                          <p:spTgt spid="29"/>
                                        </p:tgtEl>
                                        <p:attrNameLst>
                                          <p:attrName>style.visibility</p:attrName>
                                        </p:attrNameLst>
                                      </p:cBhvr>
                                      <p:to>
                                        <p:strVal val="visible"/>
                                      </p:to>
                                    </p:set>
                                    <p:anim calcmode="lin" valueType="num">
                                      <p:cBhvr>
                                        <p:cTn id="42" dur="100" fill="hold"/>
                                        <p:tgtEl>
                                          <p:spTgt spid="29"/>
                                        </p:tgtEl>
                                        <p:attrNameLst>
                                          <p:attrName>ppt_w</p:attrName>
                                        </p:attrNameLst>
                                      </p:cBhvr>
                                      <p:tavLst>
                                        <p:tav tm="0">
                                          <p:val>
                                            <p:fltVal val="0"/>
                                          </p:val>
                                        </p:tav>
                                        <p:tav tm="100000">
                                          <p:val>
                                            <p:strVal val="#ppt_w"/>
                                          </p:val>
                                        </p:tav>
                                      </p:tavLst>
                                    </p:anim>
                                    <p:anim calcmode="lin" valueType="num">
                                      <p:cBhvr>
                                        <p:cTn id="43" dur="100" fill="hold"/>
                                        <p:tgtEl>
                                          <p:spTgt spid="29"/>
                                        </p:tgtEl>
                                        <p:attrNameLst>
                                          <p:attrName>ppt_h</p:attrName>
                                        </p:attrNameLst>
                                      </p:cBhvr>
                                      <p:tavLst>
                                        <p:tav tm="0">
                                          <p:val>
                                            <p:fltVal val="0"/>
                                          </p:val>
                                        </p:tav>
                                        <p:tav tm="100000">
                                          <p:val>
                                            <p:strVal val="#ppt_h"/>
                                          </p:val>
                                        </p:tav>
                                      </p:tavLst>
                                    </p:anim>
                                  </p:childTnLst>
                                </p:cTn>
                              </p:par>
                            </p:childTnLst>
                          </p:cTn>
                        </p:par>
                        <p:par>
                          <p:cTn id="44" fill="hold" nodeType="afterGroup">
                            <p:stCondLst>
                              <p:cond delay="800"/>
                            </p:stCondLst>
                            <p:childTnLst>
                              <p:par>
                                <p:cTn id="45" presetID="23" presetClass="entr" presetSubtype="16" fill="hold" grpId="0" nodeType="afterEffect">
                                  <p:stCondLst>
                                    <p:cond delay="0"/>
                                  </p:stCondLst>
                                  <p:iterate>
                                    <p:tmAbs val="0"/>
                                  </p:iterate>
                                  <p:childTnLst>
                                    <p:set>
                                      <p:cBhvr>
                                        <p:cTn id="46" fill="hold"/>
                                        <p:tgtEl>
                                          <p:spTgt spid="11"/>
                                        </p:tgtEl>
                                        <p:attrNameLst>
                                          <p:attrName>style.visibility</p:attrName>
                                        </p:attrNameLst>
                                      </p:cBhvr>
                                      <p:to>
                                        <p:strVal val="visible"/>
                                      </p:to>
                                    </p:set>
                                    <p:anim calcmode="lin" valueType="num">
                                      <p:cBhvr>
                                        <p:cTn id="47" dur="100" fill="hold"/>
                                        <p:tgtEl>
                                          <p:spTgt spid="11"/>
                                        </p:tgtEl>
                                        <p:attrNameLst>
                                          <p:attrName>ppt_w</p:attrName>
                                        </p:attrNameLst>
                                      </p:cBhvr>
                                      <p:tavLst>
                                        <p:tav tm="0">
                                          <p:val>
                                            <p:fltVal val="0"/>
                                          </p:val>
                                        </p:tav>
                                        <p:tav tm="100000">
                                          <p:val>
                                            <p:strVal val="#ppt_w"/>
                                          </p:val>
                                        </p:tav>
                                      </p:tavLst>
                                    </p:anim>
                                    <p:anim calcmode="lin" valueType="num">
                                      <p:cBhvr>
                                        <p:cTn id="48" dur="100" fill="hold"/>
                                        <p:tgtEl>
                                          <p:spTgt spid="11"/>
                                        </p:tgtEl>
                                        <p:attrNameLst>
                                          <p:attrName>ppt_h</p:attrName>
                                        </p:attrNameLst>
                                      </p:cBhvr>
                                      <p:tavLst>
                                        <p:tav tm="0">
                                          <p:val>
                                            <p:fltVal val="0"/>
                                          </p:val>
                                        </p:tav>
                                        <p:tav tm="100000">
                                          <p:val>
                                            <p:strVal val="#ppt_h"/>
                                          </p:val>
                                        </p:tav>
                                      </p:tavLst>
                                    </p:anim>
                                  </p:childTnLst>
                                </p:cTn>
                              </p:par>
                            </p:childTnLst>
                          </p:cTn>
                        </p:par>
                        <p:par>
                          <p:cTn id="49" fill="hold" nodeType="afterGroup">
                            <p:stCondLst>
                              <p:cond delay="900"/>
                            </p:stCondLst>
                            <p:childTnLst>
                              <p:par>
                                <p:cTn id="50" presetID="23" presetClass="entr" presetSubtype="16" fill="hold" grpId="0" nodeType="afterEffect">
                                  <p:stCondLst>
                                    <p:cond delay="0"/>
                                  </p:stCondLst>
                                  <p:iterate>
                                    <p:tmAbs val="0"/>
                                  </p:iterate>
                                  <p:childTnLst>
                                    <p:set>
                                      <p:cBhvr>
                                        <p:cTn id="51" fill="hold"/>
                                        <p:tgtEl>
                                          <p:spTgt spid="35"/>
                                        </p:tgtEl>
                                        <p:attrNameLst>
                                          <p:attrName>style.visibility</p:attrName>
                                        </p:attrNameLst>
                                      </p:cBhvr>
                                      <p:to>
                                        <p:strVal val="visible"/>
                                      </p:to>
                                    </p:set>
                                    <p:anim calcmode="lin" valueType="num">
                                      <p:cBhvr>
                                        <p:cTn id="52" dur="100" fill="hold"/>
                                        <p:tgtEl>
                                          <p:spTgt spid="35"/>
                                        </p:tgtEl>
                                        <p:attrNameLst>
                                          <p:attrName>ppt_w</p:attrName>
                                        </p:attrNameLst>
                                      </p:cBhvr>
                                      <p:tavLst>
                                        <p:tav tm="0">
                                          <p:val>
                                            <p:fltVal val="0"/>
                                          </p:val>
                                        </p:tav>
                                        <p:tav tm="100000">
                                          <p:val>
                                            <p:strVal val="#ppt_w"/>
                                          </p:val>
                                        </p:tav>
                                      </p:tavLst>
                                    </p:anim>
                                    <p:anim calcmode="lin" valueType="num">
                                      <p:cBhvr>
                                        <p:cTn id="53" dur="100" fill="hold"/>
                                        <p:tgtEl>
                                          <p:spTgt spid="35"/>
                                        </p:tgtEl>
                                        <p:attrNameLst>
                                          <p:attrName>ppt_h</p:attrName>
                                        </p:attrNameLst>
                                      </p:cBhvr>
                                      <p:tavLst>
                                        <p:tav tm="0">
                                          <p:val>
                                            <p:fltVal val="0"/>
                                          </p:val>
                                        </p:tav>
                                        <p:tav tm="100000">
                                          <p:val>
                                            <p:strVal val="#ppt_h"/>
                                          </p:val>
                                        </p:tav>
                                      </p:tavLst>
                                    </p:anim>
                                  </p:childTnLst>
                                </p:cTn>
                              </p:par>
                            </p:childTnLst>
                          </p:cTn>
                        </p:par>
                        <p:par>
                          <p:cTn id="54" fill="hold" nodeType="afterGroup">
                            <p:stCondLst>
                              <p:cond delay="1000"/>
                            </p:stCondLst>
                            <p:childTnLst>
                              <p:par>
                                <p:cTn id="55" presetID="23" presetClass="entr" presetSubtype="16" fill="hold" grpId="0" nodeType="afterEffect">
                                  <p:stCondLst>
                                    <p:cond delay="0"/>
                                  </p:stCondLst>
                                  <p:iterate>
                                    <p:tmAbs val="0"/>
                                  </p:iterate>
                                  <p:childTnLst>
                                    <p:set>
                                      <p:cBhvr>
                                        <p:cTn id="56" fill="hold"/>
                                        <p:tgtEl>
                                          <p:spTgt spid="8"/>
                                        </p:tgtEl>
                                        <p:attrNameLst>
                                          <p:attrName>style.visibility</p:attrName>
                                        </p:attrNameLst>
                                      </p:cBhvr>
                                      <p:to>
                                        <p:strVal val="visible"/>
                                      </p:to>
                                    </p:set>
                                    <p:anim calcmode="lin" valueType="num">
                                      <p:cBhvr>
                                        <p:cTn id="57" dur="100" fill="hold"/>
                                        <p:tgtEl>
                                          <p:spTgt spid="8"/>
                                        </p:tgtEl>
                                        <p:attrNameLst>
                                          <p:attrName>ppt_w</p:attrName>
                                        </p:attrNameLst>
                                      </p:cBhvr>
                                      <p:tavLst>
                                        <p:tav tm="0">
                                          <p:val>
                                            <p:fltVal val="0"/>
                                          </p:val>
                                        </p:tav>
                                        <p:tav tm="100000">
                                          <p:val>
                                            <p:strVal val="#ppt_w"/>
                                          </p:val>
                                        </p:tav>
                                      </p:tavLst>
                                    </p:anim>
                                    <p:anim calcmode="lin" valueType="num">
                                      <p:cBhvr>
                                        <p:cTn id="58" dur="1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P spid="8" grpId="0" animBg="1" advAuto="0"/>
      <p:bldP spid="11" grpId="0" animBg="1" advAuto="0"/>
      <p:bldP spid="14" grpId="0" animBg="1" advAuto="0"/>
      <p:bldP spid="17" grpId="0" animBg="1" advAuto="0"/>
      <p:bldP spid="20" grpId="0" animBg="1" advAuto="0"/>
      <p:bldP spid="23" grpId="0" animBg="1" advAuto="0"/>
      <p:bldP spid="26" grpId="0" animBg="1" advAuto="0"/>
      <p:bldP spid="29" grpId="0" animBg="1" advAuto="0"/>
      <p:bldP spid="32" grpId="0" animBg="1" advAuto="0"/>
      <p:bldP spid="35"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smtClean="0">
                <a:solidFill>
                  <a:srgbClr val="0070C0"/>
                </a:solidFill>
              </a:rPr>
              <a:t>How Bluemix Service Instances Work</a:t>
            </a:r>
          </a:p>
        </p:txBody>
      </p:sp>
      <p:pic>
        <p:nvPicPr>
          <p:cNvPr id="29699" name="Content Placeholder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3" y="1119188"/>
            <a:ext cx="8793162" cy="541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IBM Cloud 2015">
  <a:themeElements>
    <a:clrScheme name="IBM Cloud 2105">
      <a:dk1>
        <a:sysClr val="windowText" lastClr="000000"/>
      </a:dk1>
      <a:lt1>
        <a:sysClr val="window" lastClr="FFFFFF"/>
      </a:lt1>
      <a:dk2>
        <a:srgbClr val="085571"/>
      </a:dk2>
      <a:lt2>
        <a:srgbClr val="81CDF2"/>
      </a:lt2>
      <a:accent1>
        <a:srgbClr val="009EE2"/>
      </a:accent1>
      <a:accent2>
        <a:srgbClr val="1174B9"/>
      </a:accent2>
      <a:accent3>
        <a:srgbClr val="00A39C"/>
      </a:accent3>
      <a:accent4>
        <a:srgbClr val="00706E"/>
      </a:accent4>
      <a:accent5>
        <a:srgbClr val="611773"/>
      </a:accent5>
      <a:accent6>
        <a:srgbClr val="340F51"/>
      </a:accent6>
      <a:hlink>
        <a:srgbClr val="0000FF"/>
      </a:hlink>
      <a:folHlink>
        <a:srgbClr val="800080"/>
      </a:folHlink>
    </a:clrScheme>
    <a:fontScheme name="IBM Cloud 201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8444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kern="0" spc="-30" dirty="0" smtClean="0">
            <a:solidFill>
              <a:srgbClr val="FFFFFF"/>
            </a:solidFill>
            <a:latin typeface="Arial"/>
            <a:cs typeface="Arial"/>
          </a:defRPr>
        </a:defPPr>
      </a:lstStyle>
    </a:txDef>
  </a:objectDefaults>
  <a:extraClrSchemeLst/>
</a:theme>
</file>

<file path=ppt/theme/theme2.xml><?xml version="1.0" encoding="utf-8"?>
<a:theme xmlns:a="http://schemas.openxmlformats.org/drawingml/2006/main" name="IBM Cloud sub">
  <a:themeElements>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fontScheme name="617-01_SP_Business&amp;IT_Services_Sourcing_Blk_Template_R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1836</Words>
  <Application>Microsoft Office PowerPoint</Application>
  <PresentationFormat>On-screen Show (4:3)</PresentationFormat>
  <Paragraphs>122</Paragraphs>
  <Slides>12</Slides>
  <Notes>12</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IBM Cloud 2015</vt:lpstr>
      <vt:lpstr>IBM Cloud sub</vt:lpstr>
      <vt:lpstr>Bluemix platform as a service (PaaS)</vt:lpstr>
      <vt:lpstr>Objective</vt:lpstr>
      <vt:lpstr>Bluemix Applications</vt:lpstr>
      <vt:lpstr>Key components of IBM Bluemix PaaS application framework </vt:lpstr>
      <vt:lpstr>Terminology</vt:lpstr>
      <vt:lpstr>High Level Bluemix Public PaaS Architecture</vt:lpstr>
      <vt:lpstr>Bluemix Console Dashboard UI</vt:lpstr>
      <vt:lpstr>Catalog  </vt:lpstr>
      <vt:lpstr>Starters - Runtimes</vt:lpstr>
      <vt:lpstr>Starters - Boilerplates</vt:lpstr>
      <vt:lpstr>Bluemix Services</vt:lpstr>
      <vt:lpstr>How Bluemix Service Instances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2015-05-08T18:58:46Z</dcterms:created>
  <dcterms:modified xsi:type="dcterms:W3CDTF">2015-09-12T00:09:20Z</dcterms:modified>
</cp:coreProperties>
</file>