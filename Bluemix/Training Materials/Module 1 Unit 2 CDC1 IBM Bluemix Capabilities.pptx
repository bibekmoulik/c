
<file path=[Content_Types].xml><?xml version="1.0" encoding="utf-8"?>
<Types xmlns="http://schemas.openxmlformats.org/package/2006/content-types">
  <Override PartName="/ppt/slides/slide6.xml" ContentType="application/vnd.openxmlformats-officedocument.presentationml.slide+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theme/theme3.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Override PartName="/ppt/notesSlides/notesSlide17.xml" ContentType="application/vnd.openxmlformats-officedocument.presentationml.notesSlide+xml"/>
  <Override PartName="/ppt/notesSlides/notesSlide18.xml" ContentType="application/vnd.openxmlformats-officedocument.presentationml.notesSlide+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Masters/slideMaster2.xml" ContentType="application/vnd.openxmlformats-officedocument.presentationml.slideMaster+xml"/>
  <Override PartName="/ppt/slides/slide5.xml" ContentType="application/vnd.openxmlformats-officedocument.presentationml.slide+xml"/>
  <Override PartName="/ppt/slides/slide19.xml" ContentType="application/vnd.openxmlformats-officedocument.presentationml.slide+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notesSlides/notesSlide19.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72" r:id="rId1"/>
    <p:sldMasterId id="2147483717" r:id="rId2"/>
  </p:sldMasterIdLst>
  <p:notesMasterIdLst>
    <p:notesMasterId r:id="rId22"/>
  </p:notesMasterIdLst>
  <p:sldIdLst>
    <p:sldId id="256" r:id="rId3"/>
    <p:sldId id="284" r:id="rId4"/>
    <p:sldId id="295" r:id="rId5"/>
    <p:sldId id="280" r:id="rId6"/>
    <p:sldId id="268" r:id="rId7"/>
    <p:sldId id="269" r:id="rId8"/>
    <p:sldId id="270" r:id="rId9"/>
    <p:sldId id="271" r:id="rId10"/>
    <p:sldId id="272" r:id="rId11"/>
    <p:sldId id="292" r:id="rId12"/>
    <p:sldId id="294" r:id="rId13"/>
    <p:sldId id="273" r:id="rId14"/>
    <p:sldId id="274" r:id="rId15"/>
    <p:sldId id="275" r:id="rId16"/>
    <p:sldId id="276" r:id="rId17"/>
    <p:sldId id="278" r:id="rId18"/>
    <p:sldId id="296" r:id="rId19"/>
    <p:sldId id="283" r:id="rId20"/>
    <p:sldId id="297" r:id="rId2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3514">
          <p15:clr>
            <a:srgbClr val="A4A3A4"/>
          </p15:clr>
        </p15:guide>
        <p15:guide id="2" pos="285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EB6AC"/>
    <a:srgbClr val="83F5CF"/>
    <a:srgbClr val="0D426C"/>
    <a:srgbClr val="4EBBEB"/>
    <a:srgbClr val="1A3961"/>
    <a:srgbClr val="183C60"/>
    <a:srgbClr val="113F60"/>
    <a:srgbClr val="123964"/>
    <a:srgbClr val="1B4E77"/>
    <a:srgbClr val="11293F"/>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591" autoAdjust="0"/>
    <p:restoredTop sz="73118" autoAdjust="0"/>
  </p:normalViewPr>
  <p:slideViewPr>
    <p:cSldViewPr>
      <p:cViewPr varScale="1">
        <p:scale>
          <a:sx n="52" d="100"/>
          <a:sy n="52" d="100"/>
        </p:scale>
        <p:origin x="-2004" y="-102"/>
      </p:cViewPr>
      <p:guideLst>
        <p:guide orient="horz" pos="3514"/>
        <p:guide pos="2851"/>
      </p:guideLst>
    </p:cSldViewPr>
  </p:slideViewPr>
  <p:outlineViewPr>
    <p:cViewPr>
      <p:scale>
        <a:sx n="33" d="100"/>
        <a:sy n="33" d="100"/>
      </p:scale>
      <p:origin x="42" y="0"/>
    </p:cViewPr>
  </p:outlineViewPr>
  <p:notesTextViewPr>
    <p:cViewPr>
      <p:scale>
        <a:sx n="150" d="100"/>
        <a:sy n="150" d="100"/>
      </p:scale>
      <p:origin x="0" y="0"/>
    </p:cViewPr>
  </p:notesTextViewPr>
  <p:sorterViewPr>
    <p:cViewPr varScale="1">
      <p:scale>
        <a:sx n="1" d="1"/>
        <a:sy n="1" d="1"/>
      </p:scale>
      <p:origin x="0" y="0"/>
    </p:cViewPr>
  </p:sorterViewPr>
  <p:gridSpacing cx="46816963" cy="46816963"/>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FA6D163-A0F5-498D-A72B-50DE16555140}" type="datetimeFigureOut">
              <a:rPr lang="en-US" smtClean="0"/>
              <a:pPr/>
              <a:t>1/16/2016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3C999AD-79EC-4F02-84A9-EEA7F0527E47}" type="slidenum">
              <a:rPr lang="en-US" smtClean="0"/>
              <a:pPr/>
              <a:t>‹#›</a:t>
            </a:fld>
            <a:endParaRPr lang="en-US"/>
          </a:p>
        </p:txBody>
      </p:sp>
    </p:spTree>
    <p:extLst>
      <p:ext uri="{BB962C8B-B14F-4D97-AF65-F5344CB8AC3E}">
        <p14:creationId xmlns:p14="http://schemas.microsoft.com/office/powerpoint/2010/main" xmlns="" val="3446461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github.com/cloudfoundry" TargetMode="External"/><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cloudfoundry.org/" TargetMode="External"/><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index.docker.io" TargetMode="External"/><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3" Type="http://schemas.openxmlformats.org/officeDocument/2006/relationships/hyperlink" Target="http://thoughtsoncloud.com/2015/02/5-game-changing-capabilities-from-ibm-containers-on-bluemix/" TargetMode="External"/><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C3C999AD-79EC-4F02-84A9-EEA7F0527E47}" type="slidenum">
              <a:rPr lang="en-US" smtClean="0"/>
              <a:pPr/>
              <a:t>1</a:t>
            </a:fld>
            <a:endParaRPr lang="en-US"/>
          </a:p>
        </p:txBody>
      </p:sp>
    </p:spTree>
    <p:extLst>
      <p:ext uri="{BB962C8B-B14F-4D97-AF65-F5344CB8AC3E}">
        <p14:creationId xmlns:p14="http://schemas.microsoft.com/office/powerpoint/2010/main" xmlns="" val="39107462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28675"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smtClean="0"/>
              <a:t>IBM Bluemix offers 3 type of deployment models for you to build your applications</a:t>
            </a:r>
            <a:r>
              <a:rPr lang="en-US" altLang="en-US" baseline="0" dirty="0" smtClean="0"/>
              <a:t> – Cloud Foundry, Docker based Containers and </a:t>
            </a:r>
            <a:r>
              <a:rPr lang="en-US" altLang="en-US" baseline="0" dirty="0" err="1" smtClean="0"/>
              <a:t>Openstack</a:t>
            </a:r>
            <a:r>
              <a:rPr lang="en-US" altLang="en-US" baseline="0" dirty="0" smtClean="0"/>
              <a:t> Virtual Machines.</a:t>
            </a:r>
            <a:endParaRPr lang="en-US" altLang="en-US" dirty="0" smtClean="0"/>
          </a:p>
        </p:txBody>
      </p:sp>
      <p:sp>
        <p:nvSpPr>
          <p:cNvPr id="28676" name="Slide Number Placeholder 3"/>
          <p:cNvSpPr>
            <a:spLocks noGrp="1"/>
          </p:cNvSpPr>
          <p:nvPr>
            <p:ph type="sldNum" sz="quarter" idx="5"/>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6060DFE8-2A19-47F0-8960-E0B140CBC4C4}" type="slidenum">
              <a:rPr lang="en-US" altLang="en-US" smtClean="0">
                <a:latin typeface="Calibri" panose="020F0502020204030204" pitchFamily="34" charset="0"/>
              </a:rPr>
              <a:pPr/>
              <a:t>2</a:t>
            </a:fld>
            <a:endParaRPr lang="en-US" altLang="en-US" smtClean="0">
              <a:latin typeface="Calibri" panose="020F0502020204030204" pitchFamily="34" charset="0"/>
            </a:endParaRPr>
          </a:p>
        </p:txBody>
      </p:sp>
    </p:spTree>
    <p:extLst>
      <p:ext uri="{BB962C8B-B14F-4D97-AF65-F5344CB8AC3E}">
        <p14:creationId xmlns:p14="http://schemas.microsoft.com/office/powerpoint/2010/main" xmlns="" val="22502460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IBM Bluemix offers 3 deployment models for you</a:t>
            </a:r>
            <a:r>
              <a:rPr lang="en-US" baseline="0" dirty="0" smtClean="0"/>
              <a:t> </a:t>
            </a:r>
            <a:r>
              <a:rPr lang="en-US" dirty="0" smtClean="0"/>
              <a:t>to build yours applications in your preferred way.</a:t>
            </a:r>
            <a:r>
              <a:rPr lang="en-US" baseline="0" dirty="0" smtClean="0"/>
              <a:t>   That includes</a:t>
            </a:r>
            <a:endParaRPr lang="en-US" dirty="0" smtClean="0"/>
          </a:p>
          <a:p>
            <a:pPr marL="171450" indent="-171450">
              <a:buFontTx/>
              <a:buChar char="-"/>
            </a:pPr>
            <a:r>
              <a:rPr lang="en-US" b="1" dirty="0" smtClean="0"/>
              <a:t>Instant  runtimes </a:t>
            </a:r>
            <a:r>
              <a:rPr lang="en-US" dirty="0" smtClean="0"/>
              <a:t>app-centric runtime environments based on Cloud Foundry. </a:t>
            </a:r>
          </a:p>
          <a:p>
            <a:pPr marL="171450" indent="-171450">
              <a:buFontTx/>
              <a:buChar char="-"/>
            </a:pPr>
            <a:r>
              <a:rPr lang="en-US" b="1" dirty="0" smtClean="0"/>
              <a:t>Extend</a:t>
            </a:r>
            <a:r>
              <a:rPr lang="en-US" b="1" baseline="0" dirty="0" smtClean="0"/>
              <a:t> Docker </a:t>
            </a:r>
            <a:r>
              <a:rPr lang="en-US" b="1" dirty="0" smtClean="0"/>
              <a:t>Containers</a:t>
            </a:r>
            <a:r>
              <a:rPr lang="en-US" b="1" baseline="0" dirty="0" smtClean="0"/>
              <a:t> </a:t>
            </a:r>
            <a:r>
              <a:rPr lang="en-US" baseline="0" dirty="0" smtClean="0"/>
              <a:t>– Portable and consistent delivery of your app without having to manage an on OS</a:t>
            </a:r>
          </a:p>
          <a:p>
            <a:pPr marL="171450" indent="-171450">
              <a:buFontTx/>
              <a:buChar char="-"/>
            </a:pPr>
            <a:r>
              <a:rPr lang="en-US" b="1" baseline="0" dirty="0" err="1" smtClean="0"/>
              <a:t>Openstack</a:t>
            </a:r>
            <a:r>
              <a:rPr lang="en-US" b="1" baseline="0" dirty="0" smtClean="0"/>
              <a:t> Virtual Machines </a:t>
            </a:r>
            <a:r>
              <a:rPr lang="en-US" b="0" baseline="0" dirty="0" smtClean="0"/>
              <a:t>get the most flexibility and control over your environment with VMs.</a:t>
            </a:r>
          </a:p>
          <a:p>
            <a:pPr marL="0" indent="0">
              <a:buFontTx/>
              <a:buNone/>
            </a:pPr>
            <a:r>
              <a:rPr lang="en-US" b="0" baseline="0" dirty="0" smtClean="0"/>
              <a:t>You can use common ID &amp; permissions for service binding and consumption then hook into common routing layer. </a:t>
            </a:r>
          </a:p>
          <a:p>
            <a:pPr marL="0" indent="0">
              <a:buFontTx/>
              <a:buNone/>
            </a:pPr>
            <a:r>
              <a:rPr lang="en-US" b="0" baseline="0" dirty="0" smtClean="0"/>
              <a:t>It offers options of flexibility and level of abstraction to meet your application requirements.</a:t>
            </a:r>
            <a:endParaRPr lang="en-US" b="1" dirty="0"/>
          </a:p>
        </p:txBody>
      </p:sp>
      <p:sp>
        <p:nvSpPr>
          <p:cNvPr id="4" name="Slide Number Placeholder 3"/>
          <p:cNvSpPr>
            <a:spLocks noGrp="1"/>
          </p:cNvSpPr>
          <p:nvPr>
            <p:ph type="sldNum" sz="quarter" idx="10"/>
          </p:nvPr>
        </p:nvSpPr>
        <p:spPr/>
        <p:txBody>
          <a:bodyPr/>
          <a:lstStyle/>
          <a:p>
            <a:fld id="{C3C999AD-79EC-4F02-84A9-EEA7F0527E47}" type="slidenum">
              <a:rPr lang="en-US" smtClean="0"/>
              <a:pPr/>
              <a:t>3</a:t>
            </a:fld>
            <a:endParaRPr lang="en-US"/>
          </a:p>
        </p:txBody>
      </p:sp>
    </p:spTree>
    <p:extLst>
      <p:ext uri="{BB962C8B-B14F-4D97-AF65-F5344CB8AC3E}">
        <p14:creationId xmlns:p14="http://schemas.microsoft.com/office/powerpoint/2010/main" xmlns="" val="41289300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Bluemix offers different fit-for-purpose</a:t>
            </a:r>
            <a:r>
              <a:rPr lang="en-US" baseline="0" dirty="0" smtClean="0"/>
              <a:t> model for running your application.</a:t>
            </a:r>
            <a:endParaRPr lang="en-US" dirty="0" smtClean="0"/>
          </a:p>
          <a:p>
            <a:r>
              <a:rPr lang="en-US" dirty="0" err="1" smtClean="0"/>
              <a:t>Th</a:t>
            </a:r>
            <a:r>
              <a:rPr lang="en-US" dirty="0" smtClean="0"/>
              <a:t> is chart gives you a summary of Cloud</a:t>
            </a:r>
            <a:r>
              <a:rPr lang="en-US" baseline="0" dirty="0" smtClean="0"/>
              <a:t> foundry, Containers and VMs based on different operations &amp; usages for your applications. T-Shirt size (S, M L)</a:t>
            </a:r>
            <a:endParaRPr lang="en-US" dirty="0"/>
          </a:p>
        </p:txBody>
      </p:sp>
      <p:sp>
        <p:nvSpPr>
          <p:cNvPr id="4" name="Slide Number Placeholder 3"/>
          <p:cNvSpPr>
            <a:spLocks noGrp="1"/>
          </p:cNvSpPr>
          <p:nvPr>
            <p:ph type="sldNum" sz="quarter" idx="10"/>
          </p:nvPr>
        </p:nvSpPr>
        <p:spPr/>
        <p:txBody>
          <a:bodyPr/>
          <a:lstStyle/>
          <a:p>
            <a:fld id="{C3C999AD-79EC-4F02-84A9-EEA7F0527E47}" type="slidenum">
              <a:rPr lang="en-US" smtClean="0"/>
              <a:pPr/>
              <a:t>4</a:t>
            </a:fld>
            <a:endParaRPr lang="en-US"/>
          </a:p>
        </p:txBody>
      </p:sp>
    </p:spTree>
    <p:extLst>
      <p:ext uri="{BB962C8B-B14F-4D97-AF65-F5344CB8AC3E}">
        <p14:creationId xmlns:p14="http://schemas.microsoft.com/office/powerpoint/2010/main" xmlns="" val="38514679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Image Placeholder 1"/>
          <p:cNvSpPr>
            <a:spLocks noGrp="1" noRot="1" noChangeAspect="1" noTextEdit="1"/>
          </p:cNvSpPr>
          <p:nvPr>
            <p:ph type="sldImg"/>
          </p:nvPr>
        </p:nvSpPr>
        <p:spPr>
          <a:ln/>
        </p:spPr>
      </p:sp>
      <p:sp>
        <p:nvSpPr>
          <p:cNvPr id="39939" name="Notes Placeholder 2"/>
          <p:cNvSpPr>
            <a:spLocks noGrp="1"/>
          </p:cNvSpPr>
          <p:nvPr>
            <p:ph type="body" idx="1"/>
          </p:nvPr>
        </p:nvSpPr>
        <p:spPr>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ltLang="en-US" sz="1000" dirty="0" smtClean="0">
                <a:latin typeface="Arial" panose="020B0604020202020204" pitchFamily="34" charset="0"/>
                <a:cs typeface="Arial" panose="020B0604020202020204" pitchFamily="34" charset="0"/>
              </a:rPr>
              <a:t>Cloud Foundry is an open platform as a service, providing a choice of clouds, developer frameworks, and application services. Cloud Foundry makes it faster and easier to build, test, deploy, and scale applications. It is an </a:t>
            </a:r>
            <a:r>
              <a:rPr lang="en-US" altLang="en-US" sz="1000" u="sng" dirty="0" smtClean="0">
                <a:latin typeface="Arial" panose="020B0604020202020204" pitchFamily="34" charset="0"/>
                <a:cs typeface="Arial" panose="020B0604020202020204" pitchFamily="34" charset="0"/>
                <a:hlinkClick r:id="rId3"/>
              </a:rPr>
              <a:t>open source project</a:t>
            </a:r>
            <a:r>
              <a:rPr lang="en-US" altLang="en-US" sz="1000" dirty="0" smtClean="0">
                <a:latin typeface="Arial" panose="020B0604020202020204" pitchFamily="34" charset="0"/>
                <a:cs typeface="Arial" panose="020B0604020202020204" pitchFamily="34" charset="0"/>
              </a:rPr>
              <a:t> and is available through a variety of private cloud distributions and public cloud instances.</a:t>
            </a:r>
          </a:p>
          <a:p>
            <a:r>
              <a:rPr lang="en-US" altLang="en-US" sz="1000" dirty="0" smtClean="0">
                <a:latin typeface="Arial" panose="020B0604020202020204" pitchFamily="34" charset="0"/>
                <a:cs typeface="Arial" panose="020B0604020202020204" pitchFamily="34" charset="0"/>
              </a:rPr>
              <a:t>Cloud Foundry takes an open approach to Platform as a Service. Most PaaS offerings restrict developer choices of frameworks, application services, and deployment clouds. The open and extensible nature of Cloud Foundry means developers will not be locked into a single framework, single set of application services, or a single cloud.</a:t>
            </a:r>
          </a:p>
        </p:txBody>
      </p:sp>
      <p:sp>
        <p:nvSpPr>
          <p:cNvPr id="39940" name="Slide Number Placeholder 3"/>
          <p:cNvSpPr>
            <a:spLocks noGrp="1"/>
          </p:cNvSpPr>
          <p:nvPr>
            <p:ph type="sldNum" sz="quarter" idx="5"/>
          </p:nvPr>
        </p:nvSpPr>
        <p:spPr>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fld id="{F1B6C598-2E38-4C61-925F-8C6FE38877E9}" type="slidenum">
              <a:rPr lang="en-US" altLang="en-US" smtClean="0"/>
              <a:pPr/>
              <a:t>5</a:t>
            </a:fld>
            <a:endParaRPr lang="en-US" altLang="en-US" smtClean="0"/>
          </a:p>
        </p:txBody>
      </p:sp>
    </p:spTree>
    <p:extLst>
      <p:ext uri="{BB962C8B-B14F-4D97-AF65-F5344CB8AC3E}">
        <p14:creationId xmlns:p14="http://schemas.microsoft.com/office/powerpoint/2010/main" xmlns="" val="39004631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Image Placeholder 1"/>
          <p:cNvSpPr>
            <a:spLocks noGrp="1" noRot="1" noChangeAspect="1" noTextEdit="1"/>
          </p:cNvSpPr>
          <p:nvPr>
            <p:ph type="sldImg"/>
          </p:nvPr>
        </p:nvSpPr>
        <p:spPr>
          <a:ln/>
        </p:spPr>
      </p:sp>
      <p:sp>
        <p:nvSpPr>
          <p:cNvPr id="3" name="Notes Placeholder 2"/>
          <p:cNvSpPr>
            <a:spLocks noGrp="1"/>
          </p:cNvSpPr>
          <p:nvPr>
            <p:ph type="body" idx="1"/>
          </p:nvPr>
        </p:nvSpPr>
        <p:spPr/>
        <p:txBody>
          <a:bodyPr/>
          <a:lstStyle/>
          <a:p>
            <a:pPr>
              <a:defRPr/>
            </a:pPr>
            <a:r>
              <a:rPr lang="en-US" sz="1000" dirty="0" smtClean="0"/>
              <a:t>Built on the </a:t>
            </a:r>
            <a:r>
              <a:rPr lang="en-US" sz="1000" u="sng" dirty="0" smtClean="0">
                <a:hlinkClick r:id="rId3" tooltip="(Opens in a new tab or window)"/>
              </a:rPr>
              <a:t>Cloud Foundry</a:t>
            </a:r>
            <a:r>
              <a:rPr lang="en-US" sz="1000" dirty="0" smtClean="0"/>
              <a:t> open source technology, Bluemix offers more control to application developers by using its Platform as a Service (PaaS) offering. The goal is to simplify the delivery of an application by providing services that are ready for immediate use and hosting capabilities to enable internal scale development.</a:t>
            </a:r>
          </a:p>
          <a:p>
            <a:pPr>
              <a:defRPr/>
            </a:pPr>
            <a:r>
              <a:rPr lang="en-US" sz="1000" dirty="0" smtClean="0"/>
              <a:t>With the broad set of services, runtimes and APIs in Bluemix, the developer gains control and flexibility, and has access to various data options, from predictive analytics to big data. Bluemix provides the following features:</a:t>
            </a:r>
          </a:p>
          <a:p>
            <a:pPr marL="171450" indent="-171450">
              <a:buFont typeface="Arial" panose="020B0604020202020204" pitchFamily="34" charset="0"/>
              <a:buChar char="•"/>
              <a:defRPr/>
            </a:pPr>
            <a:r>
              <a:rPr lang="en-US" sz="1000" dirty="0" smtClean="0"/>
              <a:t>A range of services that enable you to build and extend web and mobile apps fast.</a:t>
            </a:r>
          </a:p>
          <a:p>
            <a:pPr marL="171450" indent="-171450">
              <a:buFont typeface="Arial" panose="020B0604020202020204" pitchFamily="34" charset="0"/>
              <a:buChar char="•"/>
              <a:defRPr/>
            </a:pPr>
            <a:r>
              <a:rPr lang="en-US" sz="1000" dirty="0" smtClean="0"/>
              <a:t>Processing power for you to deliver app changes continuously.</a:t>
            </a:r>
          </a:p>
          <a:p>
            <a:pPr marL="171450" indent="-171450">
              <a:buFont typeface="Arial" panose="020B0604020202020204" pitchFamily="34" charset="0"/>
              <a:buChar char="•"/>
              <a:defRPr/>
            </a:pPr>
            <a:r>
              <a:rPr lang="en-US" sz="1000" dirty="0" smtClean="0"/>
              <a:t>Fit-for-purpose programming models and services.</a:t>
            </a:r>
          </a:p>
          <a:p>
            <a:pPr marL="171450" indent="-171450">
              <a:buFont typeface="Arial" panose="020B0604020202020204" pitchFamily="34" charset="0"/>
              <a:buChar char="•"/>
              <a:defRPr/>
            </a:pPr>
            <a:r>
              <a:rPr lang="en-US" sz="1000" dirty="0" smtClean="0"/>
              <a:t>Manageability of services and applications.</a:t>
            </a:r>
          </a:p>
          <a:p>
            <a:pPr marL="171450" indent="-171450">
              <a:buFont typeface="Arial" panose="020B0604020202020204" pitchFamily="34" charset="0"/>
              <a:buChar char="•"/>
              <a:defRPr/>
            </a:pPr>
            <a:r>
              <a:rPr lang="en-US" sz="1000" dirty="0" smtClean="0"/>
              <a:t>Optimized and elastic workloads.</a:t>
            </a:r>
          </a:p>
          <a:p>
            <a:pPr marL="171450" indent="-171450">
              <a:buFont typeface="Arial" panose="020B0604020202020204" pitchFamily="34" charset="0"/>
              <a:buChar char="•"/>
              <a:defRPr/>
            </a:pPr>
            <a:r>
              <a:rPr lang="en-US" sz="1000" dirty="0" smtClean="0"/>
              <a:t>Continuous availability.</a:t>
            </a:r>
          </a:p>
          <a:p>
            <a:pPr>
              <a:defRPr/>
            </a:pPr>
            <a:endParaRPr lang="en-US" dirty="0" smtClean="0"/>
          </a:p>
          <a:p>
            <a:pPr>
              <a:defRPr/>
            </a:pPr>
            <a:endParaRPr lang="en-US" dirty="0"/>
          </a:p>
        </p:txBody>
      </p:sp>
      <p:sp>
        <p:nvSpPr>
          <p:cNvPr id="41988" name="Slide Number Placeholder 3"/>
          <p:cNvSpPr>
            <a:spLocks noGrp="1"/>
          </p:cNvSpPr>
          <p:nvPr>
            <p:ph type="sldNum" sz="quarter" idx="5"/>
          </p:nvPr>
        </p:nvSpPr>
        <p:spPr>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fld id="{2B83A395-D36A-4609-8F19-2D13802CCF07}" type="slidenum">
              <a:rPr lang="en-US" altLang="en-US" smtClean="0"/>
              <a:pPr/>
              <a:t>6</a:t>
            </a:fld>
            <a:endParaRPr lang="en-US" altLang="en-US" smtClean="0"/>
          </a:p>
        </p:txBody>
      </p:sp>
    </p:spTree>
    <p:extLst>
      <p:ext uri="{BB962C8B-B14F-4D97-AF65-F5344CB8AC3E}">
        <p14:creationId xmlns:p14="http://schemas.microsoft.com/office/powerpoint/2010/main" xmlns="" val="21144874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Image Placeholder 1"/>
          <p:cNvSpPr>
            <a:spLocks noGrp="1" noRot="1" noChangeAspect="1" noTextEdit="1"/>
          </p:cNvSpPr>
          <p:nvPr>
            <p:ph type="sldImg"/>
          </p:nvPr>
        </p:nvSpPr>
        <p:spPr>
          <a:ln/>
        </p:spPr>
      </p:sp>
      <p:sp>
        <p:nvSpPr>
          <p:cNvPr id="44035" name="Notes Placeholder 2"/>
          <p:cNvSpPr>
            <a:spLocks noGrp="1"/>
          </p:cNvSpPr>
          <p:nvPr>
            <p:ph type="body" idx="1"/>
          </p:nvPr>
        </p:nvSpPr>
        <p:spPr>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ltLang="en-US" dirty="0" smtClean="0">
                <a:latin typeface="Arial" panose="020B0604020202020204" pitchFamily="34" charset="0"/>
                <a:cs typeface="Arial" panose="020B0604020202020204" pitchFamily="34" charset="0"/>
              </a:rPr>
              <a:t>A container has virtual software objects which include all the elements that an application needs to run. Each container includes just the app and its dependencies, running as an isolated process on the host operating system. Therefore, it has the benefits of resource isolation and allocation, but is more portable and efficient. Containers help you build high-quality apps, fast.</a:t>
            </a:r>
          </a:p>
          <a:p>
            <a:endParaRPr lang="en-US" altLang="en-US" dirty="0" smtClean="0">
              <a:latin typeface="Arial" panose="020B0604020202020204" pitchFamily="34" charset="0"/>
              <a:cs typeface="Arial" panose="020B0604020202020204" pitchFamily="34" charset="0"/>
            </a:endParaRPr>
          </a:p>
        </p:txBody>
      </p:sp>
      <p:sp>
        <p:nvSpPr>
          <p:cNvPr id="44036" name="Slide Number Placeholder 3"/>
          <p:cNvSpPr>
            <a:spLocks noGrp="1"/>
          </p:cNvSpPr>
          <p:nvPr>
            <p:ph type="sldNum" sz="quarter" idx="5"/>
          </p:nvPr>
        </p:nvSpPr>
        <p:spPr>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fld id="{77DFE61D-A83B-4496-98AE-C7D2E76A0FDE}" type="slidenum">
              <a:rPr lang="en-US" altLang="en-US" smtClean="0"/>
              <a:pPr/>
              <a:t>7</a:t>
            </a:fld>
            <a:endParaRPr lang="en-US" altLang="en-US" smtClean="0"/>
          </a:p>
        </p:txBody>
      </p:sp>
    </p:spTree>
    <p:extLst>
      <p:ext uri="{BB962C8B-B14F-4D97-AF65-F5344CB8AC3E}">
        <p14:creationId xmlns:p14="http://schemas.microsoft.com/office/powerpoint/2010/main" xmlns="" val="22713732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Image Placeholder 1"/>
          <p:cNvSpPr>
            <a:spLocks noGrp="1" noRot="1" noChangeAspect="1" noTextEdit="1"/>
          </p:cNvSpPr>
          <p:nvPr>
            <p:ph type="sldImg"/>
          </p:nvPr>
        </p:nvSpPr>
        <p:spPr>
          <a:ln/>
        </p:spPr>
      </p:sp>
      <p:sp>
        <p:nvSpPr>
          <p:cNvPr id="3" name="Notes Placeholder 2"/>
          <p:cNvSpPr>
            <a:spLocks noGrp="1"/>
          </p:cNvSpPr>
          <p:nvPr>
            <p:ph type="body" idx="1"/>
          </p:nvPr>
        </p:nvSpPr>
        <p:spPr/>
        <p:txBody>
          <a:bodyPr/>
          <a:lstStyle/>
          <a:p>
            <a:pPr>
              <a:defRPr/>
            </a:pPr>
            <a:r>
              <a:rPr lang="en-US" sz="1000" dirty="0" err="1" smtClean="0"/>
              <a:t>Docker</a:t>
            </a:r>
            <a:r>
              <a:rPr lang="en-US" sz="1000" dirty="0" smtClean="0"/>
              <a:t> is an open platform for developers and </a:t>
            </a:r>
            <a:r>
              <a:rPr lang="en-US" sz="1000" dirty="0" err="1" smtClean="0"/>
              <a:t>sysadmins</a:t>
            </a:r>
            <a:r>
              <a:rPr lang="en-US" sz="1000" dirty="0" smtClean="0"/>
              <a:t> to build, ship, and run distributed applications. Consisting of </a:t>
            </a:r>
            <a:r>
              <a:rPr lang="en-US" sz="1000" dirty="0" err="1" smtClean="0"/>
              <a:t>Docker</a:t>
            </a:r>
            <a:r>
              <a:rPr lang="en-US" sz="1000" dirty="0" smtClean="0"/>
              <a:t> Engine, a portable, lightweight runtime and packaging tool, and </a:t>
            </a:r>
            <a:r>
              <a:rPr lang="en-US" sz="1000" dirty="0" err="1" smtClean="0"/>
              <a:t>Docker</a:t>
            </a:r>
            <a:r>
              <a:rPr lang="en-US" sz="1000" dirty="0" smtClean="0"/>
              <a:t> Hub, a cloud service for sharing applications and automating workflows, </a:t>
            </a:r>
            <a:r>
              <a:rPr lang="en-US" sz="1000" dirty="0" err="1" smtClean="0"/>
              <a:t>Docker</a:t>
            </a:r>
            <a:r>
              <a:rPr lang="en-US" sz="1000" dirty="0" smtClean="0"/>
              <a:t> enables apps to be quickly assembled from components and eliminates the friction between development, QA, and production environments. As a result, IT can ship faster and run the same app, unchanged, on laptops, data center VMs, and any cloud.</a:t>
            </a:r>
          </a:p>
          <a:p>
            <a:pPr eaLnBrk="1" hangingPunct="1">
              <a:defRPr/>
            </a:pPr>
            <a:r>
              <a:rPr lang="en-US" altLang="en-US" sz="1000" kern="0" dirty="0" smtClean="0">
                <a:cs typeface="Arial" panose="020B0604020202020204" pitchFamily="34" charset="0"/>
              </a:rPr>
              <a:t>Images - </a:t>
            </a:r>
            <a:r>
              <a:rPr lang="en-US" altLang="en-US" sz="1000" kern="0" dirty="0" smtClean="0"/>
              <a:t>read-only templates from which </a:t>
            </a:r>
            <a:r>
              <a:rPr lang="en-US" altLang="en-US" sz="1000" kern="0" dirty="0" err="1" smtClean="0"/>
              <a:t>Docker</a:t>
            </a:r>
            <a:r>
              <a:rPr lang="en-US" altLang="en-US" sz="1000" kern="0" dirty="0" smtClean="0"/>
              <a:t> containers are launched. </a:t>
            </a:r>
            <a:br>
              <a:rPr lang="en-US" altLang="en-US" sz="1000" kern="0" dirty="0" smtClean="0"/>
            </a:br>
            <a:endParaRPr lang="en-US" altLang="en-US" sz="1000" kern="0" dirty="0" smtClean="0">
              <a:cs typeface="Arial" panose="020B0604020202020204" pitchFamily="34" charset="0"/>
            </a:endParaRPr>
          </a:p>
          <a:p>
            <a:pPr eaLnBrk="1" hangingPunct="1">
              <a:defRPr/>
            </a:pPr>
            <a:r>
              <a:rPr lang="en-US" altLang="en-US" sz="1000" kern="0" dirty="0" smtClean="0">
                <a:cs typeface="Arial" panose="020B0604020202020204" pitchFamily="34" charset="0"/>
              </a:rPr>
              <a:t>Registry - </a:t>
            </a:r>
            <a:r>
              <a:rPr lang="en-US" altLang="en-US" sz="1000" kern="0" dirty="0" smtClean="0"/>
              <a:t>A service which you can push </a:t>
            </a:r>
            <a:r>
              <a:rPr lang="en-US" altLang="en-US" sz="1000" kern="0" dirty="0" err="1" smtClean="0"/>
              <a:t>Docker</a:t>
            </a:r>
            <a:r>
              <a:rPr lang="en-US" altLang="en-US" sz="1000" kern="0" dirty="0" smtClean="0"/>
              <a:t> images to for storage and sharing. </a:t>
            </a:r>
            <a:endParaRPr lang="en-US" altLang="en-US" sz="1000" kern="0" dirty="0" smtClean="0">
              <a:cs typeface="Arial" panose="020B0604020202020204" pitchFamily="34" charset="0"/>
            </a:endParaRPr>
          </a:p>
          <a:p>
            <a:pPr lvl="1" eaLnBrk="1" hangingPunct="1">
              <a:defRPr/>
            </a:pPr>
            <a:r>
              <a:rPr lang="en-US" altLang="en-US" sz="1000" kern="0" dirty="0" smtClean="0">
                <a:cs typeface="Arial" panose="020B0604020202020204" pitchFamily="34" charset="0"/>
              </a:rPr>
              <a:t>Public: </a:t>
            </a:r>
            <a:r>
              <a:rPr lang="en-US" altLang="en-US" sz="1000" kern="0" dirty="0" smtClean="0">
                <a:cs typeface="Arial" panose="020B0604020202020204" pitchFamily="34" charset="0"/>
                <a:hlinkClick r:id="rId3"/>
              </a:rPr>
              <a:t>https://index.docker.io</a:t>
            </a:r>
            <a:r>
              <a:rPr lang="en-US" altLang="en-US" sz="1000" kern="0" dirty="0" smtClean="0">
                <a:cs typeface="Arial" panose="020B0604020202020204" pitchFamily="34" charset="0"/>
              </a:rPr>
              <a:t>  </a:t>
            </a:r>
            <a:r>
              <a:rPr lang="en-US" altLang="en-US" sz="1000" kern="0" dirty="0" err="1" smtClean="0">
                <a:cs typeface="Arial" panose="020B0604020202020204" pitchFamily="34" charset="0"/>
              </a:rPr>
              <a:t>Docker</a:t>
            </a:r>
            <a:r>
              <a:rPr lang="en-US" altLang="en-US" sz="1000" kern="0" dirty="0" smtClean="0">
                <a:cs typeface="Arial" panose="020B0604020202020204" pitchFamily="34" charset="0"/>
              </a:rPr>
              <a:t> Hub</a:t>
            </a:r>
          </a:p>
          <a:p>
            <a:pPr lvl="1" eaLnBrk="1" hangingPunct="1">
              <a:defRPr/>
            </a:pPr>
            <a:r>
              <a:rPr lang="en-US" altLang="en-US" sz="1000" kern="0" dirty="0" smtClean="0">
                <a:cs typeface="Arial" panose="020B0604020202020204" pitchFamily="34" charset="0"/>
              </a:rPr>
              <a:t>Private: build your own</a:t>
            </a:r>
          </a:p>
          <a:p>
            <a:pPr eaLnBrk="1" hangingPunct="1">
              <a:defRPr/>
            </a:pPr>
            <a:r>
              <a:rPr lang="en-US" altLang="en-US" sz="1000" kern="0" dirty="0" err="1" smtClean="0">
                <a:cs typeface="Arial" panose="020B0604020202020204" pitchFamily="34" charset="0"/>
              </a:rPr>
              <a:t>Dockerfile</a:t>
            </a:r>
            <a:r>
              <a:rPr lang="en-US" altLang="en-US" sz="1000" kern="0" dirty="0" smtClean="0">
                <a:cs typeface="Arial" panose="020B0604020202020204" pitchFamily="34" charset="0"/>
              </a:rPr>
              <a:t>: </a:t>
            </a:r>
            <a:r>
              <a:rPr lang="en-US" altLang="en-US" sz="1000" kern="0" dirty="0" smtClean="0"/>
              <a:t>a text document that contains all the commands or instructions to build a </a:t>
            </a:r>
            <a:r>
              <a:rPr lang="en-US" altLang="en-US" sz="1000" kern="0" dirty="0" err="1" smtClean="0"/>
              <a:t>Docker</a:t>
            </a:r>
            <a:r>
              <a:rPr lang="en-US" altLang="en-US" sz="1000" kern="0" dirty="0" smtClean="0"/>
              <a:t> image for your applications. </a:t>
            </a:r>
            <a:endParaRPr lang="en-US" altLang="en-US" sz="1000" kern="0" dirty="0" smtClean="0">
              <a:cs typeface="Arial" panose="020B0604020202020204" pitchFamily="34" charset="0"/>
            </a:endParaRPr>
          </a:p>
          <a:p>
            <a:pPr eaLnBrk="1" hangingPunct="1">
              <a:defRPr/>
            </a:pPr>
            <a:r>
              <a:rPr lang="en-US" altLang="en-US" sz="1000" kern="0" dirty="0" smtClean="0">
                <a:cs typeface="Arial" panose="020B0604020202020204" pitchFamily="34" charset="0"/>
              </a:rPr>
              <a:t>Client-server</a:t>
            </a:r>
          </a:p>
          <a:p>
            <a:pPr lvl="1" eaLnBrk="1" hangingPunct="1">
              <a:defRPr/>
            </a:pPr>
            <a:r>
              <a:rPr lang="en-US" altLang="en-US" sz="1000" kern="0" dirty="0" err="1" smtClean="0">
                <a:cs typeface="Arial" panose="020B0604020202020204" pitchFamily="34" charset="0"/>
              </a:rPr>
              <a:t>Docker</a:t>
            </a:r>
            <a:r>
              <a:rPr lang="en-US" altLang="en-US" sz="1000" kern="0" dirty="0" smtClean="0">
                <a:cs typeface="Arial" panose="020B0604020202020204" pitchFamily="34" charset="0"/>
              </a:rPr>
              <a:t> service</a:t>
            </a:r>
          </a:p>
          <a:p>
            <a:pPr lvl="1" eaLnBrk="1" hangingPunct="1">
              <a:defRPr/>
            </a:pPr>
            <a:r>
              <a:rPr lang="en-US" altLang="en-US" sz="1000" kern="0" dirty="0" smtClean="0">
                <a:cs typeface="Arial" panose="020B0604020202020204" pitchFamily="34" charset="0"/>
              </a:rPr>
              <a:t>REST APIs</a:t>
            </a:r>
          </a:p>
          <a:p>
            <a:pPr lvl="1" eaLnBrk="1" hangingPunct="1">
              <a:defRPr/>
            </a:pPr>
            <a:r>
              <a:rPr lang="en-US" altLang="en-US" sz="1000" kern="0" dirty="0" err="1" smtClean="0">
                <a:cs typeface="Arial" panose="020B0604020202020204" pitchFamily="34" charset="0"/>
              </a:rPr>
              <a:t>Docker</a:t>
            </a:r>
            <a:r>
              <a:rPr lang="en-US" altLang="en-US" sz="1000" kern="0" dirty="0" smtClean="0">
                <a:cs typeface="Arial" panose="020B0604020202020204" pitchFamily="34" charset="0"/>
              </a:rPr>
              <a:t> client</a:t>
            </a:r>
          </a:p>
          <a:p>
            <a:pPr>
              <a:defRPr/>
            </a:pPr>
            <a:endParaRPr lang="en-US" dirty="0"/>
          </a:p>
        </p:txBody>
      </p:sp>
      <p:sp>
        <p:nvSpPr>
          <p:cNvPr id="46084" name="Slide Number Placeholder 3"/>
          <p:cNvSpPr>
            <a:spLocks noGrp="1"/>
          </p:cNvSpPr>
          <p:nvPr>
            <p:ph type="sldNum" sz="quarter" idx="5"/>
          </p:nvPr>
        </p:nvSpPr>
        <p:spPr>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fld id="{DB02093D-C1E1-4EEE-872B-F02DA306D494}" type="slidenum">
              <a:rPr lang="en-US" altLang="en-US" smtClean="0"/>
              <a:pPr/>
              <a:t>8</a:t>
            </a:fld>
            <a:endParaRPr lang="en-US" altLang="en-US" smtClean="0"/>
          </a:p>
        </p:txBody>
      </p:sp>
    </p:spTree>
    <p:extLst>
      <p:ext uri="{BB962C8B-B14F-4D97-AF65-F5344CB8AC3E}">
        <p14:creationId xmlns:p14="http://schemas.microsoft.com/office/powerpoint/2010/main" xmlns="" val="40827598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Image Placeholder 1"/>
          <p:cNvSpPr>
            <a:spLocks noGrp="1" noRot="1" noChangeAspect="1" noTextEdit="1"/>
          </p:cNvSpPr>
          <p:nvPr>
            <p:ph type="sldImg"/>
          </p:nvPr>
        </p:nvSpPr>
        <p:spPr>
          <a:ln/>
        </p:spPr>
      </p:sp>
      <p:sp>
        <p:nvSpPr>
          <p:cNvPr id="3" name="Notes Placeholder 2"/>
          <p:cNvSpPr>
            <a:spLocks noGrp="1"/>
          </p:cNvSpPr>
          <p:nvPr>
            <p:ph type="body" idx="1"/>
          </p:nvPr>
        </p:nvSpPr>
        <p:spPr/>
        <p:txBody>
          <a:bodyPr/>
          <a:lstStyle/>
          <a:p>
            <a:pPr>
              <a:defRPr/>
            </a:pPr>
            <a:r>
              <a:rPr lang="en-US" dirty="0" smtClean="0"/>
              <a:t>This slide shows basic concept of components of containers in Docker and its</a:t>
            </a:r>
            <a:r>
              <a:rPr lang="en-US" baseline="0" dirty="0" smtClean="0"/>
              <a:t> function from Build, Store and Run stage.</a:t>
            </a:r>
            <a:endParaRPr lang="en-US" dirty="0" smtClean="0"/>
          </a:p>
          <a:p>
            <a:pPr eaLnBrk="1" hangingPunct="1">
              <a:defRPr/>
            </a:pPr>
            <a:r>
              <a:rPr lang="en-US" altLang="en-US" kern="0" dirty="0" err="1" smtClean="0">
                <a:cs typeface="Arial" panose="020B0604020202020204" pitchFamily="34" charset="0"/>
              </a:rPr>
              <a:t>Dockerfile</a:t>
            </a:r>
            <a:r>
              <a:rPr lang="en-US" altLang="en-US" kern="0" dirty="0" smtClean="0">
                <a:cs typeface="Arial" panose="020B0604020202020204" pitchFamily="34" charset="0"/>
              </a:rPr>
              <a:t>: </a:t>
            </a:r>
            <a:r>
              <a:rPr lang="en-US" altLang="en-US" kern="0" dirty="0" smtClean="0"/>
              <a:t>a text document that contains all the commands or instructions to build a Docker image for your applications.</a:t>
            </a:r>
            <a:endParaRPr lang="en-US" altLang="en-US" dirty="0" smtClean="0">
              <a:cs typeface="Arial" panose="020B0604020202020204" pitchFamily="34" charset="0"/>
            </a:endParaRPr>
          </a:p>
          <a:p>
            <a:pPr eaLnBrk="1" hangingPunct="1">
              <a:defRPr/>
            </a:pPr>
            <a:r>
              <a:rPr lang="en-US" altLang="en-US" dirty="0" smtClean="0">
                <a:cs typeface="Arial" panose="020B0604020202020204" pitchFamily="34" charset="0"/>
              </a:rPr>
              <a:t>Containers - </a:t>
            </a:r>
            <a:r>
              <a:rPr lang="en-US" altLang="en-US" dirty="0" smtClean="0"/>
              <a:t>are virtual software objects that include all the elements that an application needs to run</a:t>
            </a:r>
            <a:r>
              <a:rPr lang="en-US" altLang="en-US" baseline="0" dirty="0" smtClean="0"/>
              <a:t> on host.</a:t>
            </a:r>
            <a:endParaRPr lang="en-US" altLang="en-US" dirty="0" smtClean="0"/>
          </a:p>
          <a:p>
            <a:pPr>
              <a:defRPr/>
            </a:pPr>
            <a:r>
              <a:rPr lang="en-US" altLang="en-US" dirty="0" smtClean="0">
                <a:cs typeface="Arial" panose="020B0604020202020204" pitchFamily="34" charset="0"/>
              </a:rPr>
              <a:t>Images - </a:t>
            </a:r>
            <a:r>
              <a:rPr lang="en-US" altLang="en-US" dirty="0" smtClean="0"/>
              <a:t>read-only templates from which Docker containers are launched.  </a:t>
            </a:r>
            <a:r>
              <a:rPr lang="en-US" dirty="0" smtClean="0"/>
              <a:t>Docker image is a layer in the file system.</a:t>
            </a:r>
          </a:p>
          <a:p>
            <a:pPr>
              <a:defRPr/>
            </a:pPr>
            <a:r>
              <a:rPr lang="en-US" altLang="en-US" dirty="0" smtClean="0">
                <a:cs typeface="Arial" panose="020B0604020202020204" pitchFamily="34" charset="0"/>
              </a:rPr>
              <a:t>Container</a:t>
            </a:r>
            <a:r>
              <a:rPr lang="en-US" altLang="en-US" baseline="0" dirty="0" smtClean="0">
                <a:cs typeface="Arial" panose="020B0604020202020204" pitchFamily="34" charset="0"/>
              </a:rPr>
              <a:t> Build Engine on client side pulls the info from source code repository based on the instructions in the </a:t>
            </a:r>
            <a:r>
              <a:rPr lang="en-US" altLang="en-US" baseline="0" dirty="0" err="1" smtClean="0">
                <a:cs typeface="Arial" panose="020B0604020202020204" pitchFamily="34" charset="0"/>
              </a:rPr>
              <a:t>Dockerfile</a:t>
            </a:r>
            <a:r>
              <a:rPr lang="en-US" altLang="en-US" baseline="0" dirty="0" smtClean="0">
                <a:cs typeface="Arial" panose="020B0604020202020204" pitchFamily="34" charset="0"/>
              </a:rPr>
              <a:t> to build container image automatically. Then push the image to registry/container image repository for storage and sharing.  The </a:t>
            </a:r>
            <a:r>
              <a:rPr lang="en-US" altLang="en-US" baseline="0" dirty="0" err="1" smtClean="0">
                <a:cs typeface="Arial" panose="020B0604020202020204" pitchFamily="34" charset="0"/>
              </a:rPr>
              <a:t>docker</a:t>
            </a:r>
            <a:r>
              <a:rPr lang="en-US" altLang="en-US" baseline="0" dirty="0" smtClean="0">
                <a:cs typeface="Arial" panose="020B0604020202020204" pitchFamily="34" charset="0"/>
              </a:rPr>
              <a:t> engine on the server side will get the image from repository, launch and runs the container image on the host OS. That is how it works.</a:t>
            </a:r>
          </a:p>
          <a:p>
            <a:pPr>
              <a:defRPr/>
            </a:pPr>
            <a:r>
              <a:rPr lang="en-US" dirty="0" smtClean="0"/>
              <a:t>Containers has layers,</a:t>
            </a:r>
            <a:r>
              <a:rPr lang="en-US" baseline="0" dirty="0" smtClean="0"/>
              <a:t> </a:t>
            </a:r>
            <a:r>
              <a:rPr lang="en-US" dirty="0" smtClean="0"/>
              <a:t>Layer one is </a:t>
            </a:r>
            <a:r>
              <a:rPr lang="en-US" dirty="0" err="1" smtClean="0"/>
              <a:t>init</a:t>
            </a:r>
            <a:r>
              <a:rPr lang="en-US" dirty="0" smtClean="0"/>
              <a:t> layer based on image, Layer two is actual container content to ease updates, enhance</a:t>
            </a:r>
            <a:r>
              <a:rPr lang="en-US" baseline="0" dirty="0" smtClean="0"/>
              <a:t> portability and fast start up. </a:t>
            </a:r>
            <a:endParaRPr lang="en-US" dirty="0" smtClean="0"/>
          </a:p>
          <a:p>
            <a:pPr eaLnBrk="1" hangingPunct="1">
              <a:defRPr/>
            </a:pPr>
            <a:endParaRPr lang="en-US" altLang="en-US" dirty="0" smtClean="0">
              <a:latin typeface="Arial" panose="020B0604020202020204" pitchFamily="34" charset="0"/>
              <a:cs typeface="Arial" panose="020B0604020202020204" pitchFamily="34" charset="0"/>
            </a:endParaRPr>
          </a:p>
          <a:p>
            <a:pPr eaLnBrk="1" hangingPunct="1">
              <a:defRPr/>
            </a:pPr>
            <a:r>
              <a:rPr lang="en-US" altLang="en-US" dirty="0" smtClean="0">
                <a:latin typeface="Arial" panose="020B0604020202020204" pitchFamily="34" charset="0"/>
                <a:cs typeface="Arial" panose="020B0604020202020204" pitchFamily="34" charset="0"/>
              </a:rPr>
              <a:t>Containers enable you to build your app in any language, with any programming tools. A container is created from an image, which is a read-only template. Containers can be run, started, stopped, moved, and deleted. Each container is an isolated and secure application platform. Apps in containers can run anywhere: development workstations that are running OS X or Windows, servers that are running Ubuntu, or production data center VMs that are running Red Hat. </a:t>
            </a:r>
            <a:endParaRPr lang="en-US" altLang="en-US" dirty="0" smtClean="0">
              <a:cs typeface="Arial" panose="020B0604020202020204" pitchFamily="34" charset="0"/>
            </a:endParaRPr>
          </a:p>
          <a:p>
            <a:pPr>
              <a:defRPr/>
            </a:pPr>
            <a:endParaRPr lang="en-US" dirty="0" smtClean="0"/>
          </a:p>
          <a:p>
            <a:pPr>
              <a:defRPr/>
            </a:pPr>
            <a:endParaRPr lang="en-US" dirty="0"/>
          </a:p>
        </p:txBody>
      </p:sp>
      <p:sp>
        <p:nvSpPr>
          <p:cNvPr id="48132" name="Slide Number Placeholder 3"/>
          <p:cNvSpPr>
            <a:spLocks noGrp="1"/>
          </p:cNvSpPr>
          <p:nvPr>
            <p:ph type="sldNum" sz="quarter" idx="5"/>
          </p:nvPr>
        </p:nvSpPr>
        <p:spPr>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fld id="{59BC340E-5856-41B6-BD2D-0582E9B50601}" type="slidenum">
              <a:rPr lang="en-US" altLang="en-US" smtClean="0"/>
              <a:pPr/>
              <a:t>9</a:t>
            </a:fld>
            <a:endParaRPr lang="en-US" altLang="en-US" smtClean="0"/>
          </a:p>
        </p:txBody>
      </p:sp>
    </p:spTree>
    <p:extLst>
      <p:ext uri="{BB962C8B-B14F-4D97-AF65-F5344CB8AC3E}">
        <p14:creationId xmlns:p14="http://schemas.microsoft.com/office/powerpoint/2010/main" xmlns="" val="30504222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This are some basic and commonly uses</a:t>
            </a:r>
            <a:r>
              <a:rPr lang="en-US" baseline="0" dirty="0" smtClean="0"/>
              <a:t> </a:t>
            </a:r>
            <a:r>
              <a:rPr lang="en-US" dirty="0" smtClean="0"/>
              <a:t>Docker commands.</a:t>
            </a:r>
            <a:r>
              <a:rPr lang="en-US" baseline="0" dirty="0" smtClean="0"/>
              <a:t> The example shows the steps to build and push or pull from Docker host server for WebSphere Liberty profile Docker image.</a:t>
            </a:r>
            <a:endParaRPr lang="en-US" dirty="0"/>
          </a:p>
        </p:txBody>
      </p:sp>
      <p:sp>
        <p:nvSpPr>
          <p:cNvPr id="4" name="Slide Number Placeholder 3"/>
          <p:cNvSpPr>
            <a:spLocks noGrp="1"/>
          </p:cNvSpPr>
          <p:nvPr>
            <p:ph type="sldNum" sz="quarter" idx="10"/>
          </p:nvPr>
        </p:nvSpPr>
        <p:spPr/>
        <p:txBody>
          <a:bodyPr/>
          <a:lstStyle/>
          <a:p>
            <a:fld id="{C3C999AD-79EC-4F02-84A9-EEA7F0527E47}" type="slidenum">
              <a:rPr lang="en-US" smtClean="0"/>
              <a:pPr/>
              <a:t>10</a:t>
            </a:fld>
            <a:endParaRPr lang="en-US"/>
          </a:p>
        </p:txBody>
      </p:sp>
    </p:spTree>
    <p:extLst>
      <p:ext uri="{BB962C8B-B14F-4D97-AF65-F5344CB8AC3E}">
        <p14:creationId xmlns:p14="http://schemas.microsoft.com/office/powerpoint/2010/main" xmlns="" val="14396988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Once the Docker image is built</a:t>
            </a:r>
            <a:r>
              <a:rPr lang="en-US" baseline="0" dirty="0" smtClean="0"/>
              <a:t> successfully, it can be tagged with name and store in the registry via </a:t>
            </a:r>
            <a:r>
              <a:rPr lang="en-US" baseline="0" dirty="0" err="1" smtClean="0"/>
              <a:t>docker</a:t>
            </a:r>
            <a:r>
              <a:rPr lang="en-US" baseline="0" dirty="0" smtClean="0"/>
              <a:t> tag and </a:t>
            </a:r>
            <a:r>
              <a:rPr lang="en-US" baseline="0" dirty="0" err="1" smtClean="0"/>
              <a:t>docker</a:t>
            </a:r>
            <a:r>
              <a:rPr lang="en-US" baseline="0" dirty="0" smtClean="0"/>
              <a:t> push command on the build server.  You can pull the image from registry and run it on the Docker host container via </a:t>
            </a:r>
            <a:r>
              <a:rPr lang="en-US" baseline="0" dirty="0" err="1" smtClean="0"/>
              <a:t>docker</a:t>
            </a:r>
            <a:r>
              <a:rPr lang="en-US" baseline="0" dirty="0" smtClean="0"/>
              <a:t> pull and </a:t>
            </a:r>
            <a:r>
              <a:rPr lang="en-US" baseline="0" dirty="0" err="1" smtClean="0"/>
              <a:t>docker</a:t>
            </a:r>
            <a:r>
              <a:rPr lang="en-US" baseline="0" dirty="0" smtClean="0"/>
              <a:t> run commands.  After deployed successfully,  it is ready for access from a browser by specifying the listening port 1930.</a:t>
            </a:r>
            <a:endParaRPr lang="en-US" dirty="0"/>
          </a:p>
        </p:txBody>
      </p:sp>
      <p:sp>
        <p:nvSpPr>
          <p:cNvPr id="4" name="Slide Number Placeholder 3"/>
          <p:cNvSpPr>
            <a:spLocks noGrp="1"/>
          </p:cNvSpPr>
          <p:nvPr>
            <p:ph type="sldNum" sz="quarter" idx="10"/>
          </p:nvPr>
        </p:nvSpPr>
        <p:spPr/>
        <p:txBody>
          <a:bodyPr/>
          <a:lstStyle/>
          <a:p>
            <a:fld id="{C3C999AD-79EC-4F02-84A9-EEA7F0527E47}" type="slidenum">
              <a:rPr lang="en-US" smtClean="0"/>
              <a:pPr/>
              <a:t>11</a:t>
            </a:fld>
            <a:endParaRPr lang="en-US"/>
          </a:p>
        </p:txBody>
      </p:sp>
    </p:spTree>
    <p:extLst>
      <p:ext uri="{BB962C8B-B14F-4D97-AF65-F5344CB8AC3E}">
        <p14:creationId xmlns:p14="http://schemas.microsoft.com/office/powerpoint/2010/main" xmlns="" val="237941813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Image Placeholder 1"/>
          <p:cNvSpPr>
            <a:spLocks noGrp="1" noRot="1" noChangeAspect="1" noTextEdit="1"/>
          </p:cNvSpPr>
          <p:nvPr>
            <p:ph type="sldImg"/>
          </p:nvPr>
        </p:nvSpPr>
        <p:spPr>
          <a:ln/>
        </p:spPr>
      </p:sp>
      <p:sp>
        <p:nvSpPr>
          <p:cNvPr id="50179" name="Notes Placeholder 2"/>
          <p:cNvSpPr>
            <a:spLocks noGrp="1"/>
          </p:cNvSpPr>
          <p:nvPr>
            <p:ph type="body" idx="1"/>
          </p:nvPr>
        </p:nvSpPr>
        <p:spPr>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ltLang="en-US" sz="1000" dirty="0" smtClean="0">
                <a:latin typeface="Arial" panose="020B0604020202020204" pitchFamily="34" charset="0"/>
                <a:cs typeface="Arial" panose="020B0604020202020204" pitchFamily="34" charset="0"/>
              </a:rPr>
              <a:t>IBM Bluemix provides the Docker based Containers infrastructure with enhanced</a:t>
            </a:r>
            <a:r>
              <a:rPr lang="en-US" altLang="en-US" sz="1000" baseline="0" dirty="0" smtClean="0">
                <a:latin typeface="Arial" panose="020B0604020202020204" pitchFamily="34" charset="0"/>
                <a:cs typeface="Arial" panose="020B0604020202020204" pitchFamily="34" charset="0"/>
              </a:rPr>
              <a:t> features to deploy and manage distributed cloud workload in a hybrid environment and packaged as Docker containers for delivery of additional value to customer. </a:t>
            </a:r>
            <a:r>
              <a:rPr lang="en-US" altLang="en-US" sz="1000" dirty="0" smtClean="0">
                <a:latin typeface="Arial" panose="020B0604020202020204" pitchFamily="34" charset="0"/>
                <a:cs typeface="Arial" panose="020B0604020202020204" pitchFamily="34" charset="0"/>
              </a:rPr>
              <a:t>The IBM Containers engine's lightweight run time enables rapid scale-up and scale-down in response to changes in demand. On Bluemix, you start developing with containers by using a trusted container image. With your org's private registry, you can automate your build pipeline and share artifacts with collaborators through public or private registries. Containers simplify system administration by providing standardized environments for development and production teams. They help remove the complexity of managing different operating system platforms and underlying infrastructure. Containers help you deploy and run any app on any infrastructure, quickly and reliably.</a:t>
            </a:r>
          </a:p>
          <a:p>
            <a:endParaRPr lang="en-US" altLang="en-US" sz="1100" dirty="0" smtClean="0">
              <a:latin typeface="Arial" panose="020B0604020202020204" pitchFamily="34" charset="0"/>
              <a:cs typeface="Arial" panose="020B0604020202020204" pitchFamily="34" charset="0"/>
            </a:endParaRPr>
          </a:p>
          <a:p>
            <a:endParaRPr lang="en-US" altLang="en-US" sz="1100" dirty="0" smtClean="0">
              <a:latin typeface="Arial" panose="020B0604020202020204" pitchFamily="34" charset="0"/>
              <a:cs typeface="Arial" panose="020B0604020202020204" pitchFamily="34" charset="0"/>
            </a:endParaRPr>
          </a:p>
        </p:txBody>
      </p:sp>
      <p:sp>
        <p:nvSpPr>
          <p:cNvPr id="50180" name="Slide Number Placeholder 3"/>
          <p:cNvSpPr>
            <a:spLocks noGrp="1"/>
          </p:cNvSpPr>
          <p:nvPr>
            <p:ph type="sldNum" sz="quarter" idx="5"/>
          </p:nvPr>
        </p:nvSpPr>
        <p:spPr>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fld id="{8E171D8C-E4D6-4DA8-BB4A-01B0573DC9D9}" type="slidenum">
              <a:rPr lang="en-US" altLang="en-US" smtClean="0"/>
              <a:pPr/>
              <a:t>12</a:t>
            </a:fld>
            <a:endParaRPr lang="en-US" altLang="en-US" smtClean="0"/>
          </a:p>
        </p:txBody>
      </p:sp>
    </p:spTree>
    <p:extLst>
      <p:ext uri="{BB962C8B-B14F-4D97-AF65-F5344CB8AC3E}">
        <p14:creationId xmlns:p14="http://schemas.microsoft.com/office/powerpoint/2010/main" xmlns="" val="155038700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Image Placeholder 1"/>
          <p:cNvSpPr>
            <a:spLocks noGrp="1" noRot="1" noChangeAspect="1" noTextEdit="1"/>
          </p:cNvSpPr>
          <p:nvPr>
            <p:ph type="sldImg"/>
          </p:nvPr>
        </p:nvSpPr>
        <p:spPr>
          <a:ln/>
        </p:spPr>
      </p:sp>
      <p:sp>
        <p:nvSpPr>
          <p:cNvPr id="3" name="Notes Placeholder 2"/>
          <p:cNvSpPr>
            <a:spLocks noGrp="1"/>
          </p:cNvSpPr>
          <p:nvPr>
            <p:ph type="body" idx="1"/>
          </p:nvPr>
        </p:nvSpPr>
        <p:spPr/>
        <p:txBody>
          <a:bodyPr/>
          <a:lstStyle/>
          <a:p>
            <a:pPr>
              <a:defRPr/>
            </a:pPr>
            <a:r>
              <a:rPr lang="en-US" sz="1000" dirty="0" smtClean="0"/>
              <a:t>There are 5 key differentiators Bluemix Container provides: </a:t>
            </a:r>
            <a:r>
              <a:rPr lang="en-US" sz="1000" dirty="0" smtClean="0">
                <a:hlinkClick r:id="rId3"/>
              </a:rPr>
              <a:t>http://thoughtsoncloud.com/2015/02/5-game-changing-capabilities-from-ibm-containers-on-bluemix/</a:t>
            </a:r>
          </a:p>
          <a:p>
            <a:pPr marL="228600" indent="-228600">
              <a:buFontTx/>
              <a:buAutoNum type="arabicPeriod"/>
              <a:defRPr/>
            </a:pPr>
            <a:r>
              <a:rPr lang="en-US" sz="1000" dirty="0" smtClean="0"/>
              <a:t>You have the ability to download and run containers on-premises (through a local workstation or private cloud) for use prior to running in the public cloud. Using the IBM Container Extensions (ICE) command line, you can easily automate the deployment of containers to a private or public cloud.</a:t>
            </a:r>
          </a:p>
          <a:p>
            <a:pPr marL="228600" indent="-228600">
              <a:buFontTx/>
              <a:buAutoNum type="arabicPeriod"/>
              <a:defRPr/>
            </a:pPr>
            <a:r>
              <a:rPr lang="en-US" sz="1000" dirty="0" smtClean="0"/>
              <a:t>With security and privacy as top concerns, you don’t want to store your containers in publicly accessible registry hubs. The IBM Container offering on Bluemix allows you to store your images on the cloud with the controls to ensure no one else can access them.</a:t>
            </a:r>
          </a:p>
          <a:p>
            <a:pPr marL="228600" indent="-228600">
              <a:buFontTx/>
              <a:buAutoNum type="arabicPeriod"/>
              <a:defRPr/>
            </a:pPr>
            <a:r>
              <a:rPr lang="en-US" sz="1000" dirty="0" smtClean="0"/>
              <a:t>As soon as you deploy new containers, you gain insight into the CPU, memory and network utilization per container, as well as access to the latest log messages.</a:t>
            </a:r>
          </a:p>
          <a:p>
            <a:pPr marL="228600" indent="-228600">
              <a:buFontTx/>
              <a:buAutoNum type="arabicPeriod"/>
              <a:defRPr/>
            </a:pPr>
            <a:r>
              <a:rPr lang="en-US" sz="1000" dirty="0" smtClean="0"/>
              <a:t>It could not be easier to request a publicly accessible IP address and assign it to a container using ICE commands. After fully testing the app in your container, you can bind a public IP to it and run the app on the Internet.</a:t>
            </a:r>
          </a:p>
          <a:p>
            <a:pPr marL="228600" indent="-228600">
              <a:buFontTx/>
              <a:buAutoNum type="arabicPeriod"/>
              <a:defRPr/>
            </a:pPr>
            <a:r>
              <a:rPr lang="en-US" sz="1000" dirty="0" smtClean="0"/>
              <a:t>IBM Bluemix allows you to bind any Bluemix app to an existing container, enabling you to run your newly created PHP app on a container. </a:t>
            </a:r>
          </a:p>
        </p:txBody>
      </p:sp>
      <p:sp>
        <p:nvSpPr>
          <p:cNvPr id="52228" name="Slide Number Placeholder 3"/>
          <p:cNvSpPr>
            <a:spLocks noGrp="1"/>
          </p:cNvSpPr>
          <p:nvPr>
            <p:ph type="sldNum" sz="quarter" idx="5"/>
          </p:nvPr>
        </p:nvSpPr>
        <p:spPr>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fld id="{170C8AD4-5F08-4844-A18E-7776FC8D1249}" type="slidenum">
              <a:rPr lang="en-US" altLang="en-US" smtClean="0"/>
              <a:pPr/>
              <a:t>13</a:t>
            </a:fld>
            <a:endParaRPr lang="en-US" altLang="en-US" smtClean="0"/>
          </a:p>
        </p:txBody>
      </p:sp>
    </p:spTree>
    <p:extLst>
      <p:ext uri="{BB962C8B-B14F-4D97-AF65-F5344CB8AC3E}">
        <p14:creationId xmlns:p14="http://schemas.microsoft.com/office/powerpoint/2010/main" xmlns="" val="317966828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Image Placeholder 1"/>
          <p:cNvSpPr>
            <a:spLocks noGrp="1" noRot="1" noChangeAspect="1" noTextEdit="1"/>
          </p:cNvSpPr>
          <p:nvPr>
            <p:ph type="sldImg"/>
          </p:nvPr>
        </p:nvSpPr>
        <p:spPr>
          <a:ln/>
        </p:spPr>
      </p:sp>
      <p:sp>
        <p:nvSpPr>
          <p:cNvPr id="54275" name="Notes Placeholder 2"/>
          <p:cNvSpPr>
            <a:spLocks noGrp="1"/>
          </p:cNvSpPr>
          <p:nvPr>
            <p:ph type="body" idx="1"/>
          </p:nvPr>
        </p:nvSpPr>
        <p:spPr>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ltLang="en-US" dirty="0" smtClean="0">
                <a:latin typeface="Arial" panose="020B0604020202020204" pitchFamily="34" charset="0"/>
                <a:cs typeface="Arial" panose="020B0604020202020204" pitchFamily="34" charset="0"/>
              </a:rPr>
              <a:t>A virtual machine is a software implementation of a machine that executes programs like a real machine. Within the virtual machine (VM) is the application and a complete operating system, running on virtualized hardware that is provided by a hypervisor. The hypervisor separates the virtual machine from the host, and allocates resources as needed. Many VMs can run simultaneously on a single host system.  The guest OS might not be the same as the server of host OS.</a:t>
            </a:r>
          </a:p>
          <a:p>
            <a:endParaRPr lang="en-US" altLang="en-US" dirty="0" smtClean="0">
              <a:latin typeface="Arial" panose="020B0604020202020204" pitchFamily="34" charset="0"/>
              <a:cs typeface="Arial" panose="020B0604020202020204" pitchFamily="34" charset="0"/>
            </a:endParaRPr>
          </a:p>
        </p:txBody>
      </p:sp>
      <p:sp>
        <p:nvSpPr>
          <p:cNvPr id="54276" name="Slide Number Placeholder 3"/>
          <p:cNvSpPr>
            <a:spLocks noGrp="1"/>
          </p:cNvSpPr>
          <p:nvPr>
            <p:ph type="sldNum" sz="quarter" idx="5"/>
          </p:nvPr>
        </p:nvSpPr>
        <p:spPr>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fld id="{509A3491-5AD5-4151-B268-73602F34B153}" type="slidenum">
              <a:rPr lang="en-US" altLang="en-US" smtClean="0"/>
              <a:pPr/>
              <a:t>14</a:t>
            </a:fld>
            <a:endParaRPr lang="en-US" altLang="en-US" smtClean="0"/>
          </a:p>
        </p:txBody>
      </p:sp>
    </p:spTree>
    <p:extLst>
      <p:ext uri="{BB962C8B-B14F-4D97-AF65-F5344CB8AC3E}">
        <p14:creationId xmlns:p14="http://schemas.microsoft.com/office/powerpoint/2010/main" xmlns="" val="399502606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Image Placeholder 1"/>
          <p:cNvSpPr>
            <a:spLocks noGrp="1" noRot="1" noChangeAspect="1" noTextEdit="1"/>
          </p:cNvSpPr>
          <p:nvPr>
            <p:ph type="sldImg"/>
          </p:nvPr>
        </p:nvSpPr>
        <p:spPr>
          <a:ln/>
        </p:spPr>
      </p:sp>
      <p:sp>
        <p:nvSpPr>
          <p:cNvPr id="56323" name="Notes Placeholder 2"/>
          <p:cNvSpPr>
            <a:spLocks noGrp="1"/>
          </p:cNvSpPr>
          <p:nvPr>
            <p:ph type="body" idx="1"/>
          </p:nvPr>
        </p:nvSpPr>
        <p:spPr>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ltLang="en-US" sz="900" dirty="0" smtClean="0">
                <a:latin typeface="Arial" panose="020B0604020202020204" pitchFamily="34" charset="0"/>
                <a:cs typeface="Arial" panose="020B0604020202020204" pitchFamily="34" charset="0"/>
              </a:rPr>
              <a:t>IBM Bluemix provides the virtual machines infrastructure as a beta feature that is available in select regions. This infrastructure enables you to create virtual machines that are running in public and private (on-premises) OpenStack clouds. For the private, on-</a:t>
            </a:r>
            <a:r>
              <a:rPr lang="en-US" altLang="en-US" sz="900" dirty="0" err="1" smtClean="0">
                <a:latin typeface="Arial" panose="020B0604020202020204" pitchFamily="34" charset="0"/>
                <a:cs typeface="Arial" panose="020B0604020202020204" pitchFamily="34" charset="0"/>
              </a:rPr>
              <a:t>prem</a:t>
            </a:r>
            <a:r>
              <a:rPr lang="en-US" altLang="en-US" sz="900" dirty="0" smtClean="0">
                <a:latin typeface="Arial" panose="020B0604020202020204" pitchFamily="34" charset="0"/>
                <a:cs typeface="Arial" panose="020B0604020202020204" pitchFamily="34" charset="0"/>
              </a:rPr>
              <a:t> cloud, you must first connect it to Bluemix so that it's available to use with your virtual machine. </a:t>
            </a:r>
          </a:p>
          <a:p>
            <a:r>
              <a:rPr lang="en-US" altLang="en-US" sz="900" dirty="0" smtClean="0">
                <a:latin typeface="Arial" panose="020B0604020202020204" pitchFamily="34" charset="0"/>
                <a:cs typeface="Arial" panose="020B0604020202020204" pitchFamily="34" charset="0"/>
              </a:rPr>
              <a:t>With virtual machines in Bluemix, you can create virtual machine group instances for public and private clouds by using images from existing VM images. You can provision VM groups with auto scaling and load balancing against a target cloud. You can view detailed information of each virtual machine instance in the virtual machine group that you create. Details include instance ID, IP addresses, number of CPUs, total memory, disk size, and the status. You can stop, pause, or delete instances. You can also perform advanced operations from the provided OpenStack Horizon Dashboard or from OpenStack CLI/APIs. </a:t>
            </a:r>
          </a:p>
          <a:p>
            <a:endParaRPr lang="en-US" altLang="en-US" dirty="0" smtClean="0">
              <a:latin typeface="Arial" panose="020B0604020202020204" pitchFamily="34" charset="0"/>
              <a:cs typeface="Arial" panose="020B0604020202020204" pitchFamily="34" charset="0"/>
            </a:endParaRPr>
          </a:p>
        </p:txBody>
      </p:sp>
      <p:sp>
        <p:nvSpPr>
          <p:cNvPr id="56324" name="Slide Number Placeholder 3"/>
          <p:cNvSpPr>
            <a:spLocks noGrp="1"/>
          </p:cNvSpPr>
          <p:nvPr>
            <p:ph type="sldNum" sz="quarter" idx="5"/>
          </p:nvPr>
        </p:nvSpPr>
        <p:spPr>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fld id="{680AFABF-5846-481D-92AC-A0E55048E34C}" type="slidenum">
              <a:rPr lang="en-US" altLang="en-US" smtClean="0"/>
              <a:pPr/>
              <a:t>15</a:t>
            </a:fld>
            <a:endParaRPr lang="en-US" altLang="en-US" smtClean="0"/>
          </a:p>
        </p:txBody>
      </p:sp>
    </p:spTree>
    <p:extLst>
      <p:ext uri="{BB962C8B-B14F-4D97-AF65-F5344CB8AC3E}">
        <p14:creationId xmlns:p14="http://schemas.microsoft.com/office/powerpoint/2010/main" xmlns="" val="285373844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050" dirty="0" smtClean="0"/>
              <a:t>This</a:t>
            </a:r>
            <a:r>
              <a:rPr lang="en-US" sz="1050" baseline="0" dirty="0" smtClean="0"/>
              <a:t> charts shows the differences between Containers and VMs approaches from build, deploy, update of application life cycle and value perspectives.</a:t>
            </a:r>
            <a:endParaRPr lang="en-US" sz="1050" dirty="0" smtClean="0"/>
          </a:p>
          <a:p>
            <a:r>
              <a:rPr lang="en-US" sz="1050" dirty="0" smtClean="0"/>
              <a:t>We like to deploy applications</a:t>
            </a:r>
            <a:r>
              <a:rPr lang="en-US" sz="1050" baseline="0" dirty="0" smtClean="0"/>
              <a:t> to the cloud in a repeatable way via standardization and make choice that could deliver the best business to you.</a:t>
            </a:r>
          </a:p>
          <a:p>
            <a:endParaRPr lang="en-US" sz="1050" baseline="0" dirty="0" smtClean="0"/>
          </a:p>
          <a:p>
            <a:r>
              <a:rPr lang="en-US" sz="1050" baseline="0" dirty="0" smtClean="0"/>
              <a:t>Currently both Containers and VMs are in beta and available on Bluemix for your to explore. Containers will be GA soon.</a:t>
            </a:r>
          </a:p>
          <a:p>
            <a:r>
              <a:rPr lang="en-US" sz="1050" baseline="0" dirty="0" smtClean="0"/>
              <a:t>We will explore more detail on Cloud Foundry approach in next section – Section 2.</a:t>
            </a:r>
            <a:endParaRPr lang="en-US" dirty="0"/>
          </a:p>
        </p:txBody>
      </p:sp>
      <p:sp>
        <p:nvSpPr>
          <p:cNvPr id="4" name="Slide Number Placeholder 3"/>
          <p:cNvSpPr>
            <a:spLocks noGrp="1"/>
          </p:cNvSpPr>
          <p:nvPr>
            <p:ph type="sldNum" sz="quarter" idx="10"/>
          </p:nvPr>
        </p:nvSpPr>
        <p:spPr/>
        <p:txBody>
          <a:bodyPr/>
          <a:lstStyle/>
          <a:p>
            <a:fld id="{C3C999AD-79EC-4F02-84A9-EEA7F0527E47}" type="slidenum">
              <a:rPr lang="en-US" smtClean="0"/>
              <a:pPr/>
              <a:t>16</a:t>
            </a:fld>
            <a:endParaRPr lang="en-US"/>
          </a:p>
        </p:txBody>
      </p:sp>
    </p:spTree>
    <p:extLst>
      <p:ext uri="{BB962C8B-B14F-4D97-AF65-F5344CB8AC3E}">
        <p14:creationId xmlns:p14="http://schemas.microsoft.com/office/powerpoint/2010/main" xmlns="" val="64447960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Shape 303"/>
          <p:cNvSpPr>
            <a:spLocks noGrp="1" noRot="1" noChangeAspect="1" noTextEdit="1"/>
          </p:cNvSpPr>
          <p:nvPr>
            <p:ph type="sldImg"/>
          </p:nvPr>
        </p:nvSpPr>
        <p:spPr>
          <a:ln/>
        </p:spPr>
      </p:sp>
      <p:sp>
        <p:nvSpPr>
          <p:cNvPr id="58371" name="Shape 304"/>
          <p:cNvSpPr>
            <a:spLocks noGrp="1"/>
          </p:cNvSpPr>
          <p:nvPr>
            <p:ph type="body" sz="quarter" idx="1"/>
          </p:nvPr>
        </p:nvSpPr>
        <p:spPr>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ltLang="en-US" sz="1100" dirty="0" smtClean="0">
                <a:latin typeface="Arial" panose="020B0604020202020204" pitchFamily="34" charset="0"/>
                <a:cs typeface="Arial" panose="020B0604020202020204" pitchFamily="34" charset="0"/>
              </a:rPr>
              <a:t>While timing is critical (what we just discussed), </a:t>
            </a:r>
            <a:r>
              <a:rPr lang="en-US" altLang="en-US" sz="1100" b="1" dirty="0" smtClean="0">
                <a:latin typeface="Arial" panose="020B0604020202020204" pitchFamily="34" charset="0"/>
                <a:cs typeface="Arial" panose="020B0604020202020204" pitchFamily="34" charset="0"/>
              </a:rPr>
              <a:t>the systems and data you use today</a:t>
            </a:r>
            <a:r>
              <a:rPr lang="en-US" altLang="en-US" sz="1100" b="1" dirty="0" smtClean="0">
                <a:solidFill>
                  <a:srgbClr val="0365C0"/>
                </a:solidFill>
                <a:latin typeface="Arial" panose="020B0604020202020204" pitchFamily="34" charset="0"/>
                <a:cs typeface="Arial" panose="020B0604020202020204" pitchFamily="34" charset="0"/>
              </a:rPr>
              <a:t> can</a:t>
            </a:r>
            <a:r>
              <a:rPr lang="ja-JP" altLang="en-US" sz="1100" b="1" dirty="0" smtClean="0">
                <a:solidFill>
                  <a:srgbClr val="0365C0"/>
                </a:solidFill>
                <a:latin typeface="Arial" panose="020B0604020202020204" pitchFamily="34" charset="0"/>
                <a:cs typeface="Arial" panose="020B0604020202020204" pitchFamily="34" charset="0"/>
              </a:rPr>
              <a:t>’</a:t>
            </a:r>
            <a:r>
              <a:rPr lang="en-US" altLang="ja-JP" sz="1100" b="1" dirty="0" smtClean="0">
                <a:solidFill>
                  <a:srgbClr val="0365C0"/>
                </a:solidFill>
                <a:latin typeface="Arial" panose="020B0604020202020204" pitchFamily="34" charset="0"/>
                <a:cs typeface="Arial" panose="020B0604020202020204" pitchFamily="34" charset="0"/>
              </a:rPr>
              <a:t>t be forgotten</a:t>
            </a:r>
            <a:r>
              <a:rPr lang="en-US" altLang="ja-JP" sz="1100" dirty="0" smtClean="0">
                <a:latin typeface="Arial" panose="020B0604020202020204" pitchFamily="34" charset="0"/>
                <a:cs typeface="Arial" panose="020B0604020202020204" pitchFamily="34" charset="0"/>
              </a:rPr>
              <a:t>. That</a:t>
            </a:r>
            <a:r>
              <a:rPr lang="ja-JP" altLang="en-US" sz="1100" dirty="0" smtClean="0">
                <a:latin typeface="Arial" panose="020B0604020202020204" pitchFamily="34" charset="0"/>
                <a:cs typeface="Arial" panose="020B0604020202020204" pitchFamily="34" charset="0"/>
              </a:rPr>
              <a:t>’</a:t>
            </a:r>
            <a:r>
              <a:rPr lang="en-US" altLang="ja-JP" sz="1100" dirty="0" smtClean="0">
                <a:latin typeface="Arial" panose="020B0604020202020204" pitchFamily="34" charset="0"/>
                <a:cs typeface="Arial" panose="020B0604020202020204" pitchFamily="34" charset="0"/>
              </a:rPr>
              <a:t>s why Bluemix simply and securely connects to </a:t>
            </a:r>
            <a:r>
              <a:rPr lang="en-US" altLang="ja-JP" sz="1100" b="1" dirty="0" smtClean="0">
                <a:latin typeface="Arial" panose="020B0604020202020204" pitchFamily="34" charset="0"/>
                <a:cs typeface="Arial" panose="020B0604020202020204" pitchFamily="34" charset="0"/>
              </a:rPr>
              <a:t>core IT</a:t>
            </a:r>
            <a:r>
              <a:rPr lang="en-US" altLang="ja-JP" sz="1100" dirty="0" smtClean="0">
                <a:latin typeface="Arial" panose="020B0604020202020204" pitchFamily="34" charset="0"/>
                <a:cs typeface="Arial" panose="020B0604020202020204" pitchFamily="34" charset="0"/>
              </a:rPr>
              <a:t> and </a:t>
            </a:r>
            <a:r>
              <a:rPr lang="en-US" altLang="ja-JP" sz="1100" b="1" dirty="0" smtClean="0">
                <a:latin typeface="Arial" panose="020B0604020202020204" pitchFamily="34" charset="0"/>
                <a:cs typeface="Arial" panose="020B0604020202020204" pitchFamily="34" charset="0"/>
              </a:rPr>
              <a:t>even other clouds</a:t>
            </a:r>
            <a:r>
              <a:rPr lang="en-US" altLang="ja-JP" sz="1100" dirty="0" smtClean="0">
                <a:latin typeface="Arial" panose="020B0604020202020204" pitchFamily="34" charset="0"/>
                <a:cs typeface="Arial" panose="020B0604020202020204" pitchFamily="34" charset="0"/>
              </a:rPr>
              <a:t> (leveraging IBM</a:t>
            </a:r>
            <a:r>
              <a:rPr lang="ja-JP" altLang="en-US" sz="1100" dirty="0" smtClean="0">
                <a:latin typeface="Arial" panose="020B0604020202020204" pitchFamily="34" charset="0"/>
                <a:cs typeface="Arial" panose="020B0604020202020204" pitchFamily="34" charset="0"/>
              </a:rPr>
              <a:t>’</a:t>
            </a:r>
            <a:r>
              <a:rPr lang="en-US" altLang="ja-JP" sz="1100" dirty="0" smtClean="0">
                <a:latin typeface="Arial" panose="020B0604020202020204" pitchFamily="34" charset="0"/>
                <a:cs typeface="Arial" panose="020B0604020202020204" pitchFamily="34" charset="0"/>
              </a:rPr>
              <a:t>s </a:t>
            </a:r>
            <a:r>
              <a:rPr lang="en-US" altLang="ja-JP" sz="1100" b="1" dirty="0" smtClean="0">
                <a:latin typeface="Arial" panose="020B0604020202020204" pitchFamily="34" charset="0"/>
                <a:cs typeface="Arial" panose="020B0604020202020204" pitchFamily="34" charset="0"/>
              </a:rPr>
              <a:t>proven reputation as a systems integrator</a:t>
            </a:r>
            <a:r>
              <a:rPr lang="en-US" altLang="ja-JP" sz="1100" dirty="0" smtClean="0">
                <a:latin typeface="Arial" panose="020B0604020202020204" pitchFamily="34" charset="0"/>
                <a:cs typeface="Arial" panose="020B0604020202020204" pitchFamily="34" charset="0"/>
              </a:rPr>
              <a:t>).</a:t>
            </a:r>
          </a:p>
          <a:p>
            <a:endParaRPr lang="en-US" altLang="en-US" sz="1100" dirty="0" smtClean="0">
              <a:latin typeface="Arial" panose="020B0604020202020204" pitchFamily="34" charset="0"/>
              <a:cs typeface="Arial" panose="020B0604020202020204" pitchFamily="34" charset="0"/>
            </a:endParaRPr>
          </a:p>
          <a:p>
            <a:r>
              <a:rPr lang="en-US" altLang="en-US" sz="1100" b="1" dirty="0" smtClean="0">
                <a:solidFill>
                  <a:srgbClr val="0365C0"/>
                </a:solidFill>
                <a:latin typeface="Arial" panose="020B0604020202020204" pitchFamily="34" charset="0"/>
                <a:cs typeface="Arial" panose="020B0604020202020204" pitchFamily="34" charset="0"/>
              </a:rPr>
              <a:t>Hybrid cloud</a:t>
            </a:r>
            <a:r>
              <a:rPr lang="en-US" altLang="en-US" sz="1100" b="1" dirty="0" smtClean="0">
                <a:latin typeface="Arial" panose="020B0604020202020204" pitchFamily="34" charset="0"/>
                <a:cs typeface="Arial" panose="020B0604020202020204" pitchFamily="34" charset="0"/>
              </a:rPr>
              <a:t>, where Public and Private clouds work together with Core IT investments, is critical to success given the </a:t>
            </a:r>
            <a:r>
              <a:rPr lang="en-US" altLang="en-US" sz="1100" b="1" dirty="0" smtClean="0">
                <a:solidFill>
                  <a:srgbClr val="0365C0"/>
                </a:solidFill>
                <a:latin typeface="Arial" panose="020B0604020202020204" pitchFamily="34" charset="0"/>
                <a:cs typeface="Arial" panose="020B0604020202020204" pitchFamily="34" charset="0"/>
              </a:rPr>
              <a:t>app revolution</a:t>
            </a:r>
            <a:r>
              <a:rPr lang="en-US" altLang="en-US" sz="1100" b="1" dirty="0" smtClean="0">
                <a:latin typeface="Arial" panose="020B0604020202020204" pitchFamily="34" charset="0"/>
                <a:cs typeface="Arial" panose="020B0604020202020204" pitchFamily="34" charset="0"/>
              </a:rPr>
              <a:t> and the </a:t>
            </a:r>
            <a:r>
              <a:rPr lang="en-US" altLang="en-US" sz="1100" b="1" dirty="0" smtClean="0">
                <a:solidFill>
                  <a:srgbClr val="0365C0"/>
                </a:solidFill>
                <a:latin typeface="Arial" panose="020B0604020202020204" pitchFamily="34" charset="0"/>
                <a:cs typeface="Arial" panose="020B0604020202020204" pitchFamily="34" charset="0"/>
              </a:rPr>
              <a:t>expectations and increased competition</a:t>
            </a:r>
            <a:r>
              <a:rPr lang="en-US" altLang="en-US" sz="1100" b="1" dirty="0" smtClean="0">
                <a:latin typeface="Arial" panose="020B0604020202020204" pitchFamily="34" charset="0"/>
                <a:cs typeface="Arial" panose="020B0604020202020204" pitchFamily="34" charset="0"/>
              </a:rPr>
              <a:t> it has generated.</a:t>
            </a:r>
          </a:p>
          <a:p>
            <a:endParaRPr lang="en-US" altLang="en-US" sz="1100" b="1" dirty="0" smtClean="0">
              <a:latin typeface="Arial" panose="020B0604020202020204" pitchFamily="34" charset="0"/>
              <a:cs typeface="Arial" panose="020B0604020202020204" pitchFamily="34" charset="0"/>
            </a:endParaRPr>
          </a:p>
          <a:p>
            <a:r>
              <a:rPr lang="en-US" altLang="en-US" sz="1100" b="1" dirty="0" smtClean="0">
                <a:latin typeface="Arial" panose="020B0604020202020204" pitchFamily="34" charset="0"/>
                <a:cs typeface="Arial" panose="020B0604020202020204" pitchFamily="34" charset="0"/>
              </a:rPr>
              <a:t>Overall, hybrid cloud represents the </a:t>
            </a:r>
            <a:r>
              <a:rPr lang="ja-JP" altLang="en-US" sz="1100" b="1" dirty="0" smtClean="0">
                <a:latin typeface="Arial" panose="020B0604020202020204" pitchFamily="34" charset="0"/>
                <a:cs typeface="Arial" panose="020B0604020202020204" pitchFamily="34" charset="0"/>
              </a:rPr>
              <a:t>“</a:t>
            </a:r>
            <a:r>
              <a:rPr lang="en-US" altLang="ja-JP" sz="1100" b="1" dirty="0" smtClean="0">
                <a:solidFill>
                  <a:srgbClr val="0365C0"/>
                </a:solidFill>
                <a:latin typeface="Arial" panose="020B0604020202020204" pitchFamily="34" charset="0"/>
                <a:cs typeface="Arial" panose="020B0604020202020204" pitchFamily="34" charset="0"/>
              </a:rPr>
              <a:t>New IT…</a:t>
            </a:r>
            <a:r>
              <a:rPr lang="ja-JP" altLang="en-US" sz="1100" b="1" dirty="0" smtClean="0">
                <a:solidFill>
                  <a:srgbClr val="0365C0"/>
                </a:solidFill>
                <a:latin typeface="Arial" panose="020B0604020202020204" pitchFamily="34" charset="0"/>
                <a:cs typeface="Arial" panose="020B0604020202020204" pitchFamily="34" charset="0"/>
              </a:rPr>
              <a:t>”</a:t>
            </a:r>
            <a:endParaRPr lang="en-US" altLang="en-US" b="1" dirty="0" smtClean="0">
              <a:solidFill>
                <a:srgbClr val="0365C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xmlns="" val="349240962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Here’s a list of useful bookmarks on the topics</a:t>
            </a:r>
            <a:r>
              <a:rPr lang="en-US" baseline="0" dirty="0" smtClean="0"/>
              <a:t> we covered in this section </a:t>
            </a:r>
            <a:r>
              <a:rPr lang="en-US" dirty="0" smtClean="0"/>
              <a:t>for your reference.</a:t>
            </a:r>
            <a:endParaRPr lang="en-US" dirty="0"/>
          </a:p>
        </p:txBody>
      </p:sp>
      <p:sp>
        <p:nvSpPr>
          <p:cNvPr id="4" name="Slide Number Placeholder 3"/>
          <p:cNvSpPr>
            <a:spLocks noGrp="1"/>
          </p:cNvSpPr>
          <p:nvPr>
            <p:ph type="sldNum" sz="quarter" idx="10"/>
          </p:nvPr>
        </p:nvSpPr>
        <p:spPr/>
        <p:txBody>
          <a:bodyPr/>
          <a:lstStyle/>
          <a:p>
            <a:fld id="{C3C999AD-79EC-4F02-84A9-EEA7F0527E47}" type="slidenum">
              <a:rPr lang="en-US" smtClean="0"/>
              <a:pPr/>
              <a:t>18</a:t>
            </a:fld>
            <a:endParaRPr lang="en-US"/>
          </a:p>
        </p:txBody>
      </p:sp>
    </p:spTree>
    <p:extLst>
      <p:ext uri="{BB962C8B-B14F-4D97-AF65-F5344CB8AC3E}">
        <p14:creationId xmlns:p14="http://schemas.microsoft.com/office/powerpoint/2010/main" xmlns="" val="383039150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Please post your questions or find the answers on Bluemix Community https://ibm.biz/BdXGBL</a:t>
            </a:r>
            <a:endParaRPr lang="en-US" dirty="0"/>
          </a:p>
        </p:txBody>
      </p:sp>
      <p:sp>
        <p:nvSpPr>
          <p:cNvPr id="4" name="Slide Number Placeholder 3"/>
          <p:cNvSpPr>
            <a:spLocks noGrp="1"/>
          </p:cNvSpPr>
          <p:nvPr>
            <p:ph type="sldNum" sz="quarter" idx="10"/>
          </p:nvPr>
        </p:nvSpPr>
        <p:spPr/>
        <p:txBody>
          <a:bodyPr/>
          <a:lstStyle/>
          <a:p>
            <a:fld id="{C3C999AD-79EC-4F02-84A9-EEA7F0527E47}" type="slidenum">
              <a:rPr lang="en-US" smtClean="0"/>
              <a:pPr/>
              <a:t>19</a:t>
            </a:fld>
            <a:endParaRPr lang="en-US"/>
          </a:p>
        </p:txBody>
      </p:sp>
    </p:spTree>
    <p:extLst>
      <p:ext uri="{BB962C8B-B14F-4D97-AF65-F5344CB8AC3E}">
        <p14:creationId xmlns:p14="http://schemas.microsoft.com/office/powerpoint/2010/main" xmlns="" val="287371391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12" name="Rectangle 11"/>
          <p:cNvSpPr/>
          <p:nvPr userDrawn="1"/>
        </p:nvSpPr>
        <p:spPr>
          <a:xfrm>
            <a:off x="0" y="0"/>
            <a:ext cx="9144000" cy="685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Rectangle 9"/>
          <p:cNvSpPr/>
          <p:nvPr userDrawn="1"/>
        </p:nvSpPr>
        <p:spPr>
          <a:xfrm>
            <a:off x="6400800" y="0"/>
            <a:ext cx="2743200" cy="685800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p:cNvSpPr>
            <a:spLocks noGrp="1"/>
          </p:cNvSpPr>
          <p:nvPr>
            <p:ph type="ctrTitle" hasCustomPrompt="1"/>
          </p:nvPr>
        </p:nvSpPr>
        <p:spPr>
          <a:xfrm>
            <a:off x="1311101" y="3886200"/>
            <a:ext cx="5029200" cy="457200"/>
          </a:xfrm>
        </p:spPr>
        <p:txBody>
          <a:bodyPr lIns="0" tIns="0" rIns="0" bIns="0">
            <a:noAutofit/>
          </a:bodyPr>
          <a:lstStyle>
            <a:lvl1pPr algn="l">
              <a:defRPr sz="2800" b="1">
                <a:solidFill>
                  <a:srgbClr val="FFFFFF"/>
                </a:solidFill>
              </a:defRPr>
            </a:lvl1pPr>
          </a:lstStyle>
          <a:p>
            <a:r>
              <a:rPr lang="en-US" dirty="0" smtClean="0"/>
              <a:t>Enter Presentation Title</a:t>
            </a:r>
            <a:endParaRPr lang="en-US" dirty="0"/>
          </a:p>
        </p:txBody>
      </p:sp>
      <p:pic>
        <p:nvPicPr>
          <p:cNvPr id="11" name="Picture 10" descr="Cloud_word.png"/>
          <p:cNvPicPr>
            <a:picLocks noChangeAspect="1"/>
          </p:cNvPicPr>
          <p:nvPr userDrawn="1"/>
        </p:nvPicPr>
        <p:blipFill>
          <a:blip r:embed="rId2" cstate="screen">
            <a:extLst>
              <a:ext uri="{28A0092B-C50C-407E-A947-70E740481C1C}">
                <a14:useLocalDpi xmlns:a14="http://schemas.microsoft.com/office/drawing/2010/main" xmlns="" val="0"/>
              </a:ext>
            </a:extLst>
          </a:blip>
          <a:stretch>
            <a:fillRect/>
          </a:stretch>
        </p:blipFill>
        <p:spPr>
          <a:xfrm>
            <a:off x="6680960" y="6456890"/>
            <a:ext cx="906236" cy="151039"/>
          </a:xfrm>
          <a:prstGeom prst="rect">
            <a:avLst/>
          </a:prstGeom>
        </p:spPr>
      </p:pic>
      <p:pic>
        <p:nvPicPr>
          <p:cNvPr id="4" name="Picture 3"/>
          <p:cNvPicPr>
            <a:picLocks noChangeAspect="1"/>
          </p:cNvPicPr>
          <p:nvPr userDrawn="1"/>
        </p:nvPicPr>
        <p:blipFill>
          <a:blip r:embed="rId3" cstate="print">
            <a:extLst>
              <a:ext uri="{28A0092B-C50C-407E-A947-70E740481C1C}">
                <a14:useLocalDpi xmlns:a14="http://schemas.microsoft.com/office/drawing/2010/main" xmlns="" val="0"/>
              </a:ext>
            </a:extLst>
          </a:blip>
          <a:stretch>
            <a:fillRect/>
          </a:stretch>
        </p:blipFill>
        <p:spPr>
          <a:xfrm>
            <a:off x="633131" y="1433615"/>
            <a:ext cx="2917767" cy="2468880"/>
          </a:xfrm>
          <a:prstGeom prst="rect">
            <a:avLst/>
          </a:prstGeom>
        </p:spPr>
      </p:pic>
      <p:sp>
        <p:nvSpPr>
          <p:cNvPr id="8" name="TextBox 7"/>
          <p:cNvSpPr txBox="1"/>
          <p:nvPr userDrawn="1"/>
        </p:nvSpPr>
        <p:spPr>
          <a:xfrm>
            <a:off x="6629400" y="4937760"/>
            <a:ext cx="1737360" cy="274320"/>
          </a:xfrm>
          <a:prstGeom prst="rect">
            <a:avLst/>
          </a:prstGeom>
          <a:noFill/>
        </p:spPr>
        <p:txBody>
          <a:bodyPr wrap="square" lIns="0" tIns="0" rIns="0" bIns="0" rtlCol="0" anchor="ctr" anchorCtr="0">
            <a:noAutofit/>
          </a:bodyPr>
          <a:lstStyle/>
          <a:p>
            <a:r>
              <a:rPr lang="en-US" sz="1600" b="1" kern="0" spc="-30" dirty="0" smtClean="0">
                <a:solidFill>
                  <a:srgbClr val="FFFFFF"/>
                </a:solidFill>
                <a:latin typeface="Arial"/>
                <a:cs typeface="Arial"/>
              </a:rPr>
              <a:t>Presented by:</a:t>
            </a:r>
          </a:p>
        </p:txBody>
      </p:sp>
      <p:sp>
        <p:nvSpPr>
          <p:cNvPr id="13" name="Text Placeholder 6"/>
          <p:cNvSpPr>
            <a:spLocks noGrp="1"/>
          </p:cNvSpPr>
          <p:nvPr>
            <p:ph type="body" sz="quarter" idx="11" hasCustomPrompt="1"/>
          </p:nvPr>
        </p:nvSpPr>
        <p:spPr>
          <a:xfrm>
            <a:off x="6629400" y="5212080"/>
            <a:ext cx="2377440" cy="274320"/>
          </a:xfrm>
        </p:spPr>
        <p:txBody>
          <a:bodyPr lIns="0" tIns="0" rIns="0" bIns="0" anchor="ctr" anchorCtr="0">
            <a:noAutofit/>
          </a:bodyPr>
          <a:lstStyle>
            <a:lvl1pPr marL="0" indent="0">
              <a:spcBef>
                <a:spcPts val="0"/>
              </a:spcBef>
              <a:buNone/>
              <a:defRPr sz="1600" baseline="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smtClean="0"/>
              <a:t>Enter Full Name</a:t>
            </a:r>
            <a:endParaRPr lang="en-US" dirty="0"/>
          </a:p>
        </p:txBody>
      </p:sp>
      <p:sp>
        <p:nvSpPr>
          <p:cNvPr id="14" name="Text Placeholder 6"/>
          <p:cNvSpPr>
            <a:spLocks noGrp="1"/>
          </p:cNvSpPr>
          <p:nvPr>
            <p:ph type="body" sz="quarter" idx="12" hasCustomPrompt="1"/>
          </p:nvPr>
        </p:nvSpPr>
        <p:spPr>
          <a:xfrm>
            <a:off x="6629400" y="5486400"/>
            <a:ext cx="2377440" cy="274320"/>
          </a:xfrm>
        </p:spPr>
        <p:txBody>
          <a:bodyPr lIns="0" tIns="0" rIns="0" bIns="0" anchor="ctr" anchorCtr="0">
            <a:noAutofit/>
          </a:bodyPr>
          <a:lstStyle>
            <a:lvl1pPr marL="0" indent="0">
              <a:spcBef>
                <a:spcPts val="0"/>
              </a:spcBef>
              <a:buNone/>
              <a:defRPr sz="1600" baseline="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smtClean="0"/>
              <a:t>Enter Title</a:t>
            </a:r>
            <a:endParaRPr lang="en-US" dirty="0"/>
          </a:p>
        </p:txBody>
      </p:sp>
    </p:spTree>
    <p:extLst>
      <p:ext uri="{BB962C8B-B14F-4D97-AF65-F5344CB8AC3E}">
        <p14:creationId xmlns:p14="http://schemas.microsoft.com/office/powerpoint/2010/main" xmlns="" val="4011530668"/>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xmlns="" val="12343176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20" name="Shape 20"/>
          <p:cNvSpPr>
            <a:spLocks noGrp="1"/>
          </p:cNvSpPr>
          <p:nvPr>
            <p:ph type="title"/>
          </p:nvPr>
        </p:nvSpPr>
        <p:spPr>
          <a:xfrm>
            <a:off x="261194" y="419695"/>
            <a:ext cx="6168182" cy="389466"/>
          </a:xfrm>
          <a:prstGeom prst="rect">
            <a:avLst/>
          </a:prstGeom>
        </p:spPr>
        <p:txBody>
          <a:bodyPr/>
          <a:lstStyle/>
          <a:p>
            <a:pPr lvl="0"/>
            <a:r>
              <a:rPr/>
              <a:t>Title Text</a:t>
            </a:r>
          </a:p>
        </p:txBody>
      </p:sp>
      <p:sp>
        <p:nvSpPr>
          <p:cNvPr id="21" name="Shape 21"/>
          <p:cNvSpPr>
            <a:spLocks noGrp="1"/>
          </p:cNvSpPr>
          <p:nvPr>
            <p:ph type="body" idx="1"/>
          </p:nvPr>
        </p:nvSpPr>
        <p:spPr>
          <a:prstGeom prst="rect">
            <a:avLst/>
          </a:prstGeom>
        </p:spPr>
        <p:txBody>
          <a:bodyPr/>
          <a:lstStyle/>
          <a:p>
            <a:pPr lvl="0"/>
            <a:r>
              <a:rPr/>
              <a:t>Body Level One</a:t>
            </a:r>
          </a:p>
          <a:p>
            <a:pPr lvl="1"/>
            <a:r>
              <a:rPr/>
              <a:t>Body Level Two</a:t>
            </a:r>
          </a:p>
          <a:p>
            <a:pPr lvl="2"/>
            <a:r>
              <a:rPr/>
              <a:t>Body Level Three</a:t>
            </a:r>
          </a:p>
          <a:p>
            <a:pPr lvl="3"/>
            <a:r>
              <a:rPr/>
              <a:t>Body Level Four</a:t>
            </a:r>
          </a:p>
          <a:p>
            <a:pPr lvl="4"/>
            <a:r>
              <a:rPr/>
              <a:t>Body Level Five</a:t>
            </a:r>
          </a:p>
        </p:txBody>
      </p:sp>
      <p:sp>
        <p:nvSpPr>
          <p:cNvPr id="4" name="Shape 22"/>
          <p:cNvSpPr>
            <a:spLocks noGrp="1"/>
          </p:cNvSpPr>
          <p:nvPr>
            <p:ph type="sldNum" sz="quarter" idx="10"/>
          </p:nvPr>
        </p:nvSpPr>
        <p:spPr>
          <a:xfrm>
            <a:off x="182563" y="6537325"/>
            <a:ext cx="366712" cy="184150"/>
          </a:xfrm>
          <a:prstGeom prst="rect">
            <a:avLst/>
          </a:prstGeom>
        </p:spPr>
        <p:txBody>
          <a:bodyPr/>
          <a:lstStyle>
            <a:lvl1pPr>
              <a:defRPr/>
            </a:lvl1pPr>
          </a:lstStyle>
          <a:p>
            <a:pPr>
              <a:defRPr/>
            </a:pPr>
            <a:fld id="{719B466A-2538-4337-823A-E8F431A14DED}" type="slidenum">
              <a:rPr/>
              <a:pPr>
                <a:defRPr/>
              </a:pPr>
              <a:t>‹#›</a:t>
            </a:fld>
            <a:endParaRPr/>
          </a:p>
        </p:txBody>
      </p:sp>
    </p:spTree>
    <p:extLst>
      <p:ext uri="{BB962C8B-B14F-4D97-AF65-F5344CB8AC3E}">
        <p14:creationId xmlns:p14="http://schemas.microsoft.com/office/powerpoint/2010/main" xmlns="" val="2175117494"/>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5"/>
          <p:cNvSpPr>
            <a:spLocks noGrp="1" noChangeArrowheads="1"/>
          </p:cNvSpPr>
          <p:nvPr>
            <p:ph type="sldNum" sz="quarter" idx="10"/>
          </p:nvPr>
        </p:nvSpPr>
        <p:spPr>
          <a:xfrm>
            <a:off x="182563" y="6537325"/>
            <a:ext cx="366712" cy="184150"/>
          </a:xfrm>
          <a:prstGeom prst="rect">
            <a:avLst/>
          </a:prstGeom>
        </p:spPr>
        <p:txBody>
          <a:bodyPr/>
          <a:lstStyle>
            <a:lvl1pPr>
              <a:lnSpc>
                <a:spcPct val="90000"/>
              </a:lnSpc>
              <a:defRPr/>
            </a:lvl1pPr>
          </a:lstStyle>
          <a:p>
            <a:pPr>
              <a:defRPr/>
            </a:pPr>
            <a:fld id="{B2018239-5F8C-493C-9830-B13068697E6F}" type="slidenum">
              <a:rPr lang="en-US" altLang="en-US"/>
              <a:pPr>
                <a:defRPr/>
              </a:pPr>
              <a:t>‹#›</a:t>
            </a:fld>
            <a:endParaRPr lang="en-US" altLang="en-US"/>
          </a:p>
        </p:txBody>
      </p:sp>
      <p:sp>
        <p:nvSpPr>
          <p:cNvPr id="4" name="Rectangle 6"/>
          <p:cNvSpPr>
            <a:spLocks noGrp="1" noChangeArrowheads="1"/>
          </p:cNvSpPr>
          <p:nvPr>
            <p:ph type="ftr" sz="quarter" idx="11"/>
          </p:nvPr>
        </p:nvSpPr>
        <p:spPr>
          <a:xfrm>
            <a:off x="1697038" y="6537325"/>
            <a:ext cx="5943600" cy="184150"/>
          </a:xfrm>
          <a:prstGeom prst="rect">
            <a:avLst/>
          </a:prstGeom>
        </p:spPr>
        <p:txBody>
          <a:bodyPr/>
          <a:lstStyle>
            <a:lvl1pPr>
              <a:lnSpc>
                <a:spcPct val="90000"/>
              </a:lnSpc>
              <a:defRPr/>
            </a:lvl1pPr>
          </a:lstStyle>
          <a:p>
            <a:pPr>
              <a:defRPr/>
            </a:pPr>
            <a:endParaRPr lang="en-US"/>
          </a:p>
        </p:txBody>
      </p:sp>
      <p:sp>
        <p:nvSpPr>
          <p:cNvPr id="5" name="Date Placeholder 4"/>
          <p:cNvSpPr>
            <a:spLocks noGrp="1" noChangeArrowheads="1"/>
          </p:cNvSpPr>
          <p:nvPr>
            <p:ph type="dt" sz="half" idx="12"/>
          </p:nvPr>
        </p:nvSpPr>
        <p:spPr>
          <a:xfrm>
            <a:off x="533400" y="6535738"/>
            <a:ext cx="1004888" cy="184150"/>
          </a:xfrm>
          <a:prstGeom prst="rect">
            <a:avLst/>
          </a:prstGeom>
        </p:spPr>
        <p:txBody>
          <a:bodyPr/>
          <a:lstStyle>
            <a:lvl1pPr>
              <a:lnSpc>
                <a:spcPct val="90000"/>
              </a:lnSpc>
              <a:defRPr/>
            </a:lvl1pPr>
          </a:lstStyle>
          <a:p>
            <a:pPr>
              <a:defRPr/>
            </a:pPr>
            <a:fld id="{7F630E9A-216C-4545-A0D1-82E847CA9E84}" type="datetime1">
              <a:rPr lang="en-US"/>
              <a:pPr>
                <a:defRPr/>
              </a:pPr>
              <a:t>1/16/2016</a:t>
            </a:fld>
            <a:endParaRPr lang="en-US" dirty="0"/>
          </a:p>
        </p:txBody>
      </p:sp>
    </p:spTree>
    <p:extLst>
      <p:ext uri="{BB962C8B-B14F-4D97-AF65-F5344CB8AC3E}">
        <p14:creationId xmlns:p14="http://schemas.microsoft.com/office/powerpoint/2010/main" xmlns="" val="2909645632"/>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Title - Top">
    <p:spTree>
      <p:nvGrpSpPr>
        <p:cNvPr id="1" name=""/>
        <p:cNvGrpSpPr/>
        <p:nvPr/>
      </p:nvGrpSpPr>
      <p:grpSpPr>
        <a:xfrm>
          <a:off x="0" y="0"/>
          <a:ext cx="0" cy="0"/>
          <a:chOff x="0" y="0"/>
          <a:chExt cx="0" cy="0"/>
        </a:xfrm>
      </p:grpSpPr>
      <p:sp>
        <p:nvSpPr>
          <p:cNvPr id="16" name="Shape 16"/>
          <p:cNvSpPr>
            <a:spLocks noGrp="1"/>
          </p:cNvSpPr>
          <p:nvPr>
            <p:ph type="title"/>
          </p:nvPr>
        </p:nvSpPr>
        <p:spPr>
          <a:prstGeom prst="rect">
            <a:avLst/>
          </a:prstGeom>
        </p:spPr>
        <p:txBody>
          <a:bodyPr/>
          <a:lstStyle/>
          <a:p>
            <a:pPr lvl="0"/>
            <a:r>
              <a:rPr/>
              <a:t>Title Text</a:t>
            </a:r>
          </a:p>
        </p:txBody>
      </p:sp>
      <p:sp>
        <p:nvSpPr>
          <p:cNvPr id="3" name="Rectangle 6"/>
          <p:cNvSpPr>
            <a:spLocks noGrp="1" noChangeArrowheads="1"/>
          </p:cNvSpPr>
          <p:nvPr>
            <p:ph type="sldNum" sz="quarter" idx="10"/>
          </p:nvPr>
        </p:nvSpPr>
        <p:spPr>
          <a:xfrm>
            <a:off x="0" y="6483350"/>
            <a:ext cx="400050" cy="476250"/>
          </a:xfrm>
          <a:prstGeom prst="rect">
            <a:avLst/>
          </a:prstGeom>
        </p:spPr>
        <p:txBody>
          <a:bodyPr/>
          <a:lstStyle>
            <a:lvl1pPr>
              <a:defRPr>
                <a:solidFill>
                  <a:schemeClr val="tx1"/>
                </a:solidFill>
                <a:cs typeface="Helvetica Light" charset="0"/>
              </a:defRPr>
            </a:lvl1pPr>
          </a:lstStyle>
          <a:p>
            <a:fld id="{141633A5-D436-4012-BE64-1ECA1D650423}" type="slidenum">
              <a:rPr lang="en-US" altLang="en-US"/>
              <a:pPr/>
              <a:t>‹#›</a:t>
            </a:fld>
            <a:endParaRPr lang="en-US" altLang="en-US"/>
          </a:p>
        </p:txBody>
      </p:sp>
    </p:spTree>
    <p:extLst>
      <p:ext uri="{BB962C8B-B14F-4D97-AF65-F5344CB8AC3E}">
        <p14:creationId xmlns:p14="http://schemas.microsoft.com/office/powerpoint/2010/main" xmlns="" val="576191845"/>
      </p:ext>
    </p:extLst>
  </p:cSld>
  <p:clrMapOvr>
    <a:masterClrMapping/>
  </p:clrMapOvr>
  <p:transition spd="med"/>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4.xml"/><Relationship Id="rId7" Type="http://schemas.openxmlformats.org/officeDocument/2006/relationships/image" Target="../media/image4.png"/><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theme" Target="../theme/theme2.xml"/><Relationship Id="rId4" Type="http://schemas.openxmlformats.org/officeDocument/2006/relationships/slideLayout" Target="../slideLayouts/slideLayout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Footer Placeholder 3"/>
          <p:cNvSpPr>
            <a:spLocks noGrp="1"/>
          </p:cNvSpPr>
          <p:nvPr>
            <p:ph type="ftr" sz="quarter" idx="3"/>
          </p:nvPr>
        </p:nvSpPr>
        <p:spPr>
          <a:xfrm>
            <a:off x="3124200" y="6492875"/>
            <a:ext cx="2895600" cy="365125"/>
          </a:xfrm>
          <a:prstGeom prst="rect">
            <a:avLst/>
          </a:prstGeom>
        </p:spPr>
        <p:txBody>
          <a:bodyPr vert="horz" lIns="91440" tIns="45720" rIns="91440" bIns="45720" rtlCol="0" anchor="ctr"/>
          <a:lstStyle>
            <a:lvl1pPr algn="ctr">
              <a:defRPr sz="1000">
                <a:solidFill>
                  <a:schemeClr val="tx1">
                    <a:tint val="75000"/>
                  </a:schemeClr>
                </a:solidFill>
              </a:defRPr>
            </a:lvl1pPr>
          </a:lstStyle>
          <a:p>
            <a:endParaRPr lang="en-US"/>
          </a:p>
        </p:txBody>
      </p:sp>
    </p:spTree>
    <p:extLst>
      <p:ext uri="{BB962C8B-B14F-4D97-AF65-F5344CB8AC3E}">
        <p14:creationId xmlns:p14="http://schemas.microsoft.com/office/powerpoint/2010/main" xmlns="" val="1708171183"/>
      </p:ext>
    </p:extLst>
  </p:cSld>
  <p:clrMap bg1="lt1" tx1="dk1" bg2="lt2" tx2="dk2" accent1="accent1" accent2="accent2" accent3="accent3" accent4="accent4" accent5="accent5" accent6="accent6" hlink="hlink" folHlink="folHlink"/>
  <p:sldLayoutIdLst>
    <p:sldLayoutId id="2147483673" r:id="rId1"/>
  </p:sldLayoutIdLst>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txStyles>
    <p:titleStyle>
      <a:lvl1pPr algn="l" defTabSz="457200" rtl="0" eaLnBrk="1" latinLnBrk="0" hangingPunct="1">
        <a:spcBef>
          <a:spcPct val="0"/>
        </a:spcBef>
        <a:buNone/>
        <a:defRPr sz="2400" b="1" kern="0" spc="-3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600" kern="0" spc="-30">
          <a:solidFill>
            <a:schemeClr val="tx1"/>
          </a:solidFill>
          <a:latin typeface="Arial"/>
          <a:ea typeface="+mn-ea"/>
          <a:cs typeface="+mn-cs"/>
        </a:defRPr>
      </a:lvl1pPr>
      <a:lvl2pPr marL="742950" indent="-285750" algn="l" defTabSz="457200" rtl="0" eaLnBrk="1" latinLnBrk="0" hangingPunct="1">
        <a:spcBef>
          <a:spcPct val="20000"/>
        </a:spcBef>
        <a:buFont typeface="Arial"/>
        <a:buChar char="–"/>
        <a:defRPr sz="1400" kern="0" spc="-30">
          <a:solidFill>
            <a:schemeClr val="tx1"/>
          </a:solidFill>
          <a:latin typeface="Arial"/>
          <a:ea typeface="+mn-ea"/>
          <a:cs typeface="+mn-cs"/>
        </a:defRPr>
      </a:lvl2pPr>
      <a:lvl3pPr marL="1143000" indent="-228600" algn="l" defTabSz="457200" rtl="0" eaLnBrk="1" latinLnBrk="0" hangingPunct="1">
        <a:spcBef>
          <a:spcPct val="20000"/>
        </a:spcBef>
        <a:buFont typeface="Arial"/>
        <a:buChar char="•"/>
        <a:defRPr sz="1200" kern="0" spc="-30">
          <a:solidFill>
            <a:schemeClr val="tx1"/>
          </a:solidFill>
          <a:latin typeface="Arial"/>
          <a:ea typeface="+mn-ea"/>
          <a:cs typeface="+mn-cs"/>
        </a:defRPr>
      </a:lvl3pPr>
      <a:lvl4pPr marL="1600200" indent="-228600" algn="l" defTabSz="457200" rtl="0" eaLnBrk="1" latinLnBrk="0" hangingPunct="1">
        <a:spcBef>
          <a:spcPct val="20000"/>
        </a:spcBef>
        <a:buFont typeface="Arial"/>
        <a:buChar char="–"/>
        <a:defRPr sz="1100" kern="0" spc="-30">
          <a:solidFill>
            <a:schemeClr val="tx1"/>
          </a:solidFill>
          <a:latin typeface="Arial"/>
          <a:ea typeface="+mn-ea"/>
          <a:cs typeface="+mn-cs"/>
        </a:defRPr>
      </a:lvl4pPr>
      <a:lvl5pPr marL="2057400" indent="-228600" algn="l" defTabSz="457200" rtl="0" eaLnBrk="1" latinLnBrk="0" hangingPunct="1">
        <a:spcBef>
          <a:spcPct val="20000"/>
        </a:spcBef>
        <a:buFont typeface="Arial"/>
        <a:buChar char="»"/>
        <a:defRPr sz="1100" kern="0" spc="-3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255588" y="587375"/>
            <a:ext cx="8545512" cy="1143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0" tIns="45720" rIns="91440" bIns="45720" numCol="1" anchor="t" anchorCtr="0" compatLnSpc="1">
            <a:prstTxWarp prst="textNoShape">
              <a:avLst/>
            </a:prstTxWarp>
          </a:bodyPr>
          <a:lstStyle/>
          <a:p>
            <a:pPr lvl="0"/>
            <a:r>
              <a:rPr lang="en-US" altLang="en-US" smtClean="0"/>
              <a:t>Click to edit Master title style</a:t>
            </a:r>
          </a:p>
        </p:txBody>
      </p:sp>
      <p:sp>
        <p:nvSpPr>
          <p:cNvPr id="1027" name="Rectangle 3"/>
          <p:cNvSpPr>
            <a:spLocks noGrp="1" noChangeArrowheads="1"/>
          </p:cNvSpPr>
          <p:nvPr>
            <p:ph type="body" idx="1"/>
          </p:nvPr>
        </p:nvSpPr>
        <p:spPr bwMode="auto">
          <a:xfrm>
            <a:off x="261938" y="1873250"/>
            <a:ext cx="8558212" cy="44958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p:txBody>
      </p:sp>
      <p:sp>
        <p:nvSpPr>
          <p:cNvPr id="1028" name="Line 4"/>
          <p:cNvSpPr>
            <a:spLocks noChangeShapeType="1"/>
          </p:cNvSpPr>
          <p:nvPr/>
        </p:nvSpPr>
        <p:spPr bwMode="auto">
          <a:xfrm>
            <a:off x="260350" y="549275"/>
            <a:ext cx="8620125"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pPr eaLnBrk="0" fontAlgn="base" hangingPunct="0">
              <a:spcBef>
                <a:spcPct val="0"/>
              </a:spcBef>
              <a:spcAft>
                <a:spcPct val="0"/>
              </a:spcAft>
            </a:pPr>
            <a:endParaRPr lang="en-US" smtClean="0">
              <a:solidFill>
                <a:srgbClr val="000000"/>
              </a:solidFill>
              <a:ea typeface="MS PGothic" pitchFamily="34" charset="-128"/>
            </a:endParaRPr>
          </a:p>
        </p:txBody>
      </p:sp>
      <p:sp>
        <p:nvSpPr>
          <p:cNvPr id="1029" name="Rectangle 6"/>
          <p:cNvSpPr>
            <a:spLocks noChangeArrowheads="1"/>
          </p:cNvSpPr>
          <p:nvPr/>
        </p:nvSpPr>
        <p:spPr bwMode="black">
          <a:xfrm>
            <a:off x="5916613" y="6481763"/>
            <a:ext cx="3054350" cy="231475"/>
          </a:xfrm>
          <a:prstGeom prst="rect">
            <a:avLst/>
          </a:prstGeom>
          <a:noFill/>
          <a:ln>
            <a:noFill/>
          </a:ln>
          <a:extLst/>
        </p:spPr>
        <p:txBody>
          <a:bodyPr lIns="92075" tIns="46038" rIns="92075" bIns="46038">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r" fontAlgn="base">
              <a:spcBef>
                <a:spcPct val="0"/>
              </a:spcBef>
              <a:spcAft>
                <a:spcPct val="0"/>
              </a:spcAft>
              <a:defRPr/>
            </a:pPr>
            <a:r>
              <a:rPr lang="en-US" sz="900" dirty="0">
                <a:solidFill>
                  <a:srgbClr val="000000"/>
                </a:solidFill>
              </a:rPr>
              <a:t>© </a:t>
            </a:r>
            <a:r>
              <a:rPr lang="en-US" sz="900" dirty="0" smtClean="0">
                <a:solidFill>
                  <a:srgbClr val="000000"/>
                </a:solidFill>
              </a:rPr>
              <a:t>2015 </a:t>
            </a:r>
            <a:r>
              <a:rPr lang="en-US" sz="900" dirty="0">
                <a:solidFill>
                  <a:srgbClr val="000000"/>
                </a:solidFill>
              </a:rPr>
              <a:t>IBM Corporation</a:t>
            </a:r>
          </a:p>
        </p:txBody>
      </p:sp>
      <p:sp>
        <p:nvSpPr>
          <p:cNvPr id="1030" name="Rectangle 6"/>
          <p:cNvSpPr>
            <a:spLocks noChangeArrowheads="1"/>
          </p:cNvSpPr>
          <p:nvPr/>
        </p:nvSpPr>
        <p:spPr bwMode="auto">
          <a:xfrm>
            <a:off x="171450" y="6456363"/>
            <a:ext cx="552450" cy="247650"/>
          </a:xfrm>
          <a:prstGeom prst="rect">
            <a:avLst/>
          </a:prstGeom>
          <a:noFill/>
          <a:ln>
            <a:noFill/>
          </a:ln>
          <a:effectLst/>
          <a:extLst/>
        </p:spPr>
        <p:txBody>
          <a:bodyPr/>
          <a:lstStyle/>
          <a:p>
            <a:pPr fontAlgn="base">
              <a:spcBef>
                <a:spcPct val="0"/>
              </a:spcBef>
              <a:spcAft>
                <a:spcPct val="0"/>
              </a:spcAft>
            </a:pPr>
            <a:fld id="{1B95416A-9547-450C-92EE-1B6E3D8D672A}" type="slidenum">
              <a:rPr lang="en-US" altLang="en-US" sz="1000" smtClean="0">
                <a:solidFill>
                  <a:srgbClr val="000000"/>
                </a:solidFill>
                <a:ea typeface="MS PGothic" pitchFamily="34" charset="-128"/>
                <a:cs typeface="Arial" pitchFamily="34" charset="0"/>
              </a:rPr>
              <a:pPr fontAlgn="base">
                <a:spcBef>
                  <a:spcPct val="0"/>
                </a:spcBef>
                <a:spcAft>
                  <a:spcPct val="0"/>
                </a:spcAft>
              </a:pPr>
              <a:t>‹#›</a:t>
            </a:fld>
            <a:endParaRPr lang="en-US" altLang="en-US" sz="1000" smtClean="0">
              <a:solidFill>
                <a:srgbClr val="000000"/>
              </a:solidFill>
              <a:ea typeface="MS PGothic" pitchFamily="34" charset="-128"/>
              <a:cs typeface="Arial" pitchFamily="34" charset="0"/>
            </a:endParaRPr>
          </a:p>
        </p:txBody>
      </p:sp>
      <p:pic>
        <p:nvPicPr>
          <p:cNvPr id="1031" name="Picture 15" descr="IBMCloud black"/>
          <p:cNvPicPr>
            <a:picLocks noChangeAspect="1" noChangeArrowheads="1"/>
          </p:cNvPicPr>
          <p:nvPr userDrawn="1"/>
        </p:nvPicPr>
        <p:blipFill>
          <a:blip r:embed="rId6" cstate="print">
            <a:extLst>
              <a:ext uri="{28A0092B-C50C-407E-A947-70E740481C1C}">
                <a14:useLocalDpi xmlns:a14="http://schemas.microsoft.com/office/drawing/2010/main" xmlns="" val="0"/>
              </a:ext>
            </a:extLst>
          </a:blip>
          <a:srcRect/>
          <a:stretch>
            <a:fillRect/>
          </a:stretch>
        </p:blipFill>
        <p:spPr bwMode="auto">
          <a:xfrm>
            <a:off x="273050" y="338138"/>
            <a:ext cx="1060450" cy="1619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1032" name="Picture 16" descr="IBM Black"/>
          <p:cNvPicPr>
            <a:picLocks noChangeAspect="1" noChangeArrowheads="1"/>
          </p:cNvPicPr>
          <p:nvPr userDrawn="1"/>
        </p:nvPicPr>
        <p:blipFill>
          <a:blip r:embed="rId7" cstate="print">
            <a:extLst>
              <a:ext uri="{28A0092B-C50C-407E-A947-70E740481C1C}">
                <a14:useLocalDpi xmlns:a14="http://schemas.microsoft.com/office/drawing/2010/main" xmlns="" val="0"/>
              </a:ext>
            </a:extLst>
          </a:blip>
          <a:srcRect/>
          <a:stretch>
            <a:fillRect/>
          </a:stretch>
        </p:blipFill>
        <p:spPr bwMode="auto">
          <a:xfrm>
            <a:off x="7947025" y="263525"/>
            <a:ext cx="923925" cy="2413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xmlns="" val="1663063537"/>
      </p:ext>
    </p:extLst>
  </p:cSld>
  <p:clrMap bg1="lt1" tx1="dk1" bg2="lt2" tx2="dk2" accent1="accent1" accent2="accent2" accent3="accent3" accent4="accent4" accent5="accent5" accent6="accent6" hlink="hlink" folHlink="folHlink"/>
  <p:sldLayoutIdLst>
    <p:sldLayoutId id="2147483719" r:id="rId1"/>
    <p:sldLayoutId id="2147483720" r:id="rId2"/>
    <p:sldLayoutId id="2147483722" r:id="rId3"/>
    <p:sldLayoutId id="2147483723" r:id="rId4"/>
  </p:sldLayoutIdLst>
  <p:txStyles>
    <p:titleStyle>
      <a:lvl1pPr algn="l" rtl="0" eaLnBrk="0" fontAlgn="base" hangingPunct="0">
        <a:spcBef>
          <a:spcPct val="0"/>
        </a:spcBef>
        <a:spcAft>
          <a:spcPct val="0"/>
        </a:spcAft>
        <a:defRPr sz="2200">
          <a:solidFill>
            <a:schemeClr val="tx1"/>
          </a:solidFill>
          <a:latin typeface="+mj-lt"/>
          <a:ea typeface="MS PGothic" panose="020B0600070205080204" pitchFamily="34" charset="-128"/>
          <a:cs typeface="+mj-cs"/>
        </a:defRPr>
      </a:lvl1pPr>
      <a:lvl2pPr algn="l" rtl="0" eaLnBrk="0" fontAlgn="base" hangingPunct="0">
        <a:spcBef>
          <a:spcPct val="0"/>
        </a:spcBef>
        <a:spcAft>
          <a:spcPct val="0"/>
        </a:spcAft>
        <a:defRPr sz="2200">
          <a:solidFill>
            <a:schemeClr val="tx1"/>
          </a:solidFill>
          <a:latin typeface="Arial" pitchFamily="34" charset="0"/>
          <a:ea typeface="MS PGothic" panose="020B0600070205080204" pitchFamily="34" charset="-128"/>
        </a:defRPr>
      </a:lvl2pPr>
      <a:lvl3pPr algn="l" rtl="0" eaLnBrk="0" fontAlgn="base" hangingPunct="0">
        <a:spcBef>
          <a:spcPct val="0"/>
        </a:spcBef>
        <a:spcAft>
          <a:spcPct val="0"/>
        </a:spcAft>
        <a:defRPr sz="2200">
          <a:solidFill>
            <a:schemeClr val="tx1"/>
          </a:solidFill>
          <a:latin typeface="Arial" pitchFamily="34" charset="0"/>
          <a:ea typeface="MS PGothic" panose="020B0600070205080204" pitchFamily="34" charset="-128"/>
        </a:defRPr>
      </a:lvl3pPr>
      <a:lvl4pPr algn="l" rtl="0" eaLnBrk="0" fontAlgn="base" hangingPunct="0">
        <a:spcBef>
          <a:spcPct val="0"/>
        </a:spcBef>
        <a:spcAft>
          <a:spcPct val="0"/>
        </a:spcAft>
        <a:defRPr sz="2200">
          <a:solidFill>
            <a:schemeClr val="tx1"/>
          </a:solidFill>
          <a:latin typeface="Arial" pitchFamily="34" charset="0"/>
          <a:ea typeface="MS PGothic" panose="020B0600070205080204" pitchFamily="34" charset="-128"/>
        </a:defRPr>
      </a:lvl4pPr>
      <a:lvl5pPr algn="l" rtl="0" eaLnBrk="0" fontAlgn="base" hangingPunct="0">
        <a:spcBef>
          <a:spcPct val="0"/>
        </a:spcBef>
        <a:spcAft>
          <a:spcPct val="0"/>
        </a:spcAft>
        <a:defRPr sz="2200">
          <a:solidFill>
            <a:schemeClr val="tx1"/>
          </a:solidFill>
          <a:latin typeface="Arial" pitchFamily="34" charset="0"/>
          <a:ea typeface="MS PGothic" panose="020B0600070205080204" pitchFamily="34" charset="-128"/>
        </a:defRPr>
      </a:lvl5pPr>
      <a:lvl6pPr marL="457200" algn="l" rtl="0" fontAlgn="base">
        <a:spcBef>
          <a:spcPct val="0"/>
        </a:spcBef>
        <a:spcAft>
          <a:spcPct val="0"/>
        </a:spcAft>
        <a:defRPr sz="2200">
          <a:solidFill>
            <a:schemeClr val="tx1"/>
          </a:solidFill>
          <a:latin typeface="Arial" pitchFamily="34" charset="0"/>
        </a:defRPr>
      </a:lvl6pPr>
      <a:lvl7pPr marL="914400" algn="l" rtl="0" fontAlgn="base">
        <a:spcBef>
          <a:spcPct val="0"/>
        </a:spcBef>
        <a:spcAft>
          <a:spcPct val="0"/>
        </a:spcAft>
        <a:defRPr sz="2200">
          <a:solidFill>
            <a:schemeClr val="tx1"/>
          </a:solidFill>
          <a:latin typeface="Arial" pitchFamily="34" charset="0"/>
        </a:defRPr>
      </a:lvl7pPr>
      <a:lvl8pPr marL="1371600" algn="l" rtl="0" fontAlgn="base">
        <a:spcBef>
          <a:spcPct val="0"/>
        </a:spcBef>
        <a:spcAft>
          <a:spcPct val="0"/>
        </a:spcAft>
        <a:defRPr sz="2200">
          <a:solidFill>
            <a:schemeClr val="tx1"/>
          </a:solidFill>
          <a:latin typeface="Arial" pitchFamily="34" charset="0"/>
        </a:defRPr>
      </a:lvl8pPr>
      <a:lvl9pPr marL="1828800" algn="l" rtl="0" fontAlgn="base">
        <a:spcBef>
          <a:spcPct val="0"/>
        </a:spcBef>
        <a:spcAft>
          <a:spcPct val="0"/>
        </a:spcAft>
        <a:defRPr sz="2200">
          <a:solidFill>
            <a:schemeClr val="tx1"/>
          </a:solidFill>
          <a:latin typeface="Arial" pitchFamily="34" charset="0"/>
        </a:defRPr>
      </a:lvl9pPr>
    </p:titleStyle>
    <p:bodyStyle>
      <a:lvl1pPr marL="176213" indent="-176213" algn="l" rtl="0" eaLnBrk="0" fontAlgn="base" hangingPunct="0">
        <a:spcBef>
          <a:spcPct val="20000"/>
        </a:spcBef>
        <a:spcAft>
          <a:spcPct val="0"/>
        </a:spcAft>
        <a:buClr>
          <a:schemeClr val="tx1"/>
        </a:buClr>
        <a:buFont typeface="Wingdings" pitchFamily="2" charset="2"/>
        <a:buChar char="§"/>
        <a:defRPr sz="1600">
          <a:solidFill>
            <a:schemeClr val="tx1"/>
          </a:solidFill>
          <a:latin typeface="+mn-lt"/>
          <a:ea typeface="MS PGothic" panose="020B0600070205080204" pitchFamily="34" charset="-128"/>
          <a:cs typeface="+mn-cs"/>
        </a:defRPr>
      </a:lvl1pPr>
      <a:lvl2pPr marL="515938" indent="-225425" algn="l" rtl="0" eaLnBrk="0" fontAlgn="base" hangingPunct="0">
        <a:spcBef>
          <a:spcPct val="20000"/>
        </a:spcBef>
        <a:spcAft>
          <a:spcPct val="0"/>
        </a:spcAft>
        <a:buClr>
          <a:schemeClr val="tx1"/>
        </a:buClr>
        <a:buFont typeface="Symbol" pitchFamily="18" charset="2"/>
        <a:buChar char="-"/>
        <a:defRPr sz="1600">
          <a:solidFill>
            <a:schemeClr val="tx1"/>
          </a:solidFill>
          <a:latin typeface="+mn-lt"/>
          <a:ea typeface="MS PGothic" panose="020B0600070205080204" pitchFamily="34" charset="-128"/>
        </a:defRPr>
      </a:lvl2pPr>
      <a:lvl3pPr marL="804863" indent="-171450" algn="l" rtl="0" eaLnBrk="0" fontAlgn="base" hangingPunct="0">
        <a:spcBef>
          <a:spcPct val="20000"/>
        </a:spcBef>
        <a:spcAft>
          <a:spcPct val="0"/>
        </a:spcAft>
        <a:buClr>
          <a:schemeClr val="tx1"/>
        </a:buClr>
        <a:buChar char="•"/>
        <a:defRPr sz="1600">
          <a:solidFill>
            <a:schemeClr val="tx1"/>
          </a:solidFill>
          <a:latin typeface="+mn-lt"/>
          <a:ea typeface="MS PGothic" panose="020B0600070205080204" pitchFamily="34" charset="-128"/>
        </a:defRPr>
      </a:lvl3pPr>
      <a:lvl4pPr marL="1430338" indent="-176213" algn="l" rtl="0" eaLnBrk="0" fontAlgn="base" hangingPunct="0">
        <a:spcBef>
          <a:spcPct val="20000"/>
        </a:spcBef>
        <a:spcAft>
          <a:spcPct val="0"/>
        </a:spcAft>
        <a:buClr>
          <a:schemeClr val="tx1"/>
        </a:buClr>
        <a:buChar char="•"/>
        <a:defRPr sz="1400">
          <a:solidFill>
            <a:schemeClr val="tx1"/>
          </a:solidFill>
          <a:latin typeface="+mn-lt"/>
          <a:ea typeface="MS PGothic" panose="020B0600070205080204" pitchFamily="34" charset="-128"/>
        </a:defRPr>
      </a:lvl4pPr>
      <a:lvl5pPr marL="1719263" indent="-7938" algn="l" rtl="0" eaLnBrk="0" fontAlgn="base" hangingPunct="0">
        <a:spcBef>
          <a:spcPct val="20000"/>
        </a:spcBef>
        <a:spcAft>
          <a:spcPct val="0"/>
        </a:spcAft>
        <a:buClr>
          <a:schemeClr val="tx1"/>
        </a:buClr>
        <a:defRPr sz="1200">
          <a:solidFill>
            <a:schemeClr val="tx1"/>
          </a:solidFill>
          <a:latin typeface="+mn-lt"/>
          <a:ea typeface="MS PGothic" panose="020B0600070205080204" pitchFamily="34" charset="-128"/>
        </a:defRPr>
      </a:lvl5pPr>
      <a:lvl6pPr marL="2176463" indent="-7938" algn="l" rtl="0" fontAlgn="base">
        <a:spcBef>
          <a:spcPct val="20000"/>
        </a:spcBef>
        <a:spcAft>
          <a:spcPct val="0"/>
        </a:spcAft>
        <a:buClr>
          <a:schemeClr val="tx1"/>
        </a:buClr>
        <a:defRPr sz="1200">
          <a:solidFill>
            <a:schemeClr val="tx1"/>
          </a:solidFill>
          <a:latin typeface="+mn-lt"/>
        </a:defRPr>
      </a:lvl6pPr>
      <a:lvl7pPr marL="2633663" indent="-7938" algn="l" rtl="0" fontAlgn="base">
        <a:spcBef>
          <a:spcPct val="20000"/>
        </a:spcBef>
        <a:spcAft>
          <a:spcPct val="0"/>
        </a:spcAft>
        <a:buClr>
          <a:schemeClr val="tx1"/>
        </a:buClr>
        <a:defRPr sz="1200">
          <a:solidFill>
            <a:schemeClr val="tx1"/>
          </a:solidFill>
          <a:latin typeface="+mn-lt"/>
        </a:defRPr>
      </a:lvl7pPr>
      <a:lvl8pPr marL="3090863" indent="-7938" algn="l" rtl="0" fontAlgn="base">
        <a:spcBef>
          <a:spcPct val="20000"/>
        </a:spcBef>
        <a:spcAft>
          <a:spcPct val="0"/>
        </a:spcAft>
        <a:buClr>
          <a:schemeClr val="tx1"/>
        </a:buClr>
        <a:defRPr sz="1200">
          <a:solidFill>
            <a:schemeClr val="tx1"/>
          </a:solidFill>
          <a:latin typeface="+mn-lt"/>
        </a:defRPr>
      </a:lvl8pPr>
      <a:lvl9pPr marL="3548063" indent="-7938" algn="l" rtl="0" fontAlgn="base">
        <a:spcBef>
          <a:spcPct val="20000"/>
        </a:spcBef>
        <a:spcAft>
          <a:spcPct val="0"/>
        </a:spcAft>
        <a:buClr>
          <a:schemeClr val="tx1"/>
        </a:buClr>
        <a:defRPr sz="12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14.png"/><Relationship Id="rId4" Type="http://schemas.openxmlformats.org/officeDocument/2006/relationships/image" Target="../media/image13.jpe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8" Type="http://schemas.openxmlformats.org/officeDocument/2006/relationships/image" Target="../media/image25.png"/><Relationship Id="rId13" Type="http://schemas.openxmlformats.org/officeDocument/2006/relationships/image" Target="../media/image30.png"/><Relationship Id="rId3" Type="http://schemas.openxmlformats.org/officeDocument/2006/relationships/image" Target="../media/image20.png"/><Relationship Id="rId7" Type="http://schemas.openxmlformats.org/officeDocument/2006/relationships/image" Target="../media/image24.png"/><Relationship Id="rId12" Type="http://schemas.openxmlformats.org/officeDocument/2006/relationships/image" Target="../media/image29.png"/><Relationship Id="rId17" Type="http://schemas.openxmlformats.org/officeDocument/2006/relationships/image" Target="../media/image34.png"/><Relationship Id="rId2" Type="http://schemas.openxmlformats.org/officeDocument/2006/relationships/notesSlide" Target="../notesSlides/notesSlide17.xml"/><Relationship Id="rId16" Type="http://schemas.openxmlformats.org/officeDocument/2006/relationships/image" Target="../media/image33.png"/><Relationship Id="rId1" Type="http://schemas.openxmlformats.org/officeDocument/2006/relationships/slideLayout" Target="../slideLayouts/slideLayout3.xml"/><Relationship Id="rId6" Type="http://schemas.openxmlformats.org/officeDocument/2006/relationships/image" Target="../media/image23.png"/><Relationship Id="rId11" Type="http://schemas.openxmlformats.org/officeDocument/2006/relationships/image" Target="../media/image28.png"/><Relationship Id="rId5" Type="http://schemas.openxmlformats.org/officeDocument/2006/relationships/image" Target="../media/image22.png"/><Relationship Id="rId15" Type="http://schemas.openxmlformats.org/officeDocument/2006/relationships/image" Target="../media/image32.png"/><Relationship Id="rId10" Type="http://schemas.openxmlformats.org/officeDocument/2006/relationships/image" Target="../media/image27.png"/><Relationship Id="rId4" Type="http://schemas.openxmlformats.org/officeDocument/2006/relationships/image" Target="../media/image21.png"/><Relationship Id="rId9" Type="http://schemas.openxmlformats.org/officeDocument/2006/relationships/image" Target="../media/image26.png"/><Relationship Id="rId14" Type="http://schemas.openxmlformats.org/officeDocument/2006/relationships/image" Target="../media/image31.png"/></Relationships>
</file>

<file path=ppt/slides/_rels/slide18.xml.rels><?xml version="1.0" encoding="UTF-8" standalone="yes"?>
<Relationships xmlns="http://schemas.openxmlformats.org/package/2006/relationships"><Relationship Id="rId8" Type="http://schemas.openxmlformats.org/officeDocument/2006/relationships/hyperlink" Target="http://www.ibm.com/cloud-computing/us/en/open-cloud-essentials.html" TargetMode="External"/><Relationship Id="rId3" Type="http://schemas.openxmlformats.org/officeDocument/2006/relationships/hyperlink" Target="http://www.ibm.com/cloud-computing/us/en/" TargetMode="External"/><Relationship Id="rId7" Type="http://schemas.openxmlformats.org/officeDocument/2006/relationships/hyperlink" Target="http://www.ibm.com/developerworks/cloud/library/cl-open-architecture/" TargetMode="External"/><Relationship Id="rId12" Type="http://schemas.openxmlformats.org/officeDocument/2006/relationships/hyperlink" Target="https://www.clouddoundry.org/" TargetMode="External"/><Relationship Id="rId2" Type="http://schemas.openxmlformats.org/officeDocument/2006/relationships/notesSlide" Target="../notesSlides/notesSlide18.xml"/><Relationship Id="rId1" Type="http://schemas.openxmlformats.org/officeDocument/2006/relationships/slideLayout" Target="../slideLayouts/slideLayout4.xml"/><Relationship Id="rId6" Type="http://schemas.openxmlformats.org/officeDocument/2006/relationships/hyperlink" Target="http://www.ibm.com/cloud-computing/us/en/saas.html" TargetMode="External"/><Relationship Id="rId11" Type="http://schemas.openxmlformats.org/officeDocument/2006/relationships/hyperlink" Target="https://www.docker.com/" TargetMode="External"/><Relationship Id="rId5" Type="http://schemas.openxmlformats.org/officeDocument/2006/relationships/hyperlink" Target="http://www.ibm.com/cloud-computing/us/en/paas.html" TargetMode="External"/><Relationship Id="rId10" Type="http://schemas.openxmlformats.org/officeDocument/2006/relationships/hyperlink" Target="https://www.ng.bluemix.net/docs/" TargetMode="External"/><Relationship Id="rId4" Type="http://schemas.openxmlformats.org/officeDocument/2006/relationships/hyperlink" Target="http://www.ibm.com/cloud-computing/us/en/iaas.html" TargetMode="External"/><Relationship Id="rId9" Type="http://schemas.openxmlformats.org/officeDocument/2006/relationships/hyperlink" Target="https://www.bluemix.net/" TargetMode="External"/></Relationships>
</file>

<file path=ppt/slides/_rels/slide19.xml.rels><?xml version="1.0" encoding="UTF-8" standalone="yes"?>
<Relationships xmlns="http://schemas.openxmlformats.org/package/2006/relationships"><Relationship Id="rId3" Type="http://schemas.openxmlformats.org/officeDocument/2006/relationships/hyperlink" Target="https://developer.ibm.com/bluemix/?cm_mc_uid=94933803266914350890234&amp;cm_mc_sid_50200000=1435089023" TargetMode="External"/><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ctrTitle"/>
          </p:nvPr>
        </p:nvSpPr>
        <p:spPr>
          <a:xfrm>
            <a:off x="502920" y="3886200"/>
            <a:ext cx="6111701" cy="960120"/>
          </a:xfrm>
        </p:spPr>
        <p:txBody>
          <a:bodyPr/>
          <a:lstStyle/>
          <a:p>
            <a:r>
              <a:rPr lang="en-US" dirty="0" smtClean="0"/>
              <a:t>IBM Bluemix Capabilities</a:t>
            </a:r>
            <a:endParaRPr lang="en-US" dirty="0"/>
          </a:p>
        </p:txBody>
      </p:sp>
      <p:sp>
        <p:nvSpPr>
          <p:cNvPr id="2" name="Text Placeholder 1"/>
          <p:cNvSpPr>
            <a:spLocks noGrp="1"/>
          </p:cNvSpPr>
          <p:nvPr>
            <p:ph type="body" sz="quarter" idx="11"/>
          </p:nvPr>
        </p:nvSpPr>
        <p:spPr>
          <a:xfrm>
            <a:off x="6629400" y="5257800"/>
            <a:ext cx="2377440" cy="685800"/>
          </a:xfrm>
        </p:spPr>
        <p:txBody>
          <a:bodyPr/>
          <a:lstStyle/>
          <a:p>
            <a:r>
              <a:rPr lang="en-US" sz="1800" dirty="0" smtClean="0"/>
              <a:t>IBM Cloud Ecosystem Development </a:t>
            </a:r>
            <a:endParaRPr lang="en-US" sz="1800" dirty="0"/>
          </a:p>
        </p:txBody>
      </p:sp>
    </p:spTree>
    <p:extLst>
      <p:ext uri="{BB962C8B-B14F-4D97-AF65-F5344CB8AC3E}">
        <p14:creationId xmlns:p14="http://schemas.microsoft.com/office/powerpoint/2010/main" xmlns="" val="2565911924"/>
      </p:ext>
    </p:extLst>
  </p:cSld>
  <p:clrMapOvr>
    <a:masterClrMapping/>
  </p:clrMapOvr>
  <mc:AlternateContent xmlns:mc="http://schemas.openxmlformats.org/markup-compatibility/2006">
    <mc:Choice xmlns:p14="http://schemas.microsoft.com/office/powerpoint/2010/main" xmlns="" Requires="p14">
      <p:transition p14:dur="300">
        <p:fade/>
      </p:transition>
    </mc:Choice>
    <mc:Fallback>
      <p:transition>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a:xfrm>
            <a:off x="3291840" y="2926080"/>
            <a:ext cx="5370513" cy="859155"/>
          </a:xfrm>
        </p:spPr>
        <p:txBody>
          <a:bodyPr/>
          <a:lstStyle/>
          <a:p>
            <a:pPr algn="ctr"/>
            <a:r>
              <a:rPr lang="en-US" altLang="en-US" sz="3600" dirty="0" smtClean="0">
                <a:solidFill>
                  <a:srgbClr val="0070C0"/>
                </a:solidFill>
              </a:rPr>
              <a:t>Capability</a:t>
            </a:r>
            <a:br>
              <a:rPr lang="en-US" altLang="en-US" sz="3600" dirty="0" smtClean="0">
                <a:solidFill>
                  <a:srgbClr val="0070C0"/>
                </a:solidFill>
              </a:rPr>
            </a:br>
            <a:r>
              <a:rPr lang="en-US" altLang="en-US" sz="3600" dirty="0" smtClean="0">
                <a:solidFill>
                  <a:srgbClr val="0070C0"/>
                </a:solidFill>
              </a:rPr>
              <a:t>- Cloud Foundry</a:t>
            </a:r>
            <a:br>
              <a:rPr lang="en-US" altLang="en-US" sz="3600" dirty="0" smtClean="0">
                <a:solidFill>
                  <a:srgbClr val="0070C0"/>
                </a:solidFill>
              </a:rPr>
            </a:br>
            <a:r>
              <a:rPr lang="en-US" altLang="en-US" sz="3600" dirty="0" smtClean="0">
                <a:solidFill>
                  <a:srgbClr val="0070C0"/>
                </a:solidFill>
              </a:rPr>
              <a:t>- </a:t>
            </a:r>
            <a:r>
              <a:rPr lang="en-US" altLang="en-US" sz="3600" dirty="0" err="1" smtClean="0">
                <a:solidFill>
                  <a:srgbClr val="0070C0"/>
                </a:solidFill>
              </a:rPr>
              <a:t>Contianers</a:t>
            </a:r>
            <a:r>
              <a:rPr lang="en-US" altLang="en-US" sz="3600" dirty="0" smtClean="0">
                <a:solidFill>
                  <a:srgbClr val="0070C0"/>
                </a:solidFill>
              </a:rPr>
              <a:t/>
            </a:r>
            <a:br>
              <a:rPr lang="en-US" altLang="en-US" sz="3600" dirty="0" smtClean="0">
                <a:solidFill>
                  <a:srgbClr val="0070C0"/>
                </a:solidFill>
              </a:rPr>
            </a:br>
            <a:r>
              <a:rPr lang="en-US" altLang="en-US" sz="3600" dirty="0" smtClean="0">
                <a:solidFill>
                  <a:srgbClr val="0070C0"/>
                </a:solidFill>
              </a:rPr>
              <a:t>- VMs</a:t>
            </a:r>
          </a:p>
        </p:txBody>
      </p:sp>
      <p:grpSp>
        <p:nvGrpSpPr>
          <p:cNvPr id="27652" name="Group 231"/>
          <p:cNvGrpSpPr>
            <a:grpSpLocks/>
          </p:cNvGrpSpPr>
          <p:nvPr/>
        </p:nvGrpSpPr>
        <p:grpSpPr bwMode="auto">
          <a:xfrm>
            <a:off x="161925" y="1965325"/>
            <a:ext cx="4575175" cy="3319463"/>
            <a:chOff x="-76200" y="0"/>
            <a:chExt cx="2002239" cy="1280375"/>
          </a:xfrm>
        </p:grpSpPr>
        <p:sp>
          <p:nvSpPr>
            <p:cNvPr id="27653" name="Shape 229"/>
            <p:cNvSpPr>
              <a:spLocks noChangeArrowheads="1"/>
            </p:cNvSpPr>
            <p:nvPr/>
          </p:nvSpPr>
          <p:spPr bwMode="auto">
            <a:xfrm>
              <a:off x="-76200" y="935147"/>
              <a:ext cx="2002239" cy="34522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400000"/>
                  <a:headEnd/>
                  <a:tailEnd/>
                </a14:hiddenLine>
              </a:ext>
            </a:extLst>
          </p:spPr>
          <p:txBody>
            <a:bodyPr lIns="50800" tIns="50800" rIns="50800" bIns="50800"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300">
                  <a:solidFill>
                    <a:srgbClr val="405059"/>
                  </a:solidFill>
                  <a:sym typeface="Helvetica Neue Thin"/>
                </a:rPr>
                <a:t>IBM </a:t>
              </a:r>
              <a:r>
                <a:rPr lang="en-US" altLang="en-US" sz="2300" b="1">
                  <a:solidFill>
                    <a:srgbClr val="405059"/>
                  </a:solidFill>
                  <a:sym typeface="Helvetica Neue Thin"/>
                </a:rPr>
                <a:t>Bluemix</a:t>
              </a:r>
            </a:p>
          </p:txBody>
        </p:sp>
        <p:pic>
          <p:nvPicPr>
            <p:cNvPr id="27654" name="image3.png" descr="Matt_Logo_400.png"/>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450580" y="0"/>
              <a:ext cx="952910" cy="95290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400000"/>
                  <a:headEnd/>
                  <a:tailEnd/>
                </a14:hiddenLine>
              </a:ext>
            </a:extLst>
          </p:spPr>
        </p:pic>
      </p:grpSp>
    </p:spTree>
    <p:extLst>
      <p:ext uri="{BB962C8B-B14F-4D97-AF65-F5344CB8AC3E}">
        <p14:creationId xmlns:p14="http://schemas.microsoft.com/office/powerpoint/2010/main" xmlns="" val="616764358"/>
      </p:ext>
    </p:extLst>
  </p:cSld>
  <p:clrMapOvr>
    <a:masterClrMapping/>
  </p:clrMapOvr>
  <p:transition spd="med"/>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371476" y="609600"/>
            <a:ext cx="8543925" cy="533400"/>
          </a:xfrm>
        </p:spPr>
        <p:txBody>
          <a:bodyPr/>
          <a:lstStyle/>
          <a:p>
            <a:pPr lvl="0"/>
            <a:r>
              <a:rPr lang="en-US" dirty="0">
                <a:solidFill>
                  <a:srgbClr val="0070C0"/>
                </a:solidFill>
              </a:rPr>
              <a:t>Bluemix offers different </a:t>
            </a:r>
            <a:r>
              <a:rPr lang="en-US" dirty="0" smtClean="0">
                <a:solidFill>
                  <a:srgbClr val="0070C0"/>
                </a:solidFill>
              </a:rPr>
              <a:t>deployment models </a:t>
            </a:r>
            <a:r>
              <a:rPr lang="en-US" dirty="0">
                <a:solidFill>
                  <a:srgbClr val="0070C0"/>
                </a:solidFill>
              </a:rPr>
              <a:t>to run your </a:t>
            </a:r>
            <a:r>
              <a:rPr lang="en-US" dirty="0" smtClean="0">
                <a:solidFill>
                  <a:srgbClr val="0070C0"/>
                </a:solidFill>
              </a:rPr>
              <a:t>code</a:t>
            </a:r>
            <a:endParaRPr lang="en-US" dirty="0">
              <a:solidFill>
                <a:srgbClr val="0070C0"/>
              </a:solidFill>
            </a:endParaRPr>
          </a:p>
        </p:txBody>
      </p:sp>
      <p:pic>
        <p:nvPicPr>
          <p:cNvPr id="7" name="Picture 6"/>
          <p:cNvPicPr>
            <a:picLocks noChangeAspect="1"/>
          </p:cNvPicPr>
          <p:nvPr/>
        </p:nvPicPr>
        <p:blipFill>
          <a:blip r:embed="rId3" cstate="print"/>
          <a:stretch>
            <a:fillRect/>
          </a:stretch>
        </p:blipFill>
        <p:spPr>
          <a:xfrm>
            <a:off x="90049" y="2971800"/>
            <a:ext cx="2832426" cy="2906638"/>
          </a:xfrm>
          <a:prstGeom prst="rect">
            <a:avLst/>
          </a:prstGeom>
        </p:spPr>
      </p:pic>
      <p:pic>
        <p:nvPicPr>
          <p:cNvPr id="8" name="Picture 7"/>
          <p:cNvPicPr>
            <a:picLocks noChangeAspect="1"/>
          </p:cNvPicPr>
          <p:nvPr/>
        </p:nvPicPr>
        <p:blipFill>
          <a:blip r:embed="rId4" cstate="print"/>
          <a:stretch>
            <a:fillRect/>
          </a:stretch>
        </p:blipFill>
        <p:spPr>
          <a:xfrm>
            <a:off x="3003882" y="2971800"/>
            <a:ext cx="2958312" cy="2906638"/>
          </a:xfrm>
          <a:prstGeom prst="rect">
            <a:avLst/>
          </a:prstGeom>
        </p:spPr>
      </p:pic>
      <p:pic>
        <p:nvPicPr>
          <p:cNvPr id="9" name="Picture 8"/>
          <p:cNvPicPr>
            <a:picLocks noChangeAspect="1"/>
          </p:cNvPicPr>
          <p:nvPr/>
        </p:nvPicPr>
        <p:blipFill>
          <a:blip r:embed="rId5" cstate="print"/>
          <a:stretch>
            <a:fillRect/>
          </a:stretch>
        </p:blipFill>
        <p:spPr>
          <a:xfrm>
            <a:off x="6027507" y="2971800"/>
            <a:ext cx="2881363" cy="2906638"/>
          </a:xfrm>
          <a:prstGeom prst="rect">
            <a:avLst/>
          </a:prstGeom>
        </p:spPr>
      </p:pic>
      <p:sp>
        <p:nvSpPr>
          <p:cNvPr id="10" name="Rounded Rectangle 9"/>
          <p:cNvSpPr/>
          <p:nvPr/>
        </p:nvSpPr>
        <p:spPr>
          <a:xfrm>
            <a:off x="371476" y="1508760"/>
            <a:ext cx="2371724" cy="100584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Cloud Foundry</a:t>
            </a:r>
          </a:p>
          <a:p>
            <a:pPr algn="ctr"/>
            <a:r>
              <a:rPr lang="en-US" dirty="0" smtClean="0"/>
              <a:t>application</a:t>
            </a:r>
            <a:endParaRPr lang="en-US" dirty="0"/>
          </a:p>
        </p:txBody>
      </p:sp>
      <p:sp>
        <p:nvSpPr>
          <p:cNvPr id="12" name="Rounded Rectangle 11"/>
          <p:cNvSpPr/>
          <p:nvPr/>
        </p:nvSpPr>
        <p:spPr>
          <a:xfrm>
            <a:off x="3158594" y="1554480"/>
            <a:ext cx="2371724" cy="100584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Docker based Container</a:t>
            </a:r>
            <a:endParaRPr lang="en-US" dirty="0"/>
          </a:p>
        </p:txBody>
      </p:sp>
      <p:sp>
        <p:nvSpPr>
          <p:cNvPr id="13" name="Rounded Rectangle 12"/>
          <p:cNvSpPr/>
          <p:nvPr/>
        </p:nvSpPr>
        <p:spPr>
          <a:xfrm>
            <a:off x="6282326" y="1554480"/>
            <a:ext cx="2371724" cy="100584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Virtual Machine</a:t>
            </a:r>
            <a:endParaRPr lang="en-US" dirty="0"/>
          </a:p>
        </p:txBody>
      </p:sp>
      <p:pic>
        <p:nvPicPr>
          <p:cNvPr id="14" name="Picture 10"/>
          <p:cNvPicPr>
            <a:picLocks noChangeAspect="1" noChangeArrowheads="1"/>
          </p:cNvPicPr>
          <p:nvPr/>
        </p:nvPicPr>
        <p:blipFill>
          <a:blip r:embed="rId6" cstate="print">
            <a:extLst>
              <a:ext uri="{28A0092B-C50C-407E-A947-70E740481C1C}">
                <a14:useLocalDpi xmlns:a14="http://schemas.microsoft.com/office/drawing/2010/main" xmlns="" val="0"/>
              </a:ext>
            </a:extLst>
          </a:blip>
          <a:srcRect/>
          <a:stretch>
            <a:fillRect/>
          </a:stretch>
        </p:blipFill>
        <p:spPr bwMode="auto">
          <a:xfrm>
            <a:off x="3941376" y="5715000"/>
            <a:ext cx="1169041" cy="94589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1" name="Right Arrow 10"/>
          <p:cNvSpPr/>
          <p:nvPr/>
        </p:nvSpPr>
        <p:spPr>
          <a:xfrm>
            <a:off x="3855658" y="2743199"/>
            <a:ext cx="4667856" cy="208349"/>
          </a:xfrm>
          <a:prstGeom prst="rightArrow">
            <a:avLst/>
          </a:prstGeom>
          <a:solidFill>
            <a:srgbClr val="83F5CF"/>
          </a:solidFill>
          <a:ln>
            <a:solidFill>
              <a:srgbClr val="5EB6A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p:cNvSpPr txBox="1"/>
          <p:nvPr/>
        </p:nvSpPr>
        <p:spPr>
          <a:xfrm>
            <a:off x="2615497" y="2635124"/>
            <a:ext cx="1325880" cy="369332"/>
          </a:xfrm>
          <a:prstGeom prst="rect">
            <a:avLst/>
          </a:prstGeom>
          <a:noFill/>
        </p:spPr>
        <p:txBody>
          <a:bodyPr wrap="square" rtlCol="0">
            <a:spAutoFit/>
          </a:bodyPr>
          <a:lstStyle/>
          <a:p>
            <a:r>
              <a:rPr lang="en-US" dirty="0" smtClean="0">
                <a:solidFill>
                  <a:srgbClr val="5EB6AC"/>
                </a:solidFill>
              </a:rPr>
              <a:t>expanding</a:t>
            </a:r>
            <a:endParaRPr lang="en-US" dirty="0">
              <a:solidFill>
                <a:srgbClr val="5EB6AC"/>
              </a:solidFill>
            </a:endParaRPr>
          </a:p>
        </p:txBody>
      </p:sp>
      <p:pic>
        <p:nvPicPr>
          <p:cNvPr id="17" name="Content Placeholder 5"/>
          <p:cNvPicPr>
            <a:picLocks noGrp="1"/>
          </p:cNvPicPr>
          <p:nvPr>
            <p:ph idx="1"/>
          </p:nvPr>
        </p:nvPicPr>
        <p:blipFill>
          <a:blip r:embed="rId7" cstate="print">
            <a:extLst>
              <a:ext uri="{28A0092B-C50C-407E-A947-70E740481C1C}">
                <a14:useLocalDpi xmlns:a14="http://schemas.microsoft.com/office/drawing/2010/main" xmlns="" val="0"/>
              </a:ext>
            </a:extLst>
          </a:blip>
          <a:srcRect/>
          <a:stretch>
            <a:fillRect/>
          </a:stretch>
        </p:blipFill>
        <p:spPr>
          <a:xfrm>
            <a:off x="665631" y="4734804"/>
            <a:ext cx="1325880" cy="843036"/>
          </a:xfrm>
        </p:spPr>
      </p:pic>
    </p:spTree>
    <p:extLst>
      <p:ext uri="{BB962C8B-B14F-4D97-AF65-F5344CB8AC3E}">
        <p14:creationId xmlns:p14="http://schemas.microsoft.com/office/powerpoint/2010/main" xmlns="" val="844785290"/>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1476" y="609600"/>
            <a:ext cx="8543925" cy="609398"/>
          </a:xfrm>
        </p:spPr>
        <p:txBody>
          <a:bodyPr/>
          <a:lstStyle/>
          <a:p>
            <a:pPr lvl="0"/>
            <a:r>
              <a:rPr lang="en-US" b="0" dirty="0" smtClean="0">
                <a:solidFill>
                  <a:srgbClr val="0070C0"/>
                </a:solidFill>
              </a:rPr>
              <a:t>Bluemix </a:t>
            </a:r>
            <a:r>
              <a:rPr lang="en-US" b="0" dirty="0">
                <a:solidFill>
                  <a:srgbClr val="0070C0"/>
                </a:solidFill>
              </a:rPr>
              <a:t>offers different fit-for-purpose compute models for running your code </a:t>
            </a:r>
          </a:p>
        </p:txBody>
      </p:sp>
      <p:graphicFrame>
        <p:nvGraphicFramePr>
          <p:cNvPr id="5" name="Table 4"/>
          <p:cNvGraphicFramePr>
            <a:graphicFrameLocks noGrp="1"/>
          </p:cNvGraphicFramePr>
          <p:nvPr>
            <p:extLst>
              <p:ext uri="{D42A27DB-BD31-4B8C-83A1-F6EECF244321}">
                <p14:modId xmlns:p14="http://schemas.microsoft.com/office/powerpoint/2010/main" xmlns="" val="2966583993"/>
              </p:ext>
            </p:extLst>
          </p:nvPr>
        </p:nvGraphicFramePr>
        <p:xfrm>
          <a:off x="91440" y="1298057"/>
          <a:ext cx="9008930" cy="5559943"/>
        </p:xfrm>
        <a:graphic>
          <a:graphicData uri="http://schemas.openxmlformats.org/drawingml/2006/table">
            <a:tbl>
              <a:tblPr firstRow="1" bandRow="1">
                <a:tableStyleId>{5C22544A-7EE6-4342-B048-85BDC9FD1C3A}</a:tableStyleId>
              </a:tblPr>
              <a:tblGrid>
                <a:gridCol w="2059490"/>
                <a:gridCol w="2423160"/>
                <a:gridCol w="2468880"/>
                <a:gridCol w="2057400"/>
              </a:tblGrid>
              <a:tr h="355353">
                <a:tc>
                  <a:txBody>
                    <a:bodyPr/>
                    <a:lstStyle/>
                    <a:p>
                      <a:endParaRPr lang="en-US" sz="1200" b="1" dirty="0"/>
                    </a:p>
                  </a:txBody>
                  <a:tcPr/>
                </a:tc>
                <a:tc>
                  <a:txBody>
                    <a:bodyPr/>
                    <a:lstStyle/>
                    <a:p>
                      <a:r>
                        <a:rPr lang="en-US" sz="1200" b="1" dirty="0" smtClean="0"/>
                        <a:t>CF-managed</a:t>
                      </a:r>
                      <a:r>
                        <a:rPr lang="en-US" sz="1200" b="1" baseline="0" dirty="0" smtClean="0"/>
                        <a:t> Apps</a:t>
                      </a:r>
                      <a:endParaRPr lang="en-US" sz="1200" b="1" dirty="0"/>
                    </a:p>
                  </a:txBody>
                  <a:tcPr/>
                </a:tc>
                <a:tc>
                  <a:txBody>
                    <a:bodyPr/>
                    <a:lstStyle/>
                    <a:p>
                      <a:r>
                        <a:rPr lang="en-US" sz="1200" b="1" dirty="0" smtClean="0"/>
                        <a:t>Containers</a:t>
                      </a:r>
                      <a:endParaRPr lang="en-US" sz="1200" b="1" dirty="0"/>
                    </a:p>
                  </a:txBody>
                  <a:tcPr/>
                </a:tc>
                <a:tc>
                  <a:txBody>
                    <a:bodyPr/>
                    <a:lstStyle/>
                    <a:p>
                      <a:r>
                        <a:rPr lang="en-US" sz="1200" b="1" dirty="0" smtClean="0"/>
                        <a:t>VMs</a:t>
                      </a:r>
                      <a:endParaRPr lang="en-US" sz="1200" b="1" dirty="0"/>
                    </a:p>
                  </a:txBody>
                  <a:tcPr/>
                </a:tc>
              </a:tr>
              <a:tr h="437014">
                <a:tc>
                  <a:txBody>
                    <a:bodyPr/>
                    <a:lstStyle/>
                    <a:p>
                      <a:r>
                        <a:rPr lang="en-US" sz="1200" dirty="0" smtClean="0"/>
                        <a:t>Code Package</a:t>
                      </a:r>
                      <a:endParaRPr lang="en-US" sz="1200" dirty="0"/>
                    </a:p>
                  </a:txBody>
                  <a:tcPr/>
                </a:tc>
                <a:tc>
                  <a:txBody>
                    <a:bodyPr/>
                    <a:lstStyle/>
                    <a:p>
                      <a:r>
                        <a:rPr lang="en-US" sz="1200" dirty="0" smtClean="0"/>
                        <a:t>App source code, app package. Docker file/image (future/Diego)</a:t>
                      </a:r>
                      <a:endParaRPr lang="en-US" sz="1200" dirty="0"/>
                    </a:p>
                  </a:txBody>
                  <a:tcPr/>
                </a:tc>
                <a:tc>
                  <a:txBody>
                    <a:bodyPr/>
                    <a:lstStyle/>
                    <a:p>
                      <a:r>
                        <a:rPr lang="en-US" sz="1200" dirty="0" smtClean="0"/>
                        <a:t>Docker file / image</a:t>
                      </a:r>
                      <a:endParaRPr lang="en-US" sz="1200" dirty="0"/>
                    </a:p>
                  </a:txBody>
                  <a:tcPr/>
                </a:tc>
                <a:tc>
                  <a:txBody>
                    <a:bodyPr/>
                    <a:lstStyle/>
                    <a:p>
                      <a:r>
                        <a:rPr lang="en-US" sz="1200" dirty="0" smtClean="0"/>
                        <a:t>Binary package</a:t>
                      </a:r>
                      <a:endParaRPr lang="en-US" sz="1200" dirty="0"/>
                    </a:p>
                  </a:txBody>
                  <a:tcPr/>
                </a:tc>
              </a:tr>
              <a:tr h="351182">
                <a:tc>
                  <a:txBody>
                    <a:bodyPr/>
                    <a:lstStyle/>
                    <a:p>
                      <a:r>
                        <a:rPr lang="en-US" sz="1200" dirty="0" smtClean="0"/>
                        <a:t>Protocol for accessing</a:t>
                      </a:r>
                      <a:r>
                        <a:rPr lang="en-US" sz="1200" baseline="0" dirty="0" smtClean="0"/>
                        <a:t> apps</a:t>
                      </a:r>
                      <a:endParaRPr lang="en-US" sz="1200" dirty="0"/>
                    </a:p>
                  </a:txBody>
                  <a:tcPr/>
                </a:tc>
                <a:tc>
                  <a:txBody>
                    <a:bodyPr/>
                    <a:lstStyle/>
                    <a:p>
                      <a:r>
                        <a:rPr lang="en-US" sz="1200" dirty="0" smtClean="0"/>
                        <a:t>http(s), web sockets</a:t>
                      </a:r>
                      <a:endParaRPr lang="en-US" sz="1200" dirty="0"/>
                    </a:p>
                  </a:txBody>
                  <a:tcPr/>
                </a:tc>
                <a:tc>
                  <a:txBody>
                    <a:bodyPr/>
                    <a:lstStyle/>
                    <a:p>
                      <a:r>
                        <a:rPr lang="en-US" sz="1200" dirty="0" smtClean="0"/>
                        <a:t>any</a:t>
                      </a:r>
                      <a:endParaRPr lang="en-US" sz="1200" dirty="0"/>
                    </a:p>
                  </a:txBody>
                  <a:tcPr/>
                </a:tc>
                <a:tc>
                  <a:txBody>
                    <a:bodyPr/>
                    <a:lstStyle/>
                    <a:p>
                      <a:r>
                        <a:rPr lang="en-US" sz="1200" dirty="0" smtClean="0"/>
                        <a:t>any</a:t>
                      </a:r>
                      <a:endParaRPr lang="en-US" sz="1200" dirty="0"/>
                    </a:p>
                  </a:txBody>
                  <a:tcPr/>
                </a:tc>
              </a:tr>
              <a:tr h="627174">
                <a:tc>
                  <a:txBody>
                    <a:bodyPr/>
                    <a:lstStyle/>
                    <a:p>
                      <a:r>
                        <a:rPr lang="en-US" sz="1200" dirty="0" smtClean="0"/>
                        <a:t>Auto-recovery</a:t>
                      </a:r>
                      <a:endParaRPr lang="en-US" sz="1200" dirty="0"/>
                    </a:p>
                  </a:txBody>
                  <a:tcPr/>
                </a:tc>
                <a:tc>
                  <a:txBody>
                    <a:bodyPr/>
                    <a:lstStyle/>
                    <a:p>
                      <a:r>
                        <a:rPr lang="en-US" sz="1200" dirty="0" smtClean="0"/>
                        <a:t>Built-in, based on process health (today), flexible health detection (future/Diego)</a:t>
                      </a:r>
                      <a:endParaRPr lang="en-US" sz="1200" dirty="0"/>
                    </a:p>
                  </a:txBody>
                  <a:tcPr/>
                </a:tc>
                <a:tc>
                  <a:txBody>
                    <a:bodyPr/>
                    <a:lstStyle/>
                    <a:p>
                      <a:r>
                        <a:rPr lang="en-US" sz="1200" dirty="0" smtClean="0"/>
                        <a:t>Available, based on container health</a:t>
                      </a:r>
                      <a:r>
                        <a:rPr lang="en-US" sz="1200" baseline="0" dirty="0" smtClean="0"/>
                        <a:t> (up/down status, ping, HTTP ping)</a:t>
                      </a:r>
                      <a:endParaRPr lang="en-US" sz="1200" dirty="0"/>
                    </a:p>
                  </a:txBody>
                  <a:tcPr/>
                </a:tc>
                <a:tc>
                  <a:txBody>
                    <a:bodyPr/>
                    <a:lstStyle/>
                    <a:p>
                      <a:r>
                        <a:rPr lang="en-US" sz="1200" dirty="0" smtClean="0"/>
                        <a:t>Available (need further details)</a:t>
                      </a:r>
                      <a:endParaRPr lang="en-US" sz="1200" dirty="0"/>
                    </a:p>
                  </a:txBody>
                  <a:tcPr/>
                </a:tc>
              </a:tr>
              <a:tr h="372848">
                <a:tc>
                  <a:txBody>
                    <a:bodyPr/>
                    <a:lstStyle/>
                    <a:p>
                      <a:r>
                        <a:rPr lang="en-US" sz="1200" dirty="0" smtClean="0"/>
                        <a:t>OS patching</a:t>
                      </a:r>
                      <a:endParaRPr lang="en-US" sz="1200" dirty="0"/>
                    </a:p>
                  </a:txBody>
                  <a:tcPr/>
                </a:tc>
                <a:tc>
                  <a:txBody>
                    <a:bodyPr/>
                    <a:lstStyle/>
                    <a:p>
                      <a:r>
                        <a:rPr lang="en-US" sz="1200" dirty="0" smtClean="0"/>
                        <a:t>Done by IBM</a:t>
                      </a:r>
                      <a:endParaRPr lang="en-US" sz="1200" dirty="0"/>
                    </a:p>
                  </a:txBody>
                  <a:tcPr/>
                </a:tc>
                <a:tc>
                  <a:txBody>
                    <a:bodyPr/>
                    <a:lstStyle/>
                    <a:p>
                      <a:r>
                        <a:rPr lang="en-US" sz="1200" dirty="0" smtClean="0"/>
                        <a:t>Done by IBM</a:t>
                      </a:r>
                      <a:endParaRPr lang="en-US" sz="1200" dirty="0"/>
                    </a:p>
                  </a:txBody>
                  <a:tcPr/>
                </a:tc>
                <a:tc>
                  <a:txBody>
                    <a:bodyPr/>
                    <a:lstStyle/>
                    <a:p>
                      <a:r>
                        <a:rPr lang="en-US" sz="1200" dirty="0" smtClean="0"/>
                        <a:t>Done by user</a:t>
                      </a:r>
                      <a:endParaRPr lang="en-US" sz="1200" dirty="0"/>
                    </a:p>
                  </a:txBody>
                  <a:tcPr/>
                </a:tc>
              </a:tr>
              <a:tr h="599260">
                <a:tc>
                  <a:txBody>
                    <a:bodyPr/>
                    <a:lstStyle/>
                    <a:p>
                      <a:r>
                        <a:rPr lang="en-US" sz="1200" dirty="0" smtClean="0"/>
                        <a:t>Ability to store local process state</a:t>
                      </a:r>
                      <a:endParaRPr lang="en-US" sz="1200" dirty="0"/>
                    </a:p>
                  </a:txBody>
                  <a:tcPr/>
                </a:tc>
                <a:tc>
                  <a:txBody>
                    <a:bodyPr/>
                    <a:lstStyle/>
                    <a:p>
                      <a:r>
                        <a:rPr lang="en-US" sz="1200" dirty="0" smtClean="0"/>
                        <a:t>Stateless app (state persisted in services)</a:t>
                      </a:r>
                      <a:endParaRPr lang="en-US" sz="1200" dirty="0"/>
                    </a:p>
                  </a:txBody>
                  <a:tcPr/>
                </a:tc>
                <a:tc>
                  <a:txBody>
                    <a:bodyPr/>
                    <a:lstStyle/>
                    <a:p>
                      <a:r>
                        <a:rPr lang="en-US" sz="1200" dirty="0" smtClean="0"/>
                        <a:t>File system can be attached, state may be persisted in services</a:t>
                      </a:r>
                      <a:endParaRPr lang="en-US" sz="1200" dirty="0"/>
                    </a:p>
                  </a:txBody>
                  <a:tcPr/>
                </a:tc>
                <a:tc>
                  <a:txBody>
                    <a:bodyPr/>
                    <a:lstStyle/>
                    <a:p>
                      <a:r>
                        <a:rPr lang="en-US" sz="1200" dirty="0" err="1" smtClean="0"/>
                        <a:t>Filesystem</a:t>
                      </a:r>
                      <a:r>
                        <a:rPr lang="en-US" sz="1200" baseline="0" dirty="0" smtClean="0"/>
                        <a:t> persistent</a:t>
                      </a:r>
                      <a:endParaRPr lang="en-US" sz="1200" dirty="0"/>
                    </a:p>
                  </a:txBody>
                  <a:tcPr/>
                </a:tc>
              </a:tr>
              <a:tr h="627174">
                <a:tc>
                  <a:txBody>
                    <a:bodyPr/>
                    <a:lstStyle/>
                    <a:p>
                      <a:r>
                        <a:rPr lang="en-US" sz="1200" dirty="0" smtClean="0"/>
                        <a:t>Capacity</a:t>
                      </a:r>
                      <a:endParaRPr lang="en-US" sz="1200" dirty="0"/>
                    </a:p>
                  </a:txBody>
                  <a:tcPr/>
                </a:tc>
                <a:tc>
                  <a:txBody>
                    <a:bodyPr/>
                    <a:lstStyle/>
                    <a:p>
                      <a:r>
                        <a:rPr lang="en-US" sz="1200" dirty="0" smtClean="0"/>
                        <a:t>Memory flexible, CPU proportional to mem, disk 1-2GB</a:t>
                      </a:r>
                      <a:endParaRPr lang="en-US" sz="1200" dirty="0"/>
                    </a:p>
                  </a:txBody>
                  <a:tcPr/>
                </a:tc>
                <a:tc>
                  <a:txBody>
                    <a:bodyPr/>
                    <a:lstStyle/>
                    <a:p>
                      <a:r>
                        <a:rPr lang="en-US" sz="1200" dirty="0" smtClean="0"/>
                        <a:t>T-shirt sizes (S,M,L) with easily extended options, IP address, storage capacity</a:t>
                      </a:r>
                      <a:endParaRPr lang="en-US" sz="1200" dirty="0"/>
                    </a:p>
                  </a:txBody>
                  <a:tcPr/>
                </a:tc>
                <a:tc>
                  <a:txBody>
                    <a:bodyPr/>
                    <a:lstStyle/>
                    <a:p>
                      <a:r>
                        <a:rPr lang="en-US" sz="1200" dirty="0" smtClean="0"/>
                        <a:t>T-shirt sizes (S,M,L)</a:t>
                      </a:r>
                      <a:endParaRPr lang="en-US" sz="1200" dirty="0"/>
                    </a:p>
                  </a:txBody>
                  <a:tcPr/>
                </a:tc>
              </a:tr>
              <a:tr h="627174">
                <a:tc>
                  <a:txBody>
                    <a:bodyPr/>
                    <a:lstStyle/>
                    <a:p>
                      <a:r>
                        <a:rPr lang="en-US" sz="1200" dirty="0" smtClean="0"/>
                        <a:t>IP configuration</a:t>
                      </a:r>
                      <a:endParaRPr lang="en-US" sz="1200" dirty="0"/>
                    </a:p>
                  </a:txBody>
                  <a:tcPr/>
                </a:tc>
                <a:tc>
                  <a:txBody>
                    <a:bodyPr/>
                    <a:lstStyle/>
                    <a:p>
                      <a:r>
                        <a:rPr lang="en-US" sz="1200" dirty="0" smtClean="0"/>
                        <a:t>Shared public IP across all apps</a:t>
                      </a:r>
                      <a:endParaRPr lang="en-US" sz="1200" dirty="0"/>
                    </a:p>
                  </a:txBody>
                  <a:tcPr/>
                </a:tc>
                <a:tc>
                  <a:txBody>
                    <a:bodyPr/>
                    <a:lstStyle/>
                    <a:p>
                      <a:r>
                        <a:rPr lang="en-US" sz="1200" dirty="0" smtClean="0"/>
                        <a:t>Dedicated private IP per container, public IP can be assigned to containers using API</a:t>
                      </a:r>
                      <a:endParaRPr lang="en-US" sz="1200" dirty="0"/>
                    </a:p>
                  </a:txBody>
                  <a:tcPr/>
                </a:tc>
                <a:tc>
                  <a:txBody>
                    <a:bodyPr/>
                    <a:lstStyle/>
                    <a:p>
                      <a:r>
                        <a:rPr lang="en-US" sz="1200" dirty="0" smtClean="0"/>
                        <a:t>Dedicated IP (private or public) per instance</a:t>
                      </a:r>
                      <a:endParaRPr lang="en-US" sz="1200" dirty="0"/>
                    </a:p>
                  </a:txBody>
                  <a:tcPr/>
                </a:tc>
              </a:tr>
              <a:tr h="806367">
                <a:tc>
                  <a:txBody>
                    <a:bodyPr/>
                    <a:lstStyle/>
                    <a:p>
                      <a:r>
                        <a:rPr lang="en-US" sz="1200" dirty="0" smtClean="0"/>
                        <a:t>Load balancing</a:t>
                      </a:r>
                      <a:endParaRPr lang="en-US" sz="1200" dirty="0"/>
                    </a:p>
                  </a:txBody>
                  <a:tcPr/>
                </a:tc>
                <a:tc>
                  <a:txBody>
                    <a:bodyPr/>
                    <a:lstStyle/>
                    <a:p>
                      <a:r>
                        <a:rPr lang="en-US" sz="1200" dirty="0" smtClean="0"/>
                        <a:t>Built-in association of hostnames with process instances</a:t>
                      </a:r>
                      <a:endParaRPr lang="en-US" sz="1200" dirty="0"/>
                    </a:p>
                  </a:txBody>
                  <a:tcPr/>
                </a:tc>
                <a:tc>
                  <a:txBody>
                    <a:bodyPr/>
                    <a:lstStyle/>
                    <a:p>
                      <a:r>
                        <a:rPr lang="en-US" sz="1200" dirty="0" smtClean="0"/>
                        <a:t>Built-in association of hostnames with instances (integration with CF router),</a:t>
                      </a:r>
                      <a:r>
                        <a:rPr lang="en-US" sz="1200" baseline="0" dirty="0" smtClean="0"/>
                        <a:t> but load balance is optional</a:t>
                      </a:r>
                      <a:endParaRPr lang="en-US" sz="1200" dirty="0"/>
                    </a:p>
                  </a:txBody>
                  <a:tcPr/>
                </a:tc>
                <a:tc>
                  <a:txBody>
                    <a:bodyPr/>
                    <a:lstStyle/>
                    <a:p>
                      <a:r>
                        <a:rPr lang="en-US" sz="1200" dirty="0" smtClean="0"/>
                        <a:t>Built-in association of hostnames with instances, load balancer is optional</a:t>
                      </a:r>
                      <a:endParaRPr lang="en-US" sz="1200" dirty="0"/>
                    </a:p>
                  </a:txBody>
                  <a:tcPr/>
                </a:tc>
              </a:tr>
              <a:tr h="627174">
                <a:tc>
                  <a:txBody>
                    <a:bodyPr/>
                    <a:lstStyle/>
                    <a:p>
                      <a:r>
                        <a:rPr lang="en-US" sz="1200" dirty="0" smtClean="0"/>
                        <a:t>Developer access to local </a:t>
                      </a:r>
                      <a:r>
                        <a:rPr lang="en-US" sz="1200" dirty="0" err="1" smtClean="0"/>
                        <a:t>filesystem</a:t>
                      </a:r>
                      <a:endParaRPr lang="en-US" sz="1200" dirty="0"/>
                    </a:p>
                  </a:txBody>
                  <a:tcPr/>
                </a:tc>
                <a:tc>
                  <a:txBody>
                    <a:bodyPr/>
                    <a:lstStyle/>
                    <a:p>
                      <a:r>
                        <a:rPr lang="en-US" sz="1200" dirty="0" smtClean="0"/>
                        <a:t>Read-only</a:t>
                      </a:r>
                      <a:endParaRPr lang="en-US" sz="1200" dirty="0"/>
                    </a:p>
                  </a:txBody>
                  <a:tcPr/>
                </a:tc>
                <a:tc>
                  <a:txBody>
                    <a:bodyPr/>
                    <a:lstStyle/>
                    <a:p>
                      <a:r>
                        <a:rPr lang="en-US" sz="1200" dirty="0" smtClean="0"/>
                        <a:t>Read/write enabled</a:t>
                      </a:r>
                      <a:r>
                        <a:rPr lang="en-US" sz="1200" baseline="0" dirty="0" smtClean="0"/>
                        <a:t> – depends on protocol (</a:t>
                      </a:r>
                      <a:r>
                        <a:rPr lang="en-US" sz="1200" baseline="0" dirty="0" err="1" smtClean="0"/>
                        <a:t>ssh</a:t>
                      </a:r>
                      <a:r>
                        <a:rPr lang="en-US" sz="1200" baseline="0" dirty="0" smtClean="0"/>
                        <a:t>, </a:t>
                      </a:r>
                      <a:r>
                        <a:rPr lang="en-US" sz="1200" baseline="0" dirty="0" err="1" smtClean="0"/>
                        <a:t>scp</a:t>
                      </a:r>
                      <a:r>
                        <a:rPr lang="en-US" sz="1200" baseline="0" dirty="0" smtClean="0"/>
                        <a:t>, ftp, etc.) </a:t>
                      </a:r>
                      <a:endParaRPr lang="en-US" sz="1200" dirty="0"/>
                    </a:p>
                  </a:txBody>
                  <a:tcPr/>
                </a:tc>
                <a:tc>
                  <a:txBody>
                    <a:bodyPr/>
                    <a:lstStyle/>
                    <a:p>
                      <a:r>
                        <a:rPr lang="en-US" sz="1200" dirty="0" smtClean="0"/>
                        <a:t>Read/write enabled</a:t>
                      </a:r>
                      <a:r>
                        <a:rPr lang="en-US" sz="1200" baseline="0" dirty="0" smtClean="0"/>
                        <a:t> – depends on protocol (</a:t>
                      </a:r>
                      <a:r>
                        <a:rPr lang="en-US" sz="1200" baseline="0" dirty="0" err="1" smtClean="0"/>
                        <a:t>ssh</a:t>
                      </a:r>
                      <a:r>
                        <a:rPr lang="en-US" sz="1200" baseline="0" dirty="0" smtClean="0"/>
                        <a:t>, </a:t>
                      </a:r>
                      <a:r>
                        <a:rPr lang="en-US" sz="1200" baseline="0" dirty="0" err="1" smtClean="0"/>
                        <a:t>scp</a:t>
                      </a:r>
                      <a:r>
                        <a:rPr lang="en-US" sz="1200" baseline="0" dirty="0" smtClean="0"/>
                        <a:t>, ftp, etc.) </a:t>
                      </a:r>
                      <a:endParaRPr lang="en-US" sz="1200" dirty="0"/>
                    </a:p>
                  </a:txBody>
                  <a:tcPr/>
                </a:tc>
              </a:tr>
            </a:tbl>
          </a:graphicData>
        </a:graphic>
      </p:graphicFrame>
    </p:spTree>
    <p:extLst>
      <p:ext uri="{BB962C8B-B14F-4D97-AF65-F5344CB8AC3E}">
        <p14:creationId xmlns:p14="http://schemas.microsoft.com/office/powerpoint/2010/main" xmlns="" val="4222187244"/>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371475" y="600075"/>
            <a:ext cx="8543925" cy="331788"/>
          </a:xfrm>
        </p:spPr>
        <p:txBody>
          <a:bodyPr/>
          <a:lstStyle/>
          <a:p>
            <a:pPr>
              <a:defRPr/>
            </a:pPr>
            <a:r>
              <a:rPr lang="en-US" dirty="0" smtClean="0">
                <a:solidFill>
                  <a:srgbClr val="0070C0"/>
                </a:solidFill>
              </a:rPr>
              <a:t>Cloud Foundry – an Open </a:t>
            </a:r>
            <a:r>
              <a:rPr lang="en-US" dirty="0" err="1" smtClean="0">
                <a:solidFill>
                  <a:srgbClr val="0070C0"/>
                </a:solidFill>
              </a:rPr>
              <a:t>PaaS</a:t>
            </a:r>
            <a:endParaRPr lang="en-US" dirty="0">
              <a:solidFill>
                <a:srgbClr val="0070C0"/>
              </a:solidFill>
            </a:endParaRPr>
          </a:p>
        </p:txBody>
      </p:sp>
      <p:pic>
        <p:nvPicPr>
          <p:cNvPr id="38916" name="Content Placeholder 5"/>
          <p:cNvPicPr>
            <a:picLocks noGrp="1"/>
          </p:cNvPicPr>
          <p:nvPr>
            <p:ph idx="1"/>
          </p:nvPr>
        </p:nvPicPr>
        <p:blipFill>
          <a:blip r:embed="rId3" cstate="print">
            <a:extLst>
              <a:ext uri="{28A0092B-C50C-407E-A947-70E740481C1C}">
                <a14:useLocalDpi xmlns:a14="http://schemas.microsoft.com/office/drawing/2010/main" xmlns="" val="0"/>
              </a:ext>
            </a:extLst>
          </a:blip>
          <a:srcRect/>
          <a:stretch>
            <a:fillRect/>
          </a:stretch>
        </p:blipFill>
        <p:spPr>
          <a:xfrm>
            <a:off x="6121400" y="4348163"/>
            <a:ext cx="2794000" cy="2373312"/>
          </a:xfrm>
        </p:spPr>
      </p:pic>
      <p:sp>
        <p:nvSpPr>
          <p:cNvPr id="7" name="TextBox 6"/>
          <p:cNvSpPr txBox="1"/>
          <p:nvPr/>
        </p:nvSpPr>
        <p:spPr>
          <a:xfrm>
            <a:off x="182563" y="1273175"/>
            <a:ext cx="8374062" cy="4524375"/>
          </a:xfrm>
          <a:prstGeom prst="rect">
            <a:avLst/>
          </a:prstGeom>
          <a:noFill/>
        </p:spPr>
        <p:txBody>
          <a:bodyPr>
            <a:spAutoFit/>
          </a:bodyPr>
          <a:lstStyle/>
          <a:p>
            <a:pPr marL="342900" indent="-342900">
              <a:buFont typeface="Arial" panose="020B0604020202020204" pitchFamily="34" charset="0"/>
              <a:buChar char="•"/>
              <a:defRPr/>
            </a:pPr>
            <a:r>
              <a:rPr lang="en-US" sz="2400" dirty="0">
                <a:solidFill>
                  <a:schemeClr val="tx1"/>
                </a:solidFill>
              </a:rPr>
              <a:t>Open Standards,  Open Governance model</a:t>
            </a:r>
          </a:p>
          <a:p>
            <a:pPr marL="798513" lvl="1" indent="-342900">
              <a:buFont typeface="Arial" panose="020B0604020202020204" pitchFamily="34" charset="0"/>
              <a:buChar char="•"/>
              <a:defRPr/>
            </a:pPr>
            <a:r>
              <a:rPr lang="en-US" sz="2400" dirty="0">
                <a:solidFill>
                  <a:schemeClr val="tx1"/>
                </a:solidFill>
              </a:rPr>
              <a:t>Open and extensible nature</a:t>
            </a:r>
          </a:p>
          <a:p>
            <a:pPr marL="342900" indent="-342900">
              <a:buFont typeface="Arial" panose="020B0604020202020204" pitchFamily="34" charset="0"/>
              <a:buChar char="•"/>
              <a:defRPr/>
            </a:pPr>
            <a:endParaRPr lang="en-US" sz="2400" dirty="0">
              <a:solidFill>
                <a:schemeClr val="tx1"/>
              </a:solidFill>
            </a:endParaRPr>
          </a:p>
          <a:p>
            <a:pPr marL="342900" indent="-342900">
              <a:buFont typeface="Arial" panose="020B0604020202020204" pitchFamily="34" charset="0"/>
              <a:buChar char="•"/>
              <a:defRPr/>
            </a:pPr>
            <a:r>
              <a:rPr lang="en-US" sz="2400" dirty="0">
                <a:solidFill>
                  <a:schemeClr val="tx1"/>
                </a:solidFill>
              </a:rPr>
              <a:t>Interoperable Platform as a Service framework</a:t>
            </a:r>
          </a:p>
          <a:p>
            <a:pPr marL="798513" lvl="1" indent="-342900">
              <a:buFont typeface="Arial" panose="020B0604020202020204" pitchFamily="34" charset="0"/>
              <a:buChar char="•"/>
              <a:defRPr/>
            </a:pPr>
            <a:r>
              <a:rPr lang="en-US" sz="2400" dirty="0">
                <a:solidFill>
                  <a:schemeClr val="tx1"/>
                </a:solidFill>
              </a:rPr>
              <a:t>Enable rapid application development, deployment and scaling of new cloud-centric applications</a:t>
            </a:r>
          </a:p>
          <a:p>
            <a:pPr marL="798513" lvl="1" indent="-342900">
              <a:buFont typeface="Arial" panose="020B0604020202020204" pitchFamily="34" charset="0"/>
              <a:buChar char="•"/>
              <a:defRPr/>
            </a:pPr>
            <a:r>
              <a:rPr lang="en-US" sz="2400" dirty="0">
                <a:solidFill>
                  <a:schemeClr val="tx1"/>
                </a:solidFill>
              </a:rPr>
              <a:t>Runs on broad range of cloud infrastructure platforms, without fear of vendor lock-in</a:t>
            </a:r>
          </a:p>
          <a:p>
            <a:pPr marL="798513" lvl="1" indent="-342900">
              <a:buFont typeface="Arial" panose="020B0604020202020204" pitchFamily="34" charset="0"/>
              <a:buChar char="•"/>
              <a:defRPr/>
            </a:pPr>
            <a:r>
              <a:rPr lang="en-US" sz="2400" dirty="0">
                <a:solidFill>
                  <a:schemeClr val="tx1"/>
                </a:solidFill>
              </a:rPr>
              <a:t>Supports a wide range of application programming runtimes and frameworks</a:t>
            </a:r>
          </a:p>
          <a:p>
            <a:pPr lvl="1" indent="0">
              <a:defRPr/>
            </a:pPr>
            <a:endParaRPr lang="en-US" sz="2400" dirty="0">
              <a:solidFill>
                <a:schemeClr val="tx1"/>
              </a:solidFill>
            </a:endParaRPr>
          </a:p>
          <a:p>
            <a:pPr marL="342900" indent="-342900">
              <a:buFont typeface="Arial" panose="020B0604020202020204" pitchFamily="34" charset="0"/>
              <a:buChar char="•"/>
              <a:defRPr/>
            </a:pPr>
            <a:r>
              <a:rPr lang="en-US" sz="2400" dirty="0">
                <a:solidFill>
                  <a:schemeClr val="tx1"/>
                </a:solidFill>
              </a:rPr>
              <a:t>IBM uses Cloud Foundry in Bluemix </a:t>
            </a:r>
          </a:p>
        </p:txBody>
      </p:sp>
    </p:spTree>
    <p:extLst>
      <p:ext uri="{BB962C8B-B14F-4D97-AF65-F5344CB8AC3E}">
        <p14:creationId xmlns:p14="http://schemas.microsoft.com/office/powerpoint/2010/main" xmlns="" val="2635348935"/>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1475" y="600075"/>
            <a:ext cx="8543925" cy="331788"/>
          </a:xfrm>
        </p:spPr>
        <p:txBody>
          <a:bodyPr/>
          <a:lstStyle/>
          <a:p>
            <a:pPr>
              <a:defRPr/>
            </a:pPr>
            <a:r>
              <a:rPr lang="en-US" dirty="0" smtClean="0">
                <a:solidFill>
                  <a:srgbClr val="0070C0"/>
                </a:solidFill>
              </a:rPr>
              <a:t>IBM Bluemix PaaS Advantages</a:t>
            </a:r>
            <a:endParaRPr lang="en-US" dirty="0">
              <a:solidFill>
                <a:srgbClr val="0070C0"/>
              </a:solidFill>
            </a:endParaRPr>
          </a:p>
        </p:txBody>
      </p:sp>
      <p:sp>
        <p:nvSpPr>
          <p:cNvPr id="40964" name="Content Placeholder 6"/>
          <p:cNvSpPr>
            <a:spLocks noGrp="1"/>
          </p:cNvSpPr>
          <p:nvPr>
            <p:ph idx="1"/>
          </p:nvPr>
        </p:nvSpPr>
        <p:spPr>
          <a:xfrm>
            <a:off x="5867400" y="946150"/>
            <a:ext cx="3276600" cy="5649912"/>
          </a:xfrm>
        </p:spPr>
        <p:txBody>
          <a:bodyPr/>
          <a:lstStyle/>
          <a:p>
            <a:r>
              <a:rPr lang="en-US" altLang="en-US" sz="1800" b="1" dirty="0" smtClean="0"/>
              <a:t>A range of services that enable you to build and extend web and mobile apps fast.</a:t>
            </a:r>
          </a:p>
          <a:p>
            <a:r>
              <a:rPr lang="en-US" altLang="en-US" sz="1800" b="1" dirty="0" smtClean="0"/>
              <a:t>Processing power for you to deliver app changes continuously.</a:t>
            </a:r>
          </a:p>
          <a:p>
            <a:r>
              <a:rPr lang="en-US" altLang="en-US" sz="1800" b="1" dirty="0" smtClean="0"/>
              <a:t>Fit-for-purpose programming models and services.</a:t>
            </a:r>
          </a:p>
          <a:p>
            <a:r>
              <a:rPr lang="en-US" altLang="en-US" sz="1800" b="1" dirty="0" smtClean="0"/>
              <a:t>Manageability of services and applications.</a:t>
            </a:r>
          </a:p>
          <a:p>
            <a:r>
              <a:rPr lang="en-US" altLang="en-US" sz="1800" b="1" dirty="0" smtClean="0"/>
              <a:t>Optimized and elastic workloads.</a:t>
            </a:r>
          </a:p>
          <a:p>
            <a:r>
              <a:rPr lang="en-US" altLang="en-US" sz="1800" b="1" dirty="0" smtClean="0"/>
              <a:t>Continuous availability</a:t>
            </a:r>
            <a:r>
              <a:rPr lang="en-US" altLang="en-US" sz="1800" dirty="0" smtClean="0"/>
              <a:t>.</a:t>
            </a:r>
          </a:p>
        </p:txBody>
      </p:sp>
      <p:pic>
        <p:nvPicPr>
          <p:cNvPr id="40965" name="Picture 7"/>
          <p:cNvPicPr>
            <a:picLocks noChangeAspect="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506413" y="1570038"/>
            <a:ext cx="6775451" cy="438626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xmlns="" val="3273848532"/>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1475" y="600075"/>
            <a:ext cx="8543925" cy="331788"/>
          </a:xfrm>
        </p:spPr>
        <p:txBody>
          <a:bodyPr/>
          <a:lstStyle/>
          <a:p>
            <a:pPr>
              <a:defRPr/>
            </a:pPr>
            <a:r>
              <a:rPr lang="en-US" dirty="0" smtClean="0">
                <a:solidFill>
                  <a:srgbClr val="0070C0"/>
                </a:solidFill>
              </a:rPr>
              <a:t>What is Container in Cloud environment?</a:t>
            </a:r>
            <a:endParaRPr lang="en-US" dirty="0">
              <a:solidFill>
                <a:srgbClr val="0070C0"/>
              </a:solidFill>
            </a:endParaRPr>
          </a:p>
        </p:txBody>
      </p:sp>
      <p:grpSp>
        <p:nvGrpSpPr>
          <p:cNvPr id="43012" name="Group 4"/>
          <p:cNvGrpSpPr>
            <a:grpSpLocks/>
          </p:cNvGrpSpPr>
          <p:nvPr/>
        </p:nvGrpSpPr>
        <p:grpSpPr bwMode="auto">
          <a:xfrm>
            <a:off x="2382838" y="5014913"/>
            <a:ext cx="2173287" cy="1285875"/>
            <a:chOff x="2835455" y="2637989"/>
            <a:chExt cx="5458107" cy="3736223"/>
          </a:xfrm>
        </p:grpSpPr>
        <p:pic>
          <p:nvPicPr>
            <p:cNvPr id="43015" name="Picture 5" descr="images.png"/>
            <p:cNvPicPr>
              <a:picLocks noChangeAspect="1"/>
            </p:cNvPicPr>
            <p:nvPr/>
          </p:nvPicPr>
          <p:blipFill>
            <a:blip r:embed="rId3" cstate="print">
              <a:extLst>
                <a:ext uri="{28A0092B-C50C-407E-A947-70E740481C1C}">
                  <a14:useLocalDpi xmlns:a14="http://schemas.microsoft.com/office/drawing/2010/main" xmlns="" val="0"/>
                </a:ext>
              </a:extLst>
            </a:blip>
            <a:srcRect t="15034" b="16515"/>
            <a:stretch>
              <a:fillRect/>
            </a:stretch>
          </p:blipFill>
          <p:spPr bwMode="auto">
            <a:xfrm>
              <a:off x="2835455" y="2637989"/>
              <a:ext cx="5458107" cy="373622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43016" name="Picture 6" descr="imgres.jpg"/>
            <p:cNvPicPr>
              <a:picLocks noChangeAspect="1"/>
            </p:cNvPicPr>
            <p:nvPr/>
          </p:nvPicPr>
          <p:blipFill>
            <a:blip r:embed="rId4" cstate="print">
              <a:extLst>
                <a:ext uri="{28A0092B-C50C-407E-A947-70E740481C1C}">
                  <a14:useLocalDpi xmlns:a14="http://schemas.microsoft.com/office/drawing/2010/main" xmlns="" val="0"/>
                </a:ext>
              </a:extLst>
            </a:blip>
            <a:srcRect l="11739" t="14780" r="19922" b="20229"/>
            <a:stretch>
              <a:fillRect/>
            </a:stretch>
          </p:blipFill>
          <p:spPr bwMode="auto">
            <a:xfrm>
              <a:off x="4787042" y="3945436"/>
              <a:ext cx="1952797" cy="185715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43017" name="Picture 7" descr="containerServiceIcon64.png"/>
            <p:cNvPicPr>
              <a:picLocks noChangeAspect="1"/>
            </p:cNvPicPr>
            <p:nvPr/>
          </p:nvPicPr>
          <p:blipFill>
            <a:blip r:embed="rId5" cstate="print">
              <a:extLst>
                <a:ext uri="{28A0092B-C50C-407E-A947-70E740481C1C}">
                  <a14:useLocalDpi xmlns:a14="http://schemas.microsoft.com/office/drawing/2010/main" xmlns="" val="0"/>
                </a:ext>
              </a:extLst>
            </a:blip>
            <a:srcRect/>
            <a:stretch>
              <a:fillRect/>
            </a:stretch>
          </p:blipFill>
          <p:spPr bwMode="auto">
            <a:xfrm>
              <a:off x="4872639" y="3554584"/>
              <a:ext cx="812800" cy="711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sp>
        <p:nvSpPr>
          <p:cNvPr id="10" name="Content Placeholder 2"/>
          <p:cNvSpPr txBox="1">
            <a:spLocks/>
          </p:cNvSpPr>
          <p:nvPr/>
        </p:nvSpPr>
        <p:spPr bwMode="auto">
          <a:xfrm>
            <a:off x="182563" y="1452563"/>
            <a:ext cx="8747125" cy="33258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1407" tIns="45704" rIns="91407" bIns="45704"/>
          <a:lstStyle>
            <a:lvl1pPr marL="171450" indent="-171450" algn="l" rtl="0" eaLnBrk="0" fontAlgn="base" hangingPunct="0">
              <a:spcBef>
                <a:spcPct val="50000"/>
              </a:spcBef>
              <a:spcAft>
                <a:spcPct val="0"/>
              </a:spcAft>
              <a:buClr>
                <a:schemeClr val="hlink"/>
              </a:buClr>
              <a:buFont typeface="Wingdings" panose="05000000000000000000" pitchFamily="2" charset="2"/>
              <a:buChar char="§"/>
              <a:defRPr sz="2000">
                <a:solidFill>
                  <a:schemeClr val="tx1"/>
                </a:solidFill>
                <a:latin typeface="+mn-lt"/>
                <a:ea typeface="+mn-ea"/>
                <a:cs typeface="+mn-cs"/>
              </a:defRPr>
            </a:lvl1pPr>
            <a:lvl2pPr marL="508000" indent="-161925" algn="l" rtl="0" eaLnBrk="0" fontAlgn="base" hangingPunct="0">
              <a:spcBef>
                <a:spcPct val="0"/>
              </a:spcBef>
              <a:spcAft>
                <a:spcPct val="0"/>
              </a:spcAft>
              <a:buClr>
                <a:schemeClr val="hlink"/>
              </a:buClr>
              <a:buFont typeface="Arial" panose="020B0604020202020204" pitchFamily="34" charset="0"/>
              <a:buChar char="–"/>
              <a:defRPr sz="2000">
                <a:solidFill>
                  <a:schemeClr val="tx1"/>
                </a:solidFill>
                <a:latin typeface="+mn-lt"/>
              </a:defRPr>
            </a:lvl2pPr>
            <a:lvl3pPr marL="854075" indent="-171450" algn="l" rtl="0" eaLnBrk="0" fontAlgn="base" hangingPunct="0">
              <a:spcBef>
                <a:spcPct val="0"/>
              </a:spcBef>
              <a:spcAft>
                <a:spcPct val="0"/>
              </a:spcAft>
              <a:buClr>
                <a:schemeClr val="hlink"/>
              </a:buClr>
              <a:buChar char="•"/>
              <a:defRPr sz="2000">
                <a:solidFill>
                  <a:schemeClr val="tx1"/>
                </a:solidFill>
                <a:latin typeface="+mn-lt"/>
              </a:defRPr>
            </a:lvl3pPr>
            <a:lvl4pPr marL="1201738" indent="-171450" algn="l" rtl="0" eaLnBrk="0" fontAlgn="base" hangingPunct="0">
              <a:spcBef>
                <a:spcPct val="0"/>
              </a:spcBef>
              <a:spcAft>
                <a:spcPct val="0"/>
              </a:spcAft>
              <a:buClr>
                <a:schemeClr val="hlink"/>
              </a:buClr>
              <a:buFont typeface="Arial" panose="020B0604020202020204" pitchFamily="34" charset="0"/>
              <a:buChar char="–"/>
              <a:defRPr sz="2000">
                <a:solidFill>
                  <a:schemeClr val="tx1"/>
                </a:solidFill>
                <a:latin typeface="+mn-lt"/>
              </a:defRPr>
            </a:lvl4pPr>
            <a:lvl5pPr marL="1538288" indent="-161925" algn="l" rtl="0" eaLnBrk="0" fontAlgn="base" hangingPunct="0">
              <a:spcBef>
                <a:spcPct val="20000"/>
              </a:spcBef>
              <a:spcAft>
                <a:spcPct val="0"/>
              </a:spcAft>
              <a:buClr>
                <a:schemeClr val="bg1"/>
              </a:buClr>
              <a:buChar char="»"/>
              <a:defRPr sz="1600">
                <a:solidFill>
                  <a:schemeClr val="bg1"/>
                </a:solidFill>
                <a:latin typeface="+mn-lt"/>
              </a:defRPr>
            </a:lvl5pPr>
            <a:lvl6pPr marL="1996358" indent="-163452" algn="l" rtl="0" eaLnBrk="1" fontAlgn="base" hangingPunct="1">
              <a:spcBef>
                <a:spcPct val="20000"/>
              </a:spcBef>
              <a:spcAft>
                <a:spcPct val="0"/>
              </a:spcAft>
              <a:buClr>
                <a:schemeClr val="bg1"/>
              </a:buClr>
              <a:buChar char="»"/>
              <a:defRPr sz="1600">
                <a:solidFill>
                  <a:schemeClr val="bg1"/>
                </a:solidFill>
                <a:latin typeface="+mn-lt"/>
              </a:defRPr>
            </a:lvl6pPr>
            <a:lvl7pPr marL="2453393" indent="-163452" algn="l" rtl="0" eaLnBrk="1" fontAlgn="base" hangingPunct="1">
              <a:spcBef>
                <a:spcPct val="20000"/>
              </a:spcBef>
              <a:spcAft>
                <a:spcPct val="0"/>
              </a:spcAft>
              <a:buClr>
                <a:schemeClr val="bg1"/>
              </a:buClr>
              <a:buChar char="»"/>
              <a:defRPr sz="1600">
                <a:solidFill>
                  <a:schemeClr val="bg1"/>
                </a:solidFill>
                <a:latin typeface="+mn-lt"/>
              </a:defRPr>
            </a:lvl7pPr>
            <a:lvl8pPr marL="2910429" indent="-163452" algn="l" rtl="0" eaLnBrk="1" fontAlgn="base" hangingPunct="1">
              <a:spcBef>
                <a:spcPct val="20000"/>
              </a:spcBef>
              <a:spcAft>
                <a:spcPct val="0"/>
              </a:spcAft>
              <a:buClr>
                <a:schemeClr val="bg1"/>
              </a:buClr>
              <a:buChar char="»"/>
              <a:defRPr sz="1600">
                <a:solidFill>
                  <a:schemeClr val="bg1"/>
                </a:solidFill>
                <a:latin typeface="+mn-lt"/>
              </a:defRPr>
            </a:lvl8pPr>
            <a:lvl9pPr marL="3367463" indent="-163452" algn="l" rtl="0" eaLnBrk="1" fontAlgn="base" hangingPunct="1">
              <a:spcBef>
                <a:spcPct val="20000"/>
              </a:spcBef>
              <a:spcAft>
                <a:spcPct val="0"/>
              </a:spcAft>
              <a:buClr>
                <a:schemeClr val="bg1"/>
              </a:buClr>
              <a:buChar char="»"/>
              <a:defRPr sz="1600">
                <a:solidFill>
                  <a:schemeClr val="bg1"/>
                </a:solidFill>
                <a:latin typeface="+mn-lt"/>
              </a:defRPr>
            </a:lvl9pPr>
          </a:lstStyle>
          <a:p>
            <a:pPr eaLnBrk="1" hangingPunct="1">
              <a:defRPr/>
            </a:pPr>
            <a:r>
              <a:rPr lang="en-US" altLang="en-US" kern="0" dirty="0" smtClean="0"/>
              <a:t>Virtual software objects that include all the elements that an application needs to run.</a:t>
            </a:r>
            <a:endParaRPr lang="en-US" altLang="en-US" kern="0" dirty="0" smtClean="0">
              <a:cs typeface="Arial" panose="020B0604020202020204" pitchFamily="34" charset="0"/>
            </a:endParaRPr>
          </a:p>
          <a:p>
            <a:pPr eaLnBrk="1" hangingPunct="1">
              <a:defRPr/>
            </a:pPr>
            <a:r>
              <a:rPr lang="en-US" altLang="en-US" kern="0" dirty="0" smtClean="0"/>
              <a:t>Each container includes just the application and its dependencies</a:t>
            </a:r>
          </a:p>
          <a:p>
            <a:pPr eaLnBrk="1" hangingPunct="1">
              <a:defRPr/>
            </a:pPr>
            <a:r>
              <a:rPr lang="en-US" altLang="en-US" kern="0" dirty="0" smtClean="0"/>
              <a:t>Running as isolated process on the hosting operating System. </a:t>
            </a:r>
            <a:br>
              <a:rPr lang="en-US" altLang="en-US" kern="0" dirty="0" smtClean="0"/>
            </a:br>
            <a:endParaRPr lang="en-US" altLang="en-US" kern="0" dirty="0" smtClean="0"/>
          </a:p>
          <a:p>
            <a:pPr eaLnBrk="1" hangingPunct="1">
              <a:defRPr/>
            </a:pPr>
            <a:r>
              <a:rPr lang="en-US" altLang="en-US" kern="0" dirty="0" smtClean="0">
                <a:cs typeface="Arial" panose="020B0604020202020204" pitchFamily="34" charset="0"/>
              </a:rPr>
              <a:t>Benefits of resource isolation and allocation</a:t>
            </a:r>
          </a:p>
          <a:p>
            <a:pPr eaLnBrk="1" hangingPunct="1">
              <a:defRPr/>
            </a:pPr>
            <a:r>
              <a:rPr lang="en-US" altLang="en-US" kern="0" dirty="0" smtClean="0">
                <a:cs typeface="Arial" panose="020B0604020202020204" pitchFamily="34" charset="0"/>
              </a:rPr>
              <a:t> Portable and efficient to help you build application fast</a:t>
            </a:r>
            <a:endParaRPr lang="en-US" altLang="en-US" kern="0" dirty="0">
              <a:cs typeface="Arial" panose="020B0604020202020204" pitchFamily="34" charset="0"/>
            </a:endParaRPr>
          </a:p>
          <a:p>
            <a:pPr eaLnBrk="1" hangingPunct="1">
              <a:defRPr/>
            </a:pPr>
            <a:endParaRPr lang="en-US" altLang="en-US" kern="0" dirty="0" smtClean="0">
              <a:cs typeface="Arial" panose="020B0604020202020204" pitchFamily="34" charset="0"/>
            </a:endParaRPr>
          </a:p>
          <a:p>
            <a:pPr eaLnBrk="1" hangingPunct="1">
              <a:buFontTx/>
              <a:buNone/>
              <a:defRPr/>
            </a:pPr>
            <a:endParaRPr lang="en-US" altLang="en-US" kern="0" dirty="0" smtClean="0">
              <a:cs typeface="Arial" panose="020B0604020202020204" pitchFamily="34" charset="0"/>
            </a:endParaRPr>
          </a:p>
        </p:txBody>
      </p:sp>
      <p:pic>
        <p:nvPicPr>
          <p:cNvPr id="43014" name="Picture 10"/>
          <p:cNvPicPr>
            <a:picLocks noChangeAspect="1" noChangeArrowheads="1"/>
          </p:cNvPicPr>
          <p:nvPr/>
        </p:nvPicPr>
        <p:blipFill>
          <a:blip r:embed="rId6" cstate="print">
            <a:extLst>
              <a:ext uri="{28A0092B-C50C-407E-A947-70E740481C1C}">
                <a14:useLocalDpi xmlns:a14="http://schemas.microsoft.com/office/drawing/2010/main" xmlns="" val="0"/>
              </a:ext>
            </a:extLst>
          </a:blip>
          <a:srcRect/>
          <a:stretch>
            <a:fillRect/>
          </a:stretch>
        </p:blipFill>
        <p:spPr bwMode="auto">
          <a:xfrm>
            <a:off x="5937250" y="4778375"/>
            <a:ext cx="1809750" cy="15621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xmlns="" val="3348271962"/>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Content Placeholder 2"/>
          <p:cNvSpPr>
            <a:spLocks noGrp="1"/>
          </p:cNvSpPr>
          <p:nvPr>
            <p:ph idx="1"/>
          </p:nvPr>
        </p:nvSpPr>
        <p:spPr>
          <a:xfrm>
            <a:off x="228600" y="1050290"/>
            <a:ext cx="8340725" cy="3594417"/>
          </a:xfrm>
        </p:spPr>
        <p:txBody>
          <a:bodyPr/>
          <a:lstStyle/>
          <a:p>
            <a:r>
              <a:rPr lang="en-US" altLang="en-US" dirty="0" smtClean="0"/>
              <a:t> </a:t>
            </a:r>
            <a:r>
              <a:rPr lang="en-US" altLang="en-US" sz="1800" dirty="0" smtClean="0"/>
              <a:t>An open platform for developers and </a:t>
            </a:r>
            <a:r>
              <a:rPr lang="en-US" altLang="en-US" sz="1800" dirty="0" err="1" smtClean="0"/>
              <a:t>sysadmins</a:t>
            </a:r>
            <a:r>
              <a:rPr lang="en-US" altLang="en-US" sz="1800" dirty="0" smtClean="0"/>
              <a:t> to build, ship, and run distributed applications</a:t>
            </a:r>
          </a:p>
          <a:p>
            <a:r>
              <a:rPr lang="en-US" altLang="en-US" sz="1800" dirty="0" smtClean="0"/>
              <a:t>Docker elements &amp; concepts</a:t>
            </a:r>
          </a:p>
          <a:p>
            <a:pPr lvl="1"/>
            <a:r>
              <a:rPr lang="en-US" altLang="en-US" sz="1800" dirty="0" smtClean="0"/>
              <a:t> Docker Engine</a:t>
            </a:r>
          </a:p>
          <a:p>
            <a:pPr lvl="1"/>
            <a:r>
              <a:rPr lang="en-US" altLang="en-US" sz="1800" dirty="0" smtClean="0"/>
              <a:t> Docker Hub/Registry</a:t>
            </a:r>
          </a:p>
          <a:p>
            <a:pPr lvl="1"/>
            <a:r>
              <a:rPr lang="en-US" altLang="en-US" sz="1800" dirty="0" smtClean="0"/>
              <a:t> </a:t>
            </a:r>
            <a:r>
              <a:rPr lang="en-US" altLang="en-US" sz="1800" dirty="0" err="1" smtClean="0"/>
              <a:t>Dockerfile</a:t>
            </a:r>
            <a:endParaRPr lang="en-US" altLang="en-US" sz="1800" dirty="0" smtClean="0"/>
          </a:p>
          <a:p>
            <a:pPr lvl="1"/>
            <a:r>
              <a:rPr lang="en-US" altLang="en-US" sz="1800" dirty="0" smtClean="0"/>
              <a:t> Image</a:t>
            </a:r>
          </a:p>
          <a:p>
            <a:r>
              <a:rPr lang="en-US" altLang="en-US" sz="1800" dirty="0" smtClean="0"/>
              <a:t> Client-Server architecture</a:t>
            </a:r>
          </a:p>
          <a:p>
            <a:pPr lvl="1"/>
            <a:r>
              <a:rPr lang="en-US" altLang="en-US" sz="1800" dirty="0" smtClean="0"/>
              <a:t> Docker Service</a:t>
            </a:r>
          </a:p>
          <a:p>
            <a:pPr lvl="1"/>
            <a:r>
              <a:rPr lang="en-US" altLang="en-US" sz="1800" dirty="0" smtClean="0"/>
              <a:t> REST APIs</a:t>
            </a:r>
          </a:p>
          <a:p>
            <a:pPr lvl="1"/>
            <a:r>
              <a:rPr lang="en-US" altLang="en-US" sz="1800" dirty="0" smtClean="0"/>
              <a:t> Docker client </a:t>
            </a:r>
            <a:endParaRPr lang="en-US" altLang="en-US" dirty="0" smtClean="0"/>
          </a:p>
        </p:txBody>
      </p:sp>
      <p:sp>
        <p:nvSpPr>
          <p:cNvPr id="5" name="Title 1"/>
          <p:cNvSpPr>
            <a:spLocks noGrp="1"/>
          </p:cNvSpPr>
          <p:nvPr>
            <p:ph type="title"/>
          </p:nvPr>
        </p:nvSpPr>
        <p:spPr>
          <a:xfrm>
            <a:off x="371475" y="600075"/>
            <a:ext cx="8543925" cy="331788"/>
          </a:xfrm>
        </p:spPr>
        <p:txBody>
          <a:bodyPr/>
          <a:lstStyle/>
          <a:p>
            <a:pPr>
              <a:defRPr/>
            </a:pPr>
            <a:r>
              <a:rPr lang="en-US" dirty="0" smtClean="0">
                <a:solidFill>
                  <a:srgbClr val="0070C0"/>
                </a:solidFill>
              </a:rPr>
              <a:t>What is </a:t>
            </a:r>
            <a:r>
              <a:rPr lang="en-US" dirty="0" err="1" smtClean="0">
                <a:solidFill>
                  <a:srgbClr val="0070C0"/>
                </a:solidFill>
              </a:rPr>
              <a:t>Docker</a:t>
            </a:r>
            <a:r>
              <a:rPr lang="en-US" dirty="0" smtClean="0">
                <a:solidFill>
                  <a:srgbClr val="0070C0"/>
                </a:solidFill>
              </a:rPr>
              <a:t> ?</a:t>
            </a:r>
            <a:endParaRPr lang="en-US" dirty="0">
              <a:solidFill>
                <a:srgbClr val="0070C0"/>
              </a:solidFill>
            </a:endParaRPr>
          </a:p>
        </p:txBody>
      </p:sp>
      <p:pic>
        <p:nvPicPr>
          <p:cNvPr id="45061" name="Picture 5"/>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679450" y="4740275"/>
            <a:ext cx="5175250" cy="21177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45062" name="Picture 6"/>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7105650" y="4857750"/>
            <a:ext cx="1809750" cy="15621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xmlns="" val="4046544040"/>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le 1"/>
          <p:cNvSpPr>
            <a:spLocks noGrp="1"/>
          </p:cNvSpPr>
          <p:nvPr>
            <p:ph type="title"/>
          </p:nvPr>
        </p:nvSpPr>
        <p:spPr/>
        <p:txBody>
          <a:bodyPr/>
          <a:lstStyle/>
          <a:p>
            <a:r>
              <a:rPr lang="en-US" altLang="en-US" dirty="0" smtClean="0">
                <a:solidFill>
                  <a:srgbClr val="0070C0"/>
                </a:solidFill>
              </a:rPr>
              <a:t>What are </a:t>
            </a:r>
            <a:r>
              <a:rPr lang="en-US" altLang="en-US" dirty="0" err="1" smtClean="0">
                <a:solidFill>
                  <a:srgbClr val="0070C0"/>
                </a:solidFill>
              </a:rPr>
              <a:t>Docker’s</a:t>
            </a:r>
            <a:r>
              <a:rPr lang="en-US" altLang="en-US" dirty="0" smtClean="0">
                <a:solidFill>
                  <a:srgbClr val="0070C0"/>
                </a:solidFill>
              </a:rPr>
              <a:t> Basic Concepts and Functions?</a:t>
            </a:r>
          </a:p>
        </p:txBody>
      </p:sp>
      <p:sp>
        <p:nvSpPr>
          <p:cNvPr id="47108" name="Can 4"/>
          <p:cNvSpPr>
            <a:spLocks noChangeArrowheads="1"/>
          </p:cNvSpPr>
          <p:nvPr/>
        </p:nvSpPr>
        <p:spPr bwMode="auto">
          <a:xfrm>
            <a:off x="4197350" y="3092450"/>
            <a:ext cx="1135063" cy="1668463"/>
          </a:xfrm>
          <a:prstGeom prst="can">
            <a:avLst>
              <a:gd name="adj" fmla="val 25002"/>
            </a:avLst>
          </a:prstGeom>
          <a:solidFill>
            <a:srgbClr val="00B2EF"/>
          </a:solidFill>
          <a:ln w="9525" algn="ctr">
            <a:solidFill>
              <a:schemeClr val="tx1"/>
            </a:solidFill>
            <a:round/>
            <a:headEnd/>
            <a:tailEnd/>
          </a:ln>
        </p:spPr>
        <p:txBody>
          <a:bodyPr anchor="ctr"/>
          <a:lstStyle/>
          <a:p>
            <a:pPr algn="ctr"/>
            <a:r>
              <a:rPr lang="en-US" altLang="en-US" sz="1400">
                <a:solidFill>
                  <a:srgbClr val="FFFFFF"/>
                </a:solidFill>
                <a:latin typeface="Calibri" panose="020F0502020204030204" pitchFamily="34" charset="0"/>
              </a:rPr>
              <a:t>Container</a:t>
            </a:r>
          </a:p>
          <a:p>
            <a:pPr algn="ctr"/>
            <a:r>
              <a:rPr lang="en-US" altLang="en-US" sz="1400">
                <a:solidFill>
                  <a:srgbClr val="FFFFFF"/>
                </a:solidFill>
                <a:latin typeface="Calibri" panose="020F0502020204030204" pitchFamily="34" charset="0"/>
              </a:rPr>
              <a:t>Image Repository</a:t>
            </a:r>
          </a:p>
        </p:txBody>
      </p:sp>
      <p:sp>
        <p:nvSpPr>
          <p:cNvPr id="47109" name="Folded Corner 5"/>
          <p:cNvSpPr>
            <a:spLocks noChangeArrowheads="1"/>
          </p:cNvSpPr>
          <p:nvPr/>
        </p:nvSpPr>
        <p:spPr bwMode="auto">
          <a:xfrm>
            <a:off x="1992313" y="2487613"/>
            <a:ext cx="1406525" cy="798512"/>
          </a:xfrm>
          <a:prstGeom prst="foldedCorner">
            <a:avLst>
              <a:gd name="adj" fmla="val 29412"/>
            </a:avLst>
          </a:prstGeom>
          <a:solidFill>
            <a:srgbClr val="DD731C"/>
          </a:solidFill>
          <a:ln w="9525" algn="ctr">
            <a:solidFill>
              <a:srgbClr val="000000"/>
            </a:solidFill>
            <a:round/>
            <a:headEnd/>
            <a:tailEnd/>
          </a:ln>
        </p:spPr>
        <p:txBody>
          <a:bodyPr anchor="ctr"/>
          <a:lstStyle/>
          <a:p>
            <a:pPr algn="ctr"/>
            <a:endParaRPr lang="en-US" altLang="en-US" sz="1200">
              <a:solidFill>
                <a:srgbClr val="FFFFFF"/>
              </a:solidFill>
              <a:latin typeface="Calibri" panose="020F0502020204030204" pitchFamily="34" charset="0"/>
            </a:endParaRPr>
          </a:p>
          <a:p>
            <a:pPr algn="ctr"/>
            <a:r>
              <a:rPr lang="en-US" altLang="en-US" sz="1200">
                <a:solidFill>
                  <a:srgbClr val="FFFFFF"/>
                </a:solidFill>
                <a:latin typeface="Calibri" panose="020F0502020204030204" pitchFamily="34" charset="0"/>
              </a:rPr>
              <a:t>Dockerfile for Container N</a:t>
            </a:r>
          </a:p>
        </p:txBody>
      </p:sp>
      <p:grpSp>
        <p:nvGrpSpPr>
          <p:cNvPr id="47110" name="Group 50"/>
          <p:cNvGrpSpPr>
            <a:grpSpLocks/>
          </p:cNvGrpSpPr>
          <p:nvPr/>
        </p:nvGrpSpPr>
        <p:grpSpPr bwMode="auto">
          <a:xfrm>
            <a:off x="2500313" y="4872038"/>
            <a:ext cx="390525" cy="1784350"/>
            <a:chOff x="2273116" y="3330377"/>
            <a:chExt cx="391169" cy="1338348"/>
          </a:xfrm>
        </p:grpSpPr>
        <p:sp>
          <p:nvSpPr>
            <p:cNvPr id="47145" name="Cube 6"/>
            <p:cNvSpPr>
              <a:spLocks noChangeArrowheads="1"/>
            </p:cNvSpPr>
            <p:nvPr/>
          </p:nvSpPr>
          <p:spPr bwMode="auto">
            <a:xfrm>
              <a:off x="2273116" y="3330377"/>
              <a:ext cx="391169" cy="1338348"/>
            </a:xfrm>
            <a:prstGeom prst="cube">
              <a:avLst>
                <a:gd name="adj" fmla="val 30889"/>
              </a:avLst>
            </a:prstGeom>
            <a:solidFill>
              <a:srgbClr val="00B2E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pPr>
                <a:lnSpc>
                  <a:spcPct val="90000"/>
                </a:lnSpc>
              </a:pPr>
              <a:endParaRPr lang="en-US" altLang="en-US" sz="1400">
                <a:solidFill>
                  <a:srgbClr val="00B2EF"/>
                </a:solidFill>
                <a:latin typeface="Calibri" panose="020F0502020204030204" pitchFamily="34" charset="0"/>
              </a:endParaRPr>
            </a:p>
          </p:txBody>
        </p:sp>
        <p:sp>
          <p:nvSpPr>
            <p:cNvPr id="47146" name="TextBox 7"/>
            <p:cNvSpPr txBox="1">
              <a:spLocks noChangeArrowheads="1"/>
            </p:cNvSpPr>
            <p:nvPr/>
          </p:nvSpPr>
          <p:spPr bwMode="auto">
            <a:xfrm rot="5400000">
              <a:off x="2140809" y="3871109"/>
              <a:ext cx="590588" cy="30689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r>
                <a:rPr lang="en-US" altLang="en-US" sz="1400">
                  <a:solidFill>
                    <a:srgbClr val="FFFFFF"/>
                  </a:solidFill>
                  <a:latin typeface="Calibri" panose="020F0502020204030204" pitchFamily="34" charset="0"/>
                </a:rPr>
                <a:t>Image N</a:t>
              </a:r>
            </a:p>
          </p:txBody>
        </p:sp>
      </p:grpSp>
      <p:cxnSp>
        <p:nvCxnSpPr>
          <p:cNvPr id="47111" name="Straight Arrow Connector 9"/>
          <p:cNvCxnSpPr>
            <a:cxnSpLocks noChangeShapeType="1"/>
          </p:cNvCxnSpPr>
          <p:nvPr/>
        </p:nvCxnSpPr>
        <p:spPr bwMode="auto">
          <a:xfrm>
            <a:off x="8402638" y="3221038"/>
            <a:ext cx="914400" cy="1219200"/>
          </a:xfrm>
          <a:prstGeom prst="straightConnector1">
            <a:avLst/>
          </a:prstGeom>
          <a:noFill/>
          <a:ln>
            <a:noFill/>
          </a:ln>
          <a:extLst>
            <a:ext uri="{909E8E84-426E-40DD-AFC4-6F175D3DCCD1}">
              <a14:hiddenFill xmlns:a14="http://schemas.microsoft.com/office/drawing/2010/main" xmlns="">
                <a:noFill/>
              </a14:hiddenFill>
            </a:ext>
            <a:ext uri="{91240B29-F687-4F45-9708-019B960494DF}">
              <a14:hiddenLine xmlns:a14="http://schemas.microsoft.com/office/drawing/2010/main" xmlns="" w="9525">
                <a:solidFill>
                  <a:srgbClr val="000000"/>
                </a:solidFill>
                <a:round/>
                <a:headEnd/>
                <a:tailEnd type="arrow" w="med" len="med"/>
              </a14:hiddenLine>
            </a:ext>
          </a:extLst>
        </p:spPr>
      </p:cxnSp>
      <p:sp>
        <p:nvSpPr>
          <p:cNvPr id="47112" name="Rectangle 10"/>
          <p:cNvSpPr>
            <a:spLocks noChangeArrowheads="1"/>
          </p:cNvSpPr>
          <p:nvPr/>
        </p:nvSpPr>
        <p:spPr bwMode="auto">
          <a:xfrm>
            <a:off x="1976438" y="3570288"/>
            <a:ext cx="1436687" cy="792162"/>
          </a:xfrm>
          <a:prstGeom prst="rect">
            <a:avLst/>
          </a:prstGeom>
          <a:solidFill>
            <a:srgbClr val="8CC640"/>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nchor="ctr"/>
          <a:lstStyle/>
          <a:p>
            <a:pPr algn="ctr">
              <a:lnSpc>
                <a:spcPct val="90000"/>
              </a:lnSpc>
            </a:pPr>
            <a:r>
              <a:rPr lang="en-US" altLang="en-US" sz="1400">
                <a:solidFill>
                  <a:srgbClr val="FFFFFF"/>
                </a:solidFill>
                <a:latin typeface="Calibri" panose="020F0502020204030204" pitchFamily="34" charset="0"/>
              </a:rPr>
              <a:t>Container Build Engine</a:t>
            </a:r>
          </a:p>
        </p:txBody>
      </p:sp>
      <p:cxnSp>
        <p:nvCxnSpPr>
          <p:cNvPr id="47113" name="Straight Arrow Connector 14"/>
          <p:cNvCxnSpPr>
            <a:cxnSpLocks noChangeShapeType="1"/>
            <a:stCxn id="47109" idx="2"/>
          </p:cNvCxnSpPr>
          <p:nvPr/>
        </p:nvCxnSpPr>
        <p:spPr bwMode="auto">
          <a:xfrm>
            <a:off x="2695575" y="3286125"/>
            <a:ext cx="0" cy="284163"/>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cxnSp>
      <p:cxnSp>
        <p:nvCxnSpPr>
          <p:cNvPr id="47114" name="Straight Arrow Connector 16"/>
          <p:cNvCxnSpPr>
            <a:cxnSpLocks noChangeShapeType="1"/>
            <a:stCxn id="47112" idx="2"/>
          </p:cNvCxnSpPr>
          <p:nvPr/>
        </p:nvCxnSpPr>
        <p:spPr bwMode="auto">
          <a:xfrm flipH="1">
            <a:off x="2695575" y="4362450"/>
            <a:ext cx="0" cy="630238"/>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xmlns="">
                <a:noFill/>
              </a14:hiddenFill>
            </a:ext>
          </a:extLst>
        </p:spPr>
      </p:cxnSp>
      <p:sp>
        <p:nvSpPr>
          <p:cNvPr id="34" name="Rectangle 33"/>
          <p:cNvSpPr/>
          <p:nvPr/>
        </p:nvSpPr>
        <p:spPr bwMode="auto">
          <a:xfrm>
            <a:off x="5799138" y="6034088"/>
            <a:ext cx="3252787" cy="417512"/>
          </a:xfrm>
          <a:prstGeom prst="rect">
            <a:avLst/>
          </a:prstGeom>
          <a:solidFill>
            <a:schemeClr val="bg1">
              <a:lumMod val="50000"/>
            </a:schemeClr>
          </a:solidFill>
          <a:ln>
            <a:noFill/>
          </a:ln>
          <a:effectLst/>
          <a:extLst/>
        </p:spPr>
        <p:txBody>
          <a:bodyPr anchor="ctr"/>
          <a:lstStyle/>
          <a:p>
            <a:pPr algn="ctr">
              <a:lnSpc>
                <a:spcPct val="90000"/>
              </a:lnSpc>
              <a:defRPr/>
            </a:pPr>
            <a:r>
              <a:rPr lang="en-US" sz="1400" dirty="0">
                <a:solidFill>
                  <a:srgbClr val="FFFFFF"/>
                </a:solidFill>
                <a:latin typeface="Calibri"/>
                <a:cs typeface="Calibri"/>
              </a:rPr>
              <a:t>Server</a:t>
            </a:r>
          </a:p>
        </p:txBody>
      </p:sp>
      <p:sp>
        <p:nvSpPr>
          <p:cNvPr id="47116" name="Rectangle 34"/>
          <p:cNvSpPr>
            <a:spLocks noChangeArrowheads="1"/>
          </p:cNvSpPr>
          <p:nvPr/>
        </p:nvSpPr>
        <p:spPr bwMode="auto">
          <a:xfrm>
            <a:off x="5799138" y="5540375"/>
            <a:ext cx="3252787" cy="417513"/>
          </a:xfrm>
          <a:prstGeom prst="rect">
            <a:avLst/>
          </a:prstGeom>
          <a:solidFill>
            <a:srgbClr val="FF0000"/>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nchor="ctr"/>
          <a:lstStyle/>
          <a:p>
            <a:pPr algn="ctr">
              <a:lnSpc>
                <a:spcPct val="90000"/>
              </a:lnSpc>
            </a:pPr>
            <a:r>
              <a:rPr lang="en-US" altLang="en-US" sz="1400">
                <a:solidFill>
                  <a:srgbClr val="FFFFFF"/>
                </a:solidFill>
                <a:latin typeface="Calibri" panose="020F0502020204030204" pitchFamily="34" charset="0"/>
              </a:rPr>
              <a:t>Host OS</a:t>
            </a:r>
          </a:p>
        </p:txBody>
      </p:sp>
      <p:sp>
        <p:nvSpPr>
          <p:cNvPr id="47117" name="Rectangle 35"/>
          <p:cNvSpPr>
            <a:spLocks noChangeArrowheads="1"/>
          </p:cNvSpPr>
          <p:nvPr/>
        </p:nvSpPr>
        <p:spPr bwMode="auto">
          <a:xfrm>
            <a:off x="5799138" y="5099050"/>
            <a:ext cx="3252787" cy="366713"/>
          </a:xfrm>
          <a:prstGeom prst="rect">
            <a:avLst/>
          </a:prstGeom>
          <a:solidFill>
            <a:srgbClr val="8CC640"/>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nchor="ctr"/>
          <a:lstStyle/>
          <a:p>
            <a:pPr algn="ctr">
              <a:lnSpc>
                <a:spcPct val="90000"/>
              </a:lnSpc>
            </a:pPr>
            <a:r>
              <a:rPr lang="en-US" altLang="en-US" sz="1400">
                <a:solidFill>
                  <a:srgbClr val="FFFFFF"/>
                </a:solidFill>
                <a:latin typeface="Calibri" panose="020F0502020204030204" pitchFamily="34" charset="0"/>
              </a:rPr>
              <a:t>Linux Container + Docker Engine</a:t>
            </a:r>
          </a:p>
        </p:txBody>
      </p:sp>
      <p:grpSp>
        <p:nvGrpSpPr>
          <p:cNvPr id="47118" name="Group 51"/>
          <p:cNvGrpSpPr>
            <a:grpSpLocks/>
          </p:cNvGrpSpPr>
          <p:nvPr/>
        </p:nvGrpSpPr>
        <p:grpSpPr bwMode="auto">
          <a:xfrm>
            <a:off x="8540750" y="3249613"/>
            <a:ext cx="390525" cy="1784350"/>
            <a:chOff x="2273116" y="3330377"/>
            <a:chExt cx="391169" cy="1338348"/>
          </a:xfrm>
        </p:grpSpPr>
        <p:sp>
          <p:nvSpPr>
            <p:cNvPr id="47143" name="Cube 52"/>
            <p:cNvSpPr>
              <a:spLocks noChangeArrowheads="1"/>
            </p:cNvSpPr>
            <p:nvPr/>
          </p:nvSpPr>
          <p:spPr bwMode="auto">
            <a:xfrm>
              <a:off x="2273116" y="3330377"/>
              <a:ext cx="391169" cy="1338348"/>
            </a:xfrm>
            <a:prstGeom prst="cube">
              <a:avLst>
                <a:gd name="adj" fmla="val 30889"/>
              </a:avLst>
            </a:prstGeom>
            <a:solidFill>
              <a:srgbClr val="00B2E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pPr>
                <a:lnSpc>
                  <a:spcPct val="90000"/>
                </a:lnSpc>
              </a:pPr>
              <a:endParaRPr lang="en-US" altLang="en-US" sz="1400">
                <a:solidFill>
                  <a:srgbClr val="00B2EF"/>
                </a:solidFill>
                <a:latin typeface="Calibri" panose="020F0502020204030204" pitchFamily="34" charset="0"/>
              </a:endParaRPr>
            </a:p>
          </p:txBody>
        </p:sp>
        <p:sp>
          <p:nvSpPr>
            <p:cNvPr id="47144" name="TextBox 53"/>
            <p:cNvSpPr txBox="1">
              <a:spLocks noChangeArrowheads="1"/>
            </p:cNvSpPr>
            <p:nvPr/>
          </p:nvSpPr>
          <p:spPr bwMode="auto">
            <a:xfrm rot="5400000">
              <a:off x="2044362" y="3871109"/>
              <a:ext cx="783481" cy="30689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r>
                <a:rPr lang="en-US" altLang="en-US" sz="1400">
                  <a:solidFill>
                    <a:srgbClr val="FFFFFF"/>
                  </a:solidFill>
                  <a:latin typeface="Calibri" panose="020F0502020204030204" pitchFamily="34" charset="0"/>
                </a:rPr>
                <a:t>Container A</a:t>
              </a:r>
            </a:p>
          </p:txBody>
        </p:sp>
      </p:grpSp>
      <p:grpSp>
        <p:nvGrpSpPr>
          <p:cNvPr id="47119" name="Group 54"/>
          <p:cNvGrpSpPr>
            <a:grpSpLocks/>
          </p:cNvGrpSpPr>
          <p:nvPr/>
        </p:nvGrpSpPr>
        <p:grpSpPr bwMode="auto">
          <a:xfrm>
            <a:off x="8089900" y="3273425"/>
            <a:ext cx="390525" cy="1784350"/>
            <a:chOff x="2273116" y="3330377"/>
            <a:chExt cx="391169" cy="1338348"/>
          </a:xfrm>
        </p:grpSpPr>
        <p:sp>
          <p:nvSpPr>
            <p:cNvPr id="47141" name="Cube 55"/>
            <p:cNvSpPr>
              <a:spLocks noChangeArrowheads="1"/>
            </p:cNvSpPr>
            <p:nvPr/>
          </p:nvSpPr>
          <p:spPr bwMode="auto">
            <a:xfrm>
              <a:off x="2273116" y="3330377"/>
              <a:ext cx="391169" cy="1338348"/>
            </a:xfrm>
            <a:prstGeom prst="cube">
              <a:avLst>
                <a:gd name="adj" fmla="val 30889"/>
              </a:avLst>
            </a:prstGeom>
            <a:solidFill>
              <a:srgbClr val="00B2E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pPr>
                <a:lnSpc>
                  <a:spcPct val="90000"/>
                </a:lnSpc>
              </a:pPr>
              <a:endParaRPr lang="en-US" altLang="en-US" sz="1400">
                <a:solidFill>
                  <a:srgbClr val="00B2EF"/>
                </a:solidFill>
                <a:latin typeface="Calibri" panose="020F0502020204030204" pitchFamily="34" charset="0"/>
              </a:endParaRPr>
            </a:p>
          </p:txBody>
        </p:sp>
        <p:sp>
          <p:nvSpPr>
            <p:cNvPr id="47142" name="TextBox 56"/>
            <p:cNvSpPr txBox="1">
              <a:spLocks noChangeArrowheads="1"/>
            </p:cNvSpPr>
            <p:nvPr/>
          </p:nvSpPr>
          <p:spPr bwMode="auto">
            <a:xfrm rot="5400000">
              <a:off x="2046744" y="3871109"/>
              <a:ext cx="778718" cy="30689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r>
                <a:rPr lang="en-US" altLang="en-US" sz="1400">
                  <a:solidFill>
                    <a:srgbClr val="FFFFFF"/>
                  </a:solidFill>
                  <a:latin typeface="Calibri" panose="020F0502020204030204" pitchFamily="34" charset="0"/>
                </a:rPr>
                <a:t>Container B</a:t>
              </a:r>
            </a:p>
          </p:txBody>
        </p:sp>
      </p:grpSp>
      <p:grpSp>
        <p:nvGrpSpPr>
          <p:cNvPr id="47120" name="Group 57"/>
          <p:cNvGrpSpPr>
            <a:grpSpLocks/>
          </p:cNvGrpSpPr>
          <p:nvPr/>
        </p:nvGrpSpPr>
        <p:grpSpPr bwMode="auto">
          <a:xfrm>
            <a:off x="7359650" y="3257550"/>
            <a:ext cx="390525" cy="1784350"/>
            <a:chOff x="2273116" y="3330377"/>
            <a:chExt cx="391169" cy="1338348"/>
          </a:xfrm>
        </p:grpSpPr>
        <p:sp>
          <p:nvSpPr>
            <p:cNvPr id="47139" name="Cube 58"/>
            <p:cNvSpPr>
              <a:spLocks noChangeArrowheads="1"/>
            </p:cNvSpPr>
            <p:nvPr/>
          </p:nvSpPr>
          <p:spPr bwMode="auto">
            <a:xfrm>
              <a:off x="2273116" y="3330377"/>
              <a:ext cx="391169" cy="1338348"/>
            </a:xfrm>
            <a:prstGeom prst="cube">
              <a:avLst>
                <a:gd name="adj" fmla="val 30889"/>
              </a:avLst>
            </a:prstGeom>
            <a:solidFill>
              <a:srgbClr val="00B2E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pPr>
                <a:lnSpc>
                  <a:spcPct val="90000"/>
                </a:lnSpc>
              </a:pPr>
              <a:endParaRPr lang="en-US" altLang="en-US" sz="1400">
                <a:solidFill>
                  <a:srgbClr val="00B2EF"/>
                </a:solidFill>
                <a:latin typeface="Calibri" panose="020F0502020204030204" pitchFamily="34" charset="0"/>
              </a:endParaRPr>
            </a:p>
          </p:txBody>
        </p:sp>
        <p:sp>
          <p:nvSpPr>
            <p:cNvPr id="47140" name="TextBox 59"/>
            <p:cNvSpPr txBox="1">
              <a:spLocks noChangeArrowheads="1"/>
            </p:cNvSpPr>
            <p:nvPr/>
          </p:nvSpPr>
          <p:spPr bwMode="auto">
            <a:xfrm rot="5400000">
              <a:off x="2040195" y="3870514"/>
              <a:ext cx="791817" cy="30689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r>
                <a:rPr lang="en-US" altLang="en-US" sz="1400">
                  <a:solidFill>
                    <a:srgbClr val="FFFFFF"/>
                  </a:solidFill>
                  <a:latin typeface="Calibri" panose="020F0502020204030204" pitchFamily="34" charset="0"/>
                </a:rPr>
                <a:t>Container N</a:t>
              </a:r>
            </a:p>
          </p:txBody>
        </p:sp>
      </p:grpSp>
      <p:cxnSp>
        <p:nvCxnSpPr>
          <p:cNvPr id="47121" name="Elbow Connector 74"/>
          <p:cNvCxnSpPr>
            <a:cxnSpLocks noChangeShapeType="1"/>
            <a:stCxn id="47145" idx="5"/>
            <a:endCxn id="47108" idx="3"/>
          </p:cNvCxnSpPr>
          <p:nvPr/>
        </p:nvCxnSpPr>
        <p:spPr bwMode="auto">
          <a:xfrm flipV="1">
            <a:off x="2890838" y="4760913"/>
            <a:ext cx="1873250" cy="922337"/>
          </a:xfrm>
          <a:prstGeom prst="bentConnector2">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cxnSp>
      <p:sp>
        <p:nvSpPr>
          <p:cNvPr id="47122" name="TextBox 75"/>
          <p:cNvSpPr txBox="1">
            <a:spLocks noChangeArrowheads="1"/>
          </p:cNvSpPr>
          <p:nvPr/>
        </p:nvSpPr>
        <p:spPr bwMode="auto">
          <a:xfrm>
            <a:off x="3170238" y="5138738"/>
            <a:ext cx="1027112" cy="646112"/>
          </a:xfrm>
          <a:prstGeom prst="rect">
            <a:avLst/>
          </a:prstGeom>
          <a:solidFill>
            <a:schemeClr val="bg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algn="ctr"/>
            <a:r>
              <a:rPr lang="en-US" altLang="en-US" sz="1200">
                <a:solidFill>
                  <a:srgbClr val="000000"/>
                </a:solidFill>
                <a:latin typeface="Calibri" panose="020F0502020204030204" pitchFamily="34" charset="0"/>
              </a:rPr>
              <a:t>Push new Image to Repository</a:t>
            </a:r>
          </a:p>
        </p:txBody>
      </p:sp>
      <p:sp>
        <p:nvSpPr>
          <p:cNvPr id="84" name="Rounded Rectangular Callout 83"/>
          <p:cNvSpPr/>
          <p:nvPr/>
        </p:nvSpPr>
        <p:spPr bwMode="auto">
          <a:xfrm>
            <a:off x="73025" y="2087563"/>
            <a:ext cx="1620838" cy="862012"/>
          </a:xfrm>
          <a:prstGeom prst="wedgeRoundRectCallout">
            <a:avLst>
              <a:gd name="adj1" fmla="val 73355"/>
              <a:gd name="adj2" fmla="val 54290"/>
              <a:gd name="adj3" fmla="val 16667"/>
            </a:avLst>
          </a:prstGeom>
          <a:noFill/>
          <a:ln w="9525" cap="flat" cmpd="sng" algn="ctr">
            <a:solidFill>
              <a:schemeClr val="tx1"/>
            </a:solidFill>
            <a:prstDash val="solid"/>
            <a:round/>
            <a:headEnd type="none" w="med" len="med"/>
            <a:tailEnd type="none" w="med" len="med"/>
          </a:ln>
          <a:effectLst/>
          <a:extLst/>
        </p:spPr>
        <p:txBody>
          <a:bodyPr/>
          <a:lstStyle/>
          <a:p>
            <a:pPr>
              <a:lnSpc>
                <a:spcPct val="90000"/>
              </a:lnSpc>
              <a:defRPr/>
            </a:pPr>
            <a:endParaRPr lang="en-US">
              <a:solidFill>
                <a:srgbClr val="00B2EF"/>
              </a:solidFill>
              <a:cs typeface="+mn-cs"/>
            </a:endParaRPr>
          </a:p>
        </p:txBody>
      </p:sp>
      <p:sp>
        <p:nvSpPr>
          <p:cNvPr id="47124" name="TextBox 84"/>
          <p:cNvSpPr txBox="1">
            <a:spLocks noChangeArrowheads="1"/>
          </p:cNvSpPr>
          <p:nvPr/>
        </p:nvSpPr>
        <p:spPr bwMode="auto">
          <a:xfrm>
            <a:off x="92075" y="2149475"/>
            <a:ext cx="1620838" cy="5540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0" rIns="0" bIns="0">
            <a:spAutoFit/>
          </a:bodyPr>
          <a:lstStyle/>
          <a:p>
            <a:pPr algn="ctr"/>
            <a:r>
              <a:rPr lang="en-US" altLang="en-US" sz="1200">
                <a:solidFill>
                  <a:srgbClr val="000000"/>
                </a:solidFill>
                <a:latin typeface="Calibri" panose="020F0502020204030204" pitchFamily="34" charset="0"/>
              </a:rPr>
              <a:t>Describes steps to build container automatically from source</a:t>
            </a:r>
          </a:p>
        </p:txBody>
      </p:sp>
      <p:sp>
        <p:nvSpPr>
          <p:cNvPr id="47125" name="TextBox 99"/>
          <p:cNvSpPr txBox="1">
            <a:spLocks noChangeArrowheads="1"/>
          </p:cNvSpPr>
          <p:nvPr/>
        </p:nvSpPr>
        <p:spPr bwMode="auto">
          <a:xfrm>
            <a:off x="5508625" y="3756025"/>
            <a:ext cx="579438" cy="276225"/>
          </a:xfrm>
          <a:prstGeom prst="rect">
            <a:avLst/>
          </a:prstGeom>
          <a:solidFill>
            <a:schemeClr val="bg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algn="ctr"/>
            <a:r>
              <a:rPr lang="en-US" altLang="en-US" sz="1200">
                <a:solidFill>
                  <a:srgbClr val="000000"/>
                </a:solidFill>
                <a:latin typeface="Calibri" panose="020F0502020204030204" pitchFamily="34" charset="0"/>
              </a:rPr>
              <a:t>Get N</a:t>
            </a:r>
          </a:p>
        </p:txBody>
      </p:sp>
      <p:sp>
        <p:nvSpPr>
          <p:cNvPr id="47126" name="TextBox 103"/>
          <p:cNvSpPr txBox="1">
            <a:spLocks noChangeArrowheads="1"/>
          </p:cNvSpPr>
          <p:nvPr/>
        </p:nvSpPr>
        <p:spPr bwMode="auto">
          <a:xfrm>
            <a:off x="7712075" y="3925888"/>
            <a:ext cx="415925" cy="3698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spcBef>
                <a:spcPct val="50000"/>
              </a:spcBef>
              <a:buClr>
                <a:schemeClr val="hlink"/>
              </a:buClr>
              <a:buFont typeface="Wingdings" panose="05000000000000000000" pitchFamily="2" charset="2"/>
              <a:buChar char="§"/>
              <a:defRPr sz="2000">
                <a:solidFill>
                  <a:schemeClr val="tx1"/>
                </a:solidFill>
                <a:latin typeface="Arial" panose="020B0604020202020204" pitchFamily="34" charset="0"/>
              </a:defRPr>
            </a:lvl1pPr>
            <a:lvl2pPr marL="37931725" indent="-37474525">
              <a:buClr>
                <a:schemeClr val="hlink"/>
              </a:buClr>
              <a:buFont typeface="Arial" panose="020B0604020202020204" pitchFamily="34" charset="0"/>
              <a:buChar char="–"/>
              <a:defRPr sz="2000">
                <a:solidFill>
                  <a:schemeClr val="tx1"/>
                </a:solidFill>
                <a:latin typeface="Arial" panose="020B0604020202020204" pitchFamily="34" charset="0"/>
              </a:defRPr>
            </a:lvl2pPr>
            <a:lvl3pPr marL="854075" indent="-171450">
              <a:buClr>
                <a:schemeClr val="hlink"/>
              </a:buClr>
              <a:buChar char="•"/>
              <a:defRPr sz="2000">
                <a:solidFill>
                  <a:schemeClr val="tx1"/>
                </a:solidFill>
                <a:latin typeface="Arial" panose="020B0604020202020204" pitchFamily="34" charset="0"/>
              </a:defRPr>
            </a:lvl3pPr>
            <a:lvl4pPr marL="1201738" indent="-171450">
              <a:buClr>
                <a:schemeClr val="hlink"/>
              </a:buClr>
              <a:buFont typeface="Arial" panose="020B0604020202020204" pitchFamily="34" charset="0"/>
              <a:buChar char="–"/>
              <a:defRPr sz="2000">
                <a:solidFill>
                  <a:schemeClr val="tx1"/>
                </a:solidFill>
                <a:latin typeface="Arial" panose="020B0604020202020204" pitchFamily="34" charset="0"/>
              </a:defRPr>
            </a:lvl4pPr>
            <a:lvl5pPr marL="1538288" indent="-161925">
              <a:spcBef>
                <a:spcPct val="20000"/>
              </a:spcBef>
              <a:buClr>
                <a:schemeClr val="bg1"/>
              </a:buClr>
              <a:buChar char="»"/>
              <a:defRPr sz="1600">
                <a:solidFill>
                  <a:schemeClr val="bg1"/>
                </a:solidFill>
                <a:latin typeface="Arial" panose="020B0604020202020204" pitchFamily="34" charset="0"/>
              </a:defRPr>
            </a:lvl5pPr>
            <a:lvl6pPr marL="1995488" indent="-161925" eaLnBrk="0" fontAlgn="base" hangingPunct="0">
              <a:spcBef>
                <a:spcPct val="20000"/>
              </a:spcBef>
              <a:spcAft>
                <a:spcPct val="0"/>
              </a:spcAft>
              <a:buClr>
                <a:schemeClr val="bg1"/>
              </a:buClr>
              <a:buChar char="»"/>
              <a:defRPr sz="1600">
                <a:solidFill>
                  <a:schemeClr val="bg1"/>
                </a:solidFill>
                <a:latin typeface="Arial" panose="020B0604020202020204" pitchFamily="34" charset="0"/>
              </a:defRPr>
            </a:lvl6pPr>
            <a:lvl7pPr marL="2452688" indent="-161925" eaLnBrk="0" fontAlgn="base" hangingPunct="0">
              <a:spcBef>
                <a:spcPct val="20000"/>
              </a:spcBef>
              <a:spcAft>
                <a:spcPct val="0"/>
              </a:spcAft>
              <a:buClr>
                <a:schemeClr val="bg1"/>
              </a:buClr>
              <a:buChar char="»"/>
              <a:defRPr sz="1600">
                <a:solidFill>
                  <a:schemeClr val="bg1"/>
                </a:solidFill>
                <a:latin typeface="Arial" panose="020B0604020202020204" pitchFamily="34" charset="0"/>
              </a:defRPr>
            </a:lvl7pPr>
            <a:lvl8pPr marL="2909888" indent="-161925" eaLnBrk="0" fontAlgn="base" hangingPunct="0">
              <a:spcBef>
                <a:spcPct val="20000"/>
              </a:spcBef>
              <a:spcAft>
                <a:spcPct val="0"/>
              </a:spcAft>
              <a:buClr>
                <a:schemeClr val="bg1"/>
              </a:buClr>
              <a:buChar char="»"/>
              <a:defRPr sz="1600">
                <a:solidFill>
                  <a:schemeClr val="bg1"/>
                </a:solidFill>
                <a:latin typeface="Arial" panose="020B0604020202020204" pitchFamily="34" charset="0"/>
              </a:defRPr>
            </a:lvl8pPr>
            <a:lvl9pPr marL="3367088" indent="-161925" eaLnBrk="0" fontAlgn="base" hangingPunct="0">
              <a:spcBef>
                <a:spcPct val="20000"/>
              </a:spcBef>
              <a:spcAft>
                <a:spcPct val="0"/>
              </a:spcAft>
              <a:buClr>
                <a:schemeClr val="bg1"/>
              </a:buClr>
              <a:buChar char="»"/>
              <a:defRPr sz="1600">
                <a:solidFill>
                  <a:schemeClr val="bg1"/>
                </a:solidFill>
                <a:latin typeface="Arial" panose="020B0604020202020204" pitchFamily="34" charset="0"/>
              </a:defRPr>
            </a:lvl9pPr>
          </a:lstStyle>
          <a:p>
            <a:pPr>
              <a:spcBef>
                <a:spcPct val="0"/>
              </a:spcBef>
              <a:buClrTx/>
              <a:buFontTx/>
              <a:buNone/>
            </a:pPr>
            <a:r>
              <a:rPr lang="en-US" altLang="en-US" sz="1800">
                <a:solidFill>
                  <a:srgbClr val="000000"/>
                </a:solidFill>
                <a:ea typeface="MS PGothic" panose="020B0600070205080204" pitchFamily="34" charset="-128"/>
              </a:rPr>
              <a:t>…</a:t>
            </a:r>
          </a:p>
        </p:txBody>
      </p:sp>
      <p:sp>
        <p:nvSpPr>
          <p:cNvPr id="47127" name="TextBox 106"/>
          <p:cNvSpPr txBox="1">
            <a:spLocks noChangeArrowheads="1"/>
          </p:cNvSpPr>
          <p:nvPr/>
        </p:nvSpPr>
        <p:spPr bwMode="auto">
          <a:xfrm>
            <a:off x="6497638" y="3752850"/>
            <a:ext cx="673100" cy="276225"/>
          </a:xfrm>
          <a:prstGeom prst="rect">
            <a:avLst/>
          </a:prstGeom>
          <a:solidFill>
            <a:schemeClr val="bg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algn="ctr"/>
            <a:r>
              <a:rPr lang="en-US" altLang="en-US" sz="1200">
                <a:solidFill>
                  <a:srgbClr val="000000"/>
                </a:solidFill>
                <a:latin typeface="Calibri" panose="020F0502020204030204" pitchFamily="34" charset="0"/>
              </a:rPr>
              <a:t>Run N</a:t>
            </a:r>
          </a:p>
        </p:txBody>
      </p:sp>
      <p:grpSp>
        <p:nvGrpSpPr>
          <p:cNvPr id="47128" name="Group 119"/>
          <p:cNvGrpSpPr>
            <a:grpSpLocks/>
          </p:cNvGrpSpPr>
          <p:nvPr/>
        </p:nvGrpSpPr>
        <p:grpSpPr bwMode="auto">
          <a:xfrm>
            <a:off x="5332413" y="4125913"/>
            <a:ext cx="609600" cy="908050"/>
            <a:chOff x="4491403" y="3093978"/>
            <a:chExt cx="610331" cy="681225"/>
          </a:xfrm>
        </p:grpSpPr>
        <p:cxnSp>
          <p:nvCxnSpPr>
            <p:cNvPr id="47137" name="Straight Arrow Connector 114"/>
            <p:cNvCxnSpPr>
              <a:cxnSpLocks noChangeShapeType="1"/>
            </p:cNvCxnSpPr>
            <p:nvPr/>
          </p:nvCxnSpPr>
          <p:spPr bwMode="auto">
            <a:xfrm flipH="1">
              <a:off x="4491403" y="3093978"/>
              <a:ext cx="610331"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cxnSp>
        <p:cxnSp>
          <p:nvCxnSpPr>
            <p:cNvPr id="47138" name="Straight Connector 116"/>
            <p:cNvCxnSpPr>
              <a:cxnSpLocks noChangeShapeType="1"/>
            </p:cNvCxnSpPr>
            <p:nvPr/>
          </p:nvCxnSpPr>
          <p:spPr bwMode="auto">
            <a:xfrm>
              <a:off x="5101734" y="3093978"/>
              <a:ext cx="0" cy="681225"/>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cxnSp>
      </p:grpSp>
      <p:cxnSp>
        <p:nvCxnSpPr>
          <p:cNvPr id="47129" name="Straight Arrow Connector 121"/>
          <p:cNvCxnSpPr>
            <a:cxnSpLocks noChangeShapeType="1"/>
          </p:cNvCxnSpPr>
          <p:nvPr/>
        </p:nvCxnSpPr>
        <p:spPr bwMode="auto">
          <a:xfrm>
            <a:off x="6673850" y="4133850"/>
            <a:ext cx="609600"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cxnSp>
      <p:cxnSp>
        <p:nvCxnSpPr>
          <p:cNvPr id="47130" name="Straight Connector 122"/>
          <p:cNvCxnSpPr>
            <a:cxnSpLocks noChangeShapeType="1"/>
          </p:cNvCxnSpPr>
          <p:nvPr/>
        </p:nvCxnSpPr>
        <p:spPr bwMode="auto">
          <a:xfrm flipH="1">
            <a:off x="6673850" y="4133850"/>
            <a:ext cx="0" cy="90805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cxnSp>
      <p:sp>
        <p:nvSpPr>
          <p:cNvPr id="47131" name="TextBox 123"/>
          <p:cNvSpPr txBox="1">
            <a:spLocks noChangeArrowheads="1"/>
          </p:cNvSpPr>
          <p:nvPr/>
        </p:nvSpPr>
        <p:spPr bwMode="auto">
          <a:xfrm>
            <a:off x="1939925" y="4449763"/>
            <a:ext cx="674688" cy="276225"/>
          </a:xfrm>
          <a:prstGeom prst="rect">
            <a:avLst/>
          </a:prstGeom>
          <a:solidFill>
            <a:schemeClr val="bg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algn="ctr"/>
            <a:r>
              <a:rPr lang="en-US" altLang="en-US" sz="1200">
                <a:solidFill>
                  <a:srgbClr val="000000"/>
                </a:solidFill>
                <a:latin typeface="Calibri" panose="020F0502020204030204" pitchFamily="34" charset="0"/>
              </a:rPr>
              <a:t>Build N</a:t>
            </a:r>
          </a:p>
        </p:txBody>
      </p:sp>
      <p:sp>
        <p:nvSpPr>
          <p:cNvPr id="47132" name="Can 124"/>
          <p:cNvSpPr>
            <a:spLocks noChangeArrowheads="1"/>
          </p:cNvSpPr>
          <p:nvPr/>
        </p:nvSpPr>
        <p:spPr bwMode="auto">
          <a:xfrm>
            <a:off x="158750" y="3435350"/>
            <a:ext cx="1133475" cy="1060450"/>
          </a:xfrm>
          <a:prstGeom prst="can">
            <a:avLst>
              <a:gd name="adj" fmla="val 25000"/>
            </a:avLst>
          </a:prstGeom>
          <a:solidFill>
            <a:srgbClr val="00B2EF"/>
          </a:solidFill>
          <a:ln w="9525" algn="ctr">
            <a:solidFill>
              <a:schemeClr val="tx1"/>
            </a:solidFill>
            <a:round/>
            <a:headEnd/>
            <a:tailEnd/>
          </a:ln>
        </p:spPr>
        <p:txBody>
          <a:bodyPr anchor="ctr"/>
          <a:lstStyle/>
          <a:p>
            <a:pPr algn="ctr"/>
            <a:r>
              <a:rPr lang="en-US" altLang="en-US" sz="1400">
                <a:solidFill>
                  <a:srgbClr val="FFFFFF"/>
                </a:solidFill>
                <a:latin typeface="Calibri" panose="020F0502020204030204" pitchFamily="34" charset="0"/>
              </a:rPr>
              <a:t>Source Code Repository</a:t>
            </a:r>
          </a:p>
        </p:txBody>
      </p:sp>
      <p:cxnSp>
        <p:nvCxnSpPr>
          <p:cNvPr id="47133" name="Straight Arrow Connector 128"/>
          <p:cNvCxnSpPr>
            <a:cxnSpLocks noChangeShapeType="1"/>
          </p:cNvCxnSpPr>
          <p:nvPr/>
        </p:nvCxnSpPr>
        <p:spPr bwMode="auto">
          <a:xfrm>
            <a:off x="1366838" y="3925888"/>
            <a:ext cx="609600"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cxnSp>
      <p:sp>
        <p:nvSpPr>
          <p:cNvPr id="47134" name="TextBox 129"/>
          <p:cNvSpPr txBox="1">
            <a:spLocks noChangeArrowheads="1"/>
          </p:cNvSpPr>
          <p:nvPr/>
        </p:nvSpPr>
        <p:spPr bwMode="auto">
          <a:xfrm>
            <a:off x="2284413" y="1397000"/>
            <a:ext cx="784225" cy="4318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r>
              <a:rPr lang="en-US" altLang="en-US" b="1">
                <a:solidFill>
                  <a:srgbClr val="0000FF"/>
                </a:solidFill>
                <a:latin typeface="Calibri" panose="020F0502020204030204" pitchFamily="34" charset="0"/>
              </a:rPr>
              <a:t>Build</a:t>
            </a:r>
          </a:p>
        </p:txBody>
      </p:sp>
      <p:sp>
        <p:nvSpPr>
          <p:cNvPr id="47135" name="TextBox 130"/>
          <p:cNvSpPr txBox="1">
            <a:spLocks noChangeArrowheads="1"/>
          </p:cNvSpPr>
          <p:nvPr/>
        </p:nvSpPr>
        <p:spPr bwMode="auto">
          <a:xfrm>
            <a:off x="4351338" y="1397000"/>
            <a:ext cx="804862" cy="4318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r>
              <a:rPr lang="en-US" altLang="en-US" b="1">
                <a:solidFill>
                  <a:srgbClr val="0000FF"/>
                </a:solidFill>
                <a:latin typeface="Calibri" panose="020F0502020204030204" pitchFamily="34" charset="0"/>
              </a:rPr>
              <a:t>Store</a:t>
            </a:r>
          </a:p>
        </p:txBody>
      </p:sp>
      <p:sp>
        <p:nvSpPr>
          <p:cNvPr id="47136" name="TextBox 131"/>
          <p:cNvSpPr txBox="1">
            <a:spLocks noChangeArrowheads="1"/>
          </p:cNvSpPr>
          <p:nvPr/>
        </p:nvSpPr>
        <p:spPr bwMode="auto">
          <a:xfrm>
            <a:off x="6502400" y="1397000"/>
            <a:ext cx="646113" cy="4318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r>
              <a:rPr lang="en-US" altLang="en-US" b="1">
                <a:solidFill>
                  <a:srgbClr val="0000FF"/>
                </a:solidFill>
                <a:latin typeface="Calibri" panose="020F0502020204030204" pitchFamily="34" charset="0"/>
              </a:rPr>
              <a:t>Run</a:t>
            </a:r>
          </a:p>
        </p:txBody>
      </p:sp>
    </p:spTree>
    <p:extLst>
      <p:ext uri="{BB962C8B-B14F-4D97-AF65-F5344CB8AC3E}">
        <p14:creationId xmlns:p14="http://schemas.microsoft.com/office/powerpoint/2010/main" xmlns="" val="1474073347"/>
      </p:ext>
    </p:extLst>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61938" y="1051561"/>
            <a:ext cx="8558212" cy="5577839"/>
          </a:xfrm>
        </p:spPr>
        <p:txBody>
          <a:bodyPr/>
          <a:lstStyle/>
          <a:p>
            <a:r>
              <a:rPr lang="en-US" sz="2000" dirty="0" smtClean="0"/>
              <a:t>Build Docker image</a:t>
            </a:r>
          </a:p>
          <a:p>
            <a:pPr marL="633413" lvl="1" indent="-342900" eaLnBrk="1" hangingPunct="1">
              <a:buFont typeface="+mj-lt"/>
              <a:buAutoNum type="arabicPeriod"/>
            </a:pPr>
            <a:r>
              <a:rPr lang="en-US" altLang="en-US" sz="1800" dirty="0">
                <a:cs typeface="Arial" panose="020B0604020202020204" pitchFamily="34" charset="0"/>
              </a:rPr>
              <a:t>Create </a:t>
            </a:r>
            <a:r>
              <a:rPr lang="en-US" altLang="en-US" sz="1800" dirty="0" err="1">
                <a:cs typeface="Arial" panose="020B0604020202020204" pitchFamily="34" charset="0"/>
              </a:rPr>
              <a:t>Dockerfile</a:t>
            </a:r>
            <a:r>
              <a:rPr lang="en-US" altLang="en-US" sz="1800" dirty="0">
                <a:cs typeface="Arial" panose="020B0604020202020204" pitchFamily="34" charset="0"/>
              </a:rPr>
              <a:t> (for WebSphere Liberty Profile)</a:t>
            </a:r>
          </a:p>
          <a:p>
            <a:pPr marL="1254125" lvl="3" indent="0" eaLnBrk="1" hangingPunct="1">
              <a:buNone/>
            </a:pPr>
            <a:r>
              <a:rPr lang="en-US" altLang="en-US" dirty="0">
                <a:latin typeface="Courier New" panose="02070309020205020404" pitchFamily="49" charset="0"/>
                <a:ea typeface="Arial" panose="020B0604020202020204" pitchFamily="34" charset="0"/>
                <a:cs typeface="Courier New" panose="02070309020205020404" pitchFamily="49" charset="0"/>
              </a:rPr>
              <a:t>FROM ubuntu:12.04</a:t>
            </a:r>
          </a:p>
          <a:p>
            <a:pPr marL="1254125" lvl="3" indent="0" eaLnBrk="1" hangingPunct="1">
              <a:buNone/>
            </a:pPr>
            <a:r>
              <a:rPr lang="en-US" altLang="en-US" dirty="0">
                <a:latin typeface="Courier New" panose="02070309020205020404" pitchFamily="49" charset="0"/>
                <a:ea typeface="Arial" panose="020B0604020202020204" pitchFamily="34" charset="0"/>
                <a:cs typeface="Courier New" panose="02070309020205020404" pitchFamily="49" charset="0"/>
              </a:rPr>
              <a:t># add the files we require, jar + WLP files</a:t>
            </a:r>
          </a:p>
          <a:p>
            <a:pPr marL="1254125" lvl="3" indent="0" eaLnBrk="1" hangingPunct="1">
              <a:buNone/>
            </a:pPr>
            <a:r>
              <a:rPr lang="en-US" altLang="en-US" dirty="0">
                <a:latin typeface="Courier New" panose="02070309020205020404" pitchFamily="49" charset="0"/>
                <a:ea typeface="Arial" panose="020B0604020202020204" pitchFamily="34" charset="0"/>
                <a:cs typeface="Courier New" panose="02070309020205020404" pitchFamily="49" charset="0"/>
              </a:rPr>
              <a:t>ADD wlp-developers-extended-8.5.5.2.jar /root/</a:t>
            </a:r>
          </a:p>
          <a:p>
            <a:pPr marL="1254125" lvl="3" indent="0" eaLnBrk="1" hangingPunct="1">
              <a:buNone/>
            </a:pPr>
            <a:r>
              <a:rPr lang="en-US" altLang="en-US" dirty="0">
                <a:latin typeface="Courier New" panose="02070309020205020404" pitchFamily="49" charset="0"/>
                <a:ea typeface="Arial" panose="020B0604020202020204" pitchFamily="34" charset="0"/>
                <a:cs typeface="Courier New" panose="02070309020205020404" pitchFamily="49" charset="0"/>
              </a:rPr>
              <a:t>ADD wlp-developers-runtime-8.5.5.2.jar /root/</a:t>
            </a:r>
          </a:p>
          <a:p>
            <a:pPr marL="1254125" lvl="3" indent="0" eaLnBrk="1" hangingPunct="1">
              <a:buNone/>
            </a:pPr>
            <a:r>
              <a:rPr lang="en-US" altLang="en-US" dirty="0">
                <a:latin typeface="Courier New" panose="02070309020205020404" pitchFamily="49" charset="0"/>
                <a:ea typeface="Arial" panose="020B0604020202020204" pitchFamily="34" charset="0"/>
                <a:cs typeface="Courier New" panose="02070309020205020404" pitchFamily="49" charset="0"/>
              </a:rPr>
              <a:t>ADD JAXWSEJBSample.jar /root/</a:t>
            </a:r>
          </a:p>
          <a:p>
            <a:pPr marL="1254125" lvl="3" indent="0" eaLnBrk="1" hangingPunct="1">
              <a:buNone/>
            </a:pPr>
            <a:r>
              <a:rPr lang="en-US" altLang="en-US" dirty="0">
                <a:latin typeface="Courier New" panose="02070309020205020404" pitchFamily="49" charset="0"/>
                <a:ea typeface="Arial" panose="020B0604020202020204" pitchFamily="34" charset="0"/>
                <a:cs typeface="Courier New" panose="02070309020205020404" pitchFamily="49" charset="0"/>
              </a:rPr>
              <a:t># install WLP</a:t>
            </a:r>
          </a:p>
          <a:p>
            <a:pPr marL="1254125" lvl="3" indent="0" eaLnBrk="1" hangingPunct="1">
              <a:buNone/>
            </a:pPr>
            <a:r>
              <a:rPr lang="en-US" altLang="en-US" dirty="0">
                <a:latin typeface="Courier New" panose="02070309020205020404" pitchFamily="49" charset="0"/>
                <a:ea typeface="Arial" panose="020B0604020202020204" pitchFamily="34" charset="0"/>
                <a:cs typeface="Courier New" panose="02070309020205020404" pitchFamily="49" charset="0"/>
              </a:rPr>
              <a:t>RUN apt-get update</a:t>
            </a:r>
          </a:p>
          <a:p>
            <a:pPr marL="1254125" lvl="3" indent="0" eaLnBrk="1" hangingPunct="1">
              <a:buNone/>
            </a:pPr>
            <a:r>
              <a:rPr lang="en-US" altLang="en-US" dirty="0">
                <a:latin typeface="Courier New" panose="02070309020205020404" pitchFamily="49" charset="0"/>
                <a:ea typeface="Arial" panose="020B0604020202020204" pitchFamily="34" charset="0"/>
                <a:cs typeface="Courier New" panose="02070309020205020404" pitchFamily="49" charset="0"/>
              </a:rPr>
              <a:t>RUN apt-get install -y default-</a:t>
            </a:r>
            <a:r>
              <a:rPr lang="en-US" altLang="en-US" dirty="0" err="1">
                <a:latin typeface="Courier New" panose="02070309020205020404" pitchFamily="49" charset="0"/>
                <a:ea typeface="Arial" panose="020B0604020202020204" pitchFamily="34" charset="0"/>
                <a:cs typeface="Courier New" panose="02070309020205020404" pitchFamily="49" charset="0"/>
              </a:rPr>
              <a:t>jre</a:t>
            </a:r>
            <a:endParaRPr lang="en-US" altLang="en-US" dirty="0">
              <a:latin typeface="Courier New" panose="02070309020205020404" pitchFamily="49" charset="0"/>
              <a:ea typeface="Arial" panose="020B0604020202020204" pitchFamily="34" charset="0"/>
              <a:cs typeface="Courier New" panose="02070309020205020404" pitchFamily="49" charset="0"/>
            </a:endParaRPr>
          </a:p>
          <a:p>
            <a:pPr marL="1254125" lvl="3" indent="0" eaLnBrk="1" hangingPunct="1">
              <a:buNone/>
            </a:pPr>
            <a:r>
              <a:rPr lang="en-US" altLang="en-US" dirty="0">
                <a:latin typeface="Courier New" panose="02070309020205020404" pitchFamily="49" charset="0"/>
                <a:ea typeface="Arial" panose="020B0604020202020204" pitchFamily="34" charset="0"/>
                <a:cs typeface="Courier New" panose="02070309020205020404" pitchFamily="49" charset="0"/>
              </a:rPr>
              <a:t>RUN java -jar /root/wlp-developers-runtime-8.5.5.2.jar --</a:t>
            </a:r>
            <a:r>
              <a:rPr lang="en-US" altLang="en-US" dirty="0" err="1">
                <a:latin typeface="Courier New" panose="02070309020205020404" pitchFamily="49" charset="0"/>
                <a:ea typeface="Arial" panose="020B0604020202020204" pitchFamily="34" charset="0"/>
                <a:cs typeface="Courier New" panose="02070309020205020404" pitchFamily="49" charset="0"/>
              </a:rPr>
              <a:t>acceptLicense</a:t>
            </a:r>
            <a:r>
              <a:rPr lang="en-US" altLang="en-US" dirty="0">
                <a:latin typeface="Courier New" panose="02070309020205020404" pitchFamily="49" charset="0"/>
                <a:ea typeface="Arial" panose="020B0604020202020204" pitchFamily="34" charset="0"/>
                <a:cs typeface="Courier New" panose="02070309020205020404" pitchFamily="49" charset="0"/>
              </a:rPr>
              <a:t> /root/</a:t>
            </a:r>
          </a:p>
          <a:p>
            <a:pPr marL="1254125" lvl="3" indent="0" eaLnBrk="1" hangingPunct="1">
              <a:buNone/>
            </a:pPr>
            <a:r>
              <a:rPr lang="en-US" altLang="en-US" dirty="0">
                <a:latin typeface="Courier New" panose="02070309020205020404" pitchFamily="49" charset="0"/>
                <a:ea typeface="Arial" panose="020B0604020202020204" pitchFamily="34" charset="0"/>
                <a:cs typeface="Courier New" panose="02070309020205020404" pitchFamily="49" charset="0"/>
              </a:rPr>
              <a:t>RUN java -jar /root/wlp-developers-extended-8.5.5.2.jar --</a:t>
            </a:r>
            <a:r>
              <a:rPr lang="en-US" altLang="en-US" dirty="0" err="1">
                <a:latin typeface="Courier New" panose="02070309020205020404" pitchFamily="49" charset="0"/>
                <a:ea typeface="Arial" panose="020B0604020202020204" pitchFamily="34" charset="0"/>
                <a:cs typeface="Courier New" panose="02070309020205020404" pitchFamily="49" charset="0"/>
              </a:rPr>
              <a:t>acceptLicense</a:t>
            </a:r>
            <a:r>
              <a:rPr lang="en-US" altLang="en-US" dirty="0">
                <a:latin typeface="Courier New" panose="02070309020205020404" pitchFamily="49" charset="0"/>
                <a:ea typeface="Arial" panose="020B0604020202020204" pitchFamily="34" charset="0"/>
                <a:cs typeface="Courier New" panose="02070309020205020404" pitchFamily="49" charset="0"/>
              </a:rPr>
              <a:t> /root/</a:t>
            </a:r>
          </a:p>
          <a:p>
            <a:pPr marL="1254125" lvl="3" indent="0" eaLnBrk="1" hangingPunct="1">
              <a:buNone/>
            </a:pPr>
            <a:r>
              <a:rPr lang="en-US" altLang="en-US" dirty="0">
                <a:latin typeface="Courier New" panose="02070309020205020404" pitchFamily="49" charset="0"/>
                <a:ea typeface="Arial" panose="020B0604020202020204" pitchFamily="34" charset="0"/>
                <a:cs typeface="Courier New" panose="02070309020205020404" pitchFamily="49" charset="0"/>
              </a:rPr>
              <a:t>RUN cd /root/</a:t>
            </a:r>
            <a:r>
              <a:rPr lang="en-US" altLang="en-US" dirty="0" err="1">
                <a:latin typeface="Courier New" panose="02070309020205020404" pitchFamily="49" charset="0"/>
                <a:ea typeface="Arial" panose="020B0604020202020204" pitchFamily="34" charset="0"/>
                <a:cs typeface="Courier New" panose="02070309020205020404" pitchFamily="49" charset="0"/>
              </a:rPr>
              <a:t>wlp</a:t>
            </a:r>
            <a:r>
              <a:rPr lang="en-US" altLang="en-US" dirty="0">
                <a:latin typeface="Courier New" panose="02070309020205020404" pitchFamily="49" charset="0"/>
                <a:ea typeface="Arial" panose="020B0604020202020204" pitchFamily="34" charset="0"/>
                <a:cs typeface="Courier New" panose="02070309020205020404" pitchFamily="49" charset="0"/>
              </a:rPr>
              <a:t> &amp;&amp; java -jar ../JAXWSEJBSample.jar /root/</a:t>
            </a:r>
            <a:r>
              <a:rPr lang="en-US" altLang="en-US" dirty="0" err="1">
                <a:latin typeface="Courier New" panose="02070309020205020404" pitchFamily="49" charset="0"/>
                <a:ea typeface="Arial" panose="020B0604020202020204" pitchFamily="34" charset="0"/>
                <a:cs typeface="Courier New" panose="02070309020205020404" pitchFamily="49" charset="0"/>
              </a:rPr>
              <a:t>wlp</a:t>
            </a:r>
            <a:endParaRPr lang="en-US" altLang="en-US" dirty="0">
              <a:latin typeface="Courier New" panose="02070309020205020404" pitchFamily="49" charset="0"/>
              <a:ea typeface="Arial" panose="020B0604020202020204" pitchFamily="34" charset="0"/>
              <a:cs typeface="Courier New" panose="02070309020205020404" pitchFamily="49" charset="0"/>
            </a:endParaRPr>
          </a:p>
          <a:p>
            <a:pPr marL="1254125" lvl="3" indent="0" eaLnBrk="1" hangingPunct="1">
              <a:buNone/>
            </a:pPr>
            <a:r>
              <a:rPr lang="en-US" altLang="en-US" dirty="0">
                <a:latin typeface="Courier New" panose="02070309020205020404" pitchFamily="49" charset="0"/>
                <a:ea typeface="Arial" panose="020B0604020202020204" pitchFamily="34" charset="0"/>
                <a:cs typeface="Courier New" panose="02070309020205020404" pitchFamily="49" charset="0"/>
              </a:rPr>
              <a:t>EXPOSE 9080</a:t>
            </a:r>
          </a:p>
          <a:p>
            <a:pPr marL="1254125" lvl="3" indent="0" eaLnBrk="1" hangingPunct="1">
              <a:buNone/>
            </a:pPr>
            <a:r>
              <a:rPr lang="en-US" altLang="en-US" dirty="0">
                <a:latin typeface="Courier New" panose="02070309020205020404" pitchFamily="49" charset="0"/>
                <a:ea typeface="Arial" panose="020B0604020202020204" pitchFamily="34" charset="0"/>
                <a:cs typeface="Courier New" panose="02070309020205020404" pitchFamily="49" charset="0"/>
              </a:rPr>
              <a:t>CMD /root/</a:t>
            </a:r>
            <a:r>
              <a:rPr lang="en-US" altLang="en-US" dirty="0" err="1">
                <a:latin typeface="Courier New" panose="02070309020205020404" pitchFamily="49" charset="0"/>
                <a:ea typeface="Arial" panose="020B0604020202020204" pitchFamily="34" charset="0"/>
                <a:cs typeface="Courier New" panose="02070309020205020404" pitchFamily="49" charset="0"/>
              </a:rPr>
              <a:t>wlp</a:t>
            </a:r>
            <a:r>
              <a:rPr lang="en-US" altLang="en-US" dirty="0">
                <a:latin typeface="Courier New" panose="02070309020205020404" pitchFamily="49" charset="0"/>
                <a:ea typeface="Arial" panose="020B0604020202020204" pitchFamily="34" charset="0"/>
                <a:cs typeface="Courier New" panose="02070309020205020404" pitchFamily="49" charset="0"/>
              </a:rPr>
              <a:t>/bin/server run </a:t>
            </a:r>
            <a:r>
              <a:rPr lang="en-US" altLang="en-US" dirty="0" err="1" smtClean="0">
                <a:latin typeface="Courier New" panose="02070309020205020404" pitchFamily="49" charset="0"/>
                <a:ea typeface="Arial" panose="020B0604020202020204" pitchFamily="34" charset="0"/>
                <a:cs typeface="Courier New" panose="02070309020205020404" pitchFamily="49" charset="0"/>
              </a:rPr>
              <a:t>JAXWSEJBSample</a:t>
            </a:r>
            <a:endParaRPr lang="en-US" altLang="en-US" dirty="0" smtClean="0">
              <a:latin typeface="Courier New" panose="02070309020205020404" pitchFamily="49" charset="0"/>
              <a:ea typeface="Arial" panose="020B0604020202020204" pitchFamily="34" charset="0"/>
              <a:cs typeface="Courier New" panose="02070309020205020404" pitchFamily="49" charset="0"/>
            </a:endParaRPr>
          </a:p>
          <a:p>
            <a:pPr marL="633413" lvl="1" indent="-342900" eaLnBrk="1" hangingPunct="1">
              <a:buFont typeface="+mj-lt"/>
              <a:buAutoNum type="arabicPeriod"/>
            </a:pPr>
            <a:endParaRPr lang="en-US" altLang="en-US" sz="1800" dirty="0" smtClean="0">
              <a:cs typeface="Arial" panose="020B0604020202020204" pitchFamily="34" charset="0"/>
            </a:endParaRPr>
          </a:p>
          <a:p>
            <a:pPr marL="633413" lvl="1" indent="-342900" eaLnBrk="1" hangingPunct="1">
              <a:buFont typeface="+mj-lt"/>
              <a:buAutoNum type="arabicPeriod"/>
            </a:pPr>
            <a:r>
              <a:rPr lang="en-US" altLang="en-US" sz="1800" dirty="0" smtClean="0">
                <a:cs typeface="Arial" panose="020B0604020202020204" pitchFamily="34" charset="0"/>
              </a:rPr>
              <a:t>Create a Docker image from </a:t>
            </a:r>
            <a:r>
              <a:rPr lang="en-US" altLang="en-US" sz="1800" dirty="0" err="1" smtClean="0">
                <a:cs typeface="Arial" panose="020B0604020202020204" pitchFamily="34" charset="0"/>
              </a:rPr>
              <a:t>Dockerfile</a:t>
            </a:r>
            <a:r>
              <a:rPr lang="en-US" altLang="en-US" sz="1800" dirty="0" smtClean="0">
                <a:cs typeface="Arial" panose="020B0604020202020204" pitchFamily="34" charset="0"/>
              </a:rPr>
              <a:t> by using </a:t>
            </a:r>
            <a:r>
              <a:rPr lang="en-US" altLang="en-US" sz="1800" b="1" i="1" dirty="0" err="1" smtClean="0">
                <a:cs typeface="Arial" panose="020B0604020202020204" pitchFamily="34" charset="0"/>
              </a:rPr>
              <a:t>docker</a:t>
            </a:r>
            <a:r>
              <a:rPr lang="en-US" altLang="en-US" sz="1800" b="1" i="1" dirty="0" smtClean="0">
                <a:cs typeface="Arial" panose="020B0604020202020204" pitchFamily="34" charset="0"/>
              </a:rPr>
              <a:t> build </a:t>
            </a:r>
            <a:r>
              <a:rPr lang="en-US" altLang="en-US" sz="1800" dirty="0" smtClean="0">
                <a:cs typeface="Arial" panose="020B0604020202020204" pitchFamily="34" charset="0"/>
              </a:rPr>
              <a:t>command</a:t>
            </a:r>
          </a:p>
          <a:p>
            <a:pPr marL="1204913" lvl="3" indent="0" eaLnBrk="1" hangingPunct="1">
              <a:buNone/>
            </a:pPr>
            <a:r>
              <a:rPr lang="en-US" altLang="en-US" sz="1800" dirty="0" smtClean="0">
                <a:cs typeface="Arial" panose="020B0604020202020204" pitchFamily="34" charset="0"/>
              </a:rPr>
              <a:t>#  </a:t>
            </a:r>
            <a:r>
              <a:rPr lang="en-US" altLang="en-US" sz="1800" dirty="0" err="1" smtClean="0">
                <a:cs typeface="Arial" panose="020B0604020202020204" pitchFamily="34" charset="0"/>
              </a:rPr>
              <a:t>docker</a:t>
            </a:r>
            <a:r>
              <a:rPr lang="en-US" altLang="en-US" sz="1800" dirty="0" smtClean="0">
                <a:cs typeface="Arial" panose="020B0604020202020204" pitchFamily="34" charset="0"/>
              </a:rPr>
              <a:t> </a:t>
            </a:r>
            <a:r>
              <a:rPr lang="en-US" altLang="en-US" sz="1800" dirty="0">
                <a:cs typeface="Arial" panose="020B0604020202020204" pitchFamily="34" charset="0"/>
              </a:rPr>
              <a:t>build -t name/</a:t>
            </a:r>
            <a:r>
              <a:rPr lang="en-US" altLang="en-US" sz="1800" dirty="0" err="1">
                <a:cs typeface="Arial" panose="020B0604020202020204" pitchFamily="34" charset="0"/>
              </a:rPr>
              <a:t>wlp</a:t>
            </a:r>
            <a:r>
              <a:rPr lang="en-US" altLang="en-US" sz="1800" dirty="0">
                <a:cs typeface="Arial" panose="020B0604020202020204" pitchFamily="34" charset="0"/>
              </a:rPr>
              <a:t> </a:t>
            </a:r>
            <a:r>
              <a:rPr lang="en-US" altLang="en-US" b="1" dirty="0" smtClean="0">
                <a:cs typeface="Arial" panose="020B0604020202020204" pitchFamily="34" charset="0"/>
              </a:rPr>
              <a:t>.</a:t>
            </a:r>
            <a:endParaRPr lang="en-US" altLang="en-US" b="1" dirty="0">
              <a:cs typeface="Arial" panose="020B0604020202020204" pitchFamily="34" charset="0"/>
            </a:endParaRPr>
          </a:p>
          <a:p>
            <a:pPr marL="682625" lvl="1" indent="-342900">
              <a:buFont typeface="+mj-lt"/>
              <a:buAutoNum type="arabicPeriod"/>
            </a:pPr>
            <a:endParaRPr lang="en-US" dirty="0"/>
          </a:p>
        </p:txBody>
      </p:sp>
      <p:sp>
        <p:nvSpPr>
          <p:cNvPr id="4" name="Title 1"/>
          <p:cNvSpPr>
            <a:spLocks noGrp="1"/>
          </p:cNvSpPr>
          <p:nvPr>
            <p:ph type="title"/>
          </p:nvPr>
        </p:nvSpPr>
        <p:spPr>
          <a:xfrm>
            <a:off x="261938" y="548641"/>
            <a:ext cx="8745646" cy="502920"/>
          </a:xfrm>
        </p:spPr>
        <p:txBody>
          <a:bodyPr/>
          <a:lstStyle/>
          <a:p>
            <a:pPr eaLnBrk="1" hangingPunct="1">
              <a:defRPr/>
            </a:pPr>
            <a:r>
              <a:rPr lang="en-US" sz="2800" dirty="0" smtClean="0">
                <a:solidFill>
                  <a:srgbClr val="0070C0"/>
                </a:solidFill>
              </a:rPr>
              <a:t>Basic Docker Commands as an example - Build</a:t>
            </a:r>
            <a:endParaRPr lang="en-US" sz="2800" dirty="0">
              <a:solidFill>
                <a:srgbClr val="0070C0"/>
              </a:solidFill>
            </a:endParaRPr>
          </a:p>
        </p:txBody>
      </p:sp>
    </p:spTree>
    <p:extLst>
      <p:ext uri="{BB962C8B-B14F-4D97-AF65-F5344CB8AC3E}">
        <p14:creationId xmlns:p14="http://schemas.microsoft.com/office/powerpoint/2010/main" xmlns="" val="2567690901"/>
      </p:ext>
    </p:extLst>
  </p:cSld>
  <p:clrMapOvr>
    <a:masterClrMapping/>
  </p:clrMapOvr>
  <p:transition spd="med"/>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Content Placeholder 2"/>
          <p:cNvSpPr>
            <a:spLocks noGrp="1"/>
          </p:cNvSpPr>
          <p:nvPr>
            <p:ph idx="1"/>
          </p:nvPr>
        </p:nvSpPr>
        <p:spPr>
          <a:xfrm>
            <a:off x="261938" y="914400"/>
            <a:ext cx="8745646" cy="5593079"/>
          </a:xfrm>
        </p:spPr>
        <p:txBody>
          <a:bodyPr/>
          <a:lstStyle/>
          <a:p>
            <a:pPr eaLnBrk="1" hangingPunct="1"/>
            <a:r>
              <a:rPr lang="en-US" altLang="en-US" sz="1800" dirty="0" smtClean="0">
                <a:cs typeface="Arial" panose="020B0604020202020204" pitchFamily="34" charset="0"/>
              </a:rPr>
              <a:t>Push /Pull Docker image</a:t>
            </a:r>
          </a:p>
          <a:p>
            <a:pPr lvl="1" eaLnBrk="1" hangingPunct="1"/>
            <a:r>
              <a:rPr lang="en-US" altLang="en-US" sz="1800" dirty="0" smtClean="0">
                <a:cs typeface="Arial" panose="020B0604020202020204" pitchFamily="34" charset="0"/>
              </a:rPr>
              <a:t>On Docker image build server</a:t>
            </a:r>
          </a:p>
          <a:p>
            <a:pPr lvl="2" eaLnBrk="1" hangingPunct="1"/>
            <a:r>
              <a:rPr lang="en-US" altLang="en-US" sz="1800" dirty="0" smtClean="0">
                <a:cs typeface="Arial" panose="020B0604020202020204" pitchFamily="34" charset="0"/>
              </a:rPr>
              <a:t>To tag the Docker</a:t>
            </a:r>
            <a:r>
              <a:rPr lang="en-US" sz="1800" dirty="0" smtClean="0"/>
              <a:t> </a:t>
            </a:r>
            <a:r>
              <a:rPr lang="en-US" sz="1800" dirty="0"/>
              <a:t>image to a name </a:t>
            </a:r>
            <a:r>
              <a:rPr lang="en-US" sz="1800" dirty="0" smtClean="0"/>
              <a:t>on local </a:t>
            </a:r>
            <a:r>
              <a:rPr lang="en-US" sz="1800" dirty="0"/>
              <a:t>or </a:t>
            </a:r>
            <a:r>
              <a:rPr lang="en-US" sz="1800" dirty="0" smtClean="0"/>
              <a:t>registry by </a:t>
            </a:r>
            <a:r>
              <a:rPr lang="en-US" sz="1800" b="1" i="1" dirty="0" err="1" smtClean="0"/>
              <a:t>docker</a:t>
            </a:r>
            <a:r>
              <a:rPr lang="en-US" sz="1800" b="1" i="1" dirty="0" smtClean="0"/>
              <a:t> tag </a:t>
            </a:r>
            <a:r>
              <a:rPr lang="en-US" sz="1800" dirty="0" smtClean="0"/>
              <a:t>command</a:t>
            </a:r>
            <a:endParaRPr lang="en-US" altLang="en-US" sz="1800" dirty="0" smtClean="0">
              <a:cs typeface="Arial" panose="020B0604020202020204" pitchFamily="34" charset="0"/>
            </a:endParaRPr>
          </a:p>
          <a:p>
            <a:pPr lvl="2" eaLnBrk="1" hangingPunct="1">
              <a:buFontTx/>
              <a:buNone/>
            </a:pPr>
            <a:r>
              <a:rPr lang="en-US" altLang="en-US" sz="1800" dirty="0" smtClean="0">
                <a:latin typeface="Courier New" panose="02070309020205020404" pitchFamily="49" charset="0"/>
                <a:ea typeface="Arial" panose="020B0604020202020204" pitchFamily="34" charset="0"/>
                <a:cs typeface="Courier New" panose="02070309020205020404" pitchFamily="49" charset="0"/>
              </a:rPr>
              <a:t># </a:t>
            </a:r>
            <a:r>
              <a:rPr lang="en-US" altLang="en-US" sz="1800" dirty="0" err="1" smtClean="0">
                <a:latin typeface="Courier New" panose="02070309020205020404" pitchFamily="49" charset="0"/>
                <a:ea typeface="Arial" panose="020B0604020202020204" pitchFamily="34" charset="0"/>
                <a:cs typeface="Courier New" panose="02070309020205020404" pitchFamily="49" charset="0"/>
              </a:rPr>
              <a:t>docker</a:t>
            </a:r>
            <a:r>
              <a:rPr lang="en-US" altLang="en-US" sz="1800" dirty="0" smtClean="0">
                <a:latin typeface="Courier New" panose="02070309020205020404" pitchFamily="49" charset="0"/>
                <a:ea typeface="Arial" panose="020B0604020202020204" pitchFamily="34" charset="0"/>
                <a:cs typeface="Courier New" panose="02070309020205020404" pitchFamily="49" charset="0"/>
              </a:rPr>
              <a:t> tag name/</a:t>
            </a:r>
            <a:r>
              <a:rPr lang="en-US" altLang="en-US" sz="1800" dirty="0" err="1" smtClean="0">
                <a:latin typeface="Courier New" panose="02070309020205020404" pitchFamily="49" charset="0"/>
                <a:ea typeface="Arial" panose="020B0604020202020204" pitchFamily="34" charset="0"/>
                <a:cs typeface="Courier New" panose="02070309020205020404" pitchFamily="49" charset="0"/>
              </a:rPr>
              <a:t>wlp</a:t>
            </a:r>
            <a:r>
              <a:rPr lang="en-US" altLang="en-US" sz="1800" dirty="0" smtClean="0">
                <a:latin typeface="Courier New" panose="02070309020205020404" pitchFamily="49" charset="0"/>
                <a:ea typeface="Arial" panose="020B0604020202020204" pitchFamily="34" charset="0"/>
                <a:cs typeface="Courier New" panose="02070309020205020404" pitchFamily="49" charset="0"/>
              </a:rPr>
              <a:t> 10.0.0.1:5000/name/</a:t>
            </a:r>
            <a:r>
              <a:rPr lang="en-US" altLang="en-US" sz="1800" dirty="0" err="1" smtClean="0">
                <a:latin typeface="Courier New" panose="02070309020205020404" pitchFamily="49" charset="0"/>
                <a:ea typeface="Arial" panose="020B0604020202020204" pitchFamily="34" charset="0"/>
                <a:cs typeface="Courier New" panose="02070309020205020404" pitchFamily="49" charset="0"/>
              </a:rPr>
              <a:t>wlp</a:t>
            </a:r>
            <a:endParaRPr lang="en-US" altLang="en-US" sz="1800" dirty="0" smtClean="0">
              <a:latin typeface="Courier New" panose="02070309020205020404" pitchFamily="49" charset="0"/>
              <a:ea typeface="Arial" panose="020B0604020202020204" pitchFamily="34" charset="0"/>
              <a:cs typeface="Courier New" panose="02070309020205020404" pitchFamily="49" charset="0"/>
            </a:endParaRPr>
          </a:p>
          <a:p>
            <a:pPr lvl="2" eaLnBrk="1" hangingPunct="1"/>
            <a:r>
              <a:rPr lang="en-US" altLang="en-US" sz="1800" dirty="0" smtClean="0">
                <a:cs typeface="Arial" panose="020B0604020202020204" pitchFamily="34" charset="0"/>
              </a:rPr>
              <a:t>To push the </a:t>
            </a:r>
            <a:r>
              <a:rPr lang="en-US" altLang="en-US" sz="1800" dirty="0">
                <a:cs typeface="Arial" panose="020B0604020202020204" pitchFamily="34" charset="0"/>
              </a:rPr>
              <a:t>Docker </a:t>
            </a:r>
            <a:r>
              <a:rPr lang="en-US" altLang="en-US" sz="1800" dirty="0" smtClean="0">
                <a:cs typeface="Arial" panose="020B0604020202020204" pitchFamily="34" charset="0"/>
              </a:rPr>
              <a:t>image to registry from local system by </a:t>
            </a:r>
            <a:r>
              <a:rPr lang="en-US" altLang="en-US" sz="1800" b="1" i="1" dirty="0" err="1" smtClean="0">
                <a:cs typeface="Arial" panose="020B0604020202020204" pitchFamily="34" charset="0"/>
              </a:rPr>
              <a:t>docker</a:t>
            </a:r>
            <a:r>
              <a:rPr lang="en-US" altLang="en-US" sz="1800" b="1" i="1" dirty="0" smtClean="0">
                <a:cs typeface="Arial" panose="020B0604020202020204" pitchFamily="34" charset="0"/>
              </a:rPr>
              <a:t> push </a:t>
            </a:r>
            <a:r>
              <a:rPr lang="en-US" altLang="en-US" sz="1800" dirty="0" smtClean="0">
                <a:cs typeface="Arial" panose="020B0604020202020204" pitchFamily="34" charset="0"/>
              </a:rPr>
              <a:t>command</a:t>
            </a:r>
            <a:endParaRPr lang="en-US" altLang="en-US" sz="1800" dirty="0">
              <a:cs typeface="Arial" panose="020B0604020202020204" pitchFamily="34" charset="0"/>
            </a:endParaRPr>
          </a:p>
          <a:p>
            <a:pPr lvl="2" eaLnBrk="1" hangingPunct="1">
              <a:buFontTx/>
              <a:buNone/>
            </a:pPr>
            <a:r>
              <a:rPr lang="en-US" altLang="en-US" sz="1800" dirty="0" smtClean="0">
                <a:latin typeface="Courier New" panose="02070309020205020404" pitchFamily="49" charset="0"/>
                <a:ea typeface="Arial" panose="020B0604020202020204" pitchFamily="34" charset="0"/>
                <a:cs typeface="Courier New" panose="02070309020205020404" pitchFamily="49" charset="0"/>
              </a:rPr>
              <a:t># </a:t>
            </a:r>
            <a:r>
              <a:rPr lang="en-US" altLang="en-US" sz="1800" dirty="0" err="1" smtClean="0">
                <a:latin typeface="Courier New" panose="02070309020205020404" pitchFamily="49" charset="0"/>
                <a:ea typeface="Arial" panose="020B0604020202020204" pitchFamily="34" charset="0"/>
                <a:cs typeface="Courier New" panose="02070309020205020404" pitchFamily="49" charset="0"/>
              </a:rPr>
              <a:t>docker</a:t>
            </a:r>
            <a:r>
              <a:rPr lang="en-US" altLang="en-US" sz="1800" dirty="0" smtClean="0">
                <a:latin typeface="Courier New" panose="02070309020205020404" pitchFamily="49" charset="0"/>
                <a:ea typeface="Arial" panose="020B0604020202020204" pitchFamily="34" charset="0"/>
                <a:cs typeface="Courier New" panose="02070309020205020404" pitchFamily="49" charset="0"/>
              </a:rPr>
              <a:t> push 10.0.0.1:5000/name/</a:t>
            </a:r>
            <a:r>
              <a:rPr lang="en-US" altLang="en-US" sz="1800" dirty="0" err="1" smtClean="0">
                <a:latin typeface="Courier New" panose="02070309020205020404" pitchFamily="49" charset="0"/>
                <a:ea typeface="Arial" panose="020B0604020202020204" pitchFamily="34" charset="0"/>
                <a:cs typeface="Courier New" panose="02070309020205020404" pitchFamily="49" charset="0"/>
              </a:rPr>
              <a:t>wlp</a:t>
            </a:r>
            <a:endParaRPr lang="en-US" altLang="en-US" sz="1800" dirty="0" smtClean="0">
              <a:latin typeface="Courier New" panose="02070309020205020404" pitchFamily="49" charset="0"/>
              <a:ea typeface="Arial" panose="020B0604020202020204" pitchFamily="34" charset="0"/>
              <a:cs typeface="Courier New" panose="02070309020205020404" pitchFamily="49" charset="0"/>
            </a:endParaRPr>
          </a:p>
          <a:p>
            <a:pPr lvl="1" eaLnBrk="1" hangingPunct="1"/>
            <a:r>
              <a:rPr lang="en-US" altLang="en-US" sz="1800" dirty="0" smtClean="0">
                <a:cs typeface="Arial" panose="020B0604020202020204" pitchFamily="34" charset="0"/>
              </a:rPr>
              <a:t>On Docker host to run containers</a:t>
            </a:r>
          </a:p>
          <a:p>
            <a:pPr lvl="2" eaLnBrk="1" hangingPunct="1"/>
            <a:r>
              <a:rPr lang="en-US" altLang="en-US" sz="1800" dirty="0" smtClean="0">
                <a:cs typeface="Arial" panose="020B0604020202020204" pitchFamily="34" charset="0"/>
              </a:rPr>
              <a:t>To pull the image from repository by </a:t>
            </a:r>
            <a:r>
              <a:rPr lang="en-US" altLang="en-US" sz="1800" b="1" i="1" dirty="0" err="1" smtClean="0">
                <a:cs typeface="Arial" panose="020B0604020202020204" pitchFamily="34" charset="0"/>
              </a:rPr>
              <a:t>docker</a:t>
            </a:r>
            <a:r>
              <a:rPr lang="en-US" altLang="en-US" sz="1800" b="1" i="1" dirty="0" smtClean="0">
                <a:cs typeface="Arial" panose="020B0604020202020204" pitchFamily="34" charset="0"/>
              </a:rPr>
              <a:t> pull </a:t>
            </a:r>
            <a:r>
              <a:rPr lang="en-US" altLang="en-US" sz="1800" dirty="0" smtClean="0">
                <a:cs typeface="Arial" panose="020B0604020202020204" pitchFamily="34" charset="0"/>
              </a:rPr>
              <a:t>command</a:t>
            </a:r>
          </a:p>
          <a:p>
            <a:pPr lvl="2" eaLnBrk="1" hangingPunct="1">
              <a:buFontTx/>
              <a:buNone/>
            </a:pPr>
            <a:r>
              <a:rPr lang="en-US" altLang="en-US" sz="1800" dirty="0" smtClean="0">
                <a:latin typeface="Courier New" panose="02070309020205020404" pitchFamily="49" charset="0"/>
                <a:cs typeface="Arial" panose="020B0604020202020204" pitchFamily="34" charset="0"/>
              </a:rPr>
              <a:t># </a:t>
            </a:r>
            <a:r>
              <a:rPr lang="en-US" altLang="en-US" sz="1800" dirty="0" err="1" smtClean="0">
                <a:latin typeface="Courier New" panose="02070309020205020404" pitchFamily="49" charset="0"/>
                <a:cs typeface="Arial" panose="020B0604020202020204" pitchFamily="34" charset="0"/>
              </a:rPr>
              <a:t>docker</a:t>
            </a:r>
            <a:r>
              <a:rPr lang="en-US" altLang="en-US" sz="1800" dirty="0" smtClean="0">
                <a:latin typeface="Courier New" panose="02070309020205020404" pitchFamily="49" charset="0"/>
                <a:cs typeface="Arial" panose="020B0604020202020204" pitchFamily="34" charset="0"/>
              </a:rPr>
              <a:t> pull 10.0.0.1:5000/name/</a:t>
            </a:r>
            <a:r>
              <a:rPr lang="en-US" altLang="en-US" sz="1800" dirty="0" err="1" smtClean="0">
                <a:latin typeface="Courier New" panose="02070309020205020404" pitchFamily="49" charset="0"/>
                <a:cs typeface="Arial" panose="020B0604020202020204" pitchFamily="34" charset="0"/>
              </a:rPr>
              <a:t>wlp</a:t>
            </a:r>
            <a:endParaRPr lang="en-US" altLang="en-US" sz="1800" dirty="0" smtClean="0">
              <a:latin typeface="Courier New" panose="02070309020205020404" pitchFamily="49" charset="0"/>
              <a:cs typeface="Arial" panose="020B0604020202020204" pitchFamily="34" charset="0"/>
            </a:endParaRPr>
          </a:p>
          <a:p>
            <a:pPr lvl="2" eaLnBrk="1" hangingPunct="1">
              <a:buNone/>
            </a:pPr>
            <a:r>
              <a:rPr lang="en-US" altLang="en-US" sz="1800" dirty="0">
                <a:cs typeface="Arial" panose="020B0604020202020204" pitchFamily="34" charset="0"/>
              </a:rPr>
              <a:t>To </a:t>
            </a:r>
            <a:r>
              <a:rPr lang="en-US" sz="1800" dirty="0" smtClean="0"/>
              <a:t>create </a:t>
            </a:r>
            <a:r>
              <a:rPr lang="en-US" sz="1800" dirty="0"/>
              <a:t>and </a:t>
            </a:r>
            <a:r>
              <a:rPr lang="en-US" sz="1800" dirty="0" smtClean="0"/>
              <a:t>start </a:t>
            </a:r>
            <a:r>
              <a:rPr lang="en-US" sz="1800" dirty="0"/>
              <a:t>a container in one </a:t>
            </a:r>
            <a:r>
              <a:rPr lang="en-US" sz="1800" dirty="0" smtClean="0"/>
              <a:t>operation </a:t>
            </a:r>
            <a:r>
              <a:rPr lang="en-US" altLang="en-US" sz="1800" dirty="0" smtClean="0">
                <a:cs typeface="Arial" panose="020B0604020202020204" pitchFamily="34" charset="0"/>
              </a:rPr>
              <a:t>by </a:t>
            </a:r>
            <a:r>
              <a:rPr lang="en-US" altLang="en-US" sz="1800" b="1" i="1" dirty="0" err="1">
                <a:cs typeface="Arial" panose="020B0604020202020204" pitchFamily="34" charset="0"/>
              </a:rPr>
              <a:t>docker</a:t>
            </a:r>
            <a:r>
              <a:rPr lang="en-US" altLang="en-US" sz="1800" b="1" i="1" dirty="0">
                <a:cs typeface="Arial" panose="020B0604020202020204" pitchFamily="34" charset="0"/>
              </a:rPr>
              <a:t> </a:t>
            </a:r>
            <a:r>
              <a:rPr lang="en-US" altLang="en-US" sz="1800" b="1" i="1" dirty="0" smtClean="0">
                <a:cs typeface="Arial" panose="020B0604020202020204" pitchFamily="34" charset="0"/>
              </a:rPr>
              <a:t>run </a:t>
            </a:r>
            <a:r>
              <a:rPr lang="en-US" altLang="en-US" sz="1800" dirty="0">
                <a:cs typeface="Arial" panose="020B0604020202020204" pitchFamily="34" charset="0"/>
              </a:rPr>
              <a:t>command</a:t>
            </a:r>
          </a:p>
          <a:p>
            <a:pPr lvl="2" eaLnBrk="1" hangingPunct="1">
              <a:buFontTx/>
              <a:buNone/>
            </a:pPr>
            <a:r>
              <a:rPr lang="en-US" altLang="en-US" sz="1800" dirty="0" smtClean="0">
                <a:latin typeface="Courier New" panose="02070309020205020404" pitchFamily="49" charset="0"/>
                <a:cs typeface="Arial" panose="020B0604020202020204" pitchFamily="34" charset="0"/>
              </a:rPr>
              <a:t># </a:t>
            </a:r>
            <a:r>
              <a:rPr lang="en-US" altLang="en-US" sz="1800" dirty="0" err="1" smtClean="0">
                <a:latin typeface="Courier New" panose="02070309020205020404" pitchFamily="49" charset="0"/>
                <a:cs typeface="Arial" panose="020B0604020202020204" pitchFamily="34" charset="0"/>
              </a:rPr>
              <a:t>docker</a:t>
            </a:r>
            <a:r>
              <a:rPr lang="en-US" altLang="en-US" sz="1800" dirty="0" smtClean="0">
                <a:latin typeface="Courier New" panose="02070309020205020404" pitchFamily="49" charset="0"/>
                <a:cs typeface="Arial" panose="020B0604020202020204" pitchFamily="34" charset="0"/>
              </a:rPr>
              <a:t> run -p 1930:9080 -d --name test1 10.0.0.1:5000/name/</a:t>
            </a:r>
            <a:r>
              <a:rPr lang="en-US" altLang="en-US" sz="1800" dirty="0" err="1" smtClean="0">
                <a:latin typeface="Courier New" panose="02070309020205020404" pitchFamily="49" charset="0"/>
                <a:cs typeface="Arial" panose="020B0604020202020204" pitchFamily="34" charset="0"/>
              </a:rPr>
              <a:t>wlp</a:t>
            </a:r>
            <a:endParaRPr lang="en-US" altLang="en-US" sz="1800" dirty="0" smtClean="0">
              <a:latin typeface="Courier New" panose="02070309020205020404" pitchFamily="49" charset="0"/>
              <a:cs typeface="Arial" panose="020B0604020202020204" pitchFamily="34" charset="0"/>
            </a:endParaRPr>
          </a:p>
          <a:p>
            <a:pPr eaLnBrk="1" hangingPunct="1">
              <a:buFontTx/>
              <a:buNone/>
            </a:pPr>
            <a:endParaRPr lang="en-US" altLang="en-US" sz="1800" dirty="0" smtClean="0">
              <a:cs typeface="Arial" panose="020B0604020202020204" pitchFamily="34" charset="0"/>
            </a:endParaRPr>
          </a:p>
          <a:p>
            <a:pPr eaLnBrk="1" hangingPunct="1"/>
            <a:r>
              <a:rPr lang="en-US" altLang="en-US" sz="1800" dirty="0" smtClean="0">
                <a:cs typeface="Arial" panose="020B0604020202020204" pitchFamily="34" charset="0"/>
              </a:rPr>
              <a:t>Run the Docker image</a:t>
            </a:r>
          </a:p>
          <a:p>
            <a:pPr lvl="1" eaLnBrk="1" hangingPunct="1"/>
            <a:r>
              <a:rPr lang="en-US" altLang="en-US" sz="1800" dirty="0" smtClean="0">
                <a:cs typeface="Arial" panose="020B0604020202020204" pitchFamily="34" charset="0"/>
              </a:rPr>
              <a:t>In browser, go to </a:t>
            </a:r>
            <a:r>
              <a:rPr lang="en-US" altLang="en-US" sz="1800" dirty="0" smtClean="0">
                <a:latin typeface="Courier New" panose="02070309020205020404" pitchFamily="49" charset="0"/>
                <a:cs typeface="Courier New" panose="02070309020205020404" pitchFamily="49" charset="0"/>
              </a:rPr>
              <a:t>http://&lt;</a:t>
            </a:r>
            <a:r>
              <a:rPr lang="en-US" altLang="en-US" sz="1800" dirty="0" err="1" smtClean="0">
                <a:latin typeface="Courier New" panose="02070309020205020404" pitchFamily="49" charset="0"/>
                <a:cs typeface="Courier New" panose="02070309020205020404" pitchFamily="49" charset="0"/>
              </a:rPr>
              <a:t>docker</a:t>
            </a:r>
            <a:r>
              <a:rPr lang="en-US" altLang="en-US" sz="1800" dirty="0" smtClean="0">
                <a:latin typeface="Courier New" panose="02070309020205020404" pitchFamily="49" charset="0"/>
                <a:cs typeface="Courier New" panose="02070309020205020404" pitchFamily="49" charset="0"/>
              </a:rPr>
              <a:t>-host&gt;:1930/...</a:t>
            </a:r>
          </a:p>
        </p:txBody>
      </p:sp>
      <p:sp>
        <p:nvSpPr>
          <p:cNvPr id="5" name="Title 1"/>
          <p:cNvSpPr txBox="1">
            <a:spLocks/>
          </p:cNvSpPr>
          <p:nvPr/>
        </p:nvSpPr>
        <p:spPr bwMode="auto">
          <a:xfrm>
            <a:off x="261938" y="548641"/>
            <a:ext cx="8745646" cy="50292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0" tIns="45720" rIns="91440" bIns="45720" numCol="1" anchor="t" anchorCtr="0" compatLnSpc="1">
            <a:prstTxWarp prst="textNoShape">
              <a:avLst/>
            </a:prstTxWarp>
          </a:bodyPr>
          <a:lstStyle>
            <a:lvl1pPr algn="l" rtl="0" eaLnBrk="0" fontAlgn="base" hangingPunct="0">
              <a:spcBef>
                <a:spcPct val="0"/>
              </a:spcBef>
              <a:spcAft>
                <a:spcPct val="0"/>
              </a:spcAft>
              <a:defRPr sz="2200">
                <a:solidFill>
                  <a:schemeClr val="tx1"/>
                </a:solidFill>
                <a:latin typeface="+mj-lt"/>
                <a:ea typeface="MS PGothic" panose="020B0600070205080204" pitchFamily="34" charset="-128"/>
                <a:cs typeface="+mj-cs"/>
              </a:defRPr>
            </a:lvl1pPr>
            <a:lvl2pPr algn="l" rtl="0" eaLnBrk="0" fontAlgn="base" hangingPunct="0">
              <a:spcBef>
                <a:spcPct val="0"/>
              </a:spcBef>
              <a:spcAft>
                <a:spcPct val="0"/>
              </a:spcAft>
              <a:defRPr sz="2200">
                <a:solidFill>
                  <a:schemeClr val="tx1"/>
                </a:solidFill>
                <a:latin typeface="Arial" pitchFamily="34" charset="0"/>
                <a:ea typeface="MS PGothic" panose="020B0600070205080204" pitchFamily="34" charset="-128"/>
              </a:defRPr>
            </a:lvl2pPr>
            <a:lvl3pPr algn="l" rtl="0" eaLnBrk="0" fontAlgn="base" hangingPunct="0">
              <a:spcBef>
                <a:spcPct val="0"/>
              </a:spcBef>
              <a:spcAft>
                <a:spcPct val="0"/>
              </a:spcAft>
              <a:defRPr sz="2200">
                <a:solidFill>
                  <a:schemeClr val="tx1"/>
                </a:solidFill>
                <a:latin typeface="Arial" pitchFamily="34" charset="0"/>
                <a:ea typeface="MS PGothic" panose="020B0600070205080204" pitchFamily="34" charset="-128"/>
              </a:defRPr>
            </a:lvl3pPr>
            <a:lvl4pPr algn="l" rtl="0" eaLnBrk="0" fontAlgn="base" hangingPunct="0">
              <a:spcBef>
                <a:spcPct val="0"/>
              </a:spcBef>
              <a:spcAft>
                <a:spcPct val="0"/>
              </a:spcAft>
              <a:defRPr sz="2200">
                <a:solidFill>
                  <a:schemeClr val="tx1"/>
                </a:solidFill>
                <a:latin typeface="Arial" pitchFamily="34" charset="0"/>
                <a:ea typeface="MS PGothic" panose="020B0600070205080204" pitchFamily="34" charset="-128"/>
              </a:defRPr>
            </a:lvl4pPr>
            <a:lvl5pPr algn="l" rtl="0" eaLnBrk="0" fontAlgn="base" hangingPunct="0">
              <a:spcBef>
                <a:spcPct val="0"/>
              </a:spcBef>
              <a:spcAft>
                <a:spcPct val="0"/>
              </a:spcAft>
              <a:defRPr sz="2200">
                <a:solidFill>
                  <a:schemeClr val="tx1"/>
                </a:solidFill>
                <a:latin typeface="Arial" pitchFamily="34" charset="0"/>
                <a:ea typeface="MS PGothic" panose="020B0600070205080204" pitchFamily="34" charset="-128"/>
              </a:defRPr>
            </a:lvl5pPr>
            <a:lvl6pPr marL="457200" algn="l" rtl="0" fontAlgn="base">
              <a:spcBef>
                <a:spcPct val="0"/>
              </a:spcBef>
              <a:spcAft>
                <a:spcPct val="0"/>
              </a:spcAft>
              <a:defRPr sz="2200">
                <a:solidFill>
                  <a:schemeClr val="tx1"/>
                </a:solidFill>
                <a:latin typeface="Arial" pitchFamily="34" charset="0"/>
              </a:defRPr>
            </a:lvl6pPr>
            <a:lvl7pPr marL="914400" algn="l" rtl="0" fontAlgn="base">
              <a:spcBef>
                <a:spcPct val="0"/>
              </a:spcBef>
              <a:spcAft>
                <a:spcPct val="0"/>
              </a:spcAft>
              <a:defRPr sz="2200">
                <a:solidFill>
                  <a:schemeClr val="tx1"/>
                </a:solidFill>
                <a:latin typeface="Arial" pitchFamily="34" charset="0"/>
              </a:defRPr>
            </a:lvl7pPr>
            <a:lvl8pPr marL="1371600" algn="l" rtl="0" fontAlgn="base">
              <a:spcBef>
                <a:spcPct val="0"/>
              </a:spcBef>
              <a:spcAft>
                <a:spcPct val="0"/>
              </a:spcAft>
              <a:defRPr sz="2200">
                <a:solidFill>
                  <a:schemeClr val="tx1"/>
                </a:solidFill>
                <a:latin typeface="Arial" pitchFamily="34" charset="0"/>
              </a:defRPr>
            </a:lvl8pPr>
            <a:lvl9pPr marL="1828800" algn="l" rtl="0" fontAlgn="base">
              <a:spcBef>
                <a:spcPct val="0"/>
              </a:spcBef>
              <a:spcAft>
                <a:spcPct val="0"/>
              </a:spcAft>
              <a:defRPr sz="2200">
                <a:solidFill>
                  <a:schemeClr val="tx1"/>
                </a:solidFill>
                <a:latin typeface="Arial" pitchFamily="34" charset="0"/>
              </a:defRPr>
            </a:lvl9pPr>
          </a:lstStyle>
          <a:p>
            <a:pPr eaLnBrk="1" hangingPunct="1">
              <a:defRPr/>
            </a:pPr>
            <a:r>
              <a:rPr lang="en-US" sz="2400" kern="0" dirty="0" smtClean="0">
                <a:solidFill>
                  <a:srgbClr val="0070C0"/>
                </a:solidFill>
              </a:rPr>
              <a:t>Basic Docker Commands as an example – Push/Pull and Run</a:t>
            </a:r>
            <a:endParaRPr lang="en-US" sz="2400" kern="0" dirty="0">
              <a:solidFill>
                <a:srgbClr val="0070C0"/>
              </a:solidFill>
            </a:endParaRPr>
          </a:p>
        </p:txBody>
      </p:sp>
    </p:spTree>
    <p:extLst>
      <p:ext uri="{BB962C8B-B14F-4D97-AF65-F5344CB8AC3E}">
        <p14:creationId xmlns:p14="http://schemas.microsoft.com/office/powerpoint/2010/main" xmlns="" val="899467082"/>
      </p:ext>
    </p:extLst>
  </p:cSld>
  <p:clrMapOvr>
    <a:masterClrMapping/>
  </p:clrMapOvr>
  <p:transition spd="med"/>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6713" y="600075"/>
            <a:ext cx="8543925" cy="331788"/>
          </a:xfrm>
        </p:spPr>
        <p:txBody>
          <a:bodyPr/>
          <a:lstStyle/>
          <a:p>
            <a:pPr eaLnBrk="1" hangingPunct="1">
              <a:defRPr/>
            </a:pPr>
            <a:r>
              <a:rPr lang="en-US" dirty="0" smtClean="0"/>
              <a:t> </a:t>
            </a:r>
            <a:r>
              <a:rPr lang="en-US" dirty="0" smtClean="0">
                <a:solidFill>
                  <a:srgbClr val="0070C0"/>
                </a:solidFill>
              </a:rPr>
              <a:t>IBM Bluemix Containers Advantages </a:t>
            </a:r>
            <a:endParaRPr lang="en-US" dirty="0">
              <a:solidFill>
                <a:srgbClr val="0070C0"/>
              </a:solidFill>
            </a:endParaRPr>
          </a:p>
        </p:txBody>
      </p:sp>
      <p:sp>
        <p:nvSpPr>
          <p:cNvPr id="49157" name="TextBox 2"/>
          <p:cNvSpPr txBox="1">
            <a:spLocks noChangeArrowheads="1"/>
          </p:cNvSpPr>
          <p:nvPr/>
        </p:nvSpPr>
        <p:spPr bwMode="auto">
          <a:xfrm>
            <a:off x="366713" y="1063625"/>
            <a:ext cx="8342312" cy="6540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38399" tIns="19200" rIns="38399" bIns="19200">
            <a:spAutoFit/>
          </a:bodyPr>
          <a:lstStyle/>
          <a:p>
            <a:r>
              <a:rPr lang="en-US" altLang="en-US" sz="2000" i="1">
                <a:solidFill>
                  <a:schemeClr val="tx1"/>
                </a:solidFill>
              </a:rPr>
              <a:t>deploy and manage distributed cloud workloads in a Hybrid environment </a:t>
            </a:r>
          </a:p>
          <a:p>
            <a:r>
              <a:rPr lang="en-US" altLang="en-US" sz="2000" i="1">
                <a:solidFill>
                  <a:schemeClr val="tx1"/>
                </a:solidFill>
              </a:rPr>
              <a:t>packaged as Docker containers</a:t>
            </a:r>
          </a:p>
        </p:txBody>
      </p:sp>
      <p:sp>
        <p:nvSpPr>
          <p:cNvPr id="6" name="Rounded Rectangle 5"/>
          <p:cNvSpPr/>
          <p:nvPr/>
        </p:nvSpPr>
        <p:spPr bwMode="auto">
          <a:xfrm>
            <a:off x="171252" y="5169873"/>
            <a:ext cx="8651875" cy="794674"/>
          </a:xfrm>
          <a:prstGeom prst="roundRect">
            <a:avLst>
              <a:gd name="adj" fmla="val 0"/>
            </a:avLst>
          </a:prstGeom>
          <a:gradFill flip="none" rotWithShape="1">
            <a:gsLst>
              <a:gs pos="0">
                <a:srgbClr val="21C5FF">
                  <a:alpha val="51765"/>
                </a:srgbClr>
              </a:gs>
              <a:gs pos="82000">
                <a:schemeClr val="bg1"/>
              </a:gs>
            </a:gsLst>
            <a:lin ang="0" scaled="1"/>
            <a:tileRect/>
          </a:gradFill>
          <a:ln w="9525" cap="flat" cmpd="sng" algn="ctr">
            <a:noFill/>
            <a:prstDash val="solid"/>
            <a:round/>
            <a:headEnd type="none" w="med" len="med"/>
            <a:tailEnd type="none" w="med" len="med"/>
          </a:ln>
          <a:effectLst/>
        </p:spPr>
        <p:txBody>
          <a:bodyPr lIns="101297" tIns="50649" rIns="101297" bIns="50649"/>
          <a:lstStyle/>
          <a:p>
            <a:pPr marL="130168" indent="-130168" defTabSz="1014361" fontAlgn="auto">
              <a:spcBef>
                <a:spcPts val="0"/>
              </a:spcBef>
              <a:spcAft>
                <a:spcPts val="0"/>
              </a:spcAft>
              <a:defRPr/>
            </a:pPr>
            <a:endParaRPr lang="en-US" dirty="0">
              <a:cs typeface="MS PGothic" charset="0"/>
            </a:endParaRPr>
          </a:p>
        </p:txBody>
      </p:sp>
      <p:sp>
        <p:nvSpPr>
          <p:cNvPr id="7" name="Rounded Rectangle 6"/>
          <p:cNvSpPr/>
          <p:nvPr/>
        </p:nvSpPr>
        <p:spPr bwMode="auto">
          <a:xfrm>
            <a:off x="171251" y="4393883"/>
            <a:ext cx="8651875" cy="795337"/>
          </a:xfrm>
          <a:prstGeom prst="roundRect">
            <a:avLst>
              <a:gd name="adj" fmla="val 0"/>
            </a:avLst>
          </a:prstGeom>
          <a:gradFill flip="none" rotWithShape="1">
            <a:gsLst>
              <a:gs pos="0">
                <a:srgbClr val="A7E8FF"/>
              </a:gs>
              <a:gs pos="82000">
                <a:schemeClr val="bg1"/>
              </a:gs>
            </a:gsLst>
            <a:lin ang="0" scaled="1"/>
            <a:tileRect/>
          </a:gradFill>
          <a:ln w="9525" cap="flat" cmpd="sng" algn="ctr">
            <a:noFill/>
            <a:prstDash val="solid"/>
            <a:round/>
            <a:headEnd type="none" w="med" len="med"/>
            <a:tailEnd type="none" w="med" len="med"/>
          </a:ln>
          <a:effectLst/>
        </p:spPr>
        <p:txBody>
          <a:bodyPr lIns="101297" tIns="50649" rIns="101297" bIns="50649"/>
          <a:lstStyle/>
          <a:p>
            <a:pPr marL="130168" indent="-130168" defTabSz="1014361" fontAlgn="auto">
              <a:spcBef>
                <a:spcPts val="0"/>
              </a:spcBef>
              <a:spcAft>
                <a:spcPts val="0"/>
              </a:spcAft>
              <a:defRPr/>
            </a:pPr>
            <a:endParaRPr lang="en-US" dirty="0">
              <a:cs typeface="MS PGothic" charset="0"/>
            </a:endParaRPr>
          </a:p>
        </p:txBody>
      </p:sp>
      <p:sp>
        <p:nvSpPr>
          <p:cNvPr id="8" name="Rounded Rectangle 7"/>
          <p:cNvSpPr/>
          <p:nvPr/>
        </p:nvSpPr>
        <p:spPr bwMode="auto">
          <a:xfrm>
            <a:off x="166488" y="3555683"/>
            <a:ext cx="8750300" cy="887412"/>
          </a:xfrm>
          <a:prstGeom prst="roundRect">
            <a:avLst>
              <a:gd name="adj" fmla="val 0"/>
            </a:avLst>
          </a:prstGeom>
          <a:gradFill flip="none" rotWithShape="1">
            <a:gsLst>
              <a:gs pos="0">
                <a:srgbClr val="B3EBFF"/>
              </a:gs>
              <a:gs pos="82000">
                <a:schemeClr val="bg1"/>
              </a:gs>
            </a:gsLst>
            <a:lin ang="0" scaled="1"/>
            <a:tileRect/>
          </a:gradFill>
          <a:ln w="9525" cap="flat" cmpd="sng" algn="ctr">
            <a:noFill/>
            <a:prstDash val="solid"/>
            <a:round/>
            <a:headEnd type="none" w="med" len="med"/>
            <a:tailEnd type="none" w="med" len="med"/>
          </a:ln>
          <a:effectLst/>
        </p:spPr>
        <p:txBody>
          <a:bodyPr lIns="101297" tIns="50649" rIns="101297" bIns="50649"/>
          <a:lstStyle/>
          <a:p>
            <a:pPr marL="130168" indent="-130168" defTabSz="1014361" fontAlgn="auto">
              <a:spcBef>
                <a:spcPts val="0"/>
              </a:spcBef>
              <a:spcAft>
                <a:spcPts val="0"/>
              </a:spcAft>
              <a:defRPr/>
            </a:pPr>
            <a:endParaRPr lang="en-US" dirty="0">
              <a:cs typeface="MS PGothic" charset="0"/>
            </a:endParaRPr>
          </a:p>
        </p:txBody>
      </p:sp>
      <p:sp>
        <p:nvSpPr>
          <p:cNvPr id="9" name="Rounded Rectangle 8"/>
          <p:cNvSpPr/>
          <p:nvPr/>
        </p:nvSpPr>
        <p:spPr bwMode="auto">
          <a:xfrm>
            <a:off x="166660" y="2592980"/>
            <a:ext cx="7997653" cy="964216"/>
          </a:xfrm>
          <a:prstGeom prst="roundRect">
            <a:avLst>
              <a:gd name="adj" fmla="val 0"/>
            </a:avLst>
          </a:prstGeom>
          <a:gradFill flip="none" rotWithShape="1">
            <a:gsLst>
              <a:gs pos="0">
                <a:srgbClr val="AFEAFF">
                  <a:alpha val="74902"/>
                </a:srgbClr>
              </a:gs>
              <a:gs pos="82000">
                <a:schemeClr val="bg1"/>
              </a:gs>
            </a:gsLst>
            <a:lin ang="0" scaled="1"/>
            <a:tileRect/>
          </a:gradFill>
          <a:ln w="9525" cap="flat" cmpd="sng" algn="ctr">
            <a:noFill/>
            <a:prstDash val="solid"/>
            <a:round/>
            <a:headEnd type="none" w="med" len="med"/>
            <a:tailEnd type="none" w="med" len="med"/>
          </a:ln>
          <a:effectLst/>
        </p:spPr>
        <p:txBody>
          <a:bodyPr lIns="101297" tIns="50649" rIns="101297" bIns="50649"/>
          <a:lstStyle/>
          <a:p>
            <a:pPr marL="130168" indent="-130168" defTabSz="1014361" fontAlgn="auto">
              <a:spcBef>
                <a:spcPts val="0"/>
              </a:spcBef>
              <a:spcAft>
                <a:spcPts val="0"/>
              </a:spcAft>
              <a:defRPr/>
            </a:pPr>
            <a:endParaRPr lang="en-US" dirty="0">
              <a:cs typeface="MS PGothic" charset="0"/>
            </a:endParaRPr>
          </a:p>
        </p:txBody>
      </p:sp>
      <p:graphicFrame>
        <p:nvGraphicFramePr>
          <p:cNvPr id="10" name="Group 72"/>
          <p:cNvGraphicFramePr>
            <a:graphicFrameLocks noGrp="1"/>
          </p:cNvGraphicFramePr>
          <p:nvPr>
            <p:extLst>
              <p:ext uri="{D42A27DB-BD31-4B8C-83A1-F6EECF244321}">
                <p14:modId xmlns:p14="http://schemas.microsoft.com/office/powerpoint/2010/main" xmlns="" val="1201100371"/>
              </p:ext>
            </p:extLst>
          </p:nvPr>
        </p:nvGraphicFramePr>
        <p:xfrm>
          <a:off x="171251" y="2161858"/>
          <a:ext cx="8745537" cy="3827462"/>
        </p:xfrm>
        <a:graphic>
          <a:graphicData uri="http://schemas.openxmlformats.org/drawingml/2006/table">
            <a:tbl>
              <a:tblPr/>
              <a:tblGrid>
                <a:gridCol w="2560637"/>
                <a:gridCol w="3346450"/>
                <a:gridCol w="2838450"/>
              </a:tblGrid>
              <a:tr h="446185">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0" lang="en-US" sz="1600" b="1" i="0" u="none" strike="noStrike" cap="none" normalizeH="0" baseline="0" dirty="0" smtClean="0">
                          <a:ln>
                            <a:noFill/>
                          </a:ln>
                          <a:solidFill>
                            <a:schemeClr val="bg1"/>
                          </a:solidFill>
                          <a:effectLst/>
                          <a:latin typeface="Arial" pitchFamily="34" charset="0"/>
                          <a:ea typeface="MS PGothic" pitchFamily="34" charset="-128"/>
                          <a:sym typeface="Helvetica Light"/>
                        </a:rPr>
                        <a:t>Docker Value</a:t>
                      </a:r>
                    </a:p>
                  </a:txBody>
                  <a:tcPr marL="87854" marR="87854" marT="43933" marB="43933" anchor="ctr" horzOverflow="overflow">
                    <a:lnL>
                      <a:noFill/>
                    </a:lnL>
                    <a:lnR>
                      <a:noFill/>
                    </a:lnR>
                    <a:lnT>
                      <a:noFill/>
                    </a:lnT>
                    <a:lnB>
                      <a:noFill/>
                    </a:lnB>
                    <a:lnTlToBr>
                      <a:noFill/>
                    </a:lnTlToBr>
                    <a:lnBlToTr>
                      <a:noFill/>
                    </a:lnBlToTr>
                    <a:solidFill>
                      <a:srgbClr val="72BFC5"/>
                    </a:solid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0" lang="en-US" sz="1600" b="1" i="0" u="none" strike="noStrike" cap="none" normalizeH="0" baseline="0" dirty="0" smtClean="0">
                          <a:ln>
                            <a:noFill/>
                          </a:ln>
                          <a:solidFill>
                            <a:schemeClr val="bg1"/>
                          </a:solidFill>
                          <a:effectLst/>
                          <a:latin typeface="Arial" pitchFamily="34" charset="0"/>
                          <a:ea typeface="MS PGothic" pitchFamily="34" charset="-128"/>
                          <a:sym typeface="Helvetica Light"/>
                        </a:rPr>
                        <a:t>IBM Value-add</a:t>
                      </a:r>
                    </a:p>
                  </a:txBody>
                  <a:tcPr marL="87854" marR="87854" marT="43933" marB="43933" anchor="ctr" horzOverflow="overflow">
                    <a:lnL>
                      <a:noFill/>
                    </a:lnL>
                    <a:lnR>
                      <a:noFill/>
                    </a:lnR>
                    <a:lnT>
                      <a:noFill/>
                    </a:lnT>
                    <a:lnB>
                      <a:noFill/>
                    </a:lnB>
                    <a:lnTlToBr>
                      <a:noFill/>
                    </a:lnTlToBr>
                    <a:lnBlToTr>
                      <a:noFill/>
                    </a:lnBlToTr>
                    <a:solidFill>
                      <a:srgbClr val="00659E"/>
                    </a:solid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0" lang="en-US" sz="1600" b="1" i="0" u="none" strike="noStrike" cap="none" normalizeH="0" baseline="0" dirty="0" smtClean="0">
                          <a:ln>
                            <a:noFill/>
                          </a:ln>
                          <a:solidFill>
                            <a:schemeClr val="bg1"/>
                          </a:solidFill>
                          <a:effectLst/>
                          <a:latin typeface="Arial" pitchFamily="34" charset="0"/>
                          <a:ea typeface="MS PGothic" pitchFamily="34" charset="-128"/>
                          <a:sym typeface="Helvetica Light"/>
                        </a:rPr>
                        <a:t>    Customer Value                           </a:t>
                      </a:r>
                    </a:p>
                  </a:txBody>
                  <a:tcPr marL="87854" marR="87854" marT="43933" marB="43933" anchor="ctr" horzOverflow="overflow">
                    <a:lnL>
                      <a:noFill/>
                    </a:lnL>
                    <a:lnR>
                      <a:noFill/>
                    </a:lnR>
                    <a:lnT>
                      <a:noFill/>
                    </a:lnT>
                    <a:lnB>
                      <a:noFill/>
                    </a:lnB>
                    <a:lnTlToBr>
                      <a:noFill/>
                    </a:lnTlToBr>
                    <a:lnBlToTr>
                      <a:noFill/>
                    </a:lnBlToTr>
                    <a:solidFill>
                      <a:srgbClr val="F26D44"/>
                    </a:solidFill>
                  </a:tcPr>
                </a:tc>
              </a:tr>
              <a:tr h="1027871">
                <a:tc>
                  <a:txBody>
                    <a:bodyPr/>
                    <a:lstStyle/>
                    <a:p>
                      <a:pPr marL="0" marR="0" lvl="0" indent="0" algn="l"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0" lang="en-US" sz="1200" b="0" i="0" u="none" strike="noStrike" cap="none" normalizeH="0" baseline="0" dirty="0" smtClean="0">
                          <a:ln>
                            <a:noFill/>
                          </a:ln>
                          <a:solidFill>
                            <a:schemeClr val="tx1"/>
                          </a:solidFill>
                          <a:effectLst/>
                          <a:latin typeface="Arial" pitchFamily="34" charset="0"/>
                          <a:ea typeface="MS PGothic" pitchFamily="34" charset="-128"/>
                          <a:sym typeface="Helvetica Light"/>
                        </a:rPr>
                        <a:t>Docker Hub Registry holds a repository of 75000+ docker images</a:t>
                      </a:r>
                    </a:p>
                  </a:txBody>
                  <a:tcPr marR="182880" marT="45730" marB="45730" anchor="ctr" horzOverflow="overflow">
                    <a:lnL>
                      <a:noFill/>
                    </a:lnL>
                    <a:lnR>
                      <a:noFill/>
                    </a:lnR>
                    <a:lnT>
                      <a:noFill/>
                    </a:lnT>
                    <a:lnB>
                      <a:noFill/>
                    </a:lnB>
                    <a:lnTlToBr>
                      <a:noFill/>
                    </a:lnTlToBr>
                    <a:lnBlToTr>
                      <a:noFill/>
                    </a:lnBlToTr>
                    <a:noFill/>
                  </a:tcPr>
                </a:tc>
                <a:tc>
                  <a:txBody>
                    <a:bodyPr/>
                    <a:lstStyle/>
                    <a:p>
                      <a:pPr marL="177800" marR="0" lvl="1" indent="-114300" algn="l" defTabSz="204788" rtl="0" eaLnBrk="1" fontAlgn="base" latinLnBrk="0" hangingPunct="1">
                        <a:lnSpc>
                          <a:spcPct val="100000"/>
                        </a:lnSpc>
                        <a:spcBef>
                          <a:spcPts val="138"/>
                        </a:spcBef>
                        <a:spcAft>
                          <a:spcPct val="0"/>
                        </a:spcAft>
                        <a:buClrTx/>
                        <a:buSzTx/>
                        <a:buFont typeface="Arial" pitchFamily="34" charset="0"/>
                        <a:buChar char="•"/>
                        <a:tabLst/>
                      </a:pPr>
                      <a:r>
                        <a:rPr kumimoji="0" lang="en-US" sz="1200" b="0" i="0" u="none" strike="noStrike" cap="none" normalizeH="0" baseline="0" dirty="0" smtClean="0">
                          <a:ln>
                            <a:noFill/>
                          </a:ln>
                          <a:solidFill>
                            <a:schemeClr val="tx1"/>
                          </a:solidFill>
                          <a:effectLst/>
                          <a:latin typeface="Arial" pitchFamily="34" charset="0"/>
                          <a:ea typeface="Helvetica" charset="0"/>
                          <a:sym typeface="Helvetica Light"/>
                        </a:rPr>
                        <a:t>IBM hosted public registry containing IBM images - linked to Docker Hub</a:t>
                      </a:r>
                    </a:p>
                    <a:p>
                      <a:pPr marL="177800" marR="0" lvl="1" indent="-114300" algn="l" defTabSz="204788" rtl="0" eaLnBrk="1" fontAlgn="base" latinLnBrk="0" hangingPunct="1">
                        <a:lnSpc>
                          <a:spcPct val="100000"/>
                        </a:lnSpc>
                        <a:spcBef>
                          <a:spcPts val="138"/>
                        </a:spcBef>
                        <a:spcAft>
                          <a:spcPct val="0"/>
                        </a:spcAft>
                        <a:buClrTx/>
                        <a:buSzTx/>
                        <a:buFont typeface="Arial" pitchFamily="34" charset="0"/>
                        <a:buChar char="•"/>
                        <a:tabLst/>
                      </a:pPr>
                      <a:r>
                        <a:rPr kumimoji="0" lang="en-US" sz="1200" b="0" i="0" u="none" strike="noStrike" cap="none" normalizeH="0" baseline="0" dirty="0" smtClean="0">
                          <a:ln>
                            <a:noFill/>
                          </a:ln>
                          <a:solidFill>
                            <a:schemeClr val="tx1"/>
                          </a:solidFill>
                          <a:effectLst/>
                          <a:latin typeface="Arial" pitchFamily="34" charset="0"/>
                          <a:ea typeface="Helvetica" charset="0"/>
                          <a:sym typeface="Helvetica Light"/>
                        </a:rPr>
                        <a:t>Client private registry available on and off premises</a:t>
                      </a:r>
                    </a:p>
                    <a:p>
                      <a:pPr marL="177800" marR="0" lvl="1" indent="-114300" algn="l" defTabSz="204788" rtl="0" eaLnBrk="1" fontAlgn="base" latinLnBrk="0" hangingPunct="1">
                        <a:lnSpc>
                          <a:spcPct val="100000"/>
                        </a:lnSpc>
                        <a:spcBef>
                          <a:spcPts val="138"/>
                        </a:spcBef>
                        <a:spcAft>
                          <a:spcPct val="0"/>
                        </a:spcAft>
                        <a:buClrTx/>
                        <a:buSzTx/>
                        <a:buFont typeface="Arial" pitchFamily="34" charset="0"/>
                        <a:buChar char="•"/>
                        <a:tabLst/>
                      </a:pPr>
                      <a:r>
                        <a:rPr kumimoji="0" lang="en-US" sz="1200" b="0" i="0" u="none" strike="noStrike" cap="none" normalizeH="0" baseline="0" dirty="0" smtClean="0">
                          <a:ln>
                            <a:noFill/>
                          </a:ln>
                          <a:solidFill>
                            <a:schemeClr val="tx1"/>
                          </a:solidFill>
                          <a:effectLst/>
                          <a:latin typeface="Arial" pitchFamily="34" charset="0"/>
                          <a:ea typeface="Helvetica" charset="0"/>
                          <a:sym typeface="Helvetica Light"/>
                        </a:rPr>
                        <a:t>Curated Enterprise-ready Images</a:t>
                      </a:r>
                    </a:p>
                  </a:txBody>
                  <a:tcPr marL="87854" marR="87854" marT="43933" marB="43933" anchor="ctr" horzOverflow="overflow">
                    <a:lnL>
                      <a:noFill/>
                    </a:lnL>
                    <a:lnR>
                      <a:noFill/>
                    </a:lnR>
                    <a:lnT>
                      <a:noFill/>
                    </a:lnT>
                    <a:lnB>
                      <a:noFill/>
                    </a:lnB>
                    <a:lnTlToBr>
                      <a:noFill/>
                    </a:lnTlToBr>
                    <a:lnBlToTr>
                      <a:noFill/>
                    </a:lnBlToTr>
                    <a:noFill/>
                  </a:tcPr>
                </a:tc>
                <a:tc>
                  <a:txBody>
                    <a:bodyPr/>
                    <a:lstStyle/>
                    <a:p>
                      <a:pPr marL="228600" marR="0" lvl="2" indent="0" algn="l"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0" lang="en-US" sz="1200" b="0" i="0" u="none" strike="noStrike" cap="none" normalizeH="0" baseline="0" dirty="0" smtClean="0">
                          <a:ln>
                            <a:noFill/>
                          </a:ln>
                          <a:solidFill>
                            <a:schemeClr val="tx1"/>
                          </a:solidFill>
                          <a:effectLst/>
                          <a:latin typeface="Arial" pitchFamily="34" charset="0"/>
                          <a:ea typeface="MS PGothic" pitchFamily="34" charset="-128"/>
                          <a:sym typeface="Helvetica Light"/>
                        </a:rPr>
                        <a:t>Customers have at their fingertips the images they require to deploy containers that meet their business needs and strategy</a:t>
                      </a:r>
                    </a:p>
                  </a:txBody>
                  <a:tcPr marL="87854" marR="87854" marT="43933" marB="43933" anchor="ctr" horzOverflow="overflow">
                    <a:lnL>
                      <a:noFill/>
                    </a:lnL>
                    <a:lnR>
                      <a:noFill/>
                    </a:lnR>
                    <a:lnT>
                      <a:noFill/>
                    </a:lnT>
                    <a:lnB>
                      <a:noFill/>
                    </a:lnB>
                    <a:lnTlToBr>
                      <a:noFill/>
                    </a:lnTlToBr>
                    <a:lnBlToTr>
                      <a:noFill/>
                    </a:lnBlToTr>
                    <a:noFill/>
                  </a:tcPr>
                </a:tc>
              </a:tr>
              <a:tr h="819545">
                <a:tc>
                  <a:txBody>
                    <a:bodyPr/>
                    <a:lstStyle/>
                    <a:p>
                      <a:pPr marL="0" marR="0" lvl="0" indent="0" algn="l"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0" lang="en-US" sz="1200" b="0" i="0" u="none" strike="noStrike" cap="none" normalizeH="0" baseline="0" dirty="0" smtClean="0">
                          <a:ln>
                            <a:noFill/>
                          </a:ln>
                          <a:solidFill>
                            <a:schemeClr val="tx1"/>
                          </a:solidFill>
                          <a:effectLst/>
                          <a:latin typeface="Arial" pitchFamily="34" charset="0"/>
                          <a:ea typeface="MS PGothic" pitchFamily="34" charset="-128"/>
                          <a:sym typeface="Helvetica Light"/>
                        </a:rPr>
                        <a:t>Open-source, standardized, lightweight, self sufficient LXC container technology</a:t>
                      </a:r>
                    </a:p>
                  </a:txBody>
                  <a:tcPr marL="87854" marR="87854" marT="43933" marB="43933" anchor="ctr" horzOverflow="overflow">
                    <a:lnL>
                      <a:noFill/>
                    </a:lnL>
                    <a:lnR>
                      <a:noFill/>
                    </a:lnR>
                    <a:lnT>
                      <a:noFill/>
                    </a:lnT>
                    <a:lnB>
                      <a:noFill/>
                    </a:lnB>
                    <a:lnTlToBr>
                      <a:noFill/>
                    </a:lnTlToBr>
                    <a:lnBlToTr>
                      <a:noFill/>
                    </a:lnBlToTr>
                    <a:noFill/>
                  </a:tcPr>
                </a:tc>
                <a:tc>
                  <a:txBody>
                    <a:bodyPr/>
                    <a:lstStyle/>
                    <a:p>
                      <a:pPr marL="177800" marR="0" lvl="0" indent="-114300" algn="l" defTabSz="912813" rtl="0" eaLnBrk="1" fontAlgn="base" latinLnBrk="0" hangingPunct="1">
                        <a:lnSpc>
                          <a:spcPct val="100000"/>
                        </a:lnSpc>
                        <a:spcBef>
                          <a:spcPct val="0"/>
                        </a:spcBef>
                        <a:spcAft>
                          <a:spcPct val="0"/>
                        </a:spcAft>
                        <a:buClrTx/>
                        <a:buSzTx/>
                        <a:buFont typeface="Arial" pitchFamily="34" charset="0"/>
                        <a:buChar char="•"/>
                        <a:tabLst/>
                      </a:pPr>
                      <a:r>
                        <a:rPr kumimoji="0" lang="en-US" sz="1200" b="0" i="0" u="none" strike="noStrike" cap="none" normalizeH="0" baseline="0" dirty="0" smtClean="0">
                          <a:ln>
                            <a:noFill/>
                          </a:ln>
                          <a:solidFill>
                            <a:schemeClr val="tx1"/>
                          </a:solidFill>
                          <a:effectLst/>
                          <a:latin typeface="Arial" pitchFamily="34" charset="0"/>
                          <a:ea typeface="MS PGothic" pitchFamily="34" charset="-128"/>
                          <a:cs typeface="Arial" pitchFamily="34" charset="0"/>
                          <a:sym typeface="Helvetica Light"/>
                        </a:rPr>
                        <a:t>Enhanced performance  with bare metal deployment</a:t>
                      </a:r>
                    </a:p>
                    <a:p>
                      <a:pPr marL="177800" marR="0" lvl="0" indent="-114300" algn="l" defTabSz="912813" rtl="0" eaLnBrk="1" fontAlgn="base" latinLnBrk="0" hangingPunct="1">
                        <a:lnSpc>
                          <a:spcPct val="100000"/>
                        </a:lnSpc>
                        <a:spcBef>
                          <a:spcPct val="0"/>
                        </a:spcBef>
                        <a:spcAft>
                          <a:spcPct val="0"/>
                        </a:spcAft>
                        <a:buClrTx/>
                        <a:buSzTx/>
                        <a:buFont typeface="Arial" pitchFamily="34" charset="0"/>
                        <a:buChar char="•"/>
                        <a:tabLst/>
                      </a:pPr>
                      <a:r>
                        <a:rPr kumimoji="0" lang="en-US" sz="1200" b="0" i="0" u="none" strike="noStrike" cap="none" normalizeH="0" baseline="0" dirty="0" smtClean="0">
                          <a:ln>
                            <a:noFill/>
                          </a:ln>
                          <a:solidFill>
                            <a:schemeClr val="tx1"/>
                          </a:solidFill>
                          <a:effectLst/>
                          <a:latin typeface="Arial" pitchFamily="34" charset="0"/>
                          <a:ea typeface="MS PGothic" pitchFamily="34" charset="-128"/>
                          <a:cs typeface="Arial" pitchFamily="34" charset="0"/>
                          <a:sym typeface="Helvetica Light"/>
                        </a:rPr>
                        <a:t>Run images to local datacenter or cloud</a:t>
                      </a:r>
                    </a:p>
                    <a:p>
                      <a:pPr marL="177800" marR="0" lvl="0" indent="-114300" algn="l" defTabSz="912813" rtl="0" eaLnBrk="1" fontAlgn="base" latinLnBrk="0" hangingPunct="1">
                        <a:lnSpc>
                          <a:spcPct val="100000"/>
                        </a:lnSpc>
                        <a:spcBef>
                          <a:spcPct val="0"/>
                        </a:spcBef>
                        <a:spcAft>
                          <a:spcPct val="0"/>
                        </a:spcAft>
                        <a:buClrTx/>
                        <a:buSzTx/>
                        <a:buFont typeface="Arial" pitchFamily="34" charset="0"/>
                        <a:buChar char="•"/>
                        <a:tabLst/>
                      </a:pPr>
                      <a:r>
                        <a:rPr kumimoji="0" lang="en-US" sz="1200" b="0" i="0" u="none" strike="noStrike" cap="none" normalizeH="0" baseline="0" dirty="0" smtClean="0">
                          <a:ln>
                            <a:noFill/>
                          </a:ln>
                          <a:solidFill>
                            <a:schemeClr val="tx1"/>
                          </a:solidFill>
                          <a:effectLst/>
                          <a:latin typeface="Arial" pitchFamily="34" charset="0"/>
                          <a:ea typeface="MS PGothic" pitchFamily="34" charset="-128"/>
                          <a:cs typeface="Arial" pitchFamily="34" charset="0"/>
                          <a:sym typeface="Helvetica Light"/>
                        </a:rPr>
                        <a:t>Deployment choice with pSeries &amp; zSeries</a:t>
                      </a:r>
                    </a:p>
                  </a:txBody>
                  <a:tcPr marL="87854" marR="87854" marT="43933" marB="43933" anchor="ctr" horzOverflow="overflow">
                    <a:lnL>
                      <a:noFill/>
                    </a:lnL>
                    <a:lnR>
                      <a:noFill/>
                    </a:lnR>
                    <a:lnT>
                      <a:noFill/>
                    </a:lnT>
                    <a:lnB>
                      <a:noFill/>
                    </a:lnB>
                    <a:lnTlToBr>
                      <a:noFill/>
                    </a:lnTlToBr>
                    <a:lnBlToTr>
                      <a:noFill/>
                    </a:lnBlToTr>
                    <a:noFill/>
                  </a:tcPr>
                </a:tc>
                <a:tc>
                  <a:txBody>
                    <a:bodyPr/>
                    <a:lstStyle/>
                    <a:p>
                      <a:pPr marL="228600" marR="0" lvl="2" indent="0" algn="l" defTabSz="914400" rtl="0" eaLnBrk="1" fontAlgn="base" latinLnBrk="0" hangingPunct="1">
                        <a:lnSpc>
                          <a:spcPct val="90000"/>
                        </a:lnSpc>
                        <a:spcBef>
                          <a:spcPct val="50000"/>
                        </a:spcBef>
                        <a:spcAft>
                          <a:spcPct val="0"/>
                        </a:spcAft>
                        <a:buClrTx/>
                        <a:buSzTx/>
                        <a:buFontTx/>
                        <a:buNone/>
                        <a:tabLst/>
                      </a:pPr>
                      <a:r>
                        <a:rPr kumimoji="0" lang="en-US" sz="1200" b="0" i="0" u="none" strike="noStrike" cap="none" normalizeH="0" baseline="0" smtClean="0">
                          <a:ln>
                            <a:noFill/>
                          </a:ln>
                          <a:solidFill>
                            <a:schemeClr val="tx1"/>
                          </a:solidFill>
                          <a:effectLst/>
                          <a:latin typeface="Arial" pitchFamily="34" charset="0"/>
                          <a:ea typeface="MS PGothic" pitchFamily="34" charset="-128"/>
                          <a:sym typeface="Helvetica Light"/>
                        </a:rPr>
                        <a:t>Hybrid Cloud choice and flexibility to choose the right mix for their business</a:t>
                      </a:r>
                    </a:p>
                  </a:txBody>
                  <a:tcPr marL="87854" marR="87854" marT="43933" marB="43933" anchor="ctr" horzOverflow="overflow">
                    <a:lnL>
                      <a:noFill/>
                    </a:lnL>
                    <a:lnR>
                      <a:noFill/>
                    </a:lnR>
                    <a:lnT>
                      <a:noFill/>
                    </a:lnT>
                    <a:lnB>
                      <a:noFill/>
                    </a:lnB>
                    <a:lnTlToBr>
                      <a:noFill/>
                    </a:lnTlToBr>
                    <a:lnBlToTr>
                      <a:noFill/>
                    </a:lnBlToTr>
                    <a:noFill/>
                  </a:tcPr>
                </a:tc>
              </a:tr>
              <a:tr h="843147">
                <a:tc>
                  <a:txBody>
                    <a:bodyPr/>
                    <a:lstStyle/>
                    <a:p>
                      <a:pPr marL="0" marR="0" lvl="0" indent="0" algn="l"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0" lang="en-US" sz="1200" b="0" i="0" u="none" strike="noStrike" cap="none" normalizeH="0" baseline="0" dirty="0" smtClean="0">
                          <a:ln>
                            <a:noFill/>
                          </a:ln>
                          <a:solidFill>
                            <a:schemeClr val="tx1"/>
                          </a:solidFill>
                          <a:effectLst/>
                          <a:latin typeface="Arial" pitchFamily="34" charset="0"/>
                          <a:ea typeface="MS PGothic" pitchFamily="34" charset="-128"/>
                          <a:sym typeface="Helvetica Light"/>
                        </a:rPr>
                        <a:t>Build, ship, and run standardized containers</a:t>
                      </a:r>
                    </a:p>
                  </a:txBody>
                  <a:tcPr marL="87854" marR="87854" marT="43933" marB="43933" anchor="ctr" horzOverflow="overflow">
                    <a:lnL>
                      <a:noFill/>
                    </a:lnL>
                    <a:lnR>
                      <a:noFill/>
                    </a:lnR>
                    <a:lnT>
                      <a:noFill/>
                    </a:lnT>
                    <a:lnB>
                      <a:noFill/>
                    </a:lnB>
                    <a:lnTlToBr>
                      <a:noFill/>
                    </a:lnTlToBr>
                    <a:lnBlToTr>
                      <a:noFill/>
                    </a:lnBlToTr>
                    <a:noFill/>
                  </a:tcPr>
                </a:tc>
                <a:tc>
                  <a:txBody>
                    <a:bodyPr/>
                    <a:lstStyle/>
                    <a:p>
                      <a:pPr marL="177800" marR="0" lvl="1" indent="-114300" algn="l" defTabSz="912813" rtl="0" eaLnBrk="1" fontAlgn="base" latinLnBrk="0" hangingPunct="1">
                        <a:lnSpc>
                          <a:spcPct val="100000"/>
                        </a:lnSpc>
                        <a:spcBef>
                          <a:spcPct val="0"/>
                        </a:spcBef>
                        <a:spcAft>
                          <a:spcPct val="0"/>
                        </a:spcAft>
                        <a:buClrTx/>
                        <a:buSzTx/>
                        <a:buFont typeface="Arial" pitchFamily="34" charset="0"/>
                        <a:buChar char="•"/>
                        <a:tabLst/>
                      </a:pPr>
                      <a:r>
                        <a:rPr kumimoji="0" lang="en-US" sz="1200" b="0" i="0" u="none" strike="noStrike" cap="none" normalizeH="0" baseline="0" smtClean="0">
                          <a:ln>
                            <a:noFill/>
                          </a:ln>
                          <a:solidFill>
                            <a:schemeClr val="tx1"/>
                          </a:solidFill>
                          <a:effectLst/>
                          <a:latin typeface="Arial" pitchFamily="34" charset="0"/>
                          <a:ea typeface="MS PGothic" pitchFamily="34" charset="-128"/>
                          <a:cs typeface="Arial" pitchFamily="34" charset="0"/>
                          <a:sym typeface="Helvetica Light"/>
                        </a:rPr>
                        <a:t>Integrated monitoring &amp; logging</a:t>
                      </a:r>
                    </a:p>
                    <a:p>
                      <a:pPr marL="177800" marR="0" lvl="1" indent="-114300" algn="l" defTabSz="912813" rtl="0" eaLnBrk="1" fontAlgn="base" latinLnBrk="0" hangingPunct="1">
                        <a:lnSpc>
                          <a:spcPct val="100000"/>
                        </a:lnSpc>
                        <a:spcBef>
                          <a:spcPct val="0"/>
                        </a:spcBef>
                        <a:spcAft>
                          <a:spcPct val="0"/>
                        </a:spcAft>
                        <a:buClrTx/>
                        <a:buSzTx/>
                        <a:buFont typeface="Arial" pitchFamily="34" charset="0"/>
                        <a:buChar char="•"/>
                        <a:tabLst/>
                      </a:pPr>
                      <a:r>
                        <a:rPr kumimoji="0" lang="en-US" sz="1200" b="0" i="0" u="none" strike="noStrike" cap="none" normalizeH="0" baseline="0" smtClean="0">
                          <a:ln>
                            <a:noFill/>
                          </a:ln>
                          <a:solidFill>
                            <a:schemeClr val="tx1"/>
                          </a:solidFill>
                          <a:effectLst/>
                          <a:latin typeface="Arial" pitchFamily="34" charset="0"/>
                          <a:ea typeface="MS PGothic" pitchFamily="34" charset="-128"/>
                          <a:cs typeface="Arial" pitchFamily="34" charset="0"/>
                          <a:sym typeface="Helvetica Light"/>
                        </a:rPr>
                        <a:t>Elasticity to grow storage &amp; container needs</a:t>
                      </a:r>
                    </a:p>
                    <a:p>
                      <a:pPr marL="177800" marR="0" lvl="1" indent="-114300" algn="l" defTabSz="912813" rtl="0" eaLnBrk="1" fontAlgn="base" latinLnBrk="0" hangingPunct="1">
                        <a:lnSpc>
                          <a:spcPct val="100000"/>
                        </a:lnSpc>
                        <a:spcBef>
                          <a:spcPct val="0"/>
                        </a:spcBef>
                        <a:spcAft>
                          <a:spcPct val="0"/>
                        </a:spcAft>
                        <a:buClrTx/>
                        <a:buSzTx/>
                        <a:buFont typeface="Arial" pitchFamily="34" charset="0"/>
                        <a:buChar char="•"/>
                        <a:tabLst/>
                      </a:pPr>
                      <a:r>
                        <a:rPr kumimoji="0" lang="en-US" sz="1200" b="0" i="0" u="none" strike="noStrike" cap="none" normalizeH="0" baseline="0" smtClean="0">
                          <a:ln>
                            <a:noFill/>
                          </a:ln>
                          <a:solidFill>
                            <a:schemeClr val="tx1"/>
                          </a:solidFill>
                          <a:effectLst/>
                          <a:latin typeface="Arial" pitchFamily="34" charset="0"/>
                          <a:ea typeface="MS PGothic" pitchFamily="34" charset="-128"/>
                          <a:cs typeface="Arial" pitchFamily="34" charset="0"/>
                          <a:sym typeface="Helvetica Light"/>
                        </a:rPr>
                        <a:t>life-cycle management of containers and data volumes  </a:t>
                      </a:r>
                    </a:p>
                  </a:txBody>
                  <a:tcPr marL="87854" marR="87854" marT="43933" marB="43933" anchor="ctr" horzOverflow="overflow">
                    <a:lnL>
                      <a:noFill/>
                    </a:lnL>
                    <a:lnR>
                      <a:noFill/>
                    </a:lnR>
                    <a:lnT>
                      <a:noFill/>
                    </a:lnT>
                    <a:lnB>
                      <a:noFill/>
                    </a:lnB>
                    <a:lnTlToBr>
                      <a:noFill/>
                    </a:lnTlToBr>
                    <a:lnBlToTr>
                      <a:noFill/>
                    </a:lnBlToTr>
                    <a:noFill/>
                  </a:tcPr>
                </a:tc>
                <a:tc>
                  <a:txBody>
                    <a:bodyPr/>
                    <a:lstStyle/>
                    <a:p>
                      <a:pPr marL="228600" marR="0" lvl="2" indent="0" algn="l"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0" lang="en-US" sz="1200" b="0" i="0" u="none" strike="noStrike" cap="none" normalizeH="0" baseline="0" smtClean="0">
                          <a:ln>
                            <a:noFill/>
                          </a:ln>
                          <a:solidFill>
                            <a:schemeClr val="tx1"/>
                          </a:solidFill>
                          <a:effectLst/>
                          <a:latin typeface="Arial" pitchFamily="34" charset="0"/>
                          <a:ea typeface="MS PGothic" pitchFamily="34" charset="-128"/>
                          <a:sym typeface="Helvetica Light"/>
                        </a:rPr>
                        <a:t>Docker simplicity and ease of use with the Enterprise-level of integrity and confidence to run a business</a:t>
                      </a:r>
                    </a:p>
                  </a:txBody>
                  <a:tcPr marL="87854" marR="87854" marT="43933" marB="43933" anchor="ctr" horzOverflow="overflow">
                    <a:lnL>
                      <a:noFill/>
                    </a:lnL>
                    <a:lnR>
                      <a:noFill/>
                    </a:lnR>
                    <a:lnT>
                      <a:noFill/>
                    </a:lnT>
                    <a:lnB>
                      <a:noFill/>
                    </a:lnB>
                    <a:lnTlToBr>
                      <a:noFill/>
                    </a:lnTlToBr>
                    <a:lnBlToTr>
                      <a:noFill/>
                    </a:lnBlToTr>
                    <a:noFill/>
                  </a:tcPr>
                </a:tc>
              </a:tr>
              <a:tr h="690714">
                <a:tc>
                  <a:txBody>
                    <a:bodyPr/>
                    <a:lstStyle/>
                    <a:p>
                      <a:pPr marL="0" marR="0" lvl="0" indent="0" algn="l"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0" lang="en-US" sz="1200" b="0" i="0" u="none" strike="noStrike" cap="none" normalizeH="0" baseline="0" dirty="0" smtClean="0">
                          <a:ln>
                            <a:noFill/>
                          </a:ln>
                          <a:solidFill>
                            <a:schemeClr val="tx1"/>
                          </a:solidFill>
                          <a:effectLst/>
                          <a:latin typeface="Arial" pitchFamily="34" charset="0"/>
                          <a:ea typeface="MS PGothic" pitchFamily="34" charset="-128"/>
                          <a:sym typeface="Helvetica Light"/>
                        </a:rPr>
                        <a:t>Container connections using  links and service discovery</a:t>
                      </a:r>
                    </a:p>
                  </a:txBody>
                  <a:tcPr marL="87854" marR="87854" marT="43933" marB="43933" anchor="ctr" horzOverflow="overflow">
                    <a:lnL>
                      <a:noFill/>
                    </a:lnL>
                    <a:lnR>
                      <a:noFill/>
                    </a:lnR>
                    <a:lnT>
                      <a:noFill/>
                    </a:lnT>
                    <a:lnB>
                      <a:noFill/>
                    </a:lnB>
                    <a:lnTlToBr>
                      <a:noFill/>
                    </a:lnTlToBr>
                    <a:lnBlToTr>
                      <a:noFill/>
                    </a:lnBlToTr>
                    <a:noFill/>
                  </a:tcPr>
                </a:tc>
                <a:tc>
                  <a:txBody>
                    <a:bodyPr/>
                    <a:lstStyle/>
                    <a:p>
                      <a:pPr marL="177800" marR="0" lvl="0" indent="-114300" algn="l" defTabSz="204788" rtl="0" eaLnBrk="1" fontAlgn="base" latinLnBrk="0" hangingPunct="1">
                        <a:lnSpc>
                          <a:spcPct val="100000"/>
                        </a:lnSpc>
                        <a:spcBef>
                          <a:spcPct val="0"/>
                        </a:spcBef>
                        <a:spcAft>
                          <a:spcPct val="0"/>
                        </a:spcAft>
                        <a:buClrTx/>
                        <a:buSzTx/>
                        <a:buFont typeface="Arial" pitchFamily="34" charset="0"/>
                        <a:buChar char="•"/>
                        <a:tabLst/>
                      </a:pPr>
                      <a:r>
                        <a:rPr kumimoji="0" lang="en-US" sz="1200" b="0" i="0" u="none" strike="noStrike" cap="none" normalizeH="0" baseline="0" dirty="0" smtClean="0">
                          <a:ln>
                            <a:noFill/>
                          </a:ln>
                          <a:solidFill>
                            <a:schemeClr val="tx1"/>
                          </a:solidFill>
                          <a:effectLst/>
                          <a:latin typeface="Arial" pitchFamily="34" charset="0"/>
                          <a:ea typeface="MS PGothic" pitchFamily="34" charset="-128"/>
                          <a:cs typeface="Arial" pitchFamily="34" charset="0"/>
                          <a:sym typeface="Helvetica Light"/>
                        </a:rPr>
                        <a:t>Private network communication</a:t>
                      </a:r>
                    </a:p>
                    <a:p>
                      <a:pPr marL="177800" marR="0" lvl="0" indent="-114300" algn="l" defTabSz="204788" rtl="0" eaLnBrk="1" fontAlgn="base" latinLnBrk="0" hangingPunct="1">
                        <a:lnSpc>
                          <a:spcPct val="100000"/>
                        </a:lnSpc>
                        <a:spcBef>
                          <a:spcPct val="0"/>
                        </a:spcBef>
                        <a:spcAft>
                          <a:spcPct val="0"/>
                        </a:spcAft>
                        <a:buClrTx/>
                        <a:buSzTx/>
                        <a:buFont typeface="Arial" pitchFamily="34" charset="0"/>
                        <a:buChar char="•"/>
                        <a:tabLst/>
                      </a:pPr>
                      <a:r>
                        <a:rPr kumimoji="0" lang="en-US" sz="1200" b="0" i="0" u="none" strike="noStrike" cap="none" normalizeH="0" baseline="0" dirty="0" smtClean="0">
                          <a:ln>
                            <a:noFill/>
                          </a:ln>
                          <a:solidFill>
                            <a:schemeClr val="tx1"/>
                          </a:solidFill>
                          <a:effectLst/>
                          <a:latin typeface="Arial" pitchFamily="34" charset="0"/>
                          <a:ea typeface="MS PGothic" pitchFamily="34" charset="-128"/>
                          <a:cs typeface="Arial" pitchFamily="34" charset="0"/>
                          <a:sym typeface="Helvetica Light"/>
                        </a:rPr>
                        <a:t>External IP address</a:t>
                      </a:r>
                    </a:p>
                  </a:txBody>
                  <a:tcPr marL="87854" marR="87854" marT="43933" marB="43933" anchor="ctr" horzOverflow="overflow">
                    <a:lnL>
                      <a:noFill/>
                    </a:lnL>
                    <a:lnR>
                      <a:noFill/>
                    </a:lnR>
                    <a:lnT>
                      <a:noFill/>
                    </a:lnT>
                    <a:lnB>
                      <a:noFill/>
                    </a:lnB>
                    <a:lnTlToBr>
                      <a:noFill/>
                    </a:lnTlToBr>
                    <a:lnBlToTr>
                      <a:noFill/>
                    </a:lnBlToTr>
                    <a:noFill/>
                  </a:tcPr>
                </a:tc>
                <a:tc>
                  <a:txBody>
                    <a:bodyPr/>
                    <a:lstStyle/>
                    <a:p>
                      <a:pPr marL="228600" marR="0" lvl="2" indent="0" algn="l"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0" lang="en-US" sz="1200" b="0" i="0" u="none" strike="noStrike" cap="none" normalizeH="0" baseline="0" dirty="0" smtClean="0">
                          <a:ln>
                            <a:noFill/>
                          </a:ln>
                          <a:solidFill>
                            <a:schemeClr val="tx1"/>
                          </a:solidFill>
                          <a:effectLst/>
                          <a:latin typeface="Arial" pitchFamily="34" charset="0"/>
                          <a:ea typeface="MS PGothic" pitchFamily="34" charset="-128"/>
                          <a:sym typeface="Helvetica Light"/>
                        </a:rPr>
                        <a:t>Extends and connects Docker containers to production-ready Enterprise environments</a:t>
                      </a:r>
                    </a:p>
                  </a:txBody>
                  <a:tcPr marL="87854" marR="87854" marT="43933" marB="43933" anchor="ctr" horzOverflow="overflow">
                    <a:lnL>
                      <a:noFill/>
                    </a:lnL>
                    <a:lnR>
                      <a:noFill/>
                    </a:lnR>
                    <a:lnT>
                      <a:noFill/>
                    </a:lnT>
                    <a:lnB>
                      <a:noFill/>
                    </a:lnB>
                    <a:lnTlToBr>
                      <a:noFill/>
                    </a:lnTlToBr>
                    <a:lnBlToTr>
                      <a:noFill/>
                    </a:lnBlToTr>
                    <a:noFill/>
                  </a:tcPr>
                </a:tc>
              </a:tr>
            </a:tbl>
          </a:graphicData>
        </a:graphic>
      </p:graphicFrame>
      <p:sp>
        <p:nvSpPr>
          <p:cNvPr id="11" name="Rectangle 102"/>
          <p:cNvSpPr>
            <a:spLocks noChangeArrowheads="1"/>
          </p:cNvSpPr>
          <p:nvPr/>
        </p:nvSpPr>
        <p:spPr bwMode="auto">
          <a:xfrm rot="2700000">
            <a:off x="2574725" y="2225358"/>
            <a:ext cx="328613" cy="312738"/>
          </a:xfrm>
          <a:prstGeom prst="rect">
            <a:avLst/>
          </a:prstGeom>
          <a:solidFill>
            <a:srgbClr val="72BFC5"/>
          </a:solidFill>
          <a:ln w="9525">
            <a:solidFill>
              <a:srgbClr val="72BFC5"/>
            </a:solidFill>
            <a:miter lim="800000"/>
            <a:headEnd/>
            <a:tailEnd/>
          </a:ln>
        </p:spPr>
        <p:txBody>
          <a:bodyPr lIns="101297" tIns="50649" rIns="101297" bIns="50649"/>
          <a:lstStyle/>
          <a:p>
            <a:pPr marL="128588" indent="-128588" defTabSz="1012825"/>
            <a:r>
              <a:rPr lang="en-US" altLang="en-US">
                <a:latin typeface="Arial" pitchFamily="34" charset="0"/>
                <a:ea typeface="MS PGothic" pitchFamily="34" charset="-128"/>
              </a:rPr>
              <a:t> </a:t>
            </a:r>
          </a:p>
        </p:txBody>
      </p:sp>
      <p:sp>
        <p:nvSpPr>
          <p:cNvPr id="12" name="Rectangle 103"/>
          <p:cNvSpPr>
            <a:spLocks noChangeArrowheads="1"/>
          </p:cNvSpPr>
          <p:nvPr/>
        </p:nvSpPr>
        <p:spPr bwMode="auto">
          <a:xfrm rot="2700000">
            <a:off x="5898157" y="2221389"/>
            <a:ext cx="322263" cy="320675"/>
          </a:xfrm>
          <a:prstGeom prst="rect">
            <a:avLst/>
          </a:prstGeom>
          <a:solidFill>
            <a:srgbClr val="00659E"/>
          </a:solidFill>
          <a:ln>
            <a:noFill/>
          </a:ln>
          <a:extLst>
            <a:ext uri="{91240B29-F687-4F45-9708-019B960494DF}">
              <a14:hiddenLine xmlns:a14="http://schemas.microsoft.com/office/drawing/2010/main" xmlns="" w="9525">
                <a:solidFill>
                  <a:srgbClr val="000000"/>
                </a:solidFill>
                <a:round/>
                <a:headEnd/>
                <a:tailEnd/>
              </a14:hiddenLine>
            </a:ext>
          </a:extLst>
        </p:spPr>
        <p:txBody>
          <a:bodyPr lIns="101297" tIns="50649" rIns="101297" bIns="50649"/>
          <a:lstStyle/>
          <a:p>
            <a:pPr marL="128588" indent="-128588" defTabSz="1012825"/>
            <a:endParaRPr lang="en-US" altLang="en-US">
              <a:latin typeface="Arial" pitchFamily="34" charset="0"/>
              <a:ea typeface="MS PGothic" pitchFamily="34" charset="-128"/>
            </a:endParaRPr>
          </a:p>
        </p:txBody>
      </p:sp>
      <p:sp>
        <p:nvSpPr>
          <p:cNvPr id="13" name="TextBox 80"/>
          <p:cNvSpPr txBox="1">
            <a:spLocks noChangeArrowheads="1"/>
          </p:cNvSpPr>
          <p:nvPr/>
        </p:nvSpPr>
        <p:spPr bwMode="auto">
          <a:xfrm>
            <a:off x="2469951" y="2747645"/>
            <a:ext cx="484187" cy="7080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1435" tIns="45718" rIns="91435" bIns="45718">
            <a:spAutoFit/>
          </a:bodyPr>
          <a:lstStyle>
            <a:lvl1pPr>
              <a:defRPr sz="2400">
                <a:solidFill>
                  <a:schemeClr val="tx1"/>
                </a:solidFill>
                <a:latin typeface="Arial" pitchFamily="34" charset="0"/>
                <a:ea typeface="MS PGothic" pitchFamily="34" charset="-128"/>
              </a:defRPr>
            </a:lvl1pPr>
            <a:lvl2pPr>
              <a:defRPr sz="2200">
                <a:solidFill>
                  <a:schemeClr val="tx1"/>
                </a:solidFill>
                <a:latin typeface="Arial" pitchFamily="34" charset="0"/>
                <a:ea typeface="MS PGothic" pitchFamily="34" charset="-128"/>
              </a:defRPr>
            </a:lvl2pPr>
            <a:lvl3pPr>
              <a:defRPr sz="2000">
                <a:solidFill>
                  <a:schemeClr val="tx1"/>
                </a:solidFill>
                <a:latin typeface="Arial" pitchFamily="34" charset="0"/>
                <a:ea typeface="MS PGothic" pitchFamily="34" charset="-128"/>
              </a:defRPr>
            </a:lvl3pPr>
            <a:lvl4pPr>
              <a:defRPr>
                <a:solidFill>
                  <a:schemeClr val="tx1"/>
                </a:solidFill>
                <a:latin typeface="Arial" pitchFamily="34" charset="0"/>
                <a:ea typeface="MS PGothic" pitchFamily="34" charset="-128"/>
              </a:defRPr>
            </a:lvl4pPr>
            <a:lvl5pPr>
              <a:defRPr>
                <a:solidFill>
                  <a:schemeClr val="tx1"/>
                </a:solidFill>
                <a:latin typeface="Arial" pitchFamily="34" charset="0"/>
                <a:ea typeface="MS PGothic" pitchFamily="34" charset="-128"/>
              </a:defRPr>
            </a:lvl5pPr>
            <a:lvl6pPr eaLnBrk="0" hangingPunct="0">
              <a:lnSpc>
                <a:spcPct val="85000"/>
              </a:lnSpc>
              <a:spcAft>
                <a:spcPts val="1200"/>
              </a:spcAft>
              <a:buClr>
                <a:schemeClr val="tx2"/>
              </a:buClr>
              <a:buFont typeface="Arial" pitchFamily="34" charset="0"/>
              <a:defRPr>
                <a:solidFill>
                  <a:schemeClr val="tx1"/>
                </a:solidFill>
                <a:latin typeface="Arial" pitchFamily="34" charset="0"/>
                <a:ea typeface="MS PGothic" pitchFamily="34" charset="-128"/>
              </a:defRPr>
            </a:lvl6pPr>
            <a:lvl7pPr eaLnBrk="0" hangingPunct="0">
              <a:lnSpc>
                <a:spcPct val="85000"/>
              </a:lnSpc>
              <a:spcAft>
                <a:spcPts val="1200"/>
              </a:spcAft>
              <a:buClr>
                <a:schemeClr val="tx2"/>
              </a:buClr>
              <a:buFont typeface="Arial" pitchFamily="34" charset="0"/>
              <a:defRPr>
                <a:solidFill>
                  <a:schemeClr val="tx1"/>
                </a:solidFill>
                <a:latin typeface="Arial" pitchFamily="34" charset="0"/>
                <a:ea typeface="MS PGothic" pitchFamily="34" charset="-128"/>
              </a:defRPr>
            </a:lvl7pPr>
            <a:lvl8pPr eaLnBrk="0" hangingPunct="0">
              <a:lnSpc>
                <a:spcPct val="85000"/>
              </a:lnSpc>
              <a:spcAft>
                <a:spcPts val="1200"/>
              </a:spcAft>
              <a:buClr>
                <a:schemeClr val="tx2"/>
              </a:buClr>
              <a:buFont typeface="Arial" pitchFamily="34" charset="0"/>
              <a:defRPr>
                <a:solidFill>
                  <a:schemeClr val="tx1"/>
                </a:solidFill>
                <a:latin typeface="Arial" pitchFamily="34" charset="0"/>
                <a:ea typeface="MS PGothic" pitchFamily="34" charset="-128"/>
              </a:defRPr>
            </a:lvl8pPr>
            <a:lvl9pPr eaLnBrk="0" hangingPunct="0">
              <a:lnSpc>
                <a:spcPct val="85000"/>
              </a:lnSpc>
              <a:spcAft>
                <a:spcPts val="1200"/>
              </a:spcAft>
              <a:buClr>
                <a:schemeClr val="tx2"/>
              </a:buClr>
              <a:buFont typeface="Arial" pitchFamily="34" charset="0"/>
              <a:defRPr>
                <a:solidFill>
                  <a:schemeClr val="tx1"/>
                </a:solidFill>
                <a:latin typeface="Arial" pitchFamily="34" charset="0"/>
                <a:ea typeface="MS PGothic" pitchFamily="34" charset="-128"/>
              </a:defRPr>
            </a:lvl9pPr>
          </a:lstStyle>
          <a:p>
            <a:r>
              <a:rPr lang="en-US" altLang="en-US" sz="4000" b="1">
                <a:solidFill>
                  <a:srgbClr val="00B050"/>
                </a:solidFill>
              </a:rPr>
              <a:t>+</a:t>
            </a:r>
          </a:p>
        </p:txBody>
      </p:sp>
      <p:sp>
        <p:nvSpPr>
          <p:cNvPr id="14" name="TextBox 81"/>
          <p:cNvSpPr txBox="1">
            <a:spLocks noChangeArrowheads="1"/>
          </p:cNvSpPr>
          <p:nvPr/>
        </p:nvSpPr>
        <p:spPr bwMode="auto">
          <a:xfrm>
            <a:off x="5876726" y="2753995"/>
            <a:ext cx="484187" cy="7080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1435" tIns="45718" rIns="91435" bIns="45718">
            <a:spAutoFit/>
          </a:bodyPr>
          <a:lstStyle>
            <a:lvl1pPr>
              <a:defRPr sz="2400">
                <a:solidFill>
                  <a:schemeClr val="tx1"/>
                </a:solidFill>
                <a:latin typeface="Arial" pitchFamily="34" charset="0"/>
                <a:ea typeface="MS PGothic" pitchFamily="34" charset="-128"/>
              </a:defRPr>
            </a:lvl1pPr>
            <a:lvl2pPr>
              <a:defRPr sz="2200">
                <a:solidFill>
                  <a:schemeClr val="tx1"/>
                </a:solidFill>
                <a:latin typeface="Arial" pitchFamily="34" charset="0"/>
                <a:ea typeface="MS PGothic" pitchFamily="34" charset="-128"/>
              </a:defRPr>
            </a:lvl2pPr>
            <a:lvl3pPr>
              <a:defRPr sz="2000">
                <a:solidFill>
                  <a:schemeClr val="tx1"/>
                </a:solidFill>
                <a:latin typeface="Arial" pitchFamily="34" charset="0"/>
                <a:ea typeface="MS PGothic" pitchFamily="34" charset="-128"/>
              </a:defRPr>
            </a:lvl3pPr>
            <a:lvl4pPr>
              <a:defRPr>
                <a:solidFill>
                  <a:schemeClr val="tx1"/>
                </a:solidFill>
                <a:latin typeface="Arial" pitchFamily="34" charset="0"/>
                <a:ea typeface="MS PGothic" pitchFamily="34" charset="-128"/>
              </a:defRPr>
            </a:lvl4pPr>
            <a:lvl5pPr>
              <a:defRPr>
                <a:solidFill>
                  <a:schemeClr val="tx1"/>
                </a:solidFill>
                <a:latin typeface="Arial" pitchFamily="34" charset="0"/>
                <a:ea typeface="MS PGothic" pitchFamily="34" charset="-128"/>
              </a:defRPr>
            </a:lvl5pPr>
            <a:lvl6pPr eaLnBrk="0" hangingPunct="0">
              <a:lnSpc>
                <a:spcPct val="85000"/>
              </a:lnSpc>
              <a:spcAft>
                <a:spcPts val="1200"/>
              </a:spcAft>
              <a:buClr>
                <a:schemeClr val="tx2"/>
              </a:buClr>
              <a:buFont typeface="Arial" pitchFamily="34" charset="0"/>
              <a:defRPr>
                <a:solidFill>
                  <a:schemeClr val="tx1"/>
                </a:solidFill>
                <a:latin typeface="Arial" pitchFamily="34" charset="0"/>
                <a:ea typeface="MS PGothic" pitchFamily="34" charset="-128"/>
              </a:defRPr>
            </a:lvl6pPr>
            <a:lvl7pPr eaLnBrk="0" hangingPunct="0">
              <a:lnSpc>
                <a:spcPct val="85000"/>
              </a:lnSpc>
              <a:spcAft>
                <a:spcPts val="1200"/>
              </a:spcAft>
              <a:buClr>
                <a:schemeClr val="tx2"/>
              </a:buClr>
              <a:buFont typeface="Arial" pitchFamily="34" charset="0"/>
              <a:defRPr>
                <a:solidFill>
                  <a:schemeClr val="tx1"/>
                </a:solidFill>
                <a:latin typeface="Arial" pitchFamily="34" charset="0"/>
                <a:ea typeface="MS PGothic" pitchFamily="34" charset="-128"/>
              </a:defRPr>
            </a:lvl7pPr>
            <a:lvl8pPr eaLnBrk="0" hangingPunct="0">
              <a:lnSpc>
                <a:spcPct val="85000"/>
              </a:lnSpc>
              <a:spcAft>
                <a:spcPts val="1200"/>
              </a:spcAft>
              <a:buClr>
                <a:schemeClr val="tx2"/>
              </a:buClr>
              <a:buFont typeface="Arial" pitchFamily="34" charset="0"/>
              <a:defRPr>
                <a:solidFill>
                  <a:schemeClr val="tx1"/>
                </a:solidFill>
                <a:latin typeface="Arial" pitchFamily="34" charset="0"/>
                <a:ea typeface="MS PGothic" pitchFamily="34" charset="-128"/>
              </a:defRPr>
            </a:lvl8pPr>
            <a:lvl9pPr eaLnBrk="0" hangingPunct="0">
              <a:lnSpc>
                <a:spcPct val="85000"/>
              </a:lnSpc>
              <a:spcAft>
                <a:spcPts val="1200"/>
              </a:spcAft>
              <a:buClr>
                <a:schemeClr val="tx2"/>
              </a:buClr>
              <a:buFont typeface="Arial" pitchFamily="34" charset="0"/>
              <a:defRPr>
                <a:solidFill>
                  <a:schemeClr val="tx1"/>
                </a:solidFill>
                <a:latin typeface="Arial" pitchFamily="34" charset="0"/>
                <a:ea typeface="MS PGothic" pitchFamily="34" charset="-128"/>
              </a:defRPr>
            </a:lvl9pPr>
          </a:lstStyle>
          <a:p>
            <a:r>
              <a:rPr lang="en-US" altLang="en-US" sz="4000" b="1">
                <a:solidFill>
                  <a:srgbClr val="00B050"/>
                </a:solidFill>
              </a:rPr>
              <a:t>=</a:t>
            </a:r>
          </a:p>
        </p:txBody>
      </p:sp>
      <p:sp>
        <p:nvSpPr>
          <p:cNvPr id="15" name="TextBox 80"/>
          <p:cNvSpPr txBox="1">
            <a:spLocks noChangeArrowheads="1"/>
          </p:cNvSpPr>
          <p:nvPr/>
        </p:nvSpPr>
        <p:spPr bwMode="auto">
          <a:xfrm>
            <a:off x="2481063" y="3520758"/>
            <a:ext cx="484188" cy="7080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1435" tIns="45718" rIns="91435" bIns="45718">
            <a:spAutoFit/>
          </a:bodyPr>
          <a:lstStyle>
            <a:lvl1pPr>
              <a:defRPr sz="2400">
                <a:solidFill>
                  <a:schemeClr val="tx1"/>
                </a:solidFill>
                <a:latin typeface="Arial" pitchFamily="34" charset="0"/>
                <a:ea typeface="MS PGothic" pitchFamily="34" charset="-128"/>
              </a:defRPr>
            </a:lvl1pPr>
            <a:lvl2pPr>
              <a:defRPr sz="2200">
                <a:solidFill>
                  <a:schemeClr val="tx1"/>
                </a:solidFill>
                <a:latin typeface="Arial" pitchFamily="34" charset="0"/>
                <a:ea typeface="MS PGothic" pitchFamily="34" charset="-128"/>
              </a:defRPr>
            </a:lvl2pPr>
            <a:lvl3pPr>
              <a:defRPr sz="2000">
                <a:solidFill>
                  <a:schemeClr val="tx1"/>
                </a:solidFill>
                <a:latin typeface="Arial" pitchFamily="34" charset="0"/>
                <a:ea typeface="MS PGothic" pitchFamily="34" charset="-128"/>
              </a:defRPr>
            </a:lvl3pPr>
            <a:lvl4pPr>
              <a:defRPr>
                <a:solidFill>
                  <a:schemeClr val="tx1"/>
                </a:solidFill>
                <a:latin typeface="Arial" pitchFamily="34" charset="0"/>
                <a:ea typeface="MS PGothic" pitchFamily="34" charset="-128"/>
              </a:defRPr>
            </a:lvl4pPr>
            <a:lvl5pPr>
              <a:defRPr>
                <a:solidFill>
                  <a:schemeClr val="tx1"/>
                </a:solidFill>
                <a:latin typeface="Arial" pitchFamily="34" charset="0"/>
                <a:ea typeface="MS PGothic" pitchFamily="34" charset="-128"/>
              </a:defRPr>
            </a:lvl5pPr>
            <a:lvl6pPr eaLnBrk="0" hangingPunct="0">
              <a:lnSpc>
                <a:spcPct val="85000"/>
              </a:lnSpc>
              <a:spcAft>
                <a:spcPts val="1200"/>
              </a:spcAft>
              <a:buClr>
                <a:schemeClr val="tx2"/>
              </a:buClr>
              <a:buFont typeface="Arial" pitchFamily="34" charset="0"/>
              <a:defRPr>
                <a:solidFill>
                  <a:schemeClr val="tx1"/>
                </a:solidFill>
                <a:latin typeface="Arial" pitchFamily="34" charset="0"/>
                <a:ea typeface="MS PGothic" pitchFamily="34" charset="-128"/>
              </a:defRPr>
            </a:lvl6pPr>
            <a:lvl7pPr eaLnBrk="0" hangingPunct="0">
              <a:lnSpc>
                <a:spcPct val="85000"/>
              </a:lnSpc>
              <a:spcAft>
                <a:spcPts val="1200"/>
              </a:spcAft>
              <a:buClr>
                <a:schemeClr val="tx2"/>
              </a:buClr>
              <a:buFont typeface="Arial" pitchFamily="34" charset="0"/>
              <a:defRPr>
                <a:solidFill>
                  <a:schemeClr val="tx1"/>
                </a:solidFill>
                <a:latin typeface="Arial" pitchFamily="34" charset="0"/>
                <a:ea typeface="MS PGothic" pitchFamily="34" charset="-128"/>
              </a:defRPr>
            </a:lvl7pPr>
            <a:lvl8pPr eaLnBrk="0" hangingPunct="0">
              <a:lnSpc>
                <a:spcPct val="85000"/>
              </a:lnSpc>
              <a:spcAft>
                <a:spcPts val="1200"/>
              </a:spcAft>
              <a:buClr>
                <a:schemeClr val="tx2"/>
              </a:buClr>
              <a:buFont typeface="Arial" pitchFamily="34" charset="0"/>
              <a:defRPr>
                <a:solidFill>
                  <a:schemeClr val="tx1"/>
                </a:solidFill>
                <a:latin typeface="Arial" pitchFamily="34" charset="0"/>
                <a:ea typeface="MS PGothic" pitchFamily="34" charset="-128"/>
              </a:defRPr>
            </a:lvl8pPr>
            <a:lvl9pPr eaLnBrk="0" hangingPunct="0">
              <a:lnSpc>
                <a:spcPct val="85000"/>
              </a:lnSpc>
              <a:spcAft>
                <a:spcPts val="1200"/>
              </a:spcAft>
              <a:buClr>
                <a:schemeClr val="tx2"/>
              </a:buClr>
              <a:buFont typeface="Arial" pitchFamily="34" charset="0"/>
              <a:defRPr>
                <a:solidFill>
                  <a:schemeClr val="tx1"/>
                </a:solidFill>
                <a:latin typeface="Arial" pitchFamily="34" charset="0"/>
                <a:ea typeface="MS PGothic" pitchFamily="34" charset="-128"/>
              </a:defRPr>
            </a:lvl9pPr>
          </a:lstStyle>
          <a:p>
            <a:r>
              <a:rPr lang="en-US" altLang="en-US" sz="4000" b="1">
                <a:solidFill>
                  <a:srgbClr val="00B050"/>
                </a:solidFill>
              </a:rPr>
              <a:t>+</a:t>
            </a:r>
          </a:p>
        </p:txBody>
      </p:sp>
      <p:sp>
        <p:nvSpPr>
          <p:cNvPr id="16" name="TextBox 81"/>
          <p:cNvSpPr txBox="1">
            <a:spLocks noChangeArrowheads="1"/>
          </p:cNvSpPr>
          <p:nvPr/>
        </p:nvSpPr>
        <p:spPr bwMode="auto">
          <a:xfrm>
            <a:off x="5887838" y="3527108"/>
            <a:ext cx="484188" cy="7080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1435" tIns="45718" rIns="91435" bIns="45718">
            <a:spAutoFit/>
          </a:bodyPr>
          <a:lstStyle>
            <a:lvl1pPr>
              <a:defRPr sz="2400">
                <a:solidFill>
                  <a:schemeClr val="tx1"/>
                </a:solidFill>
                <a:latin typeface="Arial" pitchFamily="34" charset="0"/>
                <a:ea typeface="MS PGothic" pitchFamily="34" charset="-128"/>
              </a:defRPr>
            </a:lvl1pPr>
            <a:lvl2pPr>
              <a:defRPr sz="2200">
                <a:solidFill>
                  <a:schemeClr val="tx1"/>
                </a:solidFill>
                <a:latin typeface="Arial" pitchFamily="34" charset="0"/>
                <a:ea typeface="MS PGothic" pitchFamily="34" charset="-128"/>
              </a:defRPr>
            </a:lvl2pPr>
            <a:lvl3pPr>
              <a:defRPr sz="2000">
                <a:solidFill>
                  <a:schemeClr val="tx1"/>
                </a:solidFill>
                <a:latin typeface="Arial" pitchFamily="34" charset="0"/>
                <a:ea typeface="MS PGothic" pitchFamily="34" charset="-128"/>
              </a:defRPr>
            </a:lvl3pPr>
            <a:lvl4pPr>
              <a:defRPr>
                <a:solidFill>
                  <a:schemeClr val="tx1"/>
                </a:solidFill>
                <a:latin typeface="Arial" pitchFamily="34" charset="0"/>
                <a:ea typeface="MS PGothic" pitchFamily="34" charset="-128"/>
              </a:defRPr>
            </a:lvl4pPr>
            <a:lvl5pPr>
              <a:defRPr>
                <a:solidFill>
                  <a:schemeClr val="tx1"/>
                </a:solidFill>
                <a:latin typeface="Arial" pitchFamily="34" charset="0"/>
                <a:ea typeface="MS PGothic" pitchFamily="34" charset="-128"/>
              </a:defRPr>
            </a:lvl5pPr>
            <a:lvl6pPr eaLnBrk="0" hangingPunct="0">
              <a:lnSpc>
                <a:spcPct val="85000"/>
              </a:lnSpc>
              <a:spcAft>
                <a:spcPts val="1200"/>
              </a:spcAft>
              <a:buClr>
                <a:schemeClr val="tx2"/>
              </a:buClr>
              <a:buFont typeface="Arial" pitchFamily="34" charset="0"/>
              <a:defRPr>
                <a:solidFill>
                  <a:schemeClr val="tx1"/>
                </a:solidFill>
                <a:latin typeface="Arial" pitchFamily="34" charset="0"/>
                <a:ea typeface="MS PGothic" pitchFamily="34" charset="-128"/>
              </a:defRPr>
            </a:lvl6pPr>
            <a:lvl7pPr eaLnBrk="0" hangingPunct="0">
              <a:lnSpc>
                <a:spcPct val="85000"/>
              </a:lnSpc>
              <a:spcAft>
                <a:spcPts val="1200"/>
              </a:spcAft>
              <a:buClr>
                <a:schemeClr val="tx2"/>
              </a:buClr>
              <a:buFont typeface="Arial" pitchFamily="34" charset="0"/>
              <a:defRPr>
                <a:solidFill>
                  <a:schemeClr val="tx1"/>
                </a:solidFill>
                <a:latin typeface="Arial" pitchFamily="34" charset="0"/>
                <a:ea typeface="MS PGothic" pitchFamily="34" charset="-128"/>
              </a:defRPr>
            </a:lvl7pPr>
            <a:lvl8pPr eaLnBrk="0" hangingPunct="0">
              <a:lnSpc>
                <a:spcPct val="85000"/>
              </a:lnSpc>
              <a:spcAft>
                <a:spcPts val="1200"/>
              </a:spcAft>
              <a:buClr>
                <a:schemeClr val="tx2"/>
              </a:buClr>
              <a:buFont typeface="Arial" pitchFamily="34" charset="0"/>
              <a:defRPr>
                <a:solidFill>
                  <a:schemeClr val="tx1"/>
                </a:solidFill>
                <a:latin typeface="Arial" pitchFamily="34" charset="0"/>
                <a:ea typeface="MS PGothic" pitchFamily="34" charset="-128"/>
              </a:defRPr>
            </a:lvl8pPr>
            <a:lvl9pPr eaLnBrk="0" hangingPunct="0">
              <a:lnSpc>
                <a:spcPct val="85000"/>
              </a:lnSpc>
              <a:spcAft>
                <a:spcPts val="1200"/>
              </a:spcAft>
              <a:buClr>
                <a:schemeClr val="tx2"/>
              </a:buClr>
              <a:buFont typeface="Arial" pitchFamily="34" charset="0"/>
              <a:defRPr>
                <a:solidFill>
                  <a:schemeClr val="tx1"/>
                </a:solidFill>
                <a:latin typeface="Arial" pitchFamily="34" charset="0"/>
                <a:ea typeface="MS PGothic" pitchFamily="34" charset="-128"/>
              </a:defRPr>
            </a:lvl9pPr>
          </a:lstStyle>
          <a:p>
            <a:r>
              <a:rPr lang="en-US" altLang="en-US" sz="4000" b="1">
                <a:solidFill>
                  <a:srgbClr val="00B050"/>
                </a:solidFill>
              </a:rPr>
              <a:t>=</a:t>
            </a:r>
          </a:p>
        </p:txBody>
      </p:sp>
      <p:sp>
        <p:nvSpPr>
          <p:cNvPr id="17" name="TextBox 80"/>
          <p:cNvSpPr txBox="1">
            <a:spLocks noChangeArrowheads="1"/>
          </p:cNvSpPr>
          <p:nvPr/>
        </p:nvSpPr>
        <p:spPr bwMode="auto">
          <a:xfrm>
            <a:off x="2469951" y="4436745"/>
            <a:ext cx="484187" cy="7080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1435" tIns="45718" rIns="91435" bIns="45718">
            <a:spAutoFit/>
          </a:bodyPr>
          <a:lstStyle>
            <a:lvl1pPr>
              <a:defRPr sz="2400">
                <a:solidFill>
                  <a:schemeClr val="tx1"/>
                </a:solidFill>
                <a:latin typeface="Arial" pitchFamily="34" charset="0"/>
                <a:ea typeface="MS PGothic" pitchFamily="34" charset="-128"/>
              </a:defRPr>
            </a:lvl1pPr>
            <a:lvl2pPr>
              <a:defRPr sz="2200">
                <a:solidFill>
                  <a:schemeClr val="tx1"/>
                </a:solidFill>
                <a:latin typeface="Arial" pitchFamily="34" charset="0"/>
                <a:ea typeface="MS PGothic" pitchFamily="34" charset="-128"/>
              </a:defRPr>
            </a:lvl2pPr>
            <a:lvl3pPr>
              <a:defRPr sz="2000">
                <a:solidFill>
                  <a:schemeClr val="tx1"/>
                </a:solidFill>
                <a:latin typeface="Arial" pitchFamily="34" charset="0"/>
                <a:ea typeface="MS PGothic" pitchFamily="34" charset="-128"/>
              </a:defRPr>
            </a:lvl3pPr>
            <a:lvl4pPr>
              <a:defRPr>
                <a:solidFill>
                  <a:schemeClr val="tx1"/>
                </a:solidFill>
                <a:latin typeface="Arial" pitchFamily="34" charset="0"/>
                <a:ea typeface="MS PGothic" pitchFamily="34" charset="-128"/>
              </a:defRPr>
            </a:lvl4pPr>
            <a:lvl5pPr>
              <a:defRPr>
                <a:solidFill>
                  <a:schemeClr val="tx1"/>
                </a:solidFill>
                <a:latin typeface="Arial" pitchFamily="34" charset="0"/>
                <a:ea typeface="MS PGothic" pitchFamily="34" charset="-128"/>
              </a:defRPr>
            </a:lvl5pPr>
            <a:lvl6pPr eaLnBrk="0" hangingPunct="0">
              <a:lnSpc>
                <a:spcPct val="85000"/>
              </a:lnSpc>
              <a:spcAft>
                <a:spcPts val="1200"/>
              </a:spcAft>
              <a:buClr>
                <a:schemeClr val="tx2"/>
              </a:buClr>
              <a:buFont typeface="Arial" pitchFamily="34" charset="0"/>
              <a:defRPr>
                <a:solidFill>
                  <a:schemeClr val="tx1"/>
                </a:solidFill>
                <a:latin typeface="Arial" pitchFamily="34" charset="0"/>
                <a:ea typeface="MS PGothic" pitchFamily="34" charset="-128"/>
              </a:defRPr>
            </a:lvl6pPr>
            <a:lvl7pPr eaLnBrk="0" hangingPunct="0">
              <a:lnSpc>
                <a:spcPct val="85000"/>
              </a:lnSpc>
              <a:spcAft>
                <a:spcPts val="1200"/>
              </a:spcAft>
              <a:buClr>
                <a:schemeClr val="tx2"/>
              </a:buClr>
              <a:buFont typeface="Arial" pitchFamily="34" charset="0"/>
              <a:defRPr>
                <a:solidFill>
                  <a:schemeClr val="tx1"/>
                </a:solidFill>
                <a:latin typeface="Arial" pitchFamily="34" charset="0"/>
                <a:ea typeface="MS PGothic" pitchFamily="34" charset="-128"/>
              </a:defRPr>
            </a:lvl7pPr>
            <a:lvl8pPr eaLnBrk="0" hangingPunct="0">
              <a:lnSpc>
                <a:spcPct val="85000"/>
              </a:lnSpc>
              <a:spcAft>
                <a:spcPts val="1200"/>
              </a:spcAft>
              <a:buClr>
                <a:schemeClr val="tx2"/>
              </a:buClr>
              <a:buFont typeface="Arial" pitchFamily="34" charset="0"/>
              <a:defRPr>
                <a:solidFill>
                  <a:schemeClr val="tx1"/>
                </a:solidFill>
                <a:latin typeface="Arial" pitchFamily="34" charset="0"/>
                <a:ea typeface="MS PGothic" pitchFamily="34" charset="-128"/>
              </a:defRPr>
            </a:lvl8pPr>
            <a:lvl9pPr eaLnBrk="0" hangingPunct="0">
              <a:lnSpc>
                <a:spcPct val="85000"/>
              </a:lnSpc>
              <a:spcAft>
                <a:spcPts val="1200"/>
              </a:spcAft>
              <a:buClr>
                <a:schemeClr val="tx2"/>
              </a:buClr>
              <a:buFont typeface="Arial" pitchFamily="34" charset="0"/>
              <a:defRPr>
                <a:solidFill>
                  <a:schemeClr val="tx1"/>
                </a:solidFill>
                <a:latin typeface="Arial" pitchFamily="34" charset="0"/>
                <a:ea typeface="MS PGothic" pitchFamily="34" charset="-128"/>
              </a:defRPr>
            </a:lvl9pPr>
          </a:lstStyle>
          <a:p>
            <a:r>
              <a:rPr lang="en-US" altLang="en-US" sz="4000" b="1">
                <a:solidFill>
                  <a:srgbClr val="00B050"/>
                </a:solidFill>
              </a:rPr>
              <a:t>+</a:t>
            </a:r>
          </a:p>
        </p:txBody>
      </p:sp>
      <p:sp>
        <p:nvSpPr>
          <p:cNvPr id="18" name="TextBox 81"/>
          <p:cNvSpPr txBox="1">
            <a:spLocks noChangeArrowheads="1"/>
          </p:cNvSpPr>
          <p:nvPr/>
        </p:nvSpPr>
        <p:spPr bwMode="auto">
          <a:xfrm>
            <a:off x="5876726" y="4443095"/>
            <a:ext cx="484187" cy="7080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1435" tIns="45718" rIns="91435" bIns="45718">
            <a:spAutoFit/>
          </a:bodyPr>
          <a:lstStyle>
            <a:lvl1pPr>
              <a:defRPr sz="2400">
                <a:solidFill>
                  <a:schemeClr val="tx1"/>
                </a:solidFill>
                <a:latin typeface="Arial" pitchFamily="34" charset="0"/>
                <a:ea typeface="MS PGothic" pitchFamily="34" charset="-128"/>
              </a:defRPr>
            </a:lvl1pPr>
            <a:lvl2pPr>
              <a:defRPr sz="2200">
                <a:solidFill>
                  <a:schemeClr val="tx1"/>
                </a:solidFill>
                <a:latin typeface="Arial" pitchFamily="34" charset="0"/>
                <a:ea typeface="MS PGothic" pitchFamily="34" charset="-128"/>
              </a:defRPr>
            </a:lvl2pPr>
            <a:lvl3pPr>
              <a:defRPr sz="2000">
                <a:solidFill>
                  <a:schemeClr val="tx1"/>
                </a:solidFill>
                <a:latin typeface="Arial" pitchFamily="34" charset="0"/>
                <a:ea typeface="MS PGothic" pitchFamily="34" charset="-128"/>
              </a:defRPr>
            </a:lvl3pPr>
            <a:lvl4pPr>
              <a:defRPr>
                <a:solidFill>
                  <a:schemeClr val="tx1"/>
                </a:solidFill>
                <a:latin typeface="Arial" pitchFamily="34" charset="0"/>
                <a:ea typeface="MS PGothic" pitchFamily="34" charset="-128"/>
              </a:defRPr>
            </a:lvl4pPr>
            <a:lvl5pPr>
              <a:defRPr>
                <a:solidFill>
                  <a:schemeClr val="tx1"/>
                </a:solidFill>
                <a:latin typeface="Arial" pitchFamily="34" charset="0"/>
                <a:ea typeface="MS PGothic" pitchFamily="34" charset="-128"/>
              </a:defRPr>
            </a:lvl5pPr>
            <a:lvl6pPr eaLnBrk="0" hangingPunct="0">
              <a:lnSpc>
                <a:spcPct val="85000"/>
              </a:lnSpc>
              <a:spcAft>
                <a:spcPts val="1200"/>
              </a:spcAft>
              <a:buClr>
                <a:schemeClr val="tx2"/>
              </a:buClr>
              <a:buFont typeface="Arial" pitchFamily="34" charset="0"/>
              <a:defRPr>
                <a:solidFill>
                  <a:schemeClr val="tx1"/>
                </a:solidFill>
                <a:latin typeface="Arial" pitchFamily="34" charset="0"/>
                <a:ea typeface="MS PGothic" pitchFamily="34" charset="-128"/>
              </a:defRPr>
            </a:lvl6pPr>
            <a:lvl7pPr eaLnBrk="0" hangingPunct="0">
              <a:lnSpc>
                <a:spcPct val="85000"/>
              </a:lnSpc>
              <a:spcAft>
                <a:spcPts val="1200"/>
              </a:spcAft>
              <a:buClr>
                <a:schemeClr val="tx2"/>
              </a:buClr>
              <a:buFont typeface="Arial" pitchFamily="34" charset="0"/>
              <a:defRPr>
                <a:solidFill>
                  <a:schemeClr val="tx1"/>
                </a:solidFill>
                <a:latin typeface="Arial" pitchFamily="34" charset="0"/>
                <a:ea typeface="MS PGothic" pitchFamily="34" charset="-128"/>
              </a:defRPr>
            </a:lvl7pPr>
            <a:lvl8pPr eaLnBrk="0" hangingPunct="0">
              <a:lnSpc>
                <a:spcPct val="85000"/>
              </a:lnSpc>
              <a:spcAft>
                <a:spcPts val="1200"/>
              </a:spcAft>
              <a:buClr>
                <a:schemeClr val="tx2"/>
              </a:buClr>
              <a:buFont typeface="Arial" pitchFamily="34" charset="0"/>
              <a:defRPr>
                <a:solidFill>
                  <a:schemeClr val="tx1"/>
                </a:solidFill>
                <a:latin typeface="Arial" pitchFamily="34" charset="0"/>
                <a:ea typeface="MS PGothic" pitchFamily="34" charset="-128"/>
              </a:defRPr>
            </a:lvl8pPr>
            <a:lvl9pPr eaLnBrk="0" hangingPunct="0">
              <a:lnSpc>
                <a:spcPct val="85000"/>
              </a:lnSpc>
              <a:spcAft>
                <a:spcPts val="1200"/>
              </a:spcAft>
              <a:buClr>
                <a:schemeClr val="tx2"/>
              </a:buClr>
              <a:buFont typeface="Arial" pitchFamily="34" charset="0"/>
              <a:defRPr>
                <a:solidFill>
                  <a:schemeClr val="tx1"/>
                </a:solidFill>
                <a:latin typeface="Arial" pitchFamily="34" charset="0"/>
                <a:ea typeface="MS PGothic" pitchFamily="34" charset="-128"/>
              </a:defRPr>
            </a:lvl9pPr>
          </a:lstStyle>
          <a:p>
            <a:r>
              <a:rPr lang="en-US" altLang="en-US" sz="4000" b="1">
                <a:solidFill>
                  <a:srgbClr val="00B050"/>
                </a:solidFill>
              </a:rPr>
              <a:t>=</a:t>
            </a:r>
          </a:p>
        </p:txBody>
      </p:sp>
      <p:sp>
        <p:nvSpPr>
          <p:cNvPr id="19" name="TextBox 80"/>
          <p:cNvSpPr txBox="1">
            <a:spLocks noChangeArrowheads="1"/>
          </p:cNvSpPr>
          <p:nvPr/>
        </p:nvSpPr>
        <p:spPr bwMode="auto">
          <a:xfrm>
            <a:off x="2469951" y="5211445"/>
            <a:ext cx="484187" cy="7080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1435" tIns="45718" rIns="91435" bIns="45718">
            <a:spAutoFit/>
          </a:bodyPr>
          <a:lstStyle>
            <a:lvl1pPr>
              <a:defRPr sz="2400">
                <a:solidFill>
                  <a:schemeClr val="tx1"/>
                </a:solidFill>
                <a:latin typeface="Arial" pitchFamily="34" charset="0"/>
                <a:ea typeface="MS PGothic" pitchFamily="34" charset="-128"/>
              </a:defRPr>
            </a:lvl1pPr>
            <a:lvl2pPr>
              <a:defRPr sz="2200">
                <a:solidFill>
                  <a:schemeClr val="tx1"/>
                </a:solidFill>
                <a:latin typeface="Arial" pitchFamily="34" charset="0"/>
                <a:ea typeface="MS PGothic" pitchFamily="34" charset="-128"/>
              </a:defRPr>
            </a:lvl2pPr>
            <a:lvl3pPr>
              <a:defRPr sz="2000">
                <a:solidFill>
                  <a:schemeClr val="tx1"/>
                </a:solidFill>
                <a:latin typeface="Arial" pitchFamily="34" charset="0"/>
                <a:ea typeface="MS PGothic" pitchFamily="34" charset="-128"/>
              </a:defRPr>
            </a:lvl3pPr>
            <a:lvl4pPr>
              <a:defRPr>
                <a:solidFill>
                  <a:schemeClr val="tx1"/>
                </a:solidFill>
                <a:latin typeface="Arial" pitchFamily="34" charset="0"/>
                <a:ea typeface="MS PGothic" pitchFamily="34" charset="-128"/>
              </a:defRPr>
            </a:lvl4pPr>
            <a:lvl5pPr>
              <a:defRPr>
                <a:solidFill>
                  <a:schemeClr val="tx1"/>
                </a:solidFill>
                <a:latin typeface="Arial" pitchFamily="34" charset="0"/>
                <a:ea typeface="MS PGothic" pitchFamily="34" charset="-128"/>
              </a:defRPr>
            </a:lvl5pPr>
            <a:lvl6pPr eaLnBrk="0" hangingPunct="0">
              <a:lnSpc>
                <a:spcPct val="85000"/>
              </a:lnSpc>
              <a:spcAft>
                <a:spcPts val="1200"/>
              </a:spcAft>
              <a:buClr>
                <a:schemeClr val="tx2"/>
              </a:buClr>
              <a:buFont typeface="Arial" pitchFamily="34" charset="0"/>
              <a:defRPr>
                <a:solidFill>
                  <a:schemeClr val="tx1"/>
                </a:solidFill>
                <a:latin typeface="Arial" pitchFamily="34" charset="0"/>
                <a:ea typeface="MS PGothic" pitchFamily="34" charset="-128"/>
              </a:defRPr>
            </a:lvl6pPr>
            <a:lvl7pPr eaLnBrk="0" hangingPunct="0">
              <a:lnSpc>
                <a:spcPct val="85000"/>
              </a:lnSpc>
              <a:spcAft>
                <a:spcPts val="1200"/>
              </a:spcAft>
              <a:buClr>
                <a:schemeClr val="tx2"/>
              </a:buClr>
              <a:buFont typeface="Arial" pitchFamily="34" charset="0"/>
              <a:defRPr>
                <a:solidFill>
                  <a:schemeClr val="tx1"/>
                </a:solidFill>
                <a:latin typeface="Arial" pitchFamily="34" charset="0"/>
                <a:ea typeface="MS PGothic" pitchFamily="34" charset="-128"/>
              </a:defRPr>
            </a:lvl7pPr>
            <a:lvl8pPr eaLnBrk="0" hangingPunct="0">
              <a:lnSpc>
                <a:spcPct val="85000"/>
              </a:lnSpc>
              <a:spcAft>
                <a:spcPts val="1200"/>
              </a:spcAft>
              <a:buClr>
                <a:schemeClr val="tx2"/>
              </a:buClr>
              <a:buFont typeface="Arial" pitchFamily="34" charset="0"/>
              <a:defRPr>
                <a:solidFill>
                  <a:schemeClr val="tx1"/>
                </a:solidFill>
                <a:latin typeface="Arial" pitchFamily="34" charset="0"/>
                <a:ea typeface="MS PGothic" pitchFamily="34" charset="-128"/>
              </a:defRPr>
            </a:lvl8pPr>
            <a:lvl9pPr eaLnBrk="0" hangingPunct="0">
              <a:lnSpc>
                <a:spcPct val="85000"/>
              </a:lnSpc>
              <a:spcAft>
                <a:spcPts val="1200"/>
              </a:spcAft>
              <a:buClr>
                <a:schemeClr val="tx2"/>
              </a:buClr>
              <a:buFont typeface="Arial" pitchFamily="34" charset="0"/>
              <a:defRPr>
                <a:solidFill>
                  <a:schemeClr val="tx1"/>
                </a:solidFill>
                <a:latin typeface="Arial" pitchFamily="34" charset="0"/>
                <a:ea typeface="MS PGothic" pitchFamily="34" charset="-128"/>
              </a:defRPr>
            </a:lvl9pPr>
          </a:lstStyle>
          <a:p>
            <a:r>
              <a:rPr lang="en-US" altLang="en-US" sz="4000" b="1">
                <a:solidFill>
                  <a:srgbClr val="00B050"/>
                </a:solidFill>
              </a:rPr>
              <a:t>+</a:t>
            </a:r>
          </a:p>
        </p:txBody>
      </p:sp>
      <p:sp>
        <p:nvSpPr>
          <p:cNvPr id="20" name="TextBox 81"/>
          <p:cNvSpPr txBox="1">
            <a:spLocks noChangeArrowheads="1"/>
          </p:cNvSpPr>
          <p:nvPr/>
        </p:nvSpPr>
        <p:spPr bwMode="auto">
          <a:xfrm>
            <a:off x="5876726" y="5217795"/>
            <a:ext cx="484187" cy="7080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1435" tIns="45718" rIns="91435" bIns="45718">
            <a:spAutoFit/>
          </a:bodyPr>
          <a:lstStyle>
            <a:lvl1pPr>
              <a:defRPr sz="2400">
                <a:solidFill>
                  <a:schemeClr val="tx1"/>
                </a:solidFill>
                <a:latin typeface="Arial" pitchFamily="34" charset="0"/>
                <a:ea typeface="MS PGothic" pitchFamily="34" charset="-128"/>
              </a:defRPr>
            </a:lvl1pPr>
            <a:lvl2pPr>
              <a:defRPr sz="2200">
                <a:solidFill>
                  <a:schemeClr val="tx1"/>
                </a:solidFill>
                <a:latin typeface="Arial" pitchFamily="34" charset="0"/>
                <a:ea typeface="MS PGothic" pitchFamily="34" charset="-128"/>
              </a:defRPr>
            </a:lvl2pPr>
            <a:lvl3pPr>
              <a:defRPr sz="2000">
                <a:solidFill>
                  <a:schemeClr val="tx1"/>
                </a:solidFill>
                <a:latin typeface="Arial" pitchFamily="34" charset="0"/>
                <a:ea typeface="MS PGothic" pitchFamily="34" charset="-128"/>
              </a:defRPr>
            </a:lvl3pPr>
            <a:lvl4pPr>
              <a:defRPr>
                <a:solidFill>
                  <a:schemeClr val="tx1"/>
                </a:solidFill>
                <a:latin typeface="Arial" pitchFamily="34" charset="0"/>
                <a:ea typeface="MS PGothic" pitchFamily="34" charset="-128"/>
              </a:defRPr>
            </a:lvl4pPr>
            <a:lvl5pPr>
              <a:defRPr>
                <a:solidFill>
                  <a:schemeClr val="tx1"/>
                </a:solidFill>
                <a:latin typeface="Arial" pitchFamily="34" charset="0"/>
                <a:ea typeface="MS PGothic" pitchFamily="34" charset="-128"/>
              </a:defRPr>
            </a:lvl5pPr>
            <a:lvl6pPr eaLnBrk="0" hangingPunct="0">
              <a:lnSpc>
                <a:spcPct val="85000"/>
              </a:lnSpc>
              <a:spcAft>
                <a:spcPts val="1200"/>
              </a:spcAft>
              <a:buClr>
                <a:schemeClr val="tx2"/>
              </a:buClr>
              <a:buFont typeface="Arial" pitchFamily="34" charset="0"/>
              <a:defRPr>
                <a:solidFill>
                  <a:schemeClr val="tx1"/>
                </a:solidFill>
                <a:latin typeface="Arial" pitchFamily="34" charset="0"/>
                <a:ea typeface="MS PGothic" pitchFamily="34" charset="-128"/>
              </a:defRPr>
            </a:lvl6pPr>
            <a:lvl7pPr eaLnBrk="0" hangingPunct="0">
              <a:lnSpc>
                <a:spcPct val="85000"/>
              </a:lnSpc>
              <a:spcAft>
                <a:spcPts val="1200"/>
              </a:spcAft>
              <a:buClr>
                <a:schemeClr val="tx2"/>
              </a:buClr>
              <a:buFont typeface="Arial" pitchFamily="34" charset="0"/>
              <a:defRPr>
                <a:solidFill>
                  <a:schemeClr val="tx1"/>
                </a:solidFill>
                <a:latin typeface="Arial" pitchFamily="34" charset="0"/>
                <a:ea typeface="MS PGothic" pitchFamily="34" charset="-128"/>
              </a:defRPr>
            </a:lvl7pPr>
            <a:lvl8pPr eaLnBrk="0" hangingPunct="0">
              <a:lnSpc>
                <a:spcPct val="85000"/>
              </a:lnSpc>
              <a:spcAft>
                <a:spcPts val="1200"/>
              </a:spcAft>
              <a:buClr>
                <a:schemeClr val="tx2"/>
              </a:buClr>
              <a:buFont typeface="Arial" pitchFamily="34" charset="0"/>
              <a:defRPr>
                <a:solidFill>
                  <a:schemeClr val="tx1"/>
                </a:solidFill>
                <a:latin typeface="Arial" pitchFamily="34" charset="0"/>
                <a:ea typeface="MS PGothic" pitchFamily="34" charset="-128"/>
              </a:defRPr>
            </a:lvl8pPr>
            <a:lvl9pPr eaLnBrk="0" hangingPunct="0">
              <a:lnSpc>
                <a:spcPct val="85000"/>
              </a:lnSpc>
              <a:spcAft>
                <a:spcPts val="1200"/>
              </a:spcAft>
              <a:buClr>
                <a:schemeClr val="tx2"/>
              </a:buClr>
              <a:buFont typeface="Arial" pitchFamily="34" charset="0"/>
              <a:defRPr>
                <a:solidFill>
                  <a:schemeClr val="tx1"/>
                </a:solidFill>
                <a:latin typeface="Arial" pitchFamily="34" charset="0"/>
                <a:ea typeface="MS PGothic" pitchFamily="34" charset="-128"/>
              </a:defRPr>
            </a:lvl9pPr>
          </a:lstStyle>
          <a:p>
            <a:r>
              <a:rPr lang="en-US" altLang="en-US" sz="4000" b="1">
                <a:solidFill>
                  <a:srgbClr val="00B050"/>
                </a:solidFill>
              </a:rPr>
              <a:t>=</a:t>
            </a:r>
          </a:p>
        </p:txBody>
      </p:sp>
    </p:spTree>
    <p:extLst>
      <p:ext uri="{BB962C8B-B14F-4D97-AF65-F5344CB8AC3E}">
        <p14:creationId xmlns:p14="http://schemas.microsoft.com/office/powerpoint/2010/main" xmlns="" val="3406611902"/>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7326" y="548640"/>
            <a:ext cx="8543925" cy="388937"/>
          </a:xfrm>
        </p:spPr>
        <p:txBody>
          <a:bodyPr/>
          <a:lstStyle/>
          <a:p>
            <a:pPr eaLnBrk="1" hangingPunct="1">
              <a:defRPr/>
            </a:pPr>
            <a:r>
              <a:rPr lang="en-US" sz="2800" dirty="0" smtClean="0">
                <a:solidFill>
                  <a:srgbClr val="0070C0"/>
                </a:solidFill>
              </a:rPr>
              <a:t>IBM Bluemix </a:t>
            </a:r>
            <a:r>
              <a:rPr lang="en-US" sz="2800" dirty="0">
                <a:solidFill>
                  <a:srgbClr val="0070C0"/>
                </a:solidFill>
              </a:rPr>
              <a:t>Container </a:t>
            </a:r>
            <a:r>
              <a:rPr lang="en-US" sz="2800" dirty="0" smtClean="0">
                <a:solidFill>
                  <a:srgbClr val="0070C0"/>
                </a:solidFill>
              </a:rPr>
              <a:t>Advantages &amp; Differentiators</a:t>
            </a:r>
            <a:endParaRPr lang="en-US" sz="2800" dirty="0">
              <a:solidFill>
                <a:srgbClr val="0070C0"/>
              </a:solidFill>
            </a:endParaRPr>
          </a:p>
        </p:txBody>
      </p:sp>
      <p:sp>
        <p:nvSpPr>
          <p:cNvPr id="40963" name="Content Placeholder 2"/>
          <p:cNvSpPr>
            <a:spLocks noGrp="1"/>
          </p:cNvSpPr>
          <p:nvPr>
            <p:ph idx="1"/>
          </p:nvPr>
        </p:nvSpPr>
        <p:spPr>
          <a:xfrm>
            <a:off x="317326" y="1097280"/>
            <a:ext cx="4449763" cy="4152900"/>
          </a:xfrm>
        </p:spPr>
        <p:txBody>
          <a:bodyPr/>
          <a:lstStyle/>
          <a:p>
            <a:pPr marL="0" indent="0" eaLnBrk="1" hangingPunct="1">
              <a:buFont typeface="Wingdings" panose="05000000000000000000" pitchFamily="2" charset="2"/>
              <a:buNone/>
              <a:defRPr/>
            </a:pPr>
            <a:r>
              <a:rPr lang="en-US" altLang="en-US" sz="1800" b="1" dirty="0" smtClean="0">
                <a:solidFill>
                  <a:srgbClr val="0070C0"/>
                </a:solidFill>
              </a:rPr>
              <a:t>5 Key Differentiators:</a:t>
            </a:r>
          </a:p>
          <a:p>
            <a:pPr marL="457200" indent="-457200" eaLnBrk="1" hangingPunct="1">
              <a:buFont typeface="+mj-lt"/>
              <a:buAutoNum type="arabicPeriod"/>
              <a:defRPr/>
            </a:pPr>
            <a:r>
              <a:rPr lang="en-US" altLang="en-US" sz="1800" dirty="0" smtClean="0"/>
              <a:t>Push and pull containers from on-premises to off-premises service</a:t>
            </a:r>
          </a:p>
          <a:p>
            <a:pPr marL="457200" indent="-457200" eaLnBrk="1" hangingPunct="1">
              <a:buFont typeface="+mj-lt"/>
              <a:buAutoNum type="arabicPeriod"/>
              <a:defRPr/>
            </a:pPr>
            <a:r>
              <a:rPr lang="en-US" altLang="en-US" sz="1800" dirty="0" smtClean="0"/>
              <a:t>Hosted private registry with access controls</a:t>
            </a:r>
          </a:p>
          <a:p>
            <a:pPr marL="457200" indent="-457200" eaLnBrk="1" hangingPunct="1">
              <a:buFont typeface="+mj-lt"/>
              <a:buAutoNum type="arabicPeriod"/>
              <a:defRPr/>
            </a:pPr>
            <a:r>
              <a:rPr lang="en-US" altLang="en-US" sz="1800" dirty="0" smtClean="0"/>
              <a:t>Integrated container monitoring and logging </a:t>
            </a:r>
          </a:p>
          <a:p>
            <a:pPr marL="457200" indent="-457200" eaLnBrk="1" hangingPunct="1">
              <a:buFont typeface="+mj-lt"/>
              <a:buAutoNum type="arabicPeriod"/>
              <a:defRPr/>
            </a:pPr>
            <a:r>
              <a:rPr lang="en-US" altLang="en-US" sz="1800" dirty="0" smtClean="0"/>
              <a:t>One-step public IP configuration  </a:t>
            </a:r>
          </a:p>
          <a:p>
            <a:pPr marL="457200" indent="-457200" eaLnBrk="1" hangingPunct="1">
              <a:buFont typeface="+mj-lt"/>
              <a:buAutoNum type="arabicPeriod"/>
              <a:defRPr/>
            </a:pPr>
            <a:r>
              <a:rPr lang="en-US" altLang="en-US" sz="1800" dirty="0" smtClean="0"/>
              <a:t>Services integration, including seamless infrastructure as a service and platform as a service with other Bluemix services such as analytics</a:t>
            </a:r>
            <a:endParaRPr lang="en-US" altLang="en-US" sz="2400" dirty="0" smtClean="0"/>
          </a:p>
        </p:txBody>
      </p:sp>
      <p:sp>
        <p:nvSpPr>
          <p:cNvPr id="10" name="Content Placeholder 2"/>
          <p:cNvSpPr txBox="1">
            <a:spLocks/>
          </p:cNvSpPr>
          <p:nvPr/>
        </p:nvSpPr>
        <p:spPr bwMode="auto">
          <a:xfrm>
            <a:off x="5121449" y="1188720"/>
            <a:ext cx="3921125" cy="41529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1407" tIns="45704" rIns="91407" bIns="45704"/>
          <a:lstStyle>
            <a:lvl1pPr marL="171450" indent="-171450" algn="l" rtl="0" eaLnBrk="0" fontAlgn="base" hangingPunct="0">
              <a:spcBef>
                <a:spcPct val="50000"/>
              </a:spcBef>
              <a:spcAft>
                <a:spcPct val="0"/>
              </a:spcAft>
              <a:buClr>
                <a:schemeClr val="hlink"/>
              </a:buClr>
              <a:buFont typeface="Wingdings" panose="05000000000000000000" pitchFamily="2" charset="2"/>
              <a:buChar char="§"/>
              <a:defRPr sz="2000">
                <a:solidFill>
                  <a:schemeClr val="tx1"/>
                </a:solidFill>
                <a:latin typeface="+mn-lt"/>
                <a:ea typeface="+mn-ea"/>
                <a:cs typeface="+mn-cs"/>
              </a:defRPr>
            </a:lvl1pPr>
            <a:lvl2pPr marL="508000" indent="-161925" algn="l" rtl="0" eaLnBrk="0" fontAlgn="base" hangingPunct="0">
              <a:spcBef>
                <a:spcPct val="0"/>
              </a:spcBef>
              <a:spcAft>
                <a:spcPct val="0"/>
              </a:spcAft>
              <a:buClr>
                <a:schemeClr val="hlink"/>
              </a:buClr>
              <a:buFont typeface="Arial" panose="020B0604020202020204" pitchFamily="34" charset="0"/>
              <a:buChar char="–"/>
              <a:defRPr sz="2000">
                <a:solidFill>
                  <a:schemeClr val="tx1"/>
                </a:solidFill>
                <a:latin typeface="+mn-lt"/>
              </a:defRPr>
            </a:lvl2pPr>
            <a:lvl3pPr marL="854075" indent="-171450" algn="l" rtl="0" eaLnBrk="0" fontAlgn="base" hangingPunct="0">
              <a:spcBef>
                <a:spcPct val="0"/>
              </a:spcBef>
              <a:spcAft>
                <a:spcPct val="0"/>
              </a:spcAft>
              <a:buClr>
                <a:schemeClr val="hlink"/>
              </a:buClr>
              <a:buChar char="•"/>
              <a:defRPr sz="2000">
                <a:solidFill>
                  <a:schemeClr val="tx1"/>
                </a:solidFill>
                <a:latin typeface="+mn-lt"/>
              </a:defRPr>
            </a:lvl3pPr>
            <a:lvl4pPr marL="1201738" indent="-171450" algn="l" rtl="0" eaLnBrk="0" fontAlgn="base" hangingPunct="0">
              <a:spcBef>
                <a:spcPct val="0"/>
              </a:spcBef>
              <a:spcAft>
                <a:spcPct val="0"/>
              </a:spcAft>
              <a:buClr>
                <a:schemeClr val="hlink"/>
              </a:buClr>
              <a:buFont typeface="Arial" panose="020B0604020202020204" pitchFamily="34" charset="0"/>
              <a:buChar char="–"/>
              <a:defRPr sz="2000">
                <a:solidFill>
                  <a:schemeClr val="tx1"/>
                </a:solidFill>
                <a:latin typeface="+mn-lt"/>
              </a:defRPr>
            </a:lvl4pPr>
            <a:lvl5pPr marL="1538288" indent="-161925" algn="l" rtl="0" eaLnBrk="0" fontAlgn="base" hangingPunct="0">
              <a:spcBef>
                <a:spcPct val="20000"/>
              </a:spcBef>
              <a:spcAft>
                <a:spcPct val="0"/>
              </a:spcAft>
              <a:buClr>
                <a:schemeClr val="bg1"/>
              </a:buClr>
              <a:buChar char="»"/>
              <a:defRPr sz="1600">
                <a:solidFill>
                  <a:schemeClr val="bg1"/>
                </a:solidFill>
                <a:latin typeface="+mn-lt"/>
              </a:defRPr>
            </a:lvl5pPr>
            <a:lvl6pPr marL="1996358" indent="-163452" algn="l" rtl="0" eaLnBrk="1" fontAlgn="base" hangingPunct="1">
              <a:spcBef>
                <a:spcPct val="20000"/>
              </a:spcBef>
              <a:spcAft>
                <a:spcPct val="0"/>
              </a:spcAft>
              <a:buClr>
                <a:schemeClr val="bg1"/>
              </a:buClr>
              <a:buChar char="»"/>
              <a:defRPr sz="1600">
                <a:solidFill>
                  <a:schemeClr val="bg1"/>
                </a:solidFill>
                <a:latin typeface="+mn-lt"/>
              </a:defRPr>
            </a:lvl6pPr>
            <a:lvl7pPr marL="2453393" indent="-163452" algn="l" rtl="0" eaLnBrk="1" fontAlgn="base" hangingPunct="1">
              <a:spcBef>
                <a:spcPct val="20000"/>
              </a:spcBef>
              <a:spcAft>
                <a:spcPct val="0"/>
              </a:spcAft>
              <a:buClr>
                <a:schemeClr val="bg1"/>
              </a:buClr>
              <a:buChar char="»"/>
              <a:defRPr sz="1600">
                <a:solidFill>
                  <a:schemeClr val="bg1"/>
                </a:solidFill>
                <a:latin typeface="+mn-lt"/>
              </a:defRPr>
            </a:lvl7pPr>
            <a:lvl8pPr marL="2910429" indent="-163452" algn="l" rtl="0" eaLnBrk="1" fontAlgn="base" hangingPunct="1">
              <a:spcBef>
                <a:spcPct val="20000"/>
              </a:spcBef>
              <a:spcAft>
                <a:spcPct val="0"/>
              </a:spcAft>
              <a:buClr>
                <a:schemeClr val="bg1"/>
              </a:buClr>
              <a:buChar char="»"/>
              <a:defRPr sz="1600">
                <a:solidFill>
                  <a:schemeClr val="bg1"/>
                </a:solidFill>
                <a:latin typeface="+mn-lt"/>
              </a:defRPr>
            </a:lvl8pPr>
            <a:lvl9pPr marL="3367463" indent="-163452" algn="l" rtl="0" eaLnBrk="1" fontAlgn="base" hangingPunct="1">
              <a:spcBef>
                <a:spcPct val="20000"/>
              </a:spcBef>
              <a:spcAft>
                <a:spcPct val="0"/>
              </a:spcAft>
              <a:buClr>
                <a:schemeClr val="bg1"/>
              </a:buClr>
              <a:buChar char="»"/>
              <a:defRPr sz="1600">
                <a:solidFill>
                  <a:schemeClr val="bg1"/>
                </a:solidFill>
                <a:latin typeface="+mn-lt"/>
              </a:defRPr>
            </a:lvl9pPr>
          </a:lstStyle>
          <a:p>
            <a:pPr marL="0" indent="0" eaLnBrk="1" hangingPunct="1">
              <a:buFont typeface="Wingdings" panose="05000000000000000000" pitchFamily="2" charset="2"/>
              <a:buNone/>
              <a:defRPr/>
            </a:pPr>
            <a:r>
              <a:rPr lang="en-US" altLang="en-US" sz="1800" b="1" kern="0" dirty="0" smtClean="0">
                <a:solidFill>
                  <a:srgbClr val="0070C0"/>
                </a:solidFill>
              </a:rPr>
              <a:t>Key Advantages:</a:t>
            </a:r>
          </a:p>
          <a:p>
            <a:pPr marL="457200" indent="-457200" eaLnBrk="1" hangingPunct="1">
              <a:buFont typeface="+mj-lt"/>
              <a:buAutoNum type="arabicPeriod"/>
              <a:defRPr/>
            </a:pPr>
            <a:r>
              <a:rPr lang="en-US" altLang="en-US" sz="1800" kern="0" dirty="0" smtClean="0"/>
              <a:t>Automate the build of </a:t>
            </a:r>
            <a:r>
              <a:rPr lang="en-US" altLang="en-US" sz="1800" kern="0" dirty="0" err="1" smtClean="0"/>
              <a:t>Docker</a:t>
            </a:r>
            <a:r>
              <a:rPr lang="en-US" altLang="en-US" sz="1800" kern="0" dirty="0" smtClean="0"/>
              <a:t> images</a:t>
            </a:r>
          </a:p>
          <a:p>
            <a:pPr marL="457200" indent="-457200" eaLnBrk="1" hangingPunct="1">
              <a:buFont typeface="+mj-lt"/>
              <a:buAutoNum type="arabicPeriod"/>
              <a:defRPr/>
            </a:pPr>
            <a:r>
              <a:rPr lang="en-US" altLang="en-US" sz="1800" kern="0" dirty="0" smtClean="0"/>
              <a:t>Manage and distribute </a:t>
            </a:r>
            <a:r>
              <a:rPr lang="en-US" altLang="en-US" sz="1800" kern="0" dirty="0" err="1" smtClean="0"/>
              <a:t>Docker</a:t>
            </a:r>
            <a:r>
              <a:rPr lang="en-US" altLang="en-US" sz="1800" kern="0" dirty="0" smtClean="0"/>
              <a:t> images in private </a:t>
            </a:r>
            <a:r>
              <a:rPr lang="en-US" altLang="en-US" sz="1800" kern="0" dirty="0" err="1" smtClean="0"/>
              <a:t>Docker</a:t>
            </a:r>
            <a:r>
              <a:rPr lang="en-US" altLang="en-US" sz="1800" kern="0" dirty="0" smtClean="0"/>
              <a:t> registries</a:t>
            </a:r>
          </a:p>
          <a:p>
            <a:pPr marL="457200" indent="-457200" eaLnBrk="1" hangingPunct="1">
              <a:buFont typeface="+mj-lt"/>
              <a:buAutoNum type="arabicPeriod"/>
              <a:defRPr/>
            </a:pPr>
            <a:r>
              <a:rPr lang="en-US" altLang="en-US" sz="1800" kern="0" dirty="0" smtClean="0"/>
              <a:t>Easily host container in the cloud</a:t>
            </a:r>
          </a:p>
          <a:p>
            <a:pPr marL="457200" indent="-457200" eaLnBrk="1" hangingPunct="1">
              <a:buFont typeface="+mj-lt"/>
              <a:buAutoNum type="arabicPeriod"/>
              <a:defRPr/>
            </a:pPr>
            <a:r>
              <a:rPr lang="en-US" altLang="en-US" sz="1800" kern="0" dirty="0" smtClean="0"/>
              <a:t>Scale and auto-recovery built-in</a:t>
            </a:r>
          </a:p>
          <a:p>
            <a:pPr marL="457200" indent="-457200" eaLnBrk="1" hangingPunct="1">
              <a:buFont typeface="+mj-lt"/>
              <a:buAutoNum type="arabicPeriod"/>
              <a:defRPr/>
            </a:pPr>
            <a:r>
              <a:rPr lang="en-US" altLang="en-US" sz="1800" kern="0" dirty="0" smtClean="0"/>
              <a:t>Logging and monitoring built-in</a:t>
            </a:r>
            <a:r>
              <a:rPr lang="en-US" altLang="en-US" sz="2400" kern="0" dirty="0" smtClean="0"/>
              <a:t/>
            </a:r>
            <a:br>
              <a:rPr lang="en-US" altLang="en-US" sz="2400" kern="0" dirty="0" smtClean="0"/>
            </a:br>
            <a:endParaRPr lang="en-US" altLang="en-US" sz="2400" kern="0" dirty="0" smtClean="0"/>
          </a:p>
        </p:txBody>
      </p:sp>
      <p:pic>
        <p:nvPicPr>
          <p:cNvPr id="1026" name="Picture 2"/>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663748" y="4800600"/>
            <a:ext cx="6418263" cy="1876425"/>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2732250129"/>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1475" y="600075"/>
            <a:ext cx="8543925" cy="331788"/>
          </a:xfrm>
        </p:spPr>
        <p:txBody>
          <a:bodyPr/>
          <a:lstStyle/>
          <a:p>
            <a:pPr>
              <a:defRPr/>
            </a:pPr>
            <a:r>
              <a:rPr lang="en-US" dirty="0" smtClean="0">
                <a:solidFill>
                  <a:srgbClr val="0070C0"/>
                </a:solidFill>
              </a:rPr>
              <a:t>What is an </a:t>
            </a:r>
            <a:r>
              <a:rPr lang="en-US" dirty="0" err="1" smtClean="0">
                <a:solidFill>
                  <a:srgbClr val="0070C0"/>
                </a:solidFill>
              </a:rPr>
              <a:t>Openstack</a:t>
            </a:r>
            <a:r>
              <a:rPr lang="en-US" dirty="0" smtClean="0">
                <a:solidFill>
                  <a:srgbClr val="0070C0"/>
                </a:solidFill>
              </a:rPr>
              <a:t> Virtual Machine?</a:t>
            </a:r>
            <a:endParaRPr lang="en-US" dirty="0">
              <a:solidFill>
                <a:srgbClr val="0070C0"/>
              </a:solidFill>
            </a:endParaRPr>
          </a:p>
        </p:txBody>
      </p:sp>
      <p:sp>
        <p:nvSpPr>
          <p:cNvPr id="53251" name="Content Placeholder 2"/>
          <p:cNvSpPr>
            <a:spLocks noGrp="1"/>
          </p:cNvSpPr>
          <p:nvPr>
            <p:ph idx="1"/>
          </p:nvPr>
        </p:nvSpPr>
        <p:spPr>
          <a:xfrm>
            <a:off x="223838" y="1112838"/>
            <a:ext cx="8839200" cy="2757487"/>
          </a:xfrm>
        </p:spPr>
        <p:txBody>
          <a:bodyPr/>
          <a:lstStyle/>
          <a:p>
            <a:r>
              <a:rPr lang="en-US" altLang="en-US" dirty="0" smtClean="0"/>
              <a:t> </a:t>
            </a:r>
            <a:r>
              <a:rPr lang="en-US" altLang="en-US" sz="2000" dirty="0" smtClean="0"/>
              <a:t>A software implementation of a machine hosted by a real machine based on </a:t>
            </a:r>
            <a:r>
              <a:rPr lang="en-US" altLang="en-US" sz="2000" dirty="0" err="1" smtClean="0"/>
              <a:t>Openstack</a:t>
            </a:r>
            <a:endParaRPr lang="en-US" altLang="en-US" sz="2000" dirty="0" smtClean="0"/>
          </a:p>
          <a:p>
            <a:r>
              <a:rPr lang="en-US" altLang="en-US" sz="2000" dirty="0" smtClean="0"/>
              <a:t>Includes the application, its dependencies/</a:t>
            </a:r>
            <a:r>
              <a:rPr lang="en-US" altLang="en-US" sz="2000" dirty="0" err="1" smtClean="0"/>
              <a:t>middlewares</a:t>
            </a:r>
            <a:r>
              <a:rPr lang="en-US" altLang="en-US" sz="2000" dirty="0" smtClean="0"/>
              <a:t> and a guest OS</a:t>
            </a:r>
          </a:p>
          <a:p>
            <a:r>
              <a:rPr lang="en-US" altLang="en-US" sz="2000" dirty="0" smtClean="0"/>
              <a:t>Managed by a hypervisor server for resources allocation and provisioning</a:t>
            </a:r>
          </a:p>
          <a:p>
            <a:r>
              <a:rPr lang="en-US" altLang="en-US" sz="2000" dirty="0" smtClean="0"/>
              <a:t>Multiple VMs can run simultaneously on a single host</a:t>
            </a:r>
          </a:p>
          <a:p>
            <a:r>
              <a:rPr lang="en-US" altLang="en-US" sz="2000" dirty="0" smtClean="0"/>
              <a:t>Guest OSs might not be the same as the host OS</a:t>
            </a:r>
          </a:p>
          <a:p>
            <a:endParaRPr lang="en-US" altLang="en-US" dirty="0" smtClean="0"/>
          </a:p>
        </p:txBody>
      </p:sp>
      <p:pic>
        <p:nvPicPr>
          <p:cNvPr id="53253" name="Picture 6"/>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457200" y="4045337"/>
            <a:ext cx="6165850" cy="25606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xmlns="" val="94794269"/>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Content Placeholder 2"/>
          <p:cNvSpPr>
            <a:spLocks noGrp="1"/>
          </p:cNvSpPr>
          <p:nvPr>
            <p:ph idx="1"/>
          </p:nvPr>
        </p:nvSpPr>
        <p:spPr>
          <a:xfrm>
            <a:off x="304800" y="1095377"/>
            <a:ext cx="8839200" cy="3476624"/>
          </a:xfrm>
        </p:spPr>
        <p:txBody>
          <a:bodyPr/>
          <a:lstStyle/>
          <a:p>
            <a:r>
              <a:rPr lang="en-US" altLang="en-US" sz="2000" dirty="0" smtClean="0"/>
              <a:t>Bluemix VMs infrastructure as beta feature in select regions</a:t>
            </a:r>
          </a:p>
          <a:p>
            <a:r>
              <a:rPr lang="en-US" altLang="en-US" sz="2000" dirty="0" smtClean="0"/>
              <a:t> Enable creation of VMs running in public and private </a:t>
            </a:r>
            <a:r>
              <a:rPr lang="en-US" altLang="en-US" sz="2000" dirty="0" err="1" smtClean="0"/>
              <a:t>Openstack</a:t>
            </a:r>
            <a:r>
              <a:rPr lang="en-US" altLang="en-US" sz="2000" dirty="0" smtClean="0"/>
              <a:t> clouds</a:t>
            </a:r>
          </a:p>
          <a:p>
            <a:r>
              <a:rPr lang="en-US" altLang="en-US" sz="2000" dirty="0" smtClean="0"/>
              <a:t> Allow reuse of existing VM images</a:t>
            </a:r>
          </a:p>
          <a:p>
            <a:r>
              <a:rPr lang="en-US" altLang="en-US" sz="2000" dirty="0" smtClean="0"/>
              <a:t> Provision VM groups with auto scaling and load balancing against a target cloud</a:t>
            </a:r>
          </a:p>
          <a:p>
            <a:r>
              <a:rPr lang="en-US" altLang="en-US" sz="2000" dirty="0" smtClean="0"/>
              <a:t> Manage operations via dashboard or CLI/API </a:t>
            </a:r>
          </a:p>
          <a:p>
            <a:r>
              <a:rPr lang="en-US" altLang="en-US" sz="2000" dirty="0" smtClean="0"/>
              <a:t> View VM info, such as instance ID, IP, CPU, Memory, Disk resources and status of VM</a:t>
            </a:r>
          </a:p>
          <a:p>
            <a:r>
              <a:rPr lang="en-US" altLang="en-US" sz="2000" dirty="0" smtClean="0"/>
              <a:t>Supports OpenStack project deployments, and scales both horizontally and vertically</a:t>
            </a:r>
          </a:p>
        </p:txBody>
      </p:sp>
      <p:sp>
        <p:nvSpPr>
          <p:cNvPr id="5" name="Title 1"/>
          <p:cNvSpPr>
            <a:spLocks noGrp="1"/>
          </p:cNvSpPr>
          <p:nvPr>
            <p:ph type="title"/>
          </p:nvPr>
        </p:nvSpPr>
        <p:spPr>
          <a:xfrm>
            <a:off x="371475" y="600075"/>
            <a:ext cx="8543925" cy="331788"/>
          </a:xfrm>
        </p:spPr>
        <p:txBody>
          <a:bodyPr/>
          <a:lstStyle/>
          <a:p>
            <a:pPr eaLnBrk="1" hangingPunct="1">
              <a:defRPr/>
            </a:pPr>
            <a:r>
              <a:rPr lang="en-US" dirty="0" smtClean="0"/>
              <a:t> </a:t>
            </a:r>
            <a:r>
              <a:rPr lang="en-US" dirty="0" smtClean="0">
                <a:solidFill>
                  <a:srgbClr val="0070C0"/>
                </a:solidFill>
              </a:rPr>
              <a:t>IBM </a:t>
            </a:r>
            <a:r>
              <a:rPr lang="en-US" dirty="0" err="1" smtClean="0">
                <a:solidFill>
                  <a:srgbClr val="0070C0"/>
                </a:solidFill>
              </a:rPr>
              <a:t>Openstack</a:t>
            </a:r>
            <a:r>
              <a:rPr lang="en-US" dirty="0" smtClean="0">
                <a:solidFill>
                  <a:srgbClr val="0070C0"/>
                </a:solidFill>
              </a:rPr>
              <a:t> VM’s Advantages </a:t>
            </a:r>
            <a:endParaRPr lang="en-US" dirty="0">
              <a:solidFill>
                <a:srgbClr val="0070C0"/>
              </a:solidFill>
            </a:endParaRPr>
          </a:p>
        </p:txBody>
      </p:sp>
      <p:pic>
        <p:nvPicPr>
          <p:cNvPr id="2" name="Picture 1"/>
          <p:cNvPicPr>
            <a:picLocks noChangeAspect="1"/>
          </p:cNvPicPr>
          <p:nvPr/>
        </p:nvPicPr>
        <p:blipFill>
          <a:blip r:embed="rId3" cstate="print"/>
          <a:stretch>
            <a:fillRect/>
          </a:stretch>
        </p:blipFill>
        <p:spPr>
          <a:xfrm>
            <a:off x="1645920" y="4480560"/>
            <a:ext cx="5642610" cy="2236217"/>
          </a:xfrm>
          <a:prstGeom prst="rect">
            <a:avLst/>
          </a:prstGeom>
        </p:spPr>
      </p:pic>
    </p:spTree>
    <p:extLst>
      <p:ext uri="{BB962C8B-B14F-4D97-AF65-F5344CB8AC3E}">
        <p14:creationId xmlns:p14="http://schemas.microsoft.com/office/powerpoint/2010/main" xmlns="" val="2350554547"/>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ounded Rectangle 16"/>
          <p:cNvSpPr/>
          <p:nvPr/>
        </p:nvSpPr>
        <p:spPr bwMode="auto">
          <a:xfrm>
            <a:off x="206706" y="4253983"/>
            <a:ext cx="4156538" cy="2386012"/>
          </a:xfrm>
          <a:prstGeom prst="roundRect">
            <a:avLst>
              <a:gd name="adj" fmla="val 0"/>
            </a:avLst>
          </a:prstGeom>
          <a:gradFill flip="none" rotWithShape="1">
            <a:gsLst>
              <a:gs pos="0">
                <a:srgbClr val="21C5FF">
                  <a:alpha val="51765"/>
                </a:srgbClr>
              </a:gs>
              <a:gs pos="82000">
                <a:schemeClr val="bg1"/>
              </a:gs>
            </a:gsLst>
            <a:lin ang="5400000" scaled="1"/>
            <a:tileRect/>
          </a:gradFill>
          <a:ln w="9525" cap="flat" cmpd="sng" algn="ctr">
            <a:noFill/>
            <a:prstDash val="solid"/>
            <a:round/>
            <a:headEnd type="none" w="med" len="med"/>
            <a:tailEnd type="none" w="med" len="med"/>
          </a:ln>
          <a:effectLst/>
        </p:spPr>
        <p:txBody>
          <a:bodyPr lIns="101297" tIns="50649" rIns="101297" bIns="50649"/>
          <a:lstStyle/>
          <a:p>
            <a:pPr marL="130168" indent="-130168" defTabSz="1014361">
              <a:defRPr/>
            </a:pPr>
            <a:endParaRPr lang="en-US" dirty="0">
              <a:ea typeface="+mn-ea"/>
              <a:cs typeface="Arial" pitchFamily="34" charset="0"/>
              <a:sym typeface="Helvetica Light"/>
            </a:endParaRPr>
          </a:p>
        </p:txBody>
      </p:sp>
      <p:sp>
        <p:nvSpPr>
          <p:cNvPr id="16" name="Rounded Rectangle 15"/>
          <p:cNvSpPr/>
          <p:nvPr/>
        </p:nvSpPr>
        <p:spPr bwMode="auto">
          <a:xfrm>
            <a:off x="4846798" y="4266959"/>
            <a:ext cx="3887828" cy="2386012"/>
          </a:xfrm>
          <a:prstGeom prst="roundRect">
            <a:avLst>
              <a:gd name="adj" fmla="val 0"/>
            </a:avLst>
          </a:prstGeom>
          <a:gradFill flip="none" rotWithShape="1">
            <a:gsLst>
              <a:gs pos="0">
                <a:srgbClr val="21C5FF">
                  <a:alpha val="51765"/>
                </a:srgbClr>
              </a:gs>
              <a:gs pos="82000">
                <a:schemeClr val="bg1"/>
              </a:gs>
            </a:gsLst>
            <a:lin ang="5400000" scaled="1"/>
            <a:tileRect/>
          </a:gradFill>
          <a:ln w="9525" cap="flat" cmpd="sng" algn="ctr">
            <a:noFill/>
            <a:prstDash val="solid"/>
            <a:round/>
            <a:headEnd type="none" w="med" len="med"/>
            <a:tailEnd type="none" w="med" len="med"/>
          </a:ln>
          <a:effectLst/>
        </p:spPr>
        <p:txBody>
          <a:bodyPr lIns="101297" tIns="50649" rIns="101297" bIns="50649"/>
          <a:lstStyle/>
          <a:p>
            <a:pPr marL="130168" indent="-130168" defTabSz="1014361">
              <a:defRPr/>
            </a:pPr>
            <a:endParaRPr lang="en-US" dirty="0">
              <a:ea typeface="+mn-ea"/>
              <a:cs typeface="Arial" pitchFamily="34" charset="0"/>
              <a:sym typeface="Helvetica Light"/>
            </a:endParaRPr>
          </a:p>
        </p:txBody>
      </p:sp>
      <p:pic>
        <p:nvPicPr>
          <p:cNvPr id="20488" name="Picture 2" descr="Contianers vs VMs picture.jpg"/>
          <p:cNvPicPr>
            <a:picLocks noChangeAspect="1"/>
          </p:cNvPicPr>
          <p:nvPr/>
        </p:nvPicPr>
        <p:blipFill>
          <a:blip r:embed="rId3" cstate="print">
            <a:extLst>
              <a:ext uri="{28A0092B-C50C-407E-A947-70E740481C1C}">
                <a14:useLocalDpi xmlns:a14="http://schemas.microsoft.com/office/drawing/2010/main" xmlns="" val="0"/>
              </a:ext>
            </a:extLst>
          </a:blip>
          <a:srcRect t="7222" r="41222" b="5927"/>
          <a:stretch>
            <a:fillRect/>
          </a:stretch>
        </p:blipFill>
        <p:spPr bwMode="auto">
          <a:xfrm>
            <a:off x="5879691" y="1158197"/>
            <a:ext cx="2284413" cy="31194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6" name="Title 1"/>
          <p:cNvSpPr txBox="1">
            <a:spLocks/>
          </p:cNvSpPr>
          <p:nvPr/>
        </p:nvSpPr>
        <p:spPr bwMode="auto">
          <a:xfrm>
            <a:off x="206080" y="540257"/>
            <a:ext cx="8229600" cy="373063"/>
          </a:xfrm>
          <a:prstGeom prst="rect">
            <a:avLst/>
          </a:prstGeom>
          <a:noFill/>
          <a:ln>
            <a:noFill/>
          </a:ln>
          <a:extLst/>
        </p:spPr>
        <p:txBody>
          <a:bodyPr lIns="38399" tIns="19200" rIns="38399" bIns="19200"/>
          <a:lstStyle/>
          <a:p>
            <a:pPr defTabSz="914353">
              <a:defRPr/>
            </a:pPr>
            <a:r>
              <a:rPr lang="en-US" kern="0" dirty="0">
                <a:solidFill>
                  <a:srgbClr val="0070C0"/>
                </a:solidFill>
                <a:ea typeface="+mj-ea"/>
                <a:cs typeface="Arial" pitchFamily="34" charset="0"/>
                <a:sym typeface="Helvetica Light"/>
              </a:rPr>
              <a:t>Deploying to the Cloud in a repeatable way</a:t>
            </a:r>
          </a:p>
        </p:txBody>
      </p:sp>
      <p:pic>
        <p:nvPicPr>
          <p:cNvPr id="20490" name="Picture 2" descr="Contianers vs VMs picture.jpg"/>
          <p:cNvPicPr>
            <a:picLocks noChangeAspect="1"/>
          </p:cNvPicPr>
          <p:nvPr/>
        </p:nvPicPr>
        <p:blipFill>
          <a:blip r:embed="rId3" cstate="print">
            <a:extLst>
              <a:ext uri="{28A0092B-C50C-407E-A947-70E740481C1C}">
                <a14:useLocalDpi xmlns:a14="http://schemas.microsoft.com/office/drawing/2010/main" xmlns="" val="0"/>
              </a:ext>
            </a:extLst>
          </a:blip>
          <a:srcRect l="63252" t="9232" b="10516"/>
          <a:stretch>
            <a:fillRect/>
          </a:stretch>
        </p:blipFill>
        <p:spPr bwMode="auto">
          <a:xfrm>
            <a:off x="1064804" y="1159784"/>
            <a:ext cx="1566862" cy="30845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0491" name="TextBox 9"/>
          <p:cNvSpPr txBox="1">
            <a:spLocks noChangeArrowheads="1"/>
          </p:cNvSpPr>
          <p:nvPr/>
        </p:nvSpPr>
        <p:spPr bwMode="auto">
          <a:xfrm>
            <a:off x="2757079" y="1834472"/>
            <a:ext cx="3179762" cy="7239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1435" tIns="45718" rIns="91435" bIns="45718">
            <a:spAutoFit/>
          </a:bodyPr>
          <a:lstStyle>
            <a:lvl1pPr eaLnBrk="0" hangingPunct="0">
              <a:defRPr sz="2500">
                <a:solidFill>
                  <a:schemeClr val="tx1"/>
                </a:solidFill>
                <a:latin typeface="Arial" panose="020B0604020202020204" pitchFamily="34" charset="0"/>
                <a:ea typeface="Helvetica Light" charset="0"/>
                <a:cs typeface="Helvetica Light" charset="0"/>
                <a:sym typeface="Helvetica Light" charset="0"/>
              </a:defRPr>
            </a:lvl1pPr>
            <a:lvl2pPr marL="742950" indent="-285750" eaLnBrk="0" hangingPunct="0">
              <a:defRPr sz="2500">
                <a:solidFill>
                  <a:schemeClr val="tx1"/>
                </a:solidFill>
                <a:latin typeface="Arial" panose="020B0604020202020204" pitchFamily="34" charset="0"/>
                <a:ea typeface="Helvetica Light" charset="0"/>
                <a:cs typeface="Helvetica Light" charset="0"/>
                <a:sym typeface="Helvetica Light" charset="0"/>
              </a:defRPr>
            </a:lvl2pPr>
            <a:lvl3pPr marL="1143000" indent="-228600" eaLnBrk="0" hangingPunct="0">
              <a:defRPr sz="2500">
                <a:solidFill>
                  <a:schemeClr val="tx1"/>
                </a:solidFill>
                <a:latin typeface="Arial" panose="020B0604020202020204" pitchFamily="34" charset="0"/>
                <a:ea typeface="Helvetica Light" charset="0"/>
                <a:cs typeface="Helvetica Light" charset="0"/>
                <a:sym typeface="Helvetica Light" charset="0"/>
              </a:defRPr>
            </a:lvl3pPr>
            <a:lvl4pPr marL="1600200" indent="-228600" eaLnBrk="0" hangingPunct="0">
              <a:defRPr sz="2500">
                <a:solidFill>
                  <a:schemeClr val="tx1"/>
                </a:solidFill>
                <a:latin typeface="Arial" panose="020B0604020202020204" pitchFamily="34" charset="0"/>
                <a:ea typeface="Helvetica Light" charset="0"/>
                <a:cs typeface="Helvetica Light" charset="0"/>
                <a:sym typeface="Helvetica Light" charset="0"/>
              </a:defRPr>
            </a:lvl4pPr>
            <a:lvl5pPr marL="2057400" indent="-228600" eaLnBrk="0" hangingPunct="0">
              <a:defRPr sz="2500">
                <a:solidFill>
                  <a:schemeClr val="tx1"/>
                </a:solidFill>
                <a:latin typeface="Arial" panose="020B0604020202020204" pitchFamily="34" charset="0"/>
                <a:ea typeface="Helvetica Light" charset="0"/>
                <a:cs typeface="Helvetica Light" charset="0"/>
                <a:sym typeface="Helvetica Light" charset="0"/>
              </a:defRPr>
            </a:lvl5pPr>
            <a:lvl6pPr marL="2514600" indent="-228600" defTabSz="407988" eaLnBrk="0" fontAlgn="base" hangingPunct="0">
              <a:spcBef>
                <a:spcPct val="0"/>
              </a:spcBef>
              <a:spcAft>
                <a:spcPct val="0"/>
              </a:spcAft>
              <a:defRPr sz="2500">
                <a:solidFill>
                  <a:schemeClr val="tx1"/>
                </a:solidFill>
                <a:latin typeface="Arial" panose="020B0604020202020204" pitchFamily="34" charset="0"/>
                <a:ea typeface="Helvetica Light" charset="0"/>
                <a:cs typeface="Helvetica Light" charset="0"/>
                <a:sym typeface="Helvetica Light" charset="0"/>
              </a:defRPr>
            </a:lvl6pPr>
            <a:lvl7pPr marL="2971800" indent="-228600" defTabSz="407988" eaLnBrk="0" fontAlgn="base" hangingPunct="0">
              <a:spcBef>
                <a:spcPct val="0"/>
              </a:spcBef>
              <a:spcAft>
                <a:spcPct val="0"/>
              </a:spcAft>
              <a:defRPr sz="2500">
                <a:solidFill>
                  <a:schemeClr val="tx1"/>
                </a:solidFill>
                <a:latin typeface="Arial" panose="020B0604020202020204" pitchFamily="34" charset="0"/>
                <a:ea typeface="Helvetica Light" charset="0"/>
                <a:cs typeface="Helvetica Light" charset="0"/>
                <a:sym typeface="Helvetica Light" charset="0"/>
              </a:defRPr>
            </a:lvl7pPr>
            <a:lvl8pPr marL="3429000" indent="-228600" defTabSz="407988" eaLnBrk="0" fontAlgn="base" hangingPunct="0">
              <a:spcBef>
                <a:spcPct val="0"/>
              </a:spcBef>
              <a:spcAft>
                <a:spcPct val="0"/>
              </a:spcAft>
              <a:defRPr sz="2500">
                <a:solidFill>
                  <a:schemeClr val="tx1"/>
                </a:solidFill>
                <a:latin typeface="Arial" panose="020B0604020202020204" pitchFamily="34" charset="0"/>
                <a:ea typeface="Helvetica Light" charset="0"/>
                <a:cs typeface="Helvetica Light" charset="0"/>
                <a:sym typeface="Helvetica Light" charset="0"/>
              </a:defRPr>
            </a:lvl8pPr>
            <a:lvl9pPr marL="3886200" indent="-228600" defTabSz="407988" eaLnBrk="0" fontAlgn="base" hangingPunct="0">
              <a:spcBef>
                <a:spcPct val="0"/>
              </a:spcBef>
              <a:spcAft>
                <a:spcPct val="0"/>
              </a:spcAft>
              <a:defRPr sz="2500">
                <a:solidFill>
                  <a:schemeClr val="tx1"/>
                </a:solidFill>
                <a:latin typeface="Arial" panose="020B0604020202020204" pitchFamily="34" charset="0"/>
                <a:ea typeface="Helvetica Light" charset="0"/>
                <a:cs typeface="Helvetica Light" charset="0"/>
                <a:sym typeface="Helvetica Light" charset="0"/>
              </a:defRPr>
            </a:lvl9pPr>
          </a:lstStyle>
          <a:p>
            <a:pPr algn="ctr" eaLnBrk="1" hangingPunct="1"/>
            <a:r>
              <a:rPr lang="en-US" altLang="en-US"/>
              <a:t>Containers &amp; VMs</a:t>
            </a:r>
          </a:p>
          <a:p>
            <a:pPr algn="ctr" eaLnBrk="1" hangingPunct="1"/>
            <a:r>
              <a:rPr lang="en-US" altLang="en-US" sz="1600">
                <a:solidFill>
                  <a:srgbClr val="0099CC"/>
                </a:solidFill>
              </a:rPr>
              <a:t>Understanding both technologies</a:t>
            </a:r>
          </a:p>
        </p:txBody>
      </p:sp>
      <p:sp>
        <p:nvSpPr>
          <p:cNvPr id="11" name="TextBox 10"/>
          <p:cNvSpPr txBox="1"/>
          <p:nvPr/>
        </p:nvSpPr>
        <p:spPr>
          <a:xfrm>
            <a:off x="4846798" y="4246321"/>
            <a:ext cx="3887828" cy="2390513"/>
          </a:xfrm>
          <a:prstGeom prst="rect">
            <a:avLst/>
          </a:prstGeom>
          <a:noFill/>
        </p:spPr>
        <p:txBody>
          <a:bodyPr wrap="square" lIns="91435" tIns="45718" rIns="91435" bIns="45718">
            <a:spAutoFit/>
          </a:bodyPr>
          <a:lstStyle/>
          <a:p>
            <a:pPr algn="ctr" defTabSz="409554">
              <a:defRPr/>
            </a:pPr>
            <a:r>
              <a:rPr lang="en-US" sz="1600" dirty="0">
                <a:ea typeface="Helvetica Light"/>
                <a:cs typeface="Helvetica Light"/>
                <a:sym typeface="Helvetica Light"/>
              </a:rPr>
              <a:t>Virtualization Approach </a:t>
            </a:r>
          </a:p>
          <a:p>
            <a:pPr marL="320659" lvl="1" indent="-160330" defTabSz="409554">
              <a:defRPr/>
            </a:pPr>
            <a:r>
              <a:rPr lang="en-US" sz="1200" b="1" dirty="0">
                <a:ea typeface="Helvetica Light"/>
                <a:cs typeface="Helvetica Light"/>
                <a:sym typeface="Helvetica Light"/>
              </a:rPr>
              <a:t>Build</a:t>
            </a:r>
          </a:p>
          <a:p>
            <a:pPr marL="400029" lvl="1" indent="-114294" defTabSz="409554">
              <a:buFont typeface="Arial" pitchFamily="34" charset="0"/>
              <a:buChar char="•"/>
              <a:defRPr/>
            </a:pPr>
            <a:r>
              <a:rPr lang="en-US" sz="1200" dirty="0">
                <a:ea typeface="Helvetica Light"/>
                <a:cs typeface="Helvetica Light"/>
                <a:sym typeface="Helvetica Light"/>
              </a:rPr>
              <a:t>Package the (guest) operating system </a:t>
            </a:r>
          </a:p>
          <a:p>
            <a:pPr marL="400029" lvl="1" indent="-114294" defTabSz="409554">
              <a:buFont typeface="Arial" pitchFamily="34" charset="0"/>
              <a:buChar char="•"/>
              <a:defRPr/>
            </a:pPr>
            <a:r>
              <a:rPr lang="en-US" sz="1200" dirty="0">
                <a:ea typeface="Helvetica Light"/>
                <a:cs typeface="Helvetica Light"/>
                <a:sym typeface="Helvetica Light"/>
              </a:rPr>
              <a:t>Add required files and programs </a:t>
            </a:r>
          </a:p>
          <a:p>
            <a:pPr marL="320659" lvl="1" indent="-160330" defTabSz="409554">
              <a:defRPr/>
            </a:pPr>
            <a:r>
              <a:rPr lang="en-US" sz="1200" b="1" dirty="0">
                <a:ea typeface="Helvetica Light"/>
                <a:cs typeface="Helvetica Light"/>
                <a:sym typeface="Helvetica Light"/>
              </a:rPr>
              <a:t>Deploy:</a:t>
            </a:r>
          </a:p>
          <a:p>
            <a:pPr marL="457186" lvl="1" indent="-171450" defTabSz="409554">
              <a:buFont typeface="Arial" pitchFamily="34" charset="0"/>
              <a:buChar char="•"/>
              <a:defRPr/>
            </a:pPr>
            <a:r>
              <a:rPr lang="en-US" sz="1200" dirty="0">
                <a:ea typeface="Helvetica Light"/>
                <a:cs typeface="Helvetica Light"/>
                <a:sym typeface="Helvetica Light"/>
              </a:rPr>
              <a:t>This entire “package” can be moved and reconfigured across different physical machine</a:t>
            </a:r>
          </a:p>
          <a:p>
            <a:pPr marL="320659" lvl="1" indent="-160330" defTabSz="409554">
              <a:defRPr/>
            </a:pPr>
            <a:r>
              <a:rPr lang="en-US" sz="1200" b="1" dirty="0">
                <a:ea typeface="Helvetica Light"/>
                <a:cs typeface="Helvetica Light"/>
                <a:sym typeface="Helvetica Light"/>
              </a:rPr>
              <a:t>Change:</a:t>
            </a:r>
          </a:p>
          <a:p>
            <a:pPr marL="457186" lvl="1" indent="-171450" defTabSz="409554">
              <a:buFont typeface="Arial" pitchFamily="34" charset="0"/>
              <a:buChar char="•"/>
              <a:defRPr/>
            </a:pPr>
            <a:r>
              <a:rPr lang="en-US" sz="1200" dirty="0">
                <a:ea typeface="Helvetica Light"/>
                <a:cs typeface="Helvetica Light"/>
                <a:sym typeface="Helvetica Light"/>
              </a:rPr>
              <a:t>Change details of the software within the virtual machine and then create a new virtual machine.</a:t>
            </a:r>
          </a:p>
          <a:p>
            <a:pPr marL="285736" lvl="1" indent="-114294" defTabSz="409554">
              <a:defRPr/>
            </a:pPr>
            <a:r>
              <a:rPr lang="en-US" sz="1200" b="1" dirty="0">
                <a:ea typeface="Helvetica Light"/>
                <a:cs typeface="Helvetica Light"/>
                <a:sym typeface="Helvetica Light"/>
              </a:rPr>
              <a:t>Value:</a:t>
            </a:r>
          </a:p>
          <a:p>
            <a:pPr marL="457186" lvl="1" indent="-171450" defTabSz="409554">
              <a:buFont typeface="Arial" pitchFamily="34" charset="0"/>
              <a:buChar char="•"/>
              <a:defRPr/>
            </a:pPr>
            <a:r>
              <a:rPr lang="en-US" sz="1200" dirty="0">
                <a:ea typeface="Helvetica Light"/>
                <a:cs typeface="Helvetica Light"/>
                <a:sym typeface="Helvetica Light"/>
              </a:rPr>
              <a:t>Traditional cloud-enabled </a:t>
            </a:r>
            <a:r>
              <a:rPr lang="en-US" sz="1200" dirty="0" smtClean="0">
                <a:ea typeface="Helvetica Light"/>
                <a:cs typeface="Helvetica Light"/>
                <a:sym typeface="Helvetica Light"/>
              </a:rPr>
              <a:t>workloads</a:t>
            </a:r>
            <a:endParaRPr lang="en-US" sz="1200" dirty="0">
              <a:ea typeface="Helvetica Light"/>
              <a:cs typeface="Helvetica Light"/>
              <a:sym typeface="Helvetica Light"/>
            </a:endParaRPr>
          </a:p>
        </p:txBody>
      </p:sp>
      <p:sp>
        <p:nvSpPr>
          <p:cNvPr id="12" name="TextBox 11"/>
          <p:cNvSpPr txBox="1"/>
          <p:nvPr/>
        </p:nvSpPr>
        <p:spPr>
          <a:xfrm>
            <a:off x="206706" y="4275755"/>
            <a:ext cx="4140254" cy="2262188"/>
          </a:xfrm>
          <a:prstGeom prst="rect">
            <a:avLst/>
          </a:prstGeom>
          <a:noFill/>
        </p:spPr>
        <p:txBody>
          <a:bodyPr wrap="square" lIns="91435" tIns="45718" rIns="91435" bIns="45718">
            <a:spAutoFit/>
          </a:bodyPr>
          <a:lstStyle/>
          <a:p>
            <a:pPr algn="ctr" defTabSz="409554">
              <a:defRPr/>
            </a:pPr>
            <a:r>
              <a:rPr lang="en-US" sz="1600" dirty="0">
                <a:ea typeface="Helvetica Light"/>
                <a:cs typeface="Helvetica Light"/>
                <a:sym typeface="Helvetica Light"/>
              </a:rPr>
              <a:t>Container Approach</a:t>
            </a:r>
          </a:p>
          <a:p>
            <a:pPr indent="171441" defTabSz="409554">
              <a:defRPr/>
            </a:pPr>
            <a:r>
              <a:rPr lang="en-US" sz="1200" b="1" dirty="0">
                <a:ea typeface="Helvetica Light"/>
                <a:cs typeface="Helvetica Light"/>
                <a:sym typeface="Helvetica Light"/>
              </a:rPr>
              <a:t>Build:</a:t>
            </a:r>
          </a:p>
          <a:p>
            <a:pPr marL="490538" lvl="1" indent="-171450" defTabSz="409554">
              <a:buFont typeface="Arial" pitchFamily="34" charset="0"/>
              <a:buChar char="•"/>
              <a:defRPr/>
            </a:pPr>
            <a:r>
              <a:rPr lang="en-US" sz="1200" dirty="0">
                <a:ea typeface="Helvetica Light"/>
                <a:cs typeface="Helvetica Light"/>
                <a:sym typeface="Helvetica Light"/>
              </a:rPr>
              <a:t>Software stack can be individually packaged</a:t>
            </a:r>
          </a:p>
          <a:p>
            <a:pPr indent="171441" defTabSz="409554">
              <a:spcBef>
                <a:spcPts val="200"/>
              </a:spcBef>
              <a:defRPr/>
            </a:pPr>
            <a:r>
              <a:rPr lang="en-US" sz="1200" b="1" dirty="0">
                <a:ea typeface="Helvetica Light"/>
                <a:cs typeface="Helvetica Light"/>
                <a:sym typeface="Helvetica Light"/>
              </a:rPr>
              <a:t>Deploy:</a:t>
            </a:r>
          </a:p>
          <a:p>
            <a:pPr marL="514332" indent="-171450" defTabSz="409554">
              <a:buFont typeface="Arial" pitchFamily="34" charset="0"/>
              <a:buChar char="•"/>
              <a:defRPr/>
            </a:pPr>
            <a:r>
              <a:rPr lang="en-US" sz="1200" dirty="0">
                <a:ea typeface="Helvetica Light"/>
                <a:cs typeface="Helvetica Light"/>
                <a:sym typeface="Helvetica Light"/>
              </a:rPr>
              <a:t>Software stack in a </a:t>
            </a:r>
            <a:r>
              <a:rPr lang="en-US" sz="1200" dirty="0" err="1">
                <a:ea typeface="Helvetica Light"/>
                <a:cs typeface="Helvetica Light"/>
                <a:sym typeface="Helvetica Light"/>
              </a:rPr>
              <a:t>Docker</a:t>
            </a:r>
            <a:r>
              <a:rPr lang="en-US" sz="1200" dirty="0">
                <a:ea typeface="Helvetica Light"/>
                <a:cs typeface="Helvetica Light"/>
                <a:sym typeface="Helvetica Light"/>
              </a:rPr>
              <a:t> container can be easily moved between deployment environments</a:t>
            </a:r>
          </a:p>
          <a:p>
            <a:pPr indent="171441" defTabSz="409554">
              <a:spcBef>
                <a:spcPts val="200"/>
              </a:spcBef>
              <a:defRPr/>
            </a:pPr>
            <a:r>
              <a:rPr lang="en-US" sz="1200" b="1" dirty="0">
                <a:ea typeface="Helvetica Light"/>
                <a:cs typeface="Helvetica Light"/>
                <a:sym typeface="Helvetica Light"/>
              </a:rPr>
              <a:t>Change:</a:t>
            </a:r>
          </a:p>
          <a:p>
            <a:pPr marL="490538" lvl="1" indent="-171450" defTabSz="409554">
              <a:buFont typeface="Arial" pitchFamily="34" charset="0"/>
              <a:buChar char="•"/>
              <a:defRPr/>
            </a:pPr>
            <a:r>
              <a:rPr lang="en-US" sz="1200" dirty="0">
                <a:ea typeface="Helvetica Light"/>
                <a:cs typeface="Helvetica Light"/>
                <a:sym typeface="Helvetica Light"/>
              </a:rPr>
              <a:t>Recomposed software into new stacks</a:t>
            </a:r>
          </a:p>
          <a:p>
            <a:pPr indent="171441" defTabSz="409554">
              <a:spcBef>
                <a:spcPts val="200"/>
              </a:spcBef>
              <a:defRPr/>
            </a:pPr>
            <a:r>
              <a:rPr lang="en-US" sz="1200" b="1" dirty="0">
                <a:ea typeface="Helvetica Light"/>
                <a:cs typeface="Helvetica Light"/>
                <a:sym typeface="Helvetica Light"/>
              </a:rPr>
              <a:t>Value:</a:t>
            </a:r>
          </a:p>
          <a:p>
            <a:pPr marL="457177" indent="-114294" defTabSz="409554">
              <a:buFont typeface="Arial" pitchFamily="34" charset="0"/>
              <a:buChar char="•"/>
              <a:defRPr/>
            </a:pPr>
            <a:r>
              <a:rPr lang="en-US" sz="1200" dirty="0">
                <a:ea typeface="Helvetica Light"/>
                <a:cs typeface="Helvetica Light"/>
                <a:sym typeface="Helvetica Light"/>
              </a:rPr>
              <a:t>Built-on-the-cloud applications</a:t>
            </a:r>
          </a:p>
          <a:p>
            <a:pPr marL="457177" indent="-114294" defTabSz="409554">
              <a:buFont typeface="Arial" pitchFamily="34" charset="0"/>
              <a:buChar char="•"/>
              <a:defRPr/>
            </a:pPr>
            <a:r>
              <a:rPr lang="en-US" sz="1200" dirty="0">
                <a:ea typeface="Helvetica Light"/>
                <a:cs typeface="Helvetica Light"/>
                <a:sym typeface="Helvetica Light"/>
              </a:rPr>
              <a:t>Loosely coupled, elastic architectures</a:t>
            </a:r>
          </a:p>
        </p:txBody>
      </p:sp>
      <p:sp>
        <p:nvSpPr>
          <p:cNvPr id="10" name="Title 1"/>
          <p:cNvSpPr txBox="1">
            <a:spLocks/>
          </p:cNvSpPr>
          <p:nvPr/>
        </p:nvSpPr>
        <p:spPr bwMode="auto">
          <a:xfrm>
            <a:off x="232160" y="824221"/>
            <a:ext cx="8229600" cy="373062"/>
          </a:xfrm>
          <a:prstGeom prst="rect">
            <a:avLst/>
          </a:prstGeom>
          <a:noFill/>
          <a:ln>
            <a:noFill/>
          </a:ln>
          <a:extLst/>
        </p:spPr>
        <p:txBody>
          <a:bodyPr lIns="38399" tIns="19200" rIns="38399" bIns="19200"/>
          <a:lstStyle/>
          <a:p>
            <a:pPr defTabSz="914353">
              <a:defRPr/>
            </a:pPr>
            <a:r>
              <a:rPr lang="en-US" sz="1800" b="1" i="1" kern="0" dirty="0">
                <a:ea typeface="+mj-ea"/>
                <a:cs typeface="Arial" pitchFamily="34" charset="0"/>
                <a:sym typeface="Helvetica Light"/>
              </a:rPr>
              <a:t>Standardization and choice </a:t>
            </a:r>
            <a:r>
              <a:rPr lang="en-US" sz="1800" i="1" kern="0" dirty="0">
                <a:ea typeface="+mj-ea"/>
                <a:cs typeface="Arial" pitchFamily="34" charset="0"/>
                <a:sym typeface="Helvetica Light"/>
              </a:rPr>
              <a:t>for delivering the best business value for you</a:t>
            </a:r>
          </a:p>
        </p:txBody>
      </p:sp>
    </p:spTree>
    <p:extLst>
      <p:ext uri="{BB962C8B-B14F-4D97-AF65-F5344CB8AC3E}">
        <p14:creationId xmlns:p14="http://schemas.microsoft.com/office/powerpoint/2010/main" xmlns="" val="2503827674"/>
      </p:ext>
    </p:extLst>
  </p:cSld>
  <p:clrMapOvr>
    <a:masterClrMapping/>
  </p:clrMapOvr>
  <p:transition spd="med"/>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 name="Shape 249"/>
          <p:cNvSpPr>
            <a:spLocks/>
          </p:cNvSpPr>
          <p:nvPr/>
        </p:nvSpPr>
        <p:spPr bwMode="auto">
          <a:xfrm>
            <a:off x="2994025" y="2921000"/>
            <a:ext cx="228600" cy="228600"/>
          </a:xfrm>
          <a:custGeom>
            <a:avLst/>
            <a:gdLst>
              <a:gd name="T0" fmla="*/ 161925 w 19679"/>
              <a:gd name="T1" fmla="*/ 161925 h 19679"/>
              <a:gd name="T2" fmla="*/ 161925 w 19679"/>
              <a:gd name="T3" fmla="*/ 161925 h 19679"/>
              <a:gd name="T4" fmla="*/ 161925 w 19679"/>
              <a:gd name="T5" fmla="*/ 161925 h 19679"/>
              <a:gd name="T6" fmla="*/ 161925 w 19679"/>
              <a:gd name="T7" fmla="*/ 161925 h 19679"/>
              <a:gd name="T8" fmla="*/ 0 60000 65536"/>
              <a:gd name="T9" fmla="*/ 5898240 60000 65536"/>
              <a:gd name="T10" fmla="*/ 11796480 60000 65536"/>
              <a:gd name="T11" fmla="*/ 17694720 60000 65536"/>
            </a:gdLst>
            <a:ahLst/>
            <a:cxnLst>
              <a:cxn ang="T8">
                <a:pos x="T0" y="T1"/>
              </a:cxn>
              <a:cxn ang="T9">
                <a:pos x="T2" y="T3"/>
              </a:cxn>
              <a:cxn ang="T10">
                <a:pos x="T4" y="T5"/>
              </a:cxn>
              <a:cxn ang="T11">
                <a:pos x="T6" y="T7"/>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B3163A"/>
          </a:solidFill>
          <a:ln>
            <a:noFill/>
          </a:ln>
          <a:effectLst>
            <a:outerShdw blurRad="38100" dist="25400" dir="5400000" rotWithShape="0">
              <a:srgbClr val="000000">
                <a:alpha val="50000"/>
              </a:srgbClr>
            </a:outerShdw>
          </a:effectLst>
          <a:extLst>
            <a:ext uri="{91240B29-F687-4F45-9708-019B960494DF}">
              <a14:hiddenLine xmlns:a14="http://schemas.microsoft.com/office/drawing/2010/main" xmlns="" w="12700">
                <a:solidFill>
                  <a:srgbClr val="000000"/>
                </a:solidFill>
                <a:miter lim="400000"/>
                <a:headEnd/>
                <a:tailEnd/>
              </a14:hiddenLine>
            </a:ext>
          </a:extLst>
        </p:spPr>
        <p:txBody>
          <a:bodyPr lIns="0" tIns="0" rIns="0" bIns="0" anchor="ctr"/>
          <a:lstStyle/>
          <a:p>
            <a:pPr>
              <a:defRPr/>
            </a:pPr>
            <a:endParaRPr lang="en-US" sz="1547"/>
          </a:p>
        </p:txBody>
      </p:sp>
      <p:sp>
        <p:nvSpPr>
          <p:cNvPr id="34818" name="Shape 250"/>
          <p:cNvSpPr>
            <a:spLocks noChangeArrowheads="1"/>
          </p:cNvSpPr>
          <p:nvPr/>
        </p:nvSpPr>
        <p:spPr bwMode="auto">
          <a:xfrm>
            <a:off x="2757488" y="2533650"/>
            <a:ext cx="681037" cy="4016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400000"/>
                <a:headEnd/>
                <a:tailEnd/>
              </a14:hiddenLine>
            </a:ext>
          </a:extLst>
        </p:spPr>
        <p:txBody>
          <a:bodyPr lIns="35719" tIns="35719" rIns="35719" bIns="35719" anchor="ctr"/>
          <a:lstStyle>
            <a:lvl1pPr defTabSz="457200" eaLnBrk="0" hangingPunct="0">
              <a:defRPr sz="3600">
                <a:solidFill>
                  <a:schemeClr val="tx1"/>
                </a:solidFill>
                <a:latin typeface="Helvetica Light" charset="0"/>
                <a:ea typeface="MS PGothic" panose="020B0600070205080204" pitchFamily="34" charset="-128"/>
                <a:sym typeface="Helvetica Light" charset="0"/>
              </a:defRPr>
            </a:lvl1pPr>
            <a:lvl2pPr marL="742950" indent="-285750" defTabSz="457200" eaLnBrk="0" hangingPunct="0">
              <a:defRPr sz="3600">
                <a:solidFill>
                  <a:schemeClr val="tx1"/>
                </a:solidFill>
                <a:latin typeface="Helvetica Light" charset="0"/>
                <a:ea typeface="MS PGothic" panose="020B0600070205080204" pitchFamily="34" charset="-128"/>
                <a:sym typeface="Helvetica Light" charset="0"/>
              </a:defRPr>
            </a:lvl2pPr>
            <a:lvl3pPr marL="1143000" indent="-228600" defTabSz="457200" eaLnBrk="0" hangingPunct="0">
              <a:defRPr sz="3600">
                <a:solidFill>
                  <a:schemeClr val="tx1"/>
                </a:solidFill>
                <a:latin typeface="Helvetica Light" charset="0"/>
                <a:ea typeface="MS PGothic" panose="020B0600070205080204" pitchFamily="34" charset="-128"/>
                <a:sym typeface="Helvetica Light" charset="0"/>
              </a:defRPr>
            </a:lvl3pPr>
            <a:lvl4pPr marL="1600200" indent="-228600" defTabSz="457200" eaLnBrk="0" hangingPunct="0">
              <a:defRPr sz="3600">
                <a:solidFill>
                  <a:schemeClr val="tx1"/>
                </a:solidFill>
                <a:latin typeface="Helvetica Light" charset="0"/>
                <a:ea typeface="MS PGothic" panose="020B0600070205080204" pitchFamily="34" charset="-128"/>
                <a:sym typeface="Helvetica Light" charset="0"/>
              </a:defRPr>
            </a:lvl4pPr>
            <a:lvl5pPr marL="2057400" indent="-228600" defTabSz="457200" eaLnBrk="0" hangingPunct="0">
              <a:defRPr sz="3600">
                <a:solidFill>
                  <a:schemeClr val="tx1"/>
                </a:solidFill>
                <a:latin typeface="Helvetica Light" charset="0"/>
                <a:ea typeface="MS PGothic" panose="020B0600070205080204" pitchFamily="34" charset="-128"/>
                <a:sym typeface="Helvetica Light" charset="0"/>
              </a:defRPr>
            </a:lvl5pPr>
            <a:lvl6pPr marL="2514600" indent="-228600" defTabSz="457200" eaLnBrk="0" fontAlgn="base" hangingPunct="0">
              <a:spcBef>
                <a:spcPct val="0"/>
              </a:spcBef>
              <a:spcAft>
                <a:spcPct val="0"/>
              </a:spcAft>
              <a:defRPr sz="3600">
                <a:solidFill>
                  <a:schemeClr val="tx1"/>
                </a:solidFill>
                <a:latin typeface="Helvetica Light" charset="0"/>
                <a:ea typeface="MS PGothic" panose="020B0600070205080204" pitchFamily="34" charset="-128"/>
                <a:sym typeface="Helvetica Light" charset="0"/>
              </a:defRPr>
            </a:lvl6pPr>
            <a:lvl7pPr marL="2971800" indent="-228600" defTabSz="457200" eaLnBrk="0" fontAlgn="base" hangingPunct="0">
              <a:spcBef>
                <a:spcPct val="0"/>
              </a:spcBef>
              <a:spcAft>
                <a:spcPct val="0"/>
              </a:spcAft>
              <a:defRPr sz="3600">
                <a:solidFill>
                  <a:schemeClr val="tx1"/>
                </a:solidFill>
                <a:latin typeface="Helvetica Light" charset="0"/>
                <a:ea typeface="MS PGothic" panose="020B0600070205080204" pitchFamily="34" charset="-128"/>
                <a:sym typeface="Helvetica Light" charset="0"/>
              </a:defRPr>
            </a:lvl7pPr>
            <a:lvl8pPr marL="3429000" indent="-228600" defTabSz="457200" eaLnBrk="0" fontAlgn="base" hangingPunct="0">
              <a:spcBef>
                <a:spcPct val="0"/>
              </a:spcBef>
              <a:spcAft>
                <a:spcPct val="0"/>
              </a:spcAft>
              <a:defRPr sz="3600">
                <a:solidFill>
                  <a:schemeClr val="tx1"/>
                </a:solidFill>
                <a:latin typeface="Helvetica Light" charset="0"/>
                <a:ea typeface="MS PGothic" panose="020B0600070205080204" pitchFamily="34" charset="-128"/>
                <a:sym typeface="Helvetica Light" charset="0"/>
              </a:defRPr>
            </a:lvl8pPr>
            <a:lvl9pPr marL="3886200" indent="-228600" defTabSz="457200" eaLnBrk="0" fontAlgn="base" hangingPunct="0">
              <a:spcBef>
                <a:spcPct val="0"/>
              </a:spcBef>
              <a:spcAft>
                <a:spcPct val="0"/>
              </a:spcAft>
              <a:defRPr sz="3600">
                <a:solidFill>
                  <a:schemeClr val="tx1"/>
                </a:solidFill>
                <a:latin typeface="Helvetica Light" charset="0"/>
                <a:ea typeface="MS PGothic" panose="020B0600070205080204" pitchFamily="34" charset="-128"/>
                <a:sym typeface="Helvetica Light" charset="0"/>
              </a:defRPr>
            </a:lvl9pPr>
          </a:lstStyle>
          <a:p>
            <a:pPr eaLnBrk="1" hangingPunct="1">
              <a:spcBef>
                <a:spcPts val="1687"/>
              </a:spcBef>
              <a:defRPr/>
            </a:pPr>
            <a:r>
              <a:rPr lang="en-US" altLang="en-US" sz="1406" b="1" smtClean="0">
                <a:solidFill>
                  <a:srgbClr val="B3163A"/>
                </a:solidFill>
                <a:latin typeface="Arial" panose="020B0604020202020204" pitchFamily="34" charset="0"/>
                <a:sym typeface="Helvetica Neue Light"/>
              </a:rPr>
              <a:t>IaaS</a:t>
            </a:r>
          </a:p>
        </p:txBody>
      </p:sp>
      <p:sp>
        <p:nvSpPr>
          <p:cNvPr id="34819" name="Shape 251"/>
          <p:cNvSpPr>
            <a:spLocks noChangeArrowheads="1"/>
          </p:cNvSpPr>
          <p:nvPr/>
        </p:nvSpPr>
        <p:spPr bwMode="auto">
          <a:xfrm>
            <a:off x="4400550" y="2589213"/>
            <a:ext cx="1400175" cy="2889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400000"/>
                <a:headEnd/>
                <a:tailEnd/>
              </a14:hiddenLine>
            </a:ext>
          </a:extLst>
        </p:spPr>
        <p:txBody>
          <a:bodyPr lIns="35719" tIns="35719" rIns="35719" bIns="35719" anchor="ctr">
            <a:spAutoFit/>
          </a:bodyPr>
          <a:lstStyle>
            <a:lvl1pPr defTabSz="457200" eaLnBrk="0" hangingPunct="0">
              <a:defRPr sz="3600">
                <a:solidFill>
                  <a:schemeClr val="tx1"/>
                </a:solidFill>
                <a:latin typeface="Helvetica Light" charset="0"/>
                <a:ea typeface="MS PGothic" panose="020B0600070205080204" pitchFamily="34" charset="-128"/>
                <a:sym typeface="Helvetica Light" charset="0"/>
              </a:defRPr>
            </a:lvl1pPr>
            <a:lvl2pPr marL="742950" indent="-285750" defTabSz="457200" eaLnBrk="0" hangingPunct="0">
              <a:defRPr sz="3600">
                <a:solidFill>
                  <a:schemeClr val="tx1"/>
                </a:solidFill>
                <a:latin typeface="Helvetica Light" charset="0"/>
                <a:ea typeface="MS PGothic" panose="020B0600070205080204" pitchFamily="34" charset="-128"/>
                <a:sym typeface="Helvetica Light" charset="0"/>
              </a:defRPr>
            </a:lvl2pPr>
            <a:lvl3pPr marL="1143000" indent="-228600" defTabSz="457200" eaLnBrk="0" hangingPunct="0">
              <a:defRPr sz="3600">
                <a:solidFill>
                  <a:schemeClr val="tx1"/>
                </a:solidFill>
                <a:latin typeface="Helvetica Light" charset="0"/>
                <a:ea typeface="MS PGothic" panose="020B0600070205080204" pitchFamily="34" charset="-128"/>
                <a:sym typeface="Helvetica Light" charset="0"/>
              </a:defRPr>
            </a:lvl3pPr>
            <a:lvl4pPr marL="1600200" indent="-228600" defTabSz="457200" eaLnBrk="0" hangingPunct="0">
              <a:defRPr sz="3600">
                <a:solidFill>
                  <a:schemeClr val="tx1"/>
                </a:solidFill>
                <a:latin typeface="Helvetica Light" charset="0"/>
                <a:ea typeface="MS PGothic" panose="020B0600070205080204" pitchFamily="34" charset="-128"/>
                <a:sym typeface="Helvetica Light" charset="0"/>
              </a:defRPr>
            </a:lvl4pPr>
            <a:lvl5pPr marL="2057400" indent="-228600" defTabSz="457200" eaLnBrk="0" hangingPunct="0">
              <a:defRPr sz="3600">
                <a:solidFill>
                  <a:schemeClr val="tx1"/>
                </a:solidFill>
                <a:latin typeface="Helvetica Light" charset="0"/>
                <a:ea typeface="MS PGothic" panose="020B0600070205080204" pitchFamily="34" charset="-128"/>
                <a:sym typeface="Helvetica Light" charset="0"/>
              </a:defRPr>
            </a:lvl5pPr>
            <a:lvl6pPr marL="2514600" indent="-228600" defTabSz="457200" eaLnBrk="0" fontAlgn="base" hangingPunct="0">
              <a:spcBef>
                <a:spcPct val="0"/>
              </a:spcBef>
              <a:spcAft>
                <a:spcPct val="0"/>
              </a:spcAft>
              <a:defRPr sz="3600">
                <a:solidFill>
                  <a:schemeClr val="tx1"/>
                </a:solidFill>
                <a:latin typeface="Helvetica Light" charset="0"/>
                <a:ea typeface="MS PGothic" panose="020B0600070205080204" pitchFamily="34" charset="-128"/>
                <a:sym typeface="Helvetica Light" charset="0"/>
              </a:defRPr>
            </a:lvl6pPr>
            <a:lvl7pPr marL="2971800" indent="-228600" defTabSz="457200" eaLnBrk="0" fontAlgn="base" hangingPunct="0">
              <a:spcBef>
                <a:spcPct val="0"/>
              </a:spcBef>
              <a:spcAft>
                <a:spcPct val="0"/>
              </a:spcAft>
              <a:defRPr sz="3600">
                <a:solidFill>
                  <a:schemeClr val="tx1"/>
                </a:solidFill>
                <a:latin typeface="Helvetica Light" charset="0"/>
                <a:ea typeface="MS PGothic" panose="020B0600070205080204" pitchFamily="34" charset="-128"/>
                <a:sym typeface="Helvetica Light" charset="0"/>
              </a:defRPr>
            </a:lvl7pPr>
            <a:lvl8pPr marL="3429000" indent="-228600" defTabSz="457200" eaLnBrk="0" fontAlgn="base" hangingPunct="0">
              <a:spcBef>
                <a:spcPct val="0"/>
              </a:spcBef>
              <a:spcAft>
                <a:spcPct val="0"/>
              </a:spcAft>
              <a:defRPr sz="3600">
                <a:solidFill>
                  <a:schemeClr val="tx1"/>
                </a:solidFill>
                <a:latin typeface="Helvetica Light" charset="0"/>
                <a:ea typeface="MS PGothic" panose="020B0600070205080204" pitchFamily="34" charset="-128"/>
                <a:sym typeface="Helvetica Light" charset="0"/>
              </a:defRPr>
            </a:lvl8pPr>
            <a:lvl9pPr marL="3886200" indent="-228600" defTabSz="457200" eaLnBrk="0" fontAlgn="base" hangingPunct="0">
              <a:spcBef>
                <a:spcPct val="0"/>
              </a:spcBef>
              <a:spcAft>
                <a:spcPct val="0"/>
              </a:spcAft>
              <a:defRPr sz="3600">
                <a:solidFill>
                  <a:schemeClr val="tx1"/>
                </a:solidFill>
                <a:latin typeface="Helvetica Light" charset="0"/>
                <a:ea typeface="MS PGothic" panose="020B0600070205080204" pitchFamily="34" charset="-128"/>
                <a:sym typeface="Helvetica Light" charset="0"/>
              </a:defRPr>
            </a:lvl9pPr>
          </a:lstStyle>
          <a:p>
            <a:pPr eaLnBrk="1" hangingPunct="1">
              <a:spcBef>
                <a:spcPts val="1687"/>
              </a:spcBef>
              <a:defRPr/>
            </a:pPr>
            <a:r>
              <a:rPr lang="en-US" altLang="en-US" sz="1406" b="1" smtClean="0">
                <a:solidFill>
                  <a:srgbClr val="0365C0"/>
                </a:solidFill>
                <a:latin typeface="Arial" panose="020B0604020202020204" pitchFamily="34" charset="0"/>
                <a:sym typeface="Helvetica Neue Light"/>
              </a:rPr>
              <a:t>PaaS</a:t>
            </a:r>
          </a:p>
        </p:txBody>
      </p:sp>
      <p:sp>
        <p:nvSpPr>
          <p:cNvPr id="252" name="Shape 252"/>
          <p:cNvSpPr>
            <a:spLocks/>
          </p:cNvSpPr>
          <p:nvPr/>
        </p:nvSpPr>
        <p:spPr bwMode="auto">
          <a:xfrm>
            <a:off x="4987925" y="2906713"/>
            <a:ext cx="227013" cy="227012"/>
          </a:xfrm>
          <a:custGeom>
            <a:avLst/>
            <a:gdLst>
              <a:gd name="T0" fmla="*/ 161925 w 19679"/>
              <a:gd name="T1" fmla="*/ 161925 h 19679"/>
              <a:gd name="T2" fmla="*/ 161925 w 19679"/>
              <a:gd name="T3" fmla="*/ 161925 h 19679"/>
              <a:gd name="T4" fmla="*/ 161925 w 19679"/>
              <a:gd name="T5" fmla="*/ 161925 h 19679"/>
              <a:gd name="T6" fmla="*/ 161925 w 19679"/>
              <a:gd name="T7" fmla="*/ 161925 h 19679"/>
              <a:gd name="T8" fmla="*/ 0 60000 65536"/>
              <a:gd name="T9" fmla="*/ 5898240 60000 65536"/>
              <a:gd name="T10" fmla="*/ 11796480 60000 65536"/>
              <a:gd name="T11" fmla="*/ 17694720 60000 65536"/>
            </a:gdLst>
            <a:ahLst/>
            <a:cxnLst>
              <a:cxn ang="T8">
                <a:pos x="T0" y="T1"/>
              </a:cxn>
              <a:cxn ang="T9">
                <a:pos x="T2" y="T3"/>
              </a:cxn>
              <a:cxn ang="T10">
                <a:pos x="T4" y="T5"/>
              </a:cxn>
              <a:cxn ang="T11">
                <a:pos x="T6" y="T7"/>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0365C0"/>
          </a:solidFill>
          <a:ln>
            <a:noFill/>
          </a:ln>
          <a:effectLst>
            <a:outerShdw blurRad="38100" dist="25400" dir="5400000" rotWithShape="0">
              <a:srgbClr val="000000">
                <a:alpha val="50000"/>
              </a:srgbClr>
            </a:outerShdw>
          </a:effectLst>
          <a:extLst>
            <a:ext uri="{91240B29-F687-4F45-9708-019B960494DF}">
              <a14:hiddenLine xmlns:a14="http://schemas.microsoft.com/office/drawing/2010/main" xmlns="" w="12700">
                <a:solidFill>
                  <a:srgbClr val="000000"/>
                </a:solidFill>
                <a:miter lim="400000"/>
                <a:headEnd/>
                <a:tailEnd/>
              </a14:hiddenLine>
            </a:ext>
          </a:extLst>
        </p:spPr>
        <p:txBody>
          <a:bodyPr lIns="0" tIns="0" rIns="0" bIns="0" anchor="ctr"/>
          <a:lstStyle/>
          <a:p>
            <a:pPr>
              <a:defRPr/>
            </a:pPr>
            <a:endParaRPr lang="en-US" sz="1547"/>
          </a:p>
        </p:txBody>
      </p:sp>
      <p:sp>
        <p:nvSpPr>
          <p:cNvPr id="57350" name="Shape 253"/>
          <p:cNvSpPr>
            <a:spLocks noGrp="1"/>
          </p:cNvSpPr>
          <p:nvPr>
            <p:ph type="title"/>
          </p:nvPr>
        </p:nvSpPr>
        <p:spPr>
          <a:xfrm>
            <a:off x="228717" y="650703"/>
            <a:ext cx="8270875" cy="331787"/>
          </a:xfrm>
        </p:spPr>
        <p:txBody>
          <a:bodyPr/>
          <a:lstStyle/>
          <a:p>
            <a:pPr eaLnBrk="1" hangingPunct="1"/>
            <a:r>
              <a:rPr lang="en-US" altLang="en-US" dirty="0" smtClean="0">
                <a:solidFill>
                  <a:srgbClr val="0070C0"/>
                </a:solidFill>
                <a:cs typeface="Arial" panose="020B0604020202020204" pitchFamily="34" charset="0"/>
              </a:rPr>
              <a:t>Timing is Critical …so are all of your other investments</a:t>
            </a:r>
          </a:p>
        </p:txBody>
      </p:sp>
      <p:sp>
        <p:nvSpPr>
          <p:cNvPr id="57351" name="Shape 254"/>
          <p:cNvSpPr>
            <a:spLocks noChangeArrowheads="1"/>
          </p:cNvSpPr>
          <p:nvPr/>
        </p:nvSpPr>
        <p:spPr bwMode="auto">
          <a:xfrm>
            <a:off x="257175" y="1408113"/>
            <a:ext cx="8643938" cy="381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400000"/>
                <a:headEnd/>
                <a:tailEnd/>
              </a14:hiddenLine>
            </a:ext>
          </a:extLst>
        </p:spPr>
        <p:txBody>
          <a:bodyPr lIns="35719" tIns="35719" rIns="35719" bIns="35719" anchor="ctr">
            <a:spAutoFit/>
          </a:bodyPr>
          <a:lstStyle>
            <a:lvl1pPr defTabSz="457200">
              <a:spcBef>
                <a:spcPct val="50000"/>
              </a:spcBef>
              <a:buClr>
                <a:schemeClr val="hlink"/>
              </a:buClr>
              <a:buFont typeface="Wingdings" panose="05000000000000000000" pitchFamily="2" charset="2"/>
              <a:buChar char="§"/>
              <a:defRPr sz="2000">
                <a:solidFill>
                  <a:schemeClr val="tx1"/>
                </a:solidFill>
                <a:latin typeface="Arial" panose="020B0604020202020204" pitchFamily="34" charset="0"/>
              </a:defRPr>
            </a:lvl1pPr>
            <a:lvl2pPr marL="742950" indent="-285750" defTabSz="457200">
              <a:buClr>
                <a:schemeClr val="hlink"/>
              </a:buClr>
              <a:buFont typeface="Arial" panose="020B0604020202020204" pitchFamily="34" charset="0"/>
              <a:buChar char="–"/>
              <a:defRPr sz="2000">
                <a:solidFill>
                  <a:schemeClr val="tx1"/>
                </a:solidFill>
                <a:latin typeface="Arial" panose="020B0604020202020204" pitchFamily="34" charset="0"/>
              </a:defRPr>
            </a:lvl2pPr>
            <a:lvl3pPr marL="1143000" indent="-228600" defTabSz="457200">
              <a:buClr>
                <a:schemeClr val="hlink"/>
              </a:buClr>
              <a:buChar char="•"/>
              <a:defRPr sz="2000">
                <a:solidFill>
                  <a:schemeClr val="tx1"/>
                </a:solidFill>
                <a:latin typeface="Arial" panose="020B0604020202020204" pitchFamily="34" charset="0"/>
              </a:defRPr>
            </a:lvl3pPr>
            <a:lvl4pPr marL="1600200" indent="-228600" defTabSz="457200">
              <a:buClr>
                <a:schemeClr val="hlink"/>
              </a:buClr>
              <a:buFont typeface="Arial" panose="020B0604020202020204" pitchFamily="34" charset="0"/>
              <a:buChar char="–"/>
              <a:defRPr sz="2000">
                <a:solidFill>
                  <a:schemeClr val="tx1"/>
                </a:solidFill>
                <a:latin typeface="Arial" panose="020B0604020202020204" pitchFamily="34" charset="0"/>
              </a:defRPr>
            </a:lvl4pPr>
            <a:lvl5pPr marL="2057400" indent="-228600" defTabSz="457200">
              <a:spcBef>
                <a:spcPct val="20000"/>
              </a:spcBef>
              <a:buClr>
                <a:schemeClr val="bg1"/>
              </a:buClr>
              <a:buChar char="»"/>
              <a:defRPr sz="1600">
                <a:solidFill>
                  <a:schemeClr val="bg1"/>
                </a:solidFill>
                <a:latin typeface="Arial" panose="020B0604020202020204" pitchFamily="34" charset="0"/>
              </a:defRPr>
            </a:lvl5pPr>
            <a:lvl6pPr marL="2514600" indent="-228600" defTabSz="457200" eaLnBrk="0" fontAlgn="base" hangingPunct="0">
              <a:spcBef>
                <a:spcPct val="20000"/>
              </a:spcBef>
              <a:spcAft>
                <a:spcPct val="0"/>
              </a:spcAft>
              <a:buClr>
                <a:schemeClr val="bg1"/>
              </a:buClr>
              <a:buChar char="»"/>
              <a:defRPr sz="1600">
                <a:solidFill>
                  <a:schemeClr val="bg1"/>
                </a:solidFill>
                <a:latin typeface="Arial" panose="020B0604020202020204" pitchFamily="34" charset="0"/>
              </a:defRPr>
            </a:lvl6pPr>
            <a:lvl7pPr marL="2971800" indent="-228600" defTabSz="457200" eaLnBrk="0" fontAlgn="base" hangingPunct="0">
              <a:spcBef>
                <a:spcPct val="20000"/>
              </a:spcBef>
              <a:spcAft>
                <a:spcPct val="0"/>
              </a:spcAft>
              <a:buClr>
                <a:schemeClr val="bg1"/>
              </a:buClr>
              <a:buChar char="»"/>
              <a:defRPr sz="1600">
                <a:solidFill>
                  <a:schemeClr val="bg1"/>
                </a:solidFill>
                <a:latin typeface="Arial" panose="020B0604020202020204" pitchFamily="34" charset="0"/>
              </a:defRPr>
            </a:lvl7pPr>
            <a:lvl8pPr marL="3429000" indent="-228600" defTabSz="457200" eaLnBrk="0" fontAlgn="base" hangingPunct="0">
              <a:spcBef>
                <a:spcPct val="20000"/>
              </a:spcBef>
              <a:spcAft>
                <a:spcPct val="0"/>
              </a:spcAft>
              <a:buClr>
                <a:schemeClr val="bg1"/>
              </a:buClr>
              <a:buChar char="»"/>
              <a:defRPr sz="1600">
                <a:solidFill>
                  <a:schemeClr val="bg1"/>
                </a:solidFill>
                <a:latin typeface="Arial" panose="020B0604020202020204" pitchFamily="34" charset="0"/>
              </a:defRPr>
            </a:lvl8pPr>
            <a:lvl9pPr marL="3886200" indent="-228600" defTabSz="457200" eaLnBrk="0" fontAlgn="base" hangingPunct="0">
              <a:spcBef>
                <a:spcPct val="20000"/>
              </a:spcBef>
              <a:spcAft>
                <a:spcPct val="0"/>
              </a:spcAft>
              <a:buClr>
                <a:schemeClr val="bg1"/>
              </a:buClr>
              <a:buChar char="»"/>
              <a:defRPr sz="1600">
                <a:solidFill>
                  <a:schemeClr val="bg1"/>
                </a:solidFill>
                <a:latin typeface="Arial" panose="020B0604020202020204" pitchFamily="34" charset="0"/>
              </a:defRPr>
            </a:lvl9pPr>
          </a:lstStyle>
          <a:p>
            <a:pPr eaLnBrk="1" hangingPunct="1">
              <a:spcBef>
                <a:spcPts val="1688"/>
              </a:spcBef>
              <a:buClrTx/>
              <a:buFontTx/>
              <a:buNone/>
            </a:pPr>
            <a:r>
              <a:rPr lang="en-US" altLang="en-US">
                <a:ea typeface="MS PGothic" panose="020B0600070205080204" pitchFamily="34" charset="-128"/>
                <a:sym typeface="Helvetica Neue Light"/>
              </a:rPr>
              <a:t>Leverage the power of Bluemix </a:t>
            </a:r>
            <a:r>
              <a:rPr lang="en-US" altLang="en-US" b="1">
                <a:ea typeface="MS PGothic" panose="020B0600070205080204" pitchFamily="34" charset="-128"/>
                <a:sym typeface="Helvetica Neue Light"/>
              </a:rPr>
              <a:t>without abandoning </a:t>
            </a:r>
            <a:r>
              <a:rPr lang="en-US" altLang="en-US">
                <a:ea typeface="MS PGothic" panose="020B0600070205080204" pitchFamily="34" charset="-128"/>
                <a:sym typeface="Helvetica Neue Light"/>
              </a:rPr>
              <a:t>what you already use.</a:t>
            </a:r>
          </a:p>
        </p:txBody>
      </p:sp>
      <p:sp>
        <p:nvSpPr>
          <p:cNvPr id="34823" name="Shape 255"/>
          <p:cNvSpPr>
            <a:spLocks noChangeArrowheads="1"/>
          </p:cNvSpPr>
          <p:nvPr/>
        </p:nvSpPr>
        <p:spPr bwMode="auto">
          <a:xfrm>
            <a:off x="509588" y="2389188"/>
            <a:ext cx="1171575" cy="6889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400000"/>
                <a:headEnd/>
                <a:tailEnd/>
              </a14:hiddenLine>
            </a:ext>
          </a:extLst>
        </p:spPr>
        <p:txBody>
          <a:bodyPr lIns="35719" tIns="35719" rIns="35719" bIns="35719" anchor="ctr"/>
          <a:lstStyle>
            <a:lvl1pPr defTabSz="457200" eaLnBrk="0" hangingPunct="0">
              <a:defRPr sz="3600">
                <a:solidFill>
                  <a:schemeClr val="tx1"/>
                </a:solidFill>
                <a:latin typeface="Helvetica Light" charset="0"/>
                <a:ea typeface="MS PGothic" panose="020B0600070205080204" pitchFamily="34" charset="-128"/>
                <a:sym typeface="Helvetica Light" charset="0"/>
              </a:defRPr>
            </a:lvl1pPr>
            <a:lvl2pPr marL="742950" indent="-285750" defTabSz="457200" eaLnBrk="0" hangingPunct="0">
              <a:defRPr sz="3600">
                <a:solidFill>
                  <a:schemeClr val="tx1"/>
                </a:solidFill>
                <a:latin typeface="Helvetica Light" charset="0"/>
                <a:ea typeface="MS PGothic" panose="020B0600070205080204" pitchFamily="34" charset="-128"/>
                <a:sym typeface="Helvetica Light" charset="0"/>
              </a:defRPr>
            </a:lvl2pPr>
            <a:lvl3pPr marL="1143000" indent="-228600" defTabSz="457200" eaLnBrk="0" hangingPunct="0">
              <a:defRPr sz="3600">
                <a:solidFill>
                  <a:schemeClr val="tx1"/>
                </a:solidFill>
                <a:latin typeface="Helvetica Light" charset="0"/>
                <a:ea typeface="MS PGothic" panose="020B0600070205080204" pitchFamily="34" charset="-128"/>
                <a:sym typeface="Helvetica Light" charset="0"/>
              </a:defRPr>
            </a:lvl3pPr>
            <a:lvl4pPr marL="1600200" indent="-228600" defTabSz="457200" eaLnBrk="0" hangingPunct="0">
              <a:defRPr sz="3600">
                <a:solidFill>
                  <a:schemeClr val="tx1"/>
                </a:solidFill>
                <a:latin typeface="Helvetica Light" charset="0"/>
                <a:ea typeface="MS PGothic" panose="020B0600070205080204" pitchFamily="34" charset="-128"/>
                <a:sym typeface="Helvetica Light" charset="0"/>
              </a:defRPr>
            </a:lvl4pPr>
            <a:lvl5pPr marL="2057400" indent="-228600" defTabSz="457200" eaLnBrk="0" hangingPunct="0">
              <a:defRPr sz="3600">
                <a:solidFill>
                  <a:schemeClr val="tx1"/>
                </a:solidFill>
                <a:latin typeface="Helvetica Light" charset="0"/>
                <a:ea typeface="MS PGothic" panose="020B0600070205080204" pitchFamily="34" charset="-128"/>
                <a:sym typeface="Helvetica Light" charset="0"/>
              </a:defRPr>
            </a:lvl5pPr>
            <a:lvl6pPr marL="2514600" indent="-228600" defTabSz="457200" eaLnBrk="0" fontAlgn="base" hangingPunct="0">
              <a:spcBef>
                <a:spcPct val="0"/>
              </a:spcBef>
              <a:spcAft>
                <a:spcPct val="0"/>
              </a:spcAft>
              <a:defRPr sz="3600">
                <a:solidFill>
                  <a:schemeClr val="tx1"/>
                </a:solidFill>
                <a:latin typeface="Helvetica Light" charset="0"/>
                <a:ea typeface="MS PGothic" panose="020B0600070205080204" pitchFamily="34" charset="-128"/>
                <a:sym typeface="Helvetica Light" charset="0"/>
              </a:defRPr>
            </a:lvl6pPr>
            <a:lvl7pPr marL="2971800" indent="-228600" defTabSz="457200" eaLnBrk="0" fontAlgn="base" hangingPunct="0">
              <a:spcBef>
                <a:spcPct val="0"/>
              </a:spcBef>
              <a:spcAft>
                <a:spcPct val="0"/>
              </a:spcAft>
              <a:defRPr sz="3600">
                <a:solidFill>
                  <a:schemeClr val="tx1"/>
                </a:solidFill>
                <a:latin typeface="Helvetica Light" charset="0"/>
                <a:ea typeface="MS PGothic" panose="020B0600070205080204" pitchFamily="34" charset="-128"/>
                <a:sym typeface="Helvetica Light" charset="0"/>
              </a:defRPr>
            </a:lvl7pPr>
            <a:lvl8pPr marL="3429000" indent="-228600" defTabSz="457200" eaLnBrk="0" fontAlgn="base" hangingPunct="0">
              <a:spcBef>
                <a:spcPct val="0"/>
              </a:spcBef>
              <a:spcAft>
                <a:spcPct val="0"/>
              </a:spcAft>
              <a:defRPr sz="3600">
                <a:solidFill>
                  <a:schemeClr val="tx1"/>
                </a:solidFill>
                <a:latin typeface="Helvetica Light" charset="0"/>
                <a:ea typeface="MS PGothic" panose="020B0600070205080204" pitchFamily="34" charset="-128"/>
                <a:sym typeface="Helvetica Light" charset="0"/>
              </a:defRPr>
            </a:lvl8pPr>
            <a:lvl9pPr marL="3886200" indent="-228600" defTabSz="457200" eaLnBrk="0" fontAlgn="base" hangingPunct="0">
              <a:spcBef>
                <a:spcPct val="0"/>
              </a:spcBef>
              <a:spcAft>
                <a:spcPct val="0"/>
              </a:spcAft>
              <a:defRPr sz="3600">
                <a:solidFill>
                  <a:schemeClr val="tx1"/>
                </a:solidFill>
                <a:latin typeface="Helvetica Light" charset="0"/>
                <a:ea typeface="MS PGothic" panose="020B0600070205080204" pitchFamily="34" charset="-128"/>
                <a:sym typeface="Helvetica Light" charset="0"/>
              </a:defRPr>
            </a:lvl9pPr>
          </a:lstStyle>
          <a:p>
            <a:pPr eaLnBrk="1" hangingPunct="1">
              <a:spcBef>
                <a:spcPts val="1687"/>
              </a:spcBef>
              <a:defRPr/>
            </a:pPr>
            <a:r>
              <a:rPr lang="en-US" altLang="en-US" sz="1406" b="1" smtClean="0">
                <a:solidFill>
                  <a:srgbClr val="043E68"/>
                </a:solidFill>
                <a:latin typeface="Arial" panose="020B0604020202020204" pitchFamily="34" charset="0"/>
                <a:sym typeface="Helvetica Neue Light"/>
              </a:rPr>
              <a:t>Core IT</a:t>
            </a:r>
          </a:p>
        </p:txBody>
      </p:sp>
      <p:sp>
        <p:nvSpPr>
          <p:cNvPr id="256" name="Shape 256"/>
          <p:cNvSpPr>
            <a:spLocks/>
          </p:cNvSpPr>
          <p:nvPr/>
        </p:nvSpPr>
        <p:spPr bwMode="auto">
          <a:xfrm>
            <a:off x="990600" y="2911475"/>
            <a:ext cx="227013" cy="228600"/>
          </a:xfrm>
          <a:custGeom>
            <a:avLst/>
            <a:gdLst>
              <a:gd name="T0" fmla="*/ 161925 w 19679"/>
              <a:gd name="T1" fmla="*/ 161925 h 19679"/>
              <a:gd name="T2" fmla="*/ 161925 w 19679"/>
              <a:gd name="T3" fmla="*/ 161925 h 19679"/>
              <a:gd name="T4" fmla="*/ 161925 w 19679"/>
              <a:gd name="T5" fmla="*/ 161925 h 19679"/>
              <a:gd name="T6" fmla="*/ 161925 w 19679"/>
              <a:gd name="T7" fmla="*/ 161925 h 19679"/>
              <a:gd name="T8" fmla="*/ 0 60000 65536"/>
              <a:gd name="T9" fmla="*/ 5898240 60000 65536"/>
              <a:gd name="T10" fmla="*/ 11796480 60000 65536"/>
              <a:gd name="T11" fmla="*/ 17694720 60000 65536"/>
            </a:gdLst>
            <a:ahLst/>
            <a:cxnLst>
              <a:cxn ang="T8">
                <a:pos x="T0" y="T1"/>
              </a:cxn>
              <a:cxn ang="T9">
                <a:pos x="T2" y="T3"/>
              </a:cxn>
              <a:cxn ang="T10">
                <a:pos x="T4" y="T5"/>
              </a:cxn>
              <a:cxn ang="T11">
                <a:pos x="T6" y="T7"/>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043E68"/>
          </a:solidFill>
          <a:ln>
            <a:noFill/>
          </a:ln>
          <a:effectLst>
            <a:outerShdw blurRad="38100" dist="25400" dir="5400000" rotWithShape="0">
              <a:srgbClr val="000000">
                <a:alpha val="50000"/>
              </a:srgbClr>
            </a:outerShdw>
          </a:effectLst>
          <a:extLst>
            <a:ext uri="{91240B29-F687-4F45-9708-019B960494DF}">
              <a14:hiddenLine xmlns:a14="http://schemas.microsoft.com/office/drawing/2010/main" xmlns="" w="12700">
                <a:solidFill>
                  <a:srgbClr val="000000"/>
                </a:solidFill>
                <a:miter lim="400000"/>
                <a:headEnd/>
                <a:tailEnd/>
              </a14:hiddenLine>
            </a:ext>
          </a:extLst>
        </p:spPr>
        <p:txBody>
          <a:bodyPr lIns="0" tIns="0" rIns="0" bIns="0" anchor="ctr"/>
          <a:lstStyle/>
          <a:p>
            <a:pPr>
              <a:defRPr/>
            </a:pPr>
            <a:endParaRPr lang="en-US" sz="1547"/>
          </a:p>
        </p:txBody>
      </p:sp>
      <p:sp>
        <p:nvSpPr>
          <p:cNvPr id="299" name="Shape 299"/>
          <p:cNvSpPr>
            <a:spLocks/>
          </p:cNvSpPr>
          <p:nvPr/>
        </p:nvSpPr>
        <p:spPr bwMode="auto">
          <a:xfrm>
            <a:off x="1243013" y="3844925"/>
            <a:ext cx="3243262" cy="782638"/>
          </a:xfrm>
          <a:custGeom>
            <a:avLst/>
            <a:gdLst>
              <a:gd name="T0" fmla="*/ 2147483647 w 21600"/>
              <a:gd name="T1" fmla="*/ 2147483647 h 16765"/>
              <a:gd name="T2" fmla="*/ 2147483647 w 21600"/>
              <a:gd name="T3" fmla="*/ 2147483647 h 16765"/>
              <a:gd name="T4" fmla="*/ 2147483647 w 21600"/>
              <a:gd name="T5" fmla="*/ 2147483647 h 16765"/>
              <a:gd name="T6" fmla="*/ 2147483647 w 21600"/>
              <a:gd name="T7" fmla="*/ 2147483647 h 16765"/>
              <a:gd name="T8" fmla="*/ 0 60000 65536"/>
              <a:gd name="T9" fmla="*/ 5898240 60000 65536"/>
              <a:gd name="T10" fmla="*/ 11796480 60000 65536"/>
              <a:gd name="T11" fmla="*/ 17694720 60000 65536"/>
            </a:gdLst>
            <a:ahLst/>
            <a:cxnLst>
              <a:cxn ang="T8">
                <a:pos x="T0" y="T1"/>
              </a:cxn>
              <a:cxn ang="T9">
                <a:pos x="T2" y="T3"/>
              </a:cxn>
              <a:cxn ang="T10">
                <a:pos x="T4" y="T5"/>
              </a:cxn>
              <a:cxn ang="T11">
                <a:pos x="T6" y="T7"/>
              </a:cxn>
            </a:cxnLst>
            <a:rect l="0" t="0" r="r" b="b"/>
            <a:pathLst>
              <a:path w="21600" h="16765" extrusionOk="0">
                <a:moveTo>
                  <a:pt x="0" y="0"/>
                </a:moveTo>
                <a:cubicBezTo>
                  <a:pt x="7197" y="18250"/>
                  <a:pt x="14397" y="21600"/>
                  <a:pt x="21600" y="10050"/>
                </a:cubicBezTo>
              </a:path>
            </a:pathLst>
          </a:custGeom>
          <a:noFill/>
          <a:ln w="76200" cap="rnd">
            <a:solidFill>
              <a:srgbClr val="043E68">
                <a:alpha val="50195"/>
              </a:srgbClr>
            </a:solidFill>
            <a:miter lim="400000"/>
            <a:headEnd/>
            <a:tailEnd/>
          </a:ln>
          <a:extLst>
            <a:ext uri="{909E8E84-426E-40DD-AFC4-6F175D3DCCD1}">
              <a14:hiddenFill xmlns:a14="http://schemas.microsoft.com/office/drawing/2010/main" xmlns="">
                <a:solidFill>
                  <a:srgbClr val="FFFFFF"/>
                </a:solidFill>
              </a14:hiddenFill>
            </a:ext>
          </a:extLst>
        </p:spPr>
        <p:txBody>
          <a:bodyPr/>
          <a:lstStyle/>
          <a:p>
            <a:pPr>
              <a:defRPr/>
            </a:pPr>
            <a:endParaRPr lang="en-US" sz="1547"/>
          </a:p>
        </p:txBody>
      </p:sp>
      <p:sp>
        <p:nvSpPr>
          <p:cNvPr id="300" name="Shape 300"/>
          <p:cNvSpPr>
            <a:spLocks/>
          </p:cNvSpPr>
          <p:nvPr/>
        </p:nvSpPr>
        <p:spPr bwMode="auto">
          <a:xfrm>
            <a:off x="1243013" y="3900488"/>
            <a:ext cx="3336925" cy="1062037"/>
          </a:xfrm>
          <a:custGeom>
            <a:avLst/>
            <a:gdLst>
              <a:gd name="T0" fmla="*/ 2147483647 w 21600"/>
              <a:gd name="T1" fmla="*/ 2147483647 h 16479"/>
              <a:gd name="T2" fmla="*/ 2147483647 w 21600"/>
              <a:gd name="T3" fmla="*/ 2147483647 h 16479"/>
              <a:gd name="T4" fmla="*/ 2147483647 w 21600"/>
              <a:gd name="T5" fmla="*/ 2147483647 h 16479"/>
              <a:gd name="T6" fmla="*/ 2147483647 w 21600"/>
              <a:gd name="T7" fmla="*/ 2147483647 h 16479"/>
              <a:gd name="T8" fmla="*/ 0 60000 65536"/>
              <a:gd name="T9" fmla="*/ 5898240 60000 65536"/>
              <a:gd name="T10" fmla="*/ 11796480 60000 65536"/>
              <a:gd name="T11" fmla="*/ 17694720 60000 65536"/>
            </a:gdLst>
            <a:ahLst/>
            <a:cxnLst>
              <a:cxn ang="T8">
                <a:pos x="T0" y="T1"/>
              </a:cxn>
              <a:cxn ang="T9">
                <a:pos x="T2" y="T3"/>
              </a:cxn>
              <a:cxn ang="T10">
                <a:pos x="T4" y="T5"/>
              </a:cxn>
              <a:cxn ang="T11">
                <a:pos x="T6" y="T7"/>
              </a:cxn>
            </a:cxnLst>
            <a:rect l="0" t="0" r="r" b="b"/>
            <a:pathLst>
              <a:path w="21600" h="16479" extrusionOk="0">
                <a:moveTo>
                  <a:pt x="0" y="0"/>
                </a:moveTo>
                <a:cubicBezTo>
                  <a:pt x="6446" y="19112"/>
                  <a:pt x="13646" y="21600"/>
                  <a:pt x="21600" y="7464"/>
                </a:cubicBezTo>
              </a:path>
            </a:pathLst>
          </a:custGeom>
          <a:noFill/>
          <a:ln w="76200" cap="rnd">
            <a:solidFill>
              <a:srgbClr val="043E68">
                <a:alpha val="50195"/>
              </a:srgbClr>
            </a:solidFill>
            <a:miter lim="400000"/>
            <a:headEnd/>
            <a:tailEnd/>
          </a:ln>
          <a:extLst>
            <a:ext uri="{909E8E84-426E-40DD-AFC4-6F175D3DCCD1}">
              <a14:hiddenFill xmlns:a14="http://schemas.microsoft.com/office/drawing/2010/main" xmlns="">
                <a:solidFill>
                  <a:srgbClr val="FFFFFF"/>
                </a:solidFill>
              </a14:hiddenFill>
            </a:ext>
          </a:extLst>
        </p:spPr>
        <p:txBody>
          <a:bodyPr/>
          <a:lstStyle/>
          <a:p>
            <a:pPr>
              <a:defRPr/>
            </a:pPr>
            <a:endParaRPr lang="en-US" sz="1547"/>
          </a:p>
        </p:txBody>
      </p:sp>
      <p:sp>
        <p:nvSpPr>
          <p:cNvPr id="301" name="Shape 301"/>
          <p:cNvSpPr>
            <a:spLocks/>
          </p:cNvSpPr>
          <p:nvPr/>
        </p:nvSpPr>
        <p:spPr bwMode="auto">
          <a:xfrm>
            <a:off x="3228975" y="3319463"/>
            <a:ext cx="1839913" cy="525462"/>
          </a:xfrm>
          <a:custGeom>
            <a:avLst/>
            <a:gdLst>
              <a:gd name="T0" fmla="*/ 2147483647 w 21600"/>
              <a:gd name="T1" fmla="*/ 2147483647 h 16375"/>
              <a:gd name="T2" fmla="*/ 2147483647 w 21600"/>
              <a:gd name="T3" fmla="*/ 2147483647 h 16375"/>
              <a:gd name="T4" fmla="*/ 2147483647 w 21600"/>
              <a:gd name="T5" fmla="*/ 2147483647 h 16375"/>
              <a:gd name="T6" fmla="*/ 2147483647 w 21600"/>
              <a:gd name="T7" fmla="*/ 2147483647 h 16375"/>
              <a:gd name="T8" fmla="*/ 0 60000 65536"/>
              <a:gd name="T9" fmla="*/ 5898240 60000 65536"/>
              <a:gd name="T10" fmla="*/ 11796480 60000 65536"/>
              <a:gd name="T11" fmla="*/ 17694720 60000 65536"/>
            </a:gdLst>
            <a:ahLst/>
            <a:cxnLst>
              <a:cxn ang="T8">
                <a:pos x="T0" y="T1"/>
              </a:cxn>
              <a:cxn ang="T9">
                <a:pos x="T2" y="T3"/>
              </a:cxn>
              <a:cxn ang="T10">
                <a:pos x="T4" y="T5"/>
              </a:cxn>
              <a:cxn ang="T11">
                <a:pos x="T6" y="T7"/>
              </a:cxn>
            </a:cxnLst>
            <a:rect l="0" t="0" r="r" b="b"/>
            <a:pathLst>
              <a:path w="21600" h="16375" extrusionOk="0">
                <a:moveTo>
                  <a:pt x="0" y="10305"/>
                </a:moveTo>
                <a:cubicBezTo>
                  <a:pt x="8058" y="-5225"/>
                  <a:pt x="15258" y="-3202"/>
                  <a:pt x="21600" y="16375"/>
                </a:cubicBezTo>
              </a:path>
            </a:pathLst>
          </a:custGeom>
          <a:noFill/>
          <a:ln w="76200" cap="rnd">
            <a:solidFill>
              <a:srgbClr val="043E68">
                <a:alpha val="50195"/>
              </a:srgbClr>
            </a:solidFill>
            <a:miter lim="400000"/>
            <a:headEnd/>
            <a:tailEnd/>
          </a:ln>
          <a:extLst>
            <a:ext uri="{909E8E84-426E-40DD-AFC4-6F175D3DCCD1}">
              <a14:hiddenFill xmlns:a14="http://schemas.microsoft.com/office/drawing/2010/main" xmlns="">
                <a:solidFill>
                  <a:srgbClr val="FFFFFF"/>
                </a:solidFill>
              </a14:hiddenFill>
            </a:ext>
          </a:extLst>
        </p:spPr>
        <p:txBody>
          <a:bodyPr/>
          <a:lstStyle/>
          <a:p>
            <a:pPr>
              <a:defRPr/>
            </a:pPr>
            <a:endParaRPr lang="en-US" sz="1547"/>
          </a:p>
        </p:txBody>
      </p:sp>
      <p:sp>
        <p:nvSpPr>
          <p:cNvPr id="302" name="Shape 302"/>
          <p:cNvSpPr>
            <a:spLocks/>
          </p:cNvSpPr>
          <p:nvPr/>
        </p:nvSpPr>
        <p:spPr bwMode="auto">
          <a:xfrm>
            <a:off x="3235325" y="3514725"/>
            <a:ext cx="1819275" cy="354013"/>
          </a:xfrm>
          <a:custGeom>
            <a:avLst/>
            <a:gdLst>
              <a:gd name="T0" fmla="*/ 2147483647 w 21600"/>
              <a:gd name="T1" fmla="*/ 2147483647 h 16624"/>
              <a:gd name="T2" fmla="*/ 2147483647 w 21600"/>
              <a:gd name="T3" fmla="*/ 2147483647 h 16624"/>
              <a:gd name="T4" fmla="*/ 2147483647 w 21600"/>
              <a:gd name="T5" fmla="*/ 2147483647 h 16624"/>
              <a:gd name="T6" fmla="*/ 2147483647 w 21600"/>
              <a:gd name="T7" fmla="*/ 2147483647 h 16624"/>
              <a:gd name="T8" fmla="*/ 0 60000 65536"/>
              <a:gd name="T9" fmla="*/ 5898240 60000 65536"/>
              <a:gd name="T10" fmla="*/ 11796480 60000 65536"/>
              <a:gd name="T11" fmla="*/ 17694720 60000 65536"/>
            </a:gdLst>
            <a:ahLst/>
            <a:cxnLst>
              <a:cxn ang="T8">
                <a:pos x="T0" y="T1"/>
              </a:cxn>
              <a:cxn ang="T9">
                <a:pos x="T2" y="T3"/>
              </a:cxn>
              <a:cxn ang="T10">
                <a:pos x="T4" y="T5"/>
              </a:cxn>
              <a:cxn ang="T11">
                <a:pos x="T6" y="T7"/>
              </a:cxn>
            </a:cxnLst>
            <a:rect l="0" t="0" r="r" b="b"/>
            <a:pathLst>
              <a:path w="21600" h="16624" extrusionOk="0">
                <a:moveTo>
                  <a:pt x="0" y="7701"/>
                </a:moveTo>
                <a:cubicBezTo>
                  <a:pt x="6839" y="-4976"/>
                  <a:pt x="14039" y="-2002"/>
                  <a:pt x="21600" y="16624"/>
                </a:cubicBezTo>
              </a:path>
            </a:pathLst>
          </a:custGeom>
          <a:noFill/>
          <a:ln w="76200" cap="rnd">
            <a:solidFill>
              <a:srgbClr val="043E68">
                <a:alpha val="50195"/>
              </a:srgbClr>
            </a:solidFill>
            <a:miter lim="400000"/>
            <a:headEnd/>
            <a:tailEnd/>
          </a:ln>
          <a:extLst>
            <a:ext uri="{909E8E84-426E-40DD-AFC4-6F175D3DCCD1}">
              <a14:hiddenFill xmlns:a14="http://schemas.microsoft.com/office/drawing/2010/main" xmlns="">
                <a:solidFill>
                  <a:srgbClr val="FFFFFF"/>
                </a:solidFill>
              </a14:hiddenFill>
            </a:ext>
          </a:extLst>
        </p:spPr>
        <p:txBody>
          <a:bodyPr/>
          <a:lstStyle/>
          <a:p>
            <a:pPr>
              <a:defRPr/>
            </a:pPr>
            <a:endParaRPr lang="en-US" sz="1547"/>
          </a:p>
        </p:txBody>
      </p:sp>
      <p:pic>
        <p:nvPicPr>
          <p:cNvPr id="261" name="hexIcon_64.png"/>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908050" y="3535363"/>
            <a:ext cx="428625" cy="4286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400000"/>
                <a:headEnd/>
                <a:tailEnd/>
              </a14:hiddenLine>
            </a:ext>
          </a:extLst>
        </p:spPr>
      </p:pic>
      <p:pic>
        <p:nvPicPr>
          <p:cNvPr id="262" name="hexIcon_64.png"/>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2889250" y="3535363"/>
            <a:ext cx="428625" cy="4286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400000"/>
                <a:headEnd/>
                <a:tailEnd/>
              </a14:hiddenLine>
            </a:ext>
          </a:extLst>
        </p:spPr>
      </p:pic>
      <p:grpSp>
        <p:nvGrpSpPr>
          <p:cNvPr id="57360" name="Group 265"/>
          <p:cNvGrpSpPr>
            <a:grpSpLocks/>
          </p:cNvGrpSpPr>
          <p:nvPr/>
        </p:nvGrpSpPr>
        <p:grpSpPr bwMode="auto">
          <a:xfrm>
            <a:off x="4397375" y="3446463"/>
            <a:ext cx="1550988" cy="938212"/>
            <a:chOff x="-61961" y="0"/>
            <a:chExt cx="2205789" cy="1336181"/>
          </a:xfrm>
        </p:grpSpPr>
        <p:sp>
          <p:nvSpPr>
            <p:cNvPr id="34865" name="Shape 263"/>
            <p:cNvSpPr>
              <a:spLocks noChangeArrowheads="1"/>
            </p:cNvSpPr>
            <p:nvPr/>
          </p:nvSpPr>
          <p:spPr bwMode="auto">
            <a:xfrm>
              <a:off x="-61961" y="879483"/>
              <a:ext cx="2205789" cy="45669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400000"/>
                  <a:headEnd/>
                  <a:tailEnd/>
                </a14:hiddenLine>
              </a:ext>
            </a:extLst>
          </p:spPr>
          <p:txBody>
            <a:bodyPr lIns="35719" tIns="35719" rIns="35719" bIns="35719" anchor="ctr">
              <a:spAutoFit/>
            </a:bodyPr>
            <a:lstStyle>
              <a:lvl1pPr eaLnBrk="0" hangingPunct="0">
                <a:defRPr sz="3600">
                  <a:solidFill>
                    <a:schemeClr val="tx1"/>
                  </a:solidFill>
                  <a:latin typeface="Helvetica Light" charset="0"/>
                  <a:ea typeface="MS PGothic" panose="020B0600070205080204" pitchFamily="34" charset="-128"/>
                  <a:sym typeface="Helvetica Light" charset="0"/>
                </a:defRPr>
              </a:lvl1pPr>
              <a:lvl2pPr marL="742950" indent="-285750" eaLnBrk="0" hangingPunct="0">
                <a:defRPr sz="3600">
                  <a:solidFill>
                    <a:schemeClr val="tx1"/>
                  </a:solidFill>
                  <a:latin typeface="Helvetica Light" charset="0"/>
                  <a:ea typeface="MS PGothic" panose="020B0600070205080204" pitchFamily="34" charset="-128"/>
                  <a:sym typeface="Helvetica Light" charset="0"/>
                </a:defRPr>
              </a:lvl2pPr>
              <a:lvl3pPr marL="1143000" indent="-228600" eaLnBrk="0" hangingPunct="0">
                <a:defRPr sz="3600">
                  <a:solidFill>
                    <a:schemeClr val="tx1"/>
                  </a:solidFill>
                  <a:latin typeface="Helvetica Light" charset="0"/>
                  <a:ea typeface="MS PGothic" panose="020B0600070205080204" pitchFamily="34" charset="-128"/>
                  <a:sym typeface="Helvetica Light" charset="0"/>
                </a:defRPr>
              </a:lvl3pPr>
              <a:lvl4pPr marL="1600200" indent="-228600" eaLnBrk="0" hangingPunct="0">
                <a:defRPr sz="3600">
                  <a:solidFill>
                    <a:schemeClr val="tx1"/>
                  </a:solidFill>
                  <a:latin typeface="Helvetica Light" charset="0"/>
                  <a:ea typeface="MS PGothic" panose="020B0600070205080204" pitchFamily="34" charset="-128"/>
                  <a:sym typeface="Helvetica Light" charset="0"/>
                </a:defRPr>
              </a:lvl4pPr>
              <a:lvl5pPr marL="2057400" indent="-228600" eaLnBrk="0" hangingPunct="0">
                <a:defRPr sz="3600">
                  <a:solidFill>
                    <a:schemeClr val="tx1"/>
                  </a:solidFill>
                  <a:latin typeface="Helvetica Light" charset="0"/>
                  <a:ea typeface="MS PGothic" panose="020B0600070205080204" pitchFamily="34" charset="-128"/>
                  <a:sym typeface="Helvetica Light" charset="0"/>
                </a:defRPr>
              </a:lvl5pPr>
              <a:lvl6pPr marL="2514600" indent="-228600" defTabSz="584200" eaLnBrk="0" fontAlgn="base" hangingPunct="0">
                <a:spcBef>
                  <a:spcPct val="0"/>
                </a:spcBef>
                <a:spcAft>
                  <a:spcPct val="0"/>
                </a:spcAft>
                <a:defRPr sz="3600">
                  <a:solidFill>
                    <a:schemeClr val="tx1"/>
                  </a:solidFill>
                  <a:latin typeface="Helvetica Light" charset="0"/>
                  <a:ea typeface="MS PGothic" panose="020B0600070205080204" pitchFamily="34" charset="-128"/>
                  <a:sym typeface="Helvetica Light" charset="0"/>
                </a:defRPr>
              </a:lvl6pPr>
              <a:lvl7pPr marL="2971800" indent="-228600" defTabSz="584200" eaLnBrk="0" fontAlgn="base" hangingPunct="0">
                <a:spcBef>
                  <a:spcPct val="0"/>
                </a:spcBef>
                <a:spcAft>
                  <a:spcPct val="0"/>
                </a:spcAft>
                <a:defRPr sz="3600">
                  <a:solidFill>
                    <a:schemeClr val="tx1"/>
                  </a:solidFill>
                  <a:latin typeface="Helvetica Light" charset="0"/>
                  <a:ea typeface="MS PGothic" panose="020B0600070205080204" pitchFamily="34" charset="-128"/>
                  <a:sym typeface="Helvetica Light" charset="0"/>
                </a:defRPr>
              </a:lvl7pPr>
              <a:lvl8pPr marL="3429000" indent="-228600" defTabSz="584200" eaLnBrk="0" fontAlgn="base" hangingPunct="0">
                <a:spcBef>
                  <a:spcPct val="0"/>
                </a:spcBef>
                <a:spcAft>
                  <a:spcPct val="0"/>
                </a:spcAft>
                <a:defRPr sz="3600">
                  <a:solidFill>
                    <a:schemeClr val="tx1"/>
                  </a:solidFill>
                  <a:latin typeface="Helvetica Light" charset="0"/>
                  <a:ea typeface="MS PGothic" panose="020B0600070205080204" pitchFamily="34" charset="-128"/>
                  <a:sym typeface="Helvetica Light" charset="0"/>
                </a:defRPr>
              </a:lvl8pPr>
              <a:lvl9pPr marL="3886200" indent="-228600" defTabSz="584200" eaLnBrk="0" fontAlgn="base" hangingPunct="0">
                <a:spcBef>
                  <a:spcPct val="0"/>
                </a:spcBef>
                <a:spcAft>
                  <a:spcPct val="0"/>
                </a:spcAft>
                <a:defRPr sz="3600">
                  <a:solidFill>
                    <a:schemeClr val="tx1"/>
                  </a:solidFill>
                  <a:latin typeface="Helvetica Light" charset="0"/>
                  <a:ea typeface="MS PGothic" panose="020B0600070205080204" pitchFamily="34" charset="-128"/>
                  <a:sym typeface="Helvetica Light" charset="0"/>
                </a:defRPr>
              </a:lvl9pPr>
            </a:lstStyle>
            <a:p>
              <a:pPr eaLnBrk="1" hangingPunct="1">
                <a:defRPr/>
              </a:pPr>
              <a:r>
                <a:rPr lang="en-US" altLang="en-US" sz="1617" smtClean="0">
                  <a:solidFill>
                    <a:srgbClr val="405059"/>
                  </a:solidFill>
                  <a:latin typeface="Arial" panose="020B0604020202020204" pitchFamily="34" charset="0"/>
                  <a:sym typeface="Helvetica Neue Thin"/>
                </a:rPr>
                <a:t>IBM </a:t>
              </a:r>
              <a:r>
                <a:rPr lang="en-US" altLang="en-US" sz="1617" b="1" smtClean="0">
                  <a:solidFill>
                    <a:srgbClr val="405059"/>
                  </a:solidFill>
                  <a:latin typeface="Arial" panose="020B0604020202020204" pitchFamily="34" charset="0"/>
                  <a:sym typeface="Helvetica Neue Thin"/>
                </a:rPr>
                <a:t>Bluemix</a:t>
              </a:r>
            </a:p>
          </p:txBody>
        </p:sp>
        <p:pic>
          <p:nvPicPr>
            <p:cNvPr id="57395" name="image3.png" descr="Matt_Logo_400.png"/>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541020" y="0"/>
              <a:ext cx="952910" cy="95290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400000"/>
                  <a:headEnd/>
                  <a:tailEnd/>
                </a14:hiddenLine>
              </a:ext>
            </a:extLst>
          </p:spPr>
        </p:pic>
      </p:grpSp>
      <p:grpSp>
        <p:nvGrpSpPr>
          <p:cNvPr id="268" name="Group 268"/>
          <p:cNvGrpSpPr>
            <a:grpSpLocks/>
          </p:cNvGrpSpPr>
          <p:nvPr/>
        </p:nvGrpSpPr>
        <p:grpSpPr bwMode="auto">
          <a:xfrm>
            <a:off x="6704013" y="3471863"/>
            <a:ext cx="779462" cy="692150"/>
            <a:chOff x="0" y="0"/>
            <a:chExt cx="1110294" cy="983404"/>
          </a:xfrm>
        </p:grpSpPr>
        <p:pic>
          <p:nvPicPr>
            <p:cNvPr id="57392" name="image84.png" descr="cloudant64"/>
            <p:cNvPicPr>
              <a:picLocks noChangeAspect="1" noChangeArrowheads="1"/>
            </p:cNvPicPr>
            <p:nvPr/>
          </p:nvPicPr>
          <p:blipFill>
            <a:blip r:embed="rId5" cstate="print">
              <a:extLst>
                <a:ext uri="{28A0092B-C50C-407E-A947-70E740481C1C}">
                  <a14:useLocalDpi xmlns:a14="http://schemas.microsoft.com/office/drawing/2010/main" xmlns="" val="0"/>
                </a:ext>
              </a:extLst>
            </a:blip>
            <a:srcRect/>
            <a:stretch>
              <a:fillRect/>
            </a:stretch>
          </p:blipFill>
          <p:spPr bwMode="auto">
            <a:xfrm>
              <a:off x="250294" y="187495"/>
              <a:ext cx="609707" cy="60841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400000"/>
                  <a:headEnd/>
                  <a:tailEnd/>
                </a14:hiddenLine>
              </a:ext>
            </a:extLst>
          </p:spPr>
        </p:pic>
        <p:pic>
          <p:nvPicPr>
            <p:cNvPr id="57393" name="hexagon.png"/>
            <p:cNvPicPr>
              <a:picLocks noChangeAspect="1" noChangeArrowheads="1"/>
            </p:cNvPicPr>
            <p:nvPr/>
          </p:nvPicPr>
          <p:blipFill>
            <a:blip r:embed="rId6" cstate="print">
              <a:extLst>
                <a:ext uri="{28A0092B-C50C-407E-A947-70E740481C1C}">
                  <a14:useLocalDpi xmlns:a14="http://schemas.microsoft.com/office/drawing/2010/main" xmlns="" val="0"/>
                </a:ext>
              </a:extLst>
            </a:blip>
            <a:srcRect/>
            <a:stretch>
              <a:fillRect/>
            </a:stretch>
          </p:blipFill>
          <p:spPr bwMode="auto">
            <a:xfrm>
              <a:off x="0" y="0"/>
              <a:ext cx="1110295" cy="9834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5400">
                  <a:solidFill>
                    <a:srgbClr val="000000"/>
                  </a:solidFill>
                  <a:miter lim="400000"/>
                  <a:headEnd/>
                  <a:tailEnd/>
                </a14:hiddenLine>
              </a:ext>
            </a:extLst>
          </p:spPr>
        </p:pic>
      </p:grpSp>
      <p:grpSp>
        <p:nvGrpSpPr>
          <p:cNvPr id="271" name="Group 271"/>
          <p:cNvGrpSpPr>
            <a:grpSpLocks/>
          </p:cNvGrpSpPr>
          <p:nvPr/>
        </p:nvGrpSpPr>
        <p:grpSpPr bwMode="auto">
          <a:xfrm>
            <a:off x="7939088" y="4168775"/>
            <a:ext cx="781050" cy="690563"/>
            <a:chOff x="0" y="0"/>
            <a:chExt cx="1110294" cy="983404"/>
          </a:xfrm>
        </p:grpSpPr>
        <p:pic>
          <p:nvPicPr>
            <p:cNvPr id="57390" name="image73.png" descr="Data64"/>
            <p:cNvPicPr>
              <a:picLocks noChangeAspect="1" noChangeArrowheads="1"/>
            </p:cNvPicPr>
            <p:nvPr/>
          </p:nvPicPr>
          <p:blipFill>
            <a:blip r:embed="rId7" cstate="print">
              <a:extLst>
                <a:ext uri="{28A0092B-C50C-407E-A947-70E740481C1C}">
                  <a14:useLocalDpi xmlns:a14="http://schemas.microsoft.com/office/drawing/2010/main" xmlns="" val="0"/>
                </a:ext>
              </a:extLst>
            </a:blip>
            <a:srcRect/>
            <a:stretch>
              <a:fillRect/>
            </a:stretch>
          </p:blipFill>
          <p:spPr bwMode="auto">
            <a:xfrm>
              <a:off x="253760" y="205508"/>
              <a:ext cx="543019" cy="54322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400000"/>
                  <a:headEnd/>
                  <a:tailEnd/>
                </a14:hiddenLine>
              </a:ext>
            </a:extLst>
          </p:spPr>
        </p:pic>
        <p:pic>
          <p:nvPicPr>
            <p:cNvPr id="57391" name="hexagon.png"/>
            <p:cNvPicPr>
              <a:picLocks noChangeAspect="1" noChangeArrowheads="1"/>
            </p:cNvPicPr>
            <p:nvPr/>
          </p:nvPicPr>
          <p:blipFill>
            <a:blip r:embed="rId6" cstate="print">
              <a:extLst>
                <a:ext uri="{28A0092B-C50C-407E-A947-70E740481C1C}">
                  <a14:useLocalDpi xmlns:a14="http://schemas.microsoft.com/office/drawing/2010/main" xmlns="" val="0"/>
                </a:ext>
              </a:extLst>
            </a:blip>
            <a:srcRect/>
            <a:stretch>
              <a:fillRect/>
            </a:stretch>
          </p:blipFill>
          <p:spPr bwMode="auto">
            <a:xfrm>
              <a:off x="0" y="0"/>
              <a:ext cx="1110295" cy="9834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400000"/>
                  <a:headEnd/>
                  <a:tailEnd/>
                </a14:hiddenLine>
              </a:ext>
            </a:extLst>
          </p:spPr>
        </p:pic>
      </p:grpSp>
      <p:grpSp>
        <p:nvGrpSpPr>
          <p:cNvPr id="274" name="Group 274"/>
          <p:cNvGrpSpPr>
            <a:grpSpLocks/>
          </p:cNvGrpSpPr>
          <p:nvPr/>
        </p:nvGrpSpPr>
        <p:grpSpPr bwMode="auto">
          <a:xfrm>
            <a:off x="7308850" y="4510088"/>
            <a:ext cx="781050" cy="692150"/>
            <a:chOff x="0" y="0"/>
            <a:chExt cx="1110294" cy="983404"/>
          </a:xfrm>
        </p:grpSpPr>
        <p:pic>
          <p:nvPicPr>
            <p:cNvPr id="57388" name="image86.png" descr="watson64"/>
            <p:cNvPicPr>
              <a:picLocks noChangeAspect="1" noChangeArrowheads="1"/>
            </p:cNvPicPr>
            <p:nvPr/>
          </p:nvPicPr>
          <p:blipFill>
            <a:blip r:embed="rId8" cstate="print">
              <a:extLst>
                <a:ext uri="{28A0092B-C50C-407E-A947-70E740481C1C}">
                  <a14:useLocalDpi xmlns:a14="http://schemas.microsoft.com/office/drawing/2010/main" xmlns="" val="0"/>
                </a:ext>
              </a:extLst>
            </a:blip>
            <a:srcRect/>
            <a:stretch>
              <a:fillRect/>
            </a:stretch>
          </p:blipFill>
          <p:spPr bwMode="auto">
            <a:xfrm>
              <a:off x="242580" y="173734"/>
              <a:ext cx="609705" cy="60993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400000"/>
                  <a:headEnd/>
                  <a:tailEnd/>
                </a14:hiddenLine>
              </a:ext>
            </a:extLst>
          </p:spPr>
        </p:pic>
        <p:pic>
          <p:nvPicPr>
            <p:cNvPr id="57389" name="hexagon.png"/>
            <p:cNvPicPr>
              <a:picLocks noChangeAspect="1" noChangeArrowheads="1"/>
            </p:cNvPicPr>
            <p:nvPr/>
          </p:nvPicPr>
          <p:blipFill>
            <a:blip r:embed="rId6" cstate="print">
              <a:extLst>
                <a:ext uri="{28A0092B-C50C-407E-A947-70E740481C1C}">
                  <a14:useLocalDpi xmlns:a14="http://schemas.microsoft.com/office/drawing/2010/main" xmlns="" val="0"/>
                </a:ext>
              </a:extLst>
            </a:blip>
            <a:srcRect/>
            <a:stretch>
              <a:fillRect/>
            </a:stretch>
          </p:blipFill>
          <p:spPr bwMode="auto">
            <a:xfrm>
              <a:off x="0" y="0"/>
              <a:ext cx="1110295" cy="9834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400000"/>
                  <a:headEnd/>
                  <a:tailEnd/>
                </a14:hiddenLine>
              </a:ext>
            </a:extLst>
          </p:spPr>
        </p:pic>
      </p:grpSp>
      <p:grpSp>
        <p:nvGrpSpPr>
          <p:cNvPr id="277" name="Group 277"/>
          <p:cNvGrpSpPr>
            <a:grpSpLocks/>
          </p:cNvGrpSpPr>
          <p:nvPr/>
        </p:nvGrpSpPr>
        <p:grpSpPr bwMode="auto">
          <a:xfrm>
            <a:off x="6097588" y="3122613"/>
            <a:ext cx="781050" cy="690562"/>
            <a:chOff x="0" y="0"/>
            <a:chExt cx="1110294" cy="983404"/>
          </a:xfrm>
        </p:grpSpPr>
        <p:pic>
          <p:nvPicPr>
            <p:cNvPr id="57386" name="image65.png" descr="AppScan_64x64"/>
            <p:cNvPicPr>
              <a:picLocks noChangeAspect="1" noChangeArrowheads="1"/>
            </p:cNvPicPr>
            <p:nvPr/>
          </p:nvPicPr>
          <p:blipFill>
            <a:blip r:embed="rId9" cstate="print">
              <a:extLst>
                <a:ext uri="{28A0092B-C50C-407E-A947-70E740481C1C}">
                  <a14:useLocalDpi xmlns:a14="http://schemas.microsoft.com/office/drawing/2010/main" xmlns="" val="0"/>
                </a:ext>
              </a:extLst>
            </a:blip>
            <a:srcRect/>
            <a:stretch>
              <a:fillRect/>
            </a:stretch>
          </p:blipFill>
          <p:spPr bwMode="auto">
            <a:xfrm>
              <a:off x="238019" y="170753"/>
              <a:ext cx="609705" cy="60993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400000"/>
                  <a:headEnd/>
                  <a:tailEnd/>
                </a14:hiddenLine>
              </a:ext>
            </a:extLst>
          </p:spPr>
        </p:pic>
        <p:pic>
          <p:nvPicPr>
            <p:cNvPr id="57387" name="hexagon.png"/>
            <p:cNvPicPr>
              <a:picLocks noChangeAspect="1" noChangeArrowheads="1"/>
            </p:cNvPicPr>
            <p:nvPr/>
          </p:nvPicPr>
          <p:blipFill>
            <a:blip r:embed="rId6" cstate="print">
              <a:extLst>
                <a:ext uri="{28A0092B-C50C-407E-A947-70E740481C1C}">
                  <a14:useLocalDpi xmlns:a14="http://schemas.microsoft.com/office/drawing/2010/main" xmlns="" val="0"/>
                </a:ext>
              </a:extLst>
            </a:blip>
            <a:srcRect/>
            <a:stretch>
              <a:fillRect/>
            </a:stretch>
          </p:blipFill>
          <p:spPr bwMode="auto">
            <a:xfrm>
              <a:off x="0" y="0"/>
              <a:ext cx="1110295" cy="9834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400000"/>
                  <a:headEnd/>
                  <a:tailEnd/>
                </a14:hiddenLine>
              </a:ext>
            </a:extLst>
          </p:spPr>
        </p:pic>
      </p:grpSp>
      <p:grpSp>
        <p:nvGrpSpPr>
          <p:cNvPr id="280" name="Group 280"/>
          <p:cNvGrpSpPr>
            <a:grpSpLocks/>
          </p:cNvGrpSpPr>
          <p:nvPr/>
        </p:nvGrpSpPr>
        <p:grpSpPr bwMode="auto">
          <a:xfrm>
            <a:off x="5468938" y="3446463"/>
            <a:ext cx="781050" cy="690562"/>
            <a:chOff x="0" y="0"/>
            <a:chExt cx="1110294" cy="983404"/>
          </a:xfrm>
        </p:grpSpPr>
        <p:pic>
          <p:nvPicPr>
            <p:cNvPr id="57384" name="image71.png" descr="datacache64"/>
            <p:cNvPicPr>
              <a:picLocks noChangeAspect="1" noChangeArrowheads="1"/>
            </p:cNvPicPr>
            <p:nvPr/>
          </p:nvPicPr>
          <p:blipFill>
            <a:blip r:embed="rId10" cstate="print">
              <a:extLst>
                <a:ext uri="{28A0092B-C50C-407E-A947-70E740481C1C}">
                  <a14:useLocalDpi xmlns:a14="http://schemas.microsoft.com/office/drawing/2010/main" xmlns="" val="0"/>
                </a:ext>
              </a:extLst>
            </a:blip>
            <a:srcRect/>
            <a:stretch>
              <a:fillRect/>
            </a:stretch>
          </p:blipFill>
          <p:spPr bwMode="auto">
            <a:xfrm>
              <a:off x="276932" y="215619"/>
              <a:ext cx="531031" cy="53142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400000"/>
                  <a:headEnd/>
                  <a:tailEnd/>
                </a14:hiddenLine>
              </a:ext>
            </a:extLst>
          </p:spPr>
        </p:pic>
        <p:pic>
          <p:nvPicPr>
            <p:cNvPr id="57385" name="hexagon.png"/>
            <p:cNvPicPr>
              <a:picLocks noChangeAspect="1" noChangeArrowheads="1"/>
            </p:cNvPicPr>
            <p:nvPr/>
          </p:nvPicPr>
          <p:blipFill>
            <a:blip r:embed="rId6" cstate="print">
              <a:extLst>
                <a:ext uri="{28A0092B-C50C-407E-A947-70E740481C1C}">
                  <a14:useLocalDpi xmlns:a14="http://schemas.microsoft.com/office/drawing/2010/main" xmlns="" val="0"/>
                </a:ext>
              </a:extLst>
            </a:blip>
            <a:srcRect/>
            <a:stretch>
              <a:fillRect/>
            </a:stretch>
          </p:blipFill>
          <p:spPr bwMode="auto">
            <a:xfrm>
              <a:off x="0" y="0"/>
              <a:ext cx="1110295" cy="9834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400000"/>
                  <a:headEnd/>
                  <a:tailEnd/>
                </a14:hiddenLine>
              </a:ext>
            </a:extLst>
          </p:spPr>
        </p:pic>
      </p:grpSp>
      <p:grpSp>
        <p:nvGrpSpPr>
          <p:cNvPr id="283" name="Group 283"/>
          <p:cNvGrpSpPr>
            <a:grpSpLocks/>
          </p:cNvGrpSpPr>
          <p:nvPr/>
        </p:nvGrpSpPr>
        <p:grpSpPr bwMode="auto">
          <a:xfrm>
            <a:off x="7308850" y="3816350"/>
            <a:ext cx="781050" cy="690563"/>
            <a:chOff x="0" y="0"/>
            <a:chExt cx="1110294" cy="983404"/>
          </a:xfrm>
        </p:grpSpPr>
        <p:pic>
          <p:nvPicPr>
            <p:cNvPr id="57382" name="image87.png" descr="api_management64"/>
            <p:cNvPicPr>
              <a:picLocks noChangeAspect="1" noChangeArrowheads="1"/>
            </p:cNvPicPr>
            <p:nvPr/>
          </p:nvPicPr>
          <p:blipFill>
            <a:blip r:embed="rId11" cstate="print">
              <a:extLst>
                <a:ext uri="{28A0092B-C50C-407E-A947-70E740481C1C}">
                  <a14:useLocalDpi xmlns:a14="http://schemas.microsoft.com/office/drawing/2010/main" xmlns="" val="0"/>
                </a:ext>
              </a:extLst>
            </a:blip>
            <a:srcRect/>
            <a:stretch>
              <a:fillRect/>
            </a:stretch>
          </p:blipFill>
          <p:spPr bwMode="auto">
            <a:xfrm>
              <a:off x="262023" y="178724"/>
              <a:ext cx="608365" cy="60841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400000"/>
                  <a:headEnd/>
                  <a:tailEnd/>
                </a14:hiddenLine>
              </a:ext>
            </a:extLst>
          </p:spPr>
        </p:pic>
        <p:pic>
          <p:nvPicPr>
            <p:cNvPr id="57383" name="hexagon.png"/>
            <p:cNvPicPr>
              <a:picLocks noChangeAspect="1" noChangeArrowheads="1"/>
            </p:cNvPicPr>
            <p:nvPr/>
          </p:nvPicPr>
          <p:blipFill>
            <a:blip r:embed="rId6" cstate="print">
              <a:extLst>
                <a:ext uri="{28A0092B-C50C-407E-A947-70E740481C1C}">
                  <a14:useLocalDpi xmlns:a14="http://schemas.microsoft.com/office/drawing/2010/main" xmlns="" val="0"/>
                </a:ext>
              </a:extLst>
            </a:blip>
            <a:srcRect/>
            <a:stretch>
              <a:fillRect/>
            </a:stretch>
          </p:blipFill>
          <p:spPr bwMode="auto">
            <a:xfrm>
              <a:off x="0" y="0"/>
              <a:ext cx="1110295" cy="9834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400000"/>
                  <a:headEnd/>
                  <a:tailEnd/>
                </a14:hiddenLine>
              </a:ext>
            </a:extLst>
          </p:spPr>
        </p:pic>
      </p:grpSp>
      <p:grpSp>
        <p:nvGrpSpPr>
          <p:cNvPr id="286" name="Group 286"/>
          <p:cNvGrpSpPr>
            <a:grpSpLocks/>
          </p:cNvGrpSpPr>
          <p:nvPr/>
        </p:nvGrpSpPr>
        <p:grpSpPr bwMode="auto">
          <a:xfrm>
            <a:off x="6097588" y="4510088"/>
            <a:ext cx="781050" cy="692150"/>
            <a:chOff x="0" y="0"/>
            <a:chExt cx="1110294" cy="983404"/>
          </a:xfrm>
        </p:grpSpPr>
        <p:pic>
          <p:nvPicPr>
            <p:cNvPr id="57380" name="image74.png" descr="Push64"/>
            <p:cNvPicPr>
              <a:picLocks noChangeAspect="1" noChangeArrowheads="1"/>
            </p:cNvPicPr>
            <p:nvPr/>
          </p:nvPicPr>
          <p:blipFill>
            <a:blip r:embed="rId12" cstate="print">
              <a:extLst>
                <a:ext uri="{28A0092B-C50C-407E-A947-70E740481C1C}">
                  <a14:useLocalDpi xmlns:a14="http://schemas.microsoft.com/office/drawing/2010/main" xmlns="" val="0"/>
                </a:ext>
              </a:extLst>
            </a:blip>
            <a:srcRect/>
            <a:stretch>
              <a:fillRect/>
            </a:stretch>
          </p:blipFill>
          <p:spPr bwMode="auto">
            <a:xfrm>
              <a:off x="238739" y="171602"/>
              <a:ext cx="609705" cy="6084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400000"/>
                  <a:headEnd/>
                  <a:tailEnd/>
                </a14:hiddenLine>
              </a:ext>
            </a:extLst>
          </p:spPr>
        </p:pic>
        <p:pic>
          <p:nvPicPr>
            <p:cNvPr id="57381" name="hexagon.png"/>
            <p:cNvPicPr>
              <a:picLocks noChangeAspect="1" noChangeArrowheads="1"/>
            </p:cNvPicPr>
            <p:nvPr/>
          </p:nvPicPr>
          <p:blipFill>
            <a:blip r:embed="rId6" cstate="print">
              <a:extLst>
                <a:ext uri="{28A0092B-C50C-407E-A947-70E740481C1C}">
                  <a14:useLocalDpi xmlns:a14="http://schemas.microsoft.com/office/drawing/2010/main" xmlns="" val="0"/>
                </a:ext>
              </a:extLst>
            </a:blip>
            <a:srcRect/>
            <a:stretch>
              <a:fillRect/>
            </a:stretch>
          </p:blipFill>
          <p:spPr bwMode="auto">
            <a:xfrm>
              <a:off x="0" y="0"/>
              <a:ext cx="1110295" cy="9834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400000"/>
                  <a:headEnd/>
                  <a:tailEnd/>
                </a14:hiddenLine>
              </a:ext>
            </a:extLst>
          </p:spPr>
        </p:pic>
      </p:grpSp>
      <p:grpSp>
        <p:nvGrpSpPr>
          <p:cNvPr id="289" name="Group 289"/>
          <p:cNvGrpSpPr>
            <a:grpSpLocks/>
          </p:cNvGrpSpPr>
          <p:nvPr/>
        </p:nvGrpSpPr>
        <p:grpSpPr bwMode="auto">
          <a:xfrm>
            <a:off x="6097588" y="3817938"/>
            <a:ext cx="781050" cy="692150"/>
            <a:chOff x="0" y="0"/>
            <a:chExt cx="1110294" cy="983404"/>
          </a:xfrm>
        </p:grpSpPr>
        <p:pic>
          <p:nvPicPr>
            <p:cNvPr id="57378" name="image75.png" descr="mqa_64"/>
            <p:cNvPicPr>
              <a:picLocks noChangeAspect="1" noChangeArrowheads="1"/>
            </p:cNvPicPr>
            <p:nvPr/>
          </p:nvPicPr>
          <p:blipFill>
            <a:blip r:embed="rId13" cstate="print">
              <a:extLst>
                <a:ext uri="{28A0092B-C50C-407E-A947-70E740481C1C}">
                  <a14:useLocalDpi xmlns:a14="http://schemas.microsoft.com/office/drawing/2010/main" xmlns="" val="0"/>
                </a:ext>
              </a:extLst>
            </a:blip>
            <a:srcRect/>
            <a:stretch>
              <a:fillRect/>
            </a:stretch>
          </p:blipFill>
          <p:spPr bwMode="auto">
            <a:xfrm>
              <a:off x="251378" y="212983"/>
              <a:ext cx="609705" cy="60993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400000"/>
                  <a:headEnd/>
                  <a:tailEnd/>
                </a14:hiddenLine>
              </a:ext>
            </a:extLst>
          </p:spPr>
        </p:pic>
        <p:pic>
          <p:nvPicPr>
            <p:cNvPr id="57379" name="hexagon.png"/>
            <p:cNvPicPr>
              <a:picLocks noChangeAspect="1" noChangeArrowheads="1"/>
            </p:cNvPicPr>
            <p:nvPr/>
          </p:nvPicPr>
          <p:blipFill>
            <a:blip r:embed="rId6" cstate="print">
              <a:extLst>
                <a:ext uri="{28A0092B-C50C-407E-A947-70E740481C1C}">
                  <a14:useLocalDpi xmlns:a14="http://schemas.microsoft.com/office/drawing/2010/main" xmlns="" val="0"/>
                </a:ext>
              </a:extLst>
            </a:blip>
            <a:srcRect/>
            <a:stretch>
              <a:fillRect/>
            </a:stretch>
          </p:blipFill>
          <p:spPr bwMode="auto">
            <a:xfrm>
              <a:off x="0" y="0"/>
              <a:ext cx="1110295" cy="9834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400000"/>
                  <a:headEnd/>
                  <a:tailEnd/>
                </a14:hiddenLine>
              </a:ext>
            </a:extLst>
          </p:spPr>
        </p:pic>
      </p:grpSp>
      <p:grpSp>
        <p:nvGrpSpPr>
          <p:cNvPr id="292" name="Group 292"/>
          <p:cNvGrpSpPr>
            <a:grpSpLocks/>
          </p:cNvGrpSpPr>
          <p:nvPr/>
        </p:nvGrpSpPr>
        <p:grpSpPr bwMode="auto">
          <a:xfrm>
            <a:off x="6704013" y="4865688"/>
            <a:ext cx="779462" cy="690562"/>
            <a:chOff x="0" y="0"/>
            <a:chExt cx="1110294" cy="983404"/>
          </a:xfrm>
        </p:grpSpPr>
        <p:pic>
          <p:nvPicPr>
            <p:cNvPr id="57376" name="image76.png" descr="twilio64"/>
            <p:cNvPicPr>
              <a:picLocks noChangeAspect="1" noChangeArrowheads="1"/>
            </p:cNvPicPr>
            <p:nvPr/>
          </p:nvPicPr>
          <p:blipFill>
            <a:blip r:embed="rId14" cstate="print">
              <a:extLst>
                <a:ext uri="{28A0092B-C50C-407E-A947-70E740481C1C}">
                  <a14:useLocalDpi xmlns:a14="http://schemas.microsoft.com/office/drawing/2010/main" xmlns="" val="0"/>
                </a:ext>
              </a:extLst>
            </a:blip>
            <a:srcRect/>
            <a:stretch>
              <a:fillRect/>
            </a:stretch>
          </p:blipFill>
          <p:spPr bwMode="auto">
            <a:xfrm>
              <a:off x="239243" y="182460"/>
              <a:ext cx="608908" cy="60857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400000"/>
                  <a:headEnd/>
                  <a:tailEnd/>
                </a14:hiddenLine>
              </a:ext>
            </a:extLst>
          </p:spPr>
        </p:pic>
        <p:pic>
          <p:nvPicPr>
            <p:cNvPr id="57377" name="hexagongreen.png"/>
            <p:cNvPicPr>
              <a:picLocks noChangeAspect="1" noChangeArrowheads="1"/>
            </p:cNvPicPr>
            <p:nvPr/>
          </p:nvPicPr>
          <p:blipFill>
            <a:blip r:embed="rId15" cstate="print">
              <a:extLst>
                <a:ext uri="{28A0092B-C50C-407E-A947-70E740481C1C}">
                  <a14:useLocalDpi xmlns:a14="http://schemas.microsoft.com/office/drawing/2010/main" xmlns="" val="0"/>
                </a:ext>
              </a:extLst>
            </a:blip>
            <a:srcRect/>
            <a:stretch>
              <a:fillRect/>
            </a:stretch>
          </p:blipFill>
          <p:spPr bwMode="auto">
            <a:xfrm>
              <a:off x="0" y="0"/>
              <a:ext cx="1110295" cy="9834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400000"/>
                  <a:headEnd/>
                  <a:tailEnd/>
                </a14:hiddenLine>
              </a:ext>
            </a:extLst>
          </p:spPr>
        </p:pic>
      </p:grpSp>
      <p:grpSp>
        <p:nvGrpSpPr>
          <p:cNvPr id="295" name="Group 295"/>
          <p:cNvGrpSpPr>
            <a:grpSpLocks/>
          </p:cNvGrpSpPr>
          <p:nvPr/>
        </p:nvGrpSpPr>
        <p:grpSpPr bwMode="auto">
          <a:xfrm>
            <a:off x="6704013" y="4168775"/>
            <a:ext cx="779462" cy="692150"/>
            <a:chOff x="0" y="0"/>
            <a:chExt cx="1110294" cy="983404"/>
          </a:xfrm>
        </p:grpSpPr>
        <p:pic>
          <p:nvPicPr>
            <p:cNvPr id="57374" name="image93.png" descr="agile64"/>
            <p:cNvPicPr>
              <a:picLocks noChangeAspect="1" noChangeArrowheads="1"/>
            </p:cNvPicPr>
            <p:nvPr/>
          </p:nvPicPr>
          <p:blipFill>
            <a:blip r:embed="rId16" cstate="print">
              <a:extLst>
                <a:ext uri="{28A0092B-C50C-407E-A947-70E740481C1C}">
                  <a14:useLocalDpi xmlns:a14="http://schemas.microsoft.com/office/drawing/2010/main" xmlns="" val="0"/>
                </a:ext>
              </a:extLst>
            </a:blip>
            <a:srcRect/>
            <a:stretch>
              <a:fillRect/>
            </a:stretch>
          </p:blipFill>
          <p:spPr bwMode="auto">
            <a:xfrm>
              <a:off x="234580" y="178696"/>
              <a:ext cx="609705" cy="60993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400000"/>
                  <a:headEnd/>
                  <a:tailEnd/>
                </a14:hiddenLine>
              </a:ext>
            </a:extLst>
          </p:spPr>
        </p:pic>
        <p:pic>
          <p:nvPicPr>
            <p:cNvPr id="57375" name="hexagon.png"/>
            <p:cNvPicPr>
              <a:picLocks noChangeAspect="1" noChangeArrowheads="1"/>
            </p:cNvPicPr>
            <p:nvPr/>
          </p:nvPicPr>
          <p:blipFill>
            <a:blip r:embed="rId6" cstate="print">
              <a:extLst>
                <a:ext uri="{28A0092B-C50C-407E-A947-70E740481C1C}">
                  <a14:useLocalDpi xmlns:a14="http://schemas.microsoft.com/office/drawing/2010/main" xmlns="" val="0"/>
                </a:ext>
              </a:extLst>
            </a:blip>
            <a:srcRect/>
            <a:stretch>
              <a:fillRect/>
            </a:stretch>
          </p:blipFill>
          <p:spPr bwMode="auto">
            <a:xfrm>
              <a:off x="0" y="0"/>
              <a:ext cx="1110295" cy="9834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400000"/>
                  <a:headEnd/>
                  <a:tailEnd/>
                </a14:hiddenLine>
              </a:ext>
            </a:extLst>
          </p:spPr>
        </p:pic>
      </p:grpSp>
      <p:grpSp>
        <p:nvGrpSpPr>
          <p:cNvPr id="298" name="Group 298"/>
          <p:cNvGrpSpPr>
            <a:grpSpLocks/>
          </p:cNvGrpSpPr>
          <p:nvPr/>
        </p:nvGrpSpPr>
        <p:grpSpPr bwMode="auto">
          <a:xfrm>
            <a:off x="7310438" y="3122613"/>
            <a:ext cx="777875" cy="688975"/>
            <a:chOff x="0" y="0"/>
            <a:chExt cx="1105016" cy="978728"/>
          </a:xfrm>
        </p:grpSpPr>
        <p:pic>
          <p:nvPicPr>
            <p:cNvPr id="57372" name="image78.png"/>
            <p:cNvPicPr>
              <a:picLocks noChangeAspect="1" noChangeArrowheads="1"/>
            </p:cNvPicPr>
            <p:nvPr/>
          </p:nvPicPr>
          <p:blipFill>
            <a:blip r:embed="rId17" cstate="print">
              <a:extLst>
                <a:ext uri="{28A0092B-C50C-407E-A947-70E740481C1C}">
                  <a14:useLocalDpi xmlns:a14="http://schemas.microsoft.com/office/drawing/2010/main" xmlns="" val="0"/>
                </a:ext>
              </a:extLst>
            </a:blip>
            <a:srcRect/>
            <a:stretch>
              <a:fillRect/>
            </a:stretch>
          </p:blipFill>
          <p:spPr bwMode="auto">
            <a:xfrm>
              <a:off x="219559" y="246398"/>
              <a:ext cx="609606" cy="49362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400000"/>
                  <a:headEnd/>
                  <a:tailEnd/>
                </a14:hiddenLine>
              </a:ext>
            </a:extLst>
          </p:spPr>
        </p:pic>
        <p:pic>
          <p:nvPicPr>
            <p:cNvPr id="57373" name="hexagongreen.png"/>
            <p:cNvPicPr>
              <a:picLocks noChangeAspect="1" noChangeArrowheads="1"/>
            </p:cNvPicPr>
            <p:nvPr/>
          </p:nvPicPr>
          <p:blipFill>
            <a:blip r:embed="rId15" cstate="print">
              <a:extLst>
                <a:ext uri="{28A0092B-C50C-407E-A947-70E740481C1C}">
                  <a14:useLocalDpi xmlns:a14="http://schemas.microsoft.com/office/drawing/2010/main" xmlns="" val="0"/>
                </a:ext>
              </a:extLst>
            </a:blip>
            <a:srcRect/>
            <a:stretch>
              <a:fillRect/>
            </a:stretch>
          </p:blipFill>
          <p:spPr bwMode="auto">
            <a:xfrm>
              <a:off x="0" y="0"/>
              <a:ext cx="1105017" cy="97872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400000"/>
                  <a:headEnd/>
                  <a:tailEnd/>
                </a14:hiddenLine>
              </a:ext>
            </a:extLst>
          </p:spPr>
        </p:pic>
      </p:grpSp>
    </p:spTree>
    <p:extLst>
      <p:ext uri="{BB962C8B-B14F-4D97-AF65-F5344CB8AC3E}">
        <p14:creationId xmlns:p14="http://schemas.microsoft.com/office/powerpoint/2010/main" xmlns="" val="1124318275"/>
      </p:ext>
    </p:extLst>
  </p:cSld>
  <p:clrMapOvr>
    <a:masterClrMapping/>
  </p:clrMapOvr>
  <p:transition/>
  <p:timing>
    <p:tnLst>
      <p:par>
        <p:cTn id="1" dur="indefinite" restart="never" fill="hold" nodeType="tmRoot">
          <p:childTnLst>
            <p:seq concurrent="1" prevAc="none" nextAc="seek">
              <p:cTn id="2" dur="indefinite" fill="hold" nodeType="mainSeq">
                <p:childTnLst>
                  <p:par>
                    <p:cTn id="3" fill="hold" nodeType="clickPar">
                      <p:stCondLst>
                        <p:cond delay="indefinite"/>
                        <p:cond evt="onBegin" delay="0">
                          <p:tn val="2"/>
                        </p:cond>
                      </p:stCondLst>
                      <p:childTnLst>
                        <p:par>
                          <p:cTn id="4" fill="hold" nodeType="withGroup">
                            <p:stCondLst>
                              <p:cond delay="0"/>
                            </p:stCondLst>
                            <p:childTnLst>
                              <p:par>
                                <p:cTn id="5" presetID="23" presetClass="entr" presetSubtype="16" fill="hold" grpId="0" nodeType="afterEffect">
                                  <p:stCondLst>
                                    <p:cond delay="0"/>
                                  </p:stCondLst>
                                  <p:iterate>
                                    <p:tmAbs val="0"/>
                                  </p:iterate>
                                  <p:childTnLst>
                                    <p:set>
                                      <p:cBhvr>
                                        <p:cTn id="6" fill="hold"/>
                                        <p:tgtEl>
                                          <p:spTgt spid="280"/>
                                        </p:tgtEl>
                                        <p:attrNameLst>
                                          <p:attrName>style.visibility</p:attrName>
                                        </p:attrNameLst>
                                      </p:cBhvr>
                                      <p:to>
                                        <p:strVal val="visible"/>
                                      </p:to>
                                    </p:set>
                                    <p:anim calcmode="lin" valueType="num">
                                      <p:cBhvr>
                                        <p:cTn id="7" dur="100" fill="hold"/>
                                        <p:tgtEl>
                                          <p:spTgt spid="280"/>
                                        </p:tgtEl>
                                        <p:attrNameLst>
                                          <p:attrName>ppt_w</p:attrName>
                                        </p:attrNameLst>
                                      </p:cBhvr>
                                      <p:tavLst>
                                        <p:tav tm="0">
                                          <p:val>
                                            <p:fltVal val="0"/>
                                          </p:val>
                                        </p:tav>
                                        <p:tav tm="100000">
                                          <p:val>
                                            <p:strVal val="#ppt_w"/>
                                          </p:val>
                                        </p:tav>
                                      </p:tavLst>
                                    </p:anim>
                                    <p:anim calcmode="lin" valueType="num">
                                      <p:cBhvr>
                                        <p:cTn id="8" dur="100" fill="hold"/>
                                        <p:tgtEl>
                                          <p:spTgt spid="280"/>
                                        </p:tgtEl>
                                        <p:attrNameLst>
                                          <p:attrName>ppt_h</p:attrName>
                                        </p:attrNameLst>
                                      </p:cBhvr>
                                      <p:tavLst>
                                        <p:tav tm="0">
                                          <p:val>
                                            <p:fltVal val="0"/>
                                          </p:val>
                                        </p:tav>
                                        <p:tav tm="100000">
                                          <p:val>
                                            <p:strVal val="#ppt_h"/>
                                          </p:val>
                                        </p:tav>
                                      </p:tavLst>
                                    </p:anim>
                                  </p:childTnLst>
                                </p:cTn>
                              </p:par>
                            </p:childTnLst>
                          </p:cTn>
                        </p:par>
                        <p:par>
                          <p:cTn id="9" fill="hold" nodeType="afterGroup">
                            <p:stCondLst>
                              <p:cond delay="100"/>
                            </p:stCondLst>
                            <p:childTnLst>
                              <p:par>
                                <p:cTn id="10" presetID="23" presetClass="entr" presetSubtype="16" fill="hold" grpId="0" nodeType="afterEffect">
                                  <p:stCondLst>
                                    <p:cond delay="0"/>
                                  </p:stCondLst>
                                  <p:iterate>
                                    <p:tmAbs val="0"/>
                                  </p:iterate>
                                  <p:childTnLst>
                                    <p:set>
                                      <p:cBhvr>
                                        <p:cTn id="11" fill="hold"/>
                                        <p:tgtEl>
                                          <p:spTgt spid="289"/>
                                        </p:tgtEl>
                                        <p:attrNameLst>
                                          <p:attrName>style.visibility</p:attrName>
                                        </p:attrNameLst>
                                      </p:cBhvr>
                                      <p:to>
                                        <p:strVal val="visible"/>
                                      </p:to>
                                    </p:set>
                                    <p:anim calcmode="lin" valueType="num">
                                      <p:cBhvr>
                                        <p:cTn id="12" dur="100" fill="hold"/>
                                        <p:tgtEl>
                                          <p:spTgt spid="289"/>
                                        </p:tgtEl>
                                        <p:attrNameLst>
                                          <p:attrName>ppt_w</p:attrName>
                                        </p:attrNameLst>
                                      </p:cBhvr>
                                      <p:tavLst>
                                        <p:tav tm="0">
                                          <p:val>
                                            <p:fltVal val="0"/>
                                          </p:val>
                                        </p:tav>
                                        <p:tav tm="100000">
                                          <p:val>
                                            <p:strVal val="#ppt_w"/>
                                          </p:val>
                                        </p:tav>
                                      </p:tavLst>
                                    </p:anim>
                                    <p:anim calcmode="lin" valueType="num">
                                      <p:cBhvr>
                                        <p:cTn id="13" dur="100" fill="hold"/>
                                        <p:tgtEl>
                                          <p:spTgt spid="289"/>
                                        </p:tgtEl>
                                        <p:attrNameLst>
                                          <p:attrName>ppt_h</p:attrName>
                                        </p:attrNameLst>
                                      </p:cBhvr>
                                      <p:tavLst>
                                        <p:tav tm="0">
                                          <p:val>
                                            <p:fltVal val="0"/>
                                          </p:val>
                                        </p:tav>
                                        <p:tav tm="100000">
                                          <p:val>
                                            <p:strVal val="#ppt_h"/>
                                          </p:val>
                                        </p:tav>
                                      </p:tavLst>
                                    </p:anim>
                                  </p:childTnLst>
                                </p:cTn>
                              </p:par>
                            </p:childTnLst>
                          </p:cTn>
                        </p:par>
                        <p:par>
                          <p:cTn id="14" fill="hold" nodeType="afterGroup">
                            <p:stCondLst>
                              <p:cond delay="200"/>
                            </p:stCondLst>
                            <p:childTnLst>
                              <p:par>
                                <p:cTn id="15" presetID="23" presetClass="entr" presetSubtype="16" fill="hold" grpId="0" nodeType="afterEffect">
                                  <p:stCondLst>
                                    <p:cond delay="0"/>
                                  </p:stCondLst>
                                  <p:iterate>
                                    <p:tmAbs val="0"/>
                                  </p:iterate>
                                  <p:childTnLst>
                                    <p:set>
                                      <p:cBhvr>
                                        <p:cTn id="16" fill="hold"/>
                                        <p:tgtEl>
                                          <p:spTgt spid="277"/>
                                        </p:tgtEl>
                                        <p:attrNameLst>
                                          <p:attrName>style.visibility</p:attrName>
                                        </p:attrNameLst>
                                      </p:cBhvr>
                                      <p:to>
                                        <p:strVal val="visible"/>
                                      </p:to>
                                    </p:set>
                                    <p:anim calcmode="lin" valueType="num">
                                      <p:cBhvr>
                                        <p:cTn id="17" dur="100" fill="hold"/>
                                        <p:tgtEl>
                                          <p:spTgt spid="277"/>
                                        </p:tgtEl>
                                        <p:attrNameLst>
                                          <p:attrName>ppt_w</p:attrName>
                                        </p:attrNameLst>
                                      </p:cBhvr>
                                      <p:tavLst>
                                        <p:tav tm="0">
                                          <p:val>
                                            <p:fltVal val="0"/>
                                          </p:val>
                                        </p:tav>
                                        <p:tav tm="100000">
                                          <p:val>
                                            <p:strVal val="#ppt_w"/>
                                          </p:val>
                                        </p:tav>
                                      </p:tavLst>
                                    </p:anim>
                                    <p:anim calcmode="lin" valueType="num">
                                      <p:cBhvr>
                                        <p:cTn id="18" dur="100" fill="hold"/>
                                        <p:tgtEl>
                                          <p:spTgt spid="277"/>
                                        </p:tgtEl>
                                        <p:attrNameLst>
                                          <p:attrName>ppt_h</p:attrName>
                                        </p:attrNameLst>
                                      </p:cBhvr>
                                      <p:tavLst>
                                        <p:tav tm="0">
                                          <p:val>
                                            <p:fltVal val="0"/>
                                          </p:val>
                                        </p:tav>
                                        <p:tav tm="100000">
                                          <p:val>
                                            <p:strVal val="#ppt_h"/>
                                          </p:val>
                                        </p:tav>
                                      </p:tavLst>
                                    </p:anim>
                                  </p:childTnLst>
                                </p:cTn>
                              </p:par>
                            </p:childTnLst>
                          </p:cTn>
                        </p:par>
                        <p:par>
                          <p:cTn id="19" fill="hold" nodeType="afterGroup">
                            <p:stCondLst>
                              <p:cond delay="300"/>
                            </p:stCondLst>
                            <p:childTnLst>
                              <p:par>
                                <p:cTn id="20" presetID="23" presetClass="entr" presetSubtype="16" fill="hold" grpId="0" nodeType="afterEffect">
                                  <p:stCondLst>
                                    <p:cond delay="0"/>
                                  </p:stCondLst>
                                  <p:iterate>
                                    <p:tmAbs val="0"/>
                                  </p:iterate>
                                  <p:childTnLst>
                                    <p:set>
                                      <p:cBhvr>
                                        <p:cTn id="21" fill="hold"/>
                                        <p:tgtEl>
                                          <p:spTgt spid="268"/>
                                        </p:tgtEl>
                                        <p:attrNameLst>
                                          <p:attrName>style.visibility</p:attrName>
                                        </p:attrNameLst>
                                      </p:cBhvr>
                                      <p:to>
                                        <p:strVal val="visible"/>
                                      </p:to>
                                    </p:set>
                                    <p:anim calcmode="lin" valueType="num">
                                      <p:cBhvr>
                                        <p:cTn id="22" dur="100" fill="hold"/>
                                        <p:tgtEl>
                                          <p:spTgt spid="268"/>
                                        </p:tgtEl>
                                        <p:attrNameLst>
                                          <p:attrName>ppt_w</p:attrName>
                                        </p:attrNameLst>
                                      </p:cBhvr>
                                      <p:tavLst>
                                        <p:tav tm="0">
                                          <p:val>
                                            <p:fltVal val="0"/>
                                          </p:val>
                                        </p:tav>
                                        <p:tav tm="100000">
                                          <p:val>
                                            <p:strVal val="#ppt_w"/>
                                          </p:val>
                                        </p:tav>
                                      </p:tavLst>
                                    </p:anim>
                                    <p:anim calcmode="lin" valueType="num">
                                      <p:cBhvr>
                                        <p:cTn id="23" dur="100" fill="hold"/>
                                        <p:tgtEl>
                                          <p:spTgt spid="268"/>
                                        </p:tgtEl>
                                        <p:attrNameLst>
                                          <p:attrName>ppt_h</p:attrName>
                                        </p:attrNameLst>
                                      </p:cBhvr>
                                      <p:tavLst>
                                        <p:tav tm="0">
                                          <p:val>
                                            <p:fltVal val="0"/>
                                          </p:val>
                                        </p:tav>
                                        <p:tav tm="100000">
                                          <p:val>
                                            <p:strVal val="#ppt_h"/>
                                          </p:val>
                                        </p:tav>
                                      </p:tavLst>
                                    </p:anim>
                                  </p:childTnLst>
                                </p:cTn>
                              </p:par>
                            </p:childTnLst>
                          </p:cTn>
                        </p:par>
                        <p:par>
                          <p:cTn id="24" fill="hold" nodeType="afterGroup">
                            <p:stCondLst>
                              <p:cond delay="400"/>
                            </p:stCondLst>
                            <p:childTnLst>
                              <p:par>
                                <p:cTn id="25" presetID="23" presetClass="entr" presetSubtype="16" fill="hold" grpId="0" nodeType="afterEffect">
                                  <p:stCondLst>
                                    <p:cond delay="0"/>
                                  </p:stCondLst>
                                  <p:iterate>
                                    <p:tmAbs val="0"/>
                                  </p:iterate>
                                  <p:childTnLst>
                                    <p:set>
                                      <p:cBhvr>
                                        <p:cTn id="26" fill="hold"/>
                                        <p:tgtEl>
                                          <p:spTgt spid="286"/>
                                        </p:tgtEl>
                                        <p:attrNameLst>
                                          <p:attrName>style.visibility</p:attrName>
                                        </p:attrNameLst>
                                      </p:cBhvr>
                                      <p:to>
                                        <p:strVal val="visible"/>
                                      </p:to>
                                    </p:set>
                                    <p:anim calcmode="lin" valueType="num">
                                      <p:cBhvr>
                                        <p:cTn id="27" dur="100" fill="hold"/>
                                        <p:tgtEl>
                                          <p:spTgt spid="286"/>
                                        </p:tgtEl>
                                        <p:attrNameLst>
                                          <p:attrName>ppt_w</p:attrName>
                                        </p:attrNameLst>
                                      </p:cBhvr>
                                      <p:tavLst>
                                        <p:tav tm="0">
                                          <p:val>
                                            <p:fltVal val="0"/>
                                          </p:val>
                                        </p:tav>
                                        <p:tav tm="100000">
                                          <p:val>
                                            <p:strVal val="#ppt_w"/>
                                          </p:val>
                                        </p:tav>
                                      </p:tavLst>
                                    </p:anim>
                                    <p:anim calcmode="lin" valueType="num">
                                      <p:cBhvr>
                                        <p:cTn id="28" dur="100" fill="hold"/>
                                        <p:tgtEl>
                                          <p:spTgt spid="286"/>
                                        </p:tgtEl>
                                        <p:attrNameLst>
                                          <p:attrName>ppt_h</p:attrName>
                                        </p:attrNameLst>
                                      </p:cBhvr>
                                      <p:tavLst>
                                        <p:tav tm="0">
                                          <p:val>
                                            <p:fltVal val="0"/>
                                          </p:val>
                                        </p:tav>
                                        <p:tav tm="100000">
                                          <p:val>
                                            <p:strVal val="#ppt_h"/>
                                          </p:val>
                                        </p:tav>
                                      </p:tavLst>
                                    </p:anim>
                                  </p:childTnLst>
                                </p:cTn>
                              </p:par>
                            </p:childTnLst>
                          </p:cTn>
                        </p:par>
                        <p:par>
                          <p:cTn id="29" fill="hold" nodeType="afterGroup">
                            <p:stCondLst>
                              <p:cond delay="500"/>
                            </p:stCondLst>
                            <p:childTnLst>
                              <p:par>
                                <p:cTn id="30" presetID="23" presetClass="entr" presetSubtype="16" fill="hold" grpId="0" nodeType="afterEffect">
                                  <p:stCondLst>
                                    <p:cond delay="0"/>
                                  </p:stCondLst>
                                  <p:iterate>
                                    <p:tmAbs val="0"/>
                                  </p:iterate>
                                  <p:childTnLst>
                                    <p:set>
                                      <p:cBhvr>
                                        <p:cTn id="31" fill="hold"/>
                                        <p:tgtEl>
                                          <p:spTgt spid="295"/>
                                        </p:tgtEl>
                                        <p:attrNameLst>
                                          <p:attrName>style.visibility</p:attrName>
                                        </p:attrNameLst>
                                      </p:cBhvr>
                                      <p:to>
                                        <p:strVal val="visible"/>
                                      </p:to>
                                    </p:set>
                                    <p:anim calcmode="lin" valueType="num">
                                      <p:cBhvr>
                                        <p:cTn id="32" dur="100" fill="hold"/>
                                        <p:tgtEl>
                                          <p:spTgt spid="295"/>
                                        </p:tgtEl>
                                        <p:attrNameLst>
                                          <p:attrName>ppt_w</p:attrName>
                                        </p:attrNameLst>
                                      </p:cBhvr>
                                      <p:tavLst>
                                        <p:tav tm="0">
                                          <p:val>
                                            <p:fltVal val="0"/>
                                          </p:val>
                                        </p:tav>
                                        <p:tav tm="100000">
                                          <p:val>
                                            <p:strVal val="#ppt_w"/>
                                          </p:val>
                                        </p:tav>
                                      </p:tavLst>
                                    </p:anim>
                                    <p:anim calcmode="lin" valueType="num">
                                      <p:cBhvr>
                                        <p:cTn id="33" dur="100" fill="hold"/>
                                        <p:tgtEl>
                                          <p:spTgt spid="295"/>
                                        </p:tgtEl>
                                        <p:attrNameLst>
                                          <p:attrName>ppt_h</p:attrName>
                                        </p:attrNameLst>
                                      </p:cBhvr>
                                      <p:tavLst>
                                        <p:tav tm="0">
                                          <p:val>
                                            <p:fltVal val="0"/>
                                          </p:val>
                                        </p:tav>
                                        <p:tav tm="100000">
                                          <p:val>
                                            <p:strVal val="#ppt_h"/>
                                          </p:val>
                                        </p:tav>
                                      </p:tavLst>
                                    </p:anim>
                                  </p:childTnLst>
                                </p:cTn>
                              </p:par>
                            </p:childTnLst>
                          </p:cTn>
                        </p:par>
                        <p:par>
                          <p:cTn id="34" fill="hold" nodeType="afterGroup">
                            <p:stCondLst>
                              <p:cond delay="600"/>
                            </p:stCondLst>
                            <p:childTnLst>
                              <p:par>
                                <p:cTn id="35" presetID="23" presetClass="entr" presetSubtype="16" fill="hold" grpId="0" nodeType="afterEffect">
                                  <p:stCondLst>
                                    <p:cond delay="0"/>
                                  </p:stCondLst>
                                  <p:iterate>
                                    <p:tmAbs val="0"/>
                                  </p:iterate>
                                  <p:childTnLst>
                                    <p:set>
                                      <p:cBhvr>
                                        <p:cTn id="36" fill="hold"/>
                                        <p:tgtEl>
                                          <p:spTgt spid="283"/>
                                        </p:tgtEl>
                                        <p:attrNameLst>
                                          <p:attrName>style.visibility</p:attrName>
                                        </p:attrNameLst>
                                      </p:cBhvr>
                                      <p:to>
                                        <p:strVal val="visible"/>
                                      </p:to>
                                    </p:set>
                                    <p:anim calcmode="lin" valueType="num">
                                      <p:cBhvr>
                                        <p:cTn id="37" dur="100" fill="hold"/>
                                        <p:tgtEl>
                                          <p:spTgt spid="283"/>
                                        </p:tgtEl>
                                        <p:attrNameLst>
                                          <p:attrName>ppt_w</p:attrName>
                                        </p:attrNameLst>
                                      </p:cBhvr>
                                      <p:tavLst>
                                        <p:tav tm="0">
                                          <p:val>
                                            <p:fltVal val="0"/>
                                          </p:val>
                                        </p:tav>
                                        <p:tav tm="100000">
                                          <p:val>
                                            <p:strVal val="#ppt_w"/>
                                          </p:val>
                                        </p:tav>
                                      </p:tavLst>
                                    </p:anim>
                                    <p:anim calcmode="lin" valueType="num">
                                      <p:cBhvr>
                                        <p:cTn id="38" dur="100" fill="hold"/>
                                        <p:tgtEl>
                                          <p:spTgt spid="283"/>
                                        </p:tgtEl>
                                        <p:attrNameLst>
                                          <p:attrName>ppt_h</p:attrName>
                                        </p:attrNameLst>
                                      </p:cBhvr>
                                      <p:tavLst>
                                        <p:tav tm="0">
                                          <p:val>
                                            <p:fltVal val="0"/>
                                          </p:val>
                                        </p:tav>
                                        <p:tav tm="100000">
                                          <p:val>
                                            <p:strVal val="#ppt_h"/>
                                          </p:val>
                                        </p:tav>
                                      </p:tavLst>
                                    </p:anim>
                                  </p:childTnLst>
                                </p:cTn>
                              </p:par>
                            </p:childTnLst>
                          </p:cTn>
                        </p:par>
                        <p:par>
                          <p:cTn id="39" fill="hold" nodeType="afterGroup">
                            <p:stCondLst>
                              <p:cond delay="700"/>
                            </p:stCondLst>
                            <p:childTnLst>
                              <p:par>
                                <p:cTn id="40" presetID="23" presetClass="entr" presetSubtype="16" fill="hold" grpId="0" nodeType="afterEffect">
                                  <p:stCondLst>
                                    <p:cond delay="0"/>
                                  </p:stCondLst>
                                  <p:iterate>
                                    <p:tmAbs val="0"/>
                                  </p:iterate>
                                  <p:childTnLst>
                                    <p:set>
                                      <p:cBhvr>
                                        <p:cTn id="41" fill="hold"/>
                                        <p:tgtEl>
                                          <p:spTgt spid="292"/>
                                        </p:tgtEl>
                                        <p:attrNameLst>
                                          <p:attrName>style.visibility</p:attrName>
                                        </p:attrNameLst>
                                      </p:cBhvr>
                                      <p:to>
                                        <p:strVal val="visible"/>
                                      </p:to>
                                    </p:set>
                                    <p:anim calcmode="lin" valueType="num">
                                      <p:cBhvr>
                                        <p:cTn id="42" dur="100" fill="hold"/>
                                        <p:tgtEl>
                                          <p:spTgt spid="292"/>
                                        </p:tgtEl>
                                        <p:attrNameLst>
                                          <p:attrName>ppt_w</p:attrName>
                                        </p:attrNameLst>
                                      </p:cBhvr>
                                      <p:tavLst>
                                        <p:tav tm="0">
                                          <p:val>
                                            <p:fltVal val="0"/>
                                          </p:val>
                                        </p:tav>
                                        <p:tav tm="100000">
                                          <p:val>
                                            <p:strVal val="#ppt_w"/>
                                          </p:val>
                                        </p:tav>
                                      </p:tavLst>
                                    </p:anim>
                                    <p:anim calcmode="lin" valueType="num">
                                      <p:cBhvr>
                                        <p:cTn id="43" dur="100" fill="hold"/>
                                        <p:tgtEl>
                                          <p:spTgt spid="292"/>
                                        </p:tgtEl>
                                        <p:attrNameLst>
                                          <p:attrName>ppt_h</p:attrName>
                                        </p:attrNameLst>
                                      </p:cBhvr>
                                      <p:tavLst>
                                        <p:tav tm="0">
                                          <p:val>
                                            <p:fltVal val="0"/>
                                          </p:val>
                                        </p:tav>
                                        <p:tav tm="100000">
                                          <p:val>
                                            <p:strVal val="#ppt_h"/>
                                          </p:val>
                                        </p:tav>
                                      </p:tavLst>
                                    </p:anim>
                                  </p:childTnLst>
                                </p:cTn>
                              </p:par>
                            </p:childTnLst>
                          </p:cTn>
                        </p:par>
                        <p:par>
                          <p:cTn id="44" fill="hold" nodeType="afterGroup">
                            <p:stCondLst>
                              <p:cond delay="800"/>
                            </p:stCondLst>
                            <p:childTnLst>
                              <p:par>
                                <p:cTn id="45" presetID="23" presetClass="entr" presetSubtype="16" fill="hold" grpId="0" nodeType="afterEffect">
                                  <p:stCondLst>
                                    <p:cond delay="0"/>
                                  </p:stCondLst>
                                  <p:iterate>
                                    <p:tmAbs val="0"/>
                                  </p:iterate>
                                  <p:childTnLst>
                                    <p:set>
                                      <p:cBhvr>
                                        <p:cTn id="46" fill="hold"/>
                                        <p:tgtEl>
                                          <p:spTgt spid="274"/>
                                        </p:tgtEl>
                                        <p:attrNameLst>
                                          <p:attrName>style.visibility</p:attrName>
                                        </p:attrNameLst>
                                      </p:cBhvr>
                                      <p:to>
                                        <p:strVal val="visible"/>
                                      </p:to>
                                    </p:set>
                                    <p:anim calcmode="lin" valueType="num">
                                      <p:cBhvr>
                                        <p:cTn id="47" dur="100" fill="hold"/>
                                        <p:tgtEl>
                                          <p:spTgt spid="274"/>
                                        </p:tgtEl>
                                        <p:attrNameLst>
                                          <p:attrName>ppt_w</p:attrName>
                                        </p:attrNameLst>
                                      </p:cBhvr>
                                      <p:tavLst>
                                        <p:tav tm="0">
                                          <p:val>
                                            <p:fltVal val="0"/>
                                          </p:val>
                                        </p:tav>
                                        <p:tav tm="100000">
                                          <p:val>
                                            <p:strVal val="#ppt_w"/>
                                          </p:val>
                                        </p:tav>
                                      </p:tavLst>
                                    </p:anim>
                                    <p:anim calcmode="lin" valueType="num">
                                      <p:cBhvr>
                                        <p:cTn id="48" dur="100" fill="hold"/>
                                        <p:tgtEl>
                                          <p:spTgt spid="274"/>
                                        </p:tgtEl>
                                        <p:attrNameLst>
                                          <p:attrName>ppt_h</p:attrName>
                                        </p:attrNameLst>
                                      </p:cBhvr>
                                      <p:tavLst>
                                        <p:tav tm="0">
                                          <p:val>
                                            <p:fltVal val="0"/>
                                          </p:val>
                                        </p:tav>
                                        <p:tav tm="100000">
                                          <p:val>
                                            <p:strVal val="#ppt_h"/>
                                          </p:val>
                                        </p:tav>
                                      </p:tavLst>
                                    </p:anim>
                                  </p:childTnLst>
                                </p:cTn>
                              </p:par>
                            </p:childTnLst>
                          </p:cTn>
                        </p:par>
                        <p:par>
                          <p:cTn id="49" fill="hold" nodeType="afterGroup">
                            <p:stCondLst>
                              <p:cond delay="900"/>
                            </p:stCondLst>
                            <p:childTnLst>
                              <p:par>
                                <p:cTn id="50" presetID="23" presetClass="entr" presetSubtype="16" fill="hold" grpId="0" nodeType="afterEffect">
                                  <p:stCondLst>
                                    <p:cond delay="0"/>
                                  </p:stCondLst>
                                  <p:iterate>
                                    <p:tmAbs val="0"/>
                                  </p:iterate>
                                  <p:childTnLst>
                                    <p:set>
                                      <p:cBhvr>
                                        <p:cTn id="51" fill="hold"/>
                                        <p:tgtEl>
                                          <p:spTgt spid="298"/>
                                        </p:tgtEl>
                                        <p:attrNameLst>
                                          <p:attrName>style.visibility</p:attrName>
                                        </p:attrNameLst>
                                      </p:cBhvr>
                                      <p:to>
                                        <p:strVal val="visible"/>
                                      </p:to>
                                    </p:set>
                                    <p:anim calcmode="lin" valueType="num">
                                      <p:cBhvr>
                                        <p:cTn id="52" dur="100" fill="hold"/>
                                        <p:tgtEl>
                                          <p:spTgt spid="298"/>
                                        </p:tgtEl>
                                        <p:attrNameLst>
                                          <p:attrName>ppt_w</p:attrName>
                                        </p:attrNameLst>
                                      </p:cBhvr>
                                      <p:tavLst>
                                        <p:tav tm="0">
                                          <p:val>
                                            <p:fltVal val="0"/>
                                          </p:val>
                                        </p:tav>
                                        <p:tav tm="100000">
                                          <p:val>
                                            <p:strVal val="#ppt_w"/>
                                          </p:val>
                                        </p:tav>
                                      </p:tavLst>
                                    </p:anim>
                                    <p:anim calcmode="lin" valueType="num">
                                      <p:cBhvr>
                                        <p:cTn id="53" dur="100" fill="hold"/>
                                        <p:tgtEl>
                                          <p:spTgt spid="298"/>
                                        </p:tgtEl>
                                        <p:attrNameLst>
                                          <p:attrName>ppt_h</p:attrName>
                                        </p:attrNameLst>
                                      </p:cBhvr>
                                      <p:tavLst>
                                        <p:tav tm="0">
                                          <p:val>
                                            <p:fltVal val="0"/>
                                          </p:val>
                                        </p:tav>
                                        <p:tav tm="100000">
                                          <p:val>
                                            <p:strVal val="#ppt_h"/>
                                          </p:val>
                                        </p:tav>
                                      </p:tavLst>
                                    </p:anim>
                                  </p:childTnLst>
                                </p:cTn>
                              </p:par>
                            </p:childTnLst>
                          </p:cTn>
                        </p:par>
                        <p:par>
                          <p:cTn id="54" fill="hold" nodeType="afterGroup">
                            <p:stCondLst>
                              <p:cond delay="1000"/>
                            </p:stCondLst>
                            <p:childTnLst>
                              <p:par>
                                <p:cTn id="55" presetID="23" presetClass="entr" presetSubtype="16" fill="hold" grpId="0" nodeType="afterEffect">
                                  <p:stCondLst>
                                    <p:cond delay="0"/>
                                  </p:stCondLst>
                                  <p:iterate>
                                    <p:tmAbs val="0"/>
                                  </p:iterate>
                                  <p:childTnLst>
                                    <p:set>
                                      <p:cBhvr>
                                        <p:cTn id="56" fill="hold"/>
                                        <p:tgtEl>
                                          <p:spTgt spid="271"/>
                                        </p:tgtEl>
                                        <p:attrNameLst>
                                          <p:attrName>style.visibility</p:attrName>
                                        </p:attrNameLst>
                                      </p:cBhvr>
                                      <p:to>
                                        <p:strVal val="visible"/>
                                      </p:to>
                                    </p:set>
                                    <p:anim calcmode="lin" valueType="num">
                                      <p:cBhvr>
                                        <p:cTn id="57" dur="100" fill="hold"/>
                                        <p:tgtEl>
                                          <p:spTgt spid="271"/>
                                        </p:tgtEl>
                                        <p:attrNameLst>
                                          <p:attrName>ppt_w</p:attrName>
                                        </p:attrNameLst>
                                      </p:cBhvr>
                                      <p:tavLst>
                                        <p:tav tm="0">
                                          <p:val>
                                            <p:fltVal val="0"/>
                                          </p:val>
                                        </p:tav>
                                        <p:tav tm="100000">
                                          <p:val>
                                            <p:strVal val="#ppt_w"/>
                                          </p:val>
                                        </p:tav>
                                      </p:tavLst>
                                    </p:anim>
                                    <p:anim calcmode="lin" valueType="num">
                                      <p:cBhvr>
                                        <p:cTn id="58" dur="100" fill="hold"/>
                                        <p:tgtEl>
                                          <p:spTgt spid="271"/>
                                        </p:tgtEl>
                                        <p:attrNameLst>
                                          <p:attrName>ppt_h</p:attrName>
                                        </p:attrNameLst>
                                      </p:cBhvr>
                                      <p:tavLst>
                                        <p:tav tm="0">
                                          <p:val>
                                            <p:fltVal val="0"/>
                                          </p:val>
                                        </p:tav>
                                        <p:tav tm="100000">
                                          <p:val>
                                            <p:strVal val="#ppt_h"/>
                                          </p:val>
                                        </p:tav>
                                      </p:tavLst>
                                    </p:anim>
                                  </p:childTnLst>
                                </p:cTn>
                              </p:par>
                            </p:childTnLst>
                          </p:cTn>
                        </p:par>
                        <p:par>
                          <p:cTn id="59" fill="hold" nodeType="afterGroup">
                            <p:stCondLst>
                              <p:cond delay="1100"/>
                            </p:stCondLst>
                            <p:childTnLst>
                              <p:par>
                                <p:cTn id="60" presetID="23" presetClass="entr" presetSubtype="16" fill="hold" grpId="0" nodeType="afterEffect">
                                  <p:stCondLst>
                                    <p:cond delay="100"/>
                                  </p:stCondLst>
                                  <p:iterate>
                                    <p:tmAbs val="0"/>
                                  </p:iterate>
                                  <p:childTnLst>
                                    <p:set>
                                      <p:cBhvr>
                                        <p:cTn id="61" fill="hold"/>
                                        <p:tgtEl>
                                          <p:spTgt spid="261"/>
                                        </p:tgtEl>
                                        <p:attrNameLst>
                                          <p:attrName>style.visibility</p:attrName>
                                        </p:attrNameLst>
                                      </p:cBhvr>
                                      <p:to>
                                        <p:strVal val="visible"/>
                                      </p:to>
                                    </p:set>
                                    <p:anim calcmode="lin" valueType="num">
                                      <p:cBhvr>
                                        <p:cTn id="62" dur="150" fill="hold"/>
                                        <p:tgtEl>
                                          <p:spTgt spid="261"/>
                                        </p:tgtEl>
                                        <p:attrNameLst>
                                          <p:attrName>ppt_w</p:attrName>
                                        </p:attrNameLst>
                                      </p:cBhvr>
                                      <p:tavLst>
                                        <p:tav tm="0">
                                          <p:val>
                                            <p:fltVal val="0"/>
                                          </p:val>
                                        </p:tav>
                                        <p:tav tm="100000">
                                          <p:val>
                                            <p:strVal val="#ppt_w"/>
                                          </p:val>
                                        </p:tav>
                                      </p:tavLst>
                                    </p:anim>
                                    <p:anim calcmode="lin" valueType="num">
                                      <p:cBhvr>
                                        <p:cTn id="63" dur="150" fill="hold"/>
                                        <p:tgtEl>
                                          <p:spTgt spid="261"/>
                                        </p:tgtEl>
                                        <p:attrNameLst>
                                          <p:attrName>ppt_h</p:attrName>
                                        </p:attrNameLst>
                                      </p:cBhvr>
                                      <p:tavLst>
                                        <p:tav tm="0">
                                          <p:val>
                                            <p:fltVal val="0"/>
                                          </p:val>
                                        </p:tav>
                                        <p:tav tm="100000">
                                          <p:val>
                                            <p:strVal val="#ppt_h"/>
                                          </p:val>
                                        </p:tav>
                                      </p:tavLst>
                                    </p:anim>
                                  </p:childTnLst>
                                </p:cTn>
                              </p:par>
                            </p:childTnLst>
                          </p:cTn>
                        </p:par>
                        <p:par>
                          <p:cTn id="64" fill="hold" nodeType="afterGroup">
                            <p:stCondLst>
                              <p:cond delay="1350"/>
                            </p:stCondLst>
                            <p:childTnLst>
                              <p:par>
                                <p:cTn id="65" presetID="22" presetClass="entr" presetSubtype="2" fill="hold" nodeType="afterEffect">
                                  <p:stCondLst>
                                    <p:cond delay="0"/>
                                  </p:stCondLst>
                                  <p:iterate>
                                    <p:tmAbs val="0"/>
                                  </p:iterate>
                                  <p:childTnLst>
                                    <p:set>
                                      <p:cBhvr>
                                        <p:cTn id="66" fill="hold"/>
                                        <p:tgtEl>
                                          <p:spTgt spid="299"/>
                                        </p:tgtEl>
                                        <p:attrNameLst>
                                          <p:attrName>style.visibility</p:attrName>
                                        </p:attrNameLst>
                                      </p:cBhvr>
                                      <p:to>
                                        <p:strVal val="visible"/>
                                      </p:to>
                                    </p:set>
                                    <p:animEffect transition="in" filter="wipe(right)">
                                      <p:cBhvr>
                                        <p:cTn id="67" dur="400"/>
                                        <p:tgtEl>
                                          <p:spTgt spid="299"/>
                                        </p:tgtEl>
                                      </p:cBhvr>
                                    </p:animEffect>
                                  </p:childTnLst>
                                </p:cTn>
                              </p:par>
                            </p:childTnLst>
                          </p:cTn>
                        </p:par>
                        <p:par>
                          <p:cTn id="68" fill="hold" nodeType="afterGroup">
                            <p:stCondLst>
                              <p:cond delay="1750"/>
                            </p:stCondLst>
                            <p:childTnLst>
                              <p:par>
                                <p:cTn id="69" presetID="22" presetClass="entr" presetSubtype="8" fill="hold" nodeType="afterEffect">
                                  <p:stCondLst>
                                    <p:cond delay="0"/>
                                  </p:stCondLst>
                                  <p:iterate>
                                    <p:tmAbs val="0"/>
                                  </p:iterate>
                                  <p:childTnLst>
                                    <p:set>
                                      <p:cBhvr>
                                        <p:cTn id="70" fill="hold"/>
                                        <p:tgtEl>
                                          <p:spTgt spid="300"/>
                                        </p:tgtEl>
                                        <p:attrNameLst>
                                          <p:attrName>style.visibility</p:attrName>
                                        </p:attrNameLst>
                                      </p:cBhvr>
                                      <p:to>
                                        <p:strVal val="visible"/>
                                      </p:to>
                                    </p:set>
                                    <p:animEffect transition="in" filter="wipe(left)">
                                      <p:cBhvr>
                                        <p:cTn id="71" dur="400"/>
                                        <p:tgtEl>
                                          <p:spTgt spid="300"/>
                                        </p:tgtEl>
                                      </p:cBhvr>
                                    </p:animEffect>
                                  </p:childTnLst>
                                </p:cTn>
                              </p:par>
                            </p:childTnLst>
                          </p:cTn>
                        </p:par>
                        <p:par>
                          <p:cTn id="72" fill="hold" nodeType="afterGroup">
                            <p:stCondLst>
                              <p:cond delay="2150"/>
                            </p:stCondLst>
                            <p:childTnLst>
                              <p:par>
                                <p:cTn id="73" presetID="23" presetClass="entr" presetSubtype="16" fill="hold" grpId="0" nodeType="afterEffect">
                                  <p:stCondLst>
                                    <p:cond delay="0"/>
                                  </p:stCondLst>
                                  <p:iterate>
                                    <p:tmAbs val="0"/>
                                  </p:iterate>
                                  <p:childTnLst>
                                    <p:set>
                                      <p:cBhvr>
                                        <p:cTn id="74" fill="hold"/>
                                        <p:tgtEl>
                                          <p:spTgt spid="262"/>
                                        </p:tgtEl>
                                        <p:attrNameLst>
                                          <p:attrName>style.visibility</p:attrName>
                                        </p:attrNameLst>
                                      </p:cBhvr>
                                      <p:to>
                                        <p:strVal val="visible"/>
                                      </p:to>
                                    </p:set>
                                    <p:anim calcmode="lin" valueType="num">
                                      <p:cBhvr>
                                        <p:cTn id="75" dur="150" fill="hold"/>
                                        <p:tgtEl>
                                          <p:spTgt spid="262"/>
                                        </p:tgtEl>
                                        <p:attrNameLst>
                                          <p:attrName>ppt_w</p:attrName>
                                        </p:attrNameLst>
                                      </p:cBhvr>
                                      <p:tavLst>
                                        <p:tav tm="0">
                                          <p:val>
                                            <p:fltVal val="0"/>
                                          </p:val>
                                        </p:tav>
                                        <p:tav tm="100000">
                                          <p:val>
                                            <p:strVal val="#ppt_w"/>
                                          </p:val>
                                        </p:tav>
                                      </p:tavLst>
                                    </p:anim>
                                    <p:anim calcmode="lin" valueType="num">
                                      <p:cBhvr>
                                        <p:cTn id="76" dur="150" fill="hold"/>
                                        <p:tgtEl>
                                          <p:spTgt spid="262"/>
                                        </p:tgtEl>
                                        <p:attrNameLst>
                                          <p:attrName>ppt_h</p:attrName>
                                        </p:attrNameLst>
                                      </p:cBhvr>
                                      <p:tavLst>
                                        <p:tav tm="0">
                                          <p:val>
                                            <p:fltVal val="0"/>
                                          </p:val>
                                        </p:tav>
                                        <p:tav tm="100000">
                                          <p:val>
                                            <p:strVal val="#ppt_h"/>
                                          </p:val>
                                        </p:tav>
                                      </p:tavLst>
                                    </p:anim>
                                  </p:childTnLst>
                                </p:cTn>
                              </p:par>
                            </p:childTnLst>
                          </p:cTn>
                        </p:par>
                        <p:par>
                          <p:cTn id="77" fill="hold" nodeType="afterGroup">
                            <p:stCondLst>
                              <p:cond delay="2300"/>
                            </p:stCondLst>
                            <p:childTnLst>
                              <p:par>
                                <p:cTn id="78" presetID="22" presetClass="entr" presetSubtype="2" fill="hold" nodeType="afterEffect">
                                  <p:stCondLst>
                                    <p:cond delay="0"/>
                                  </p:stCondLst>
                                  <p:iterate>
                                    <p:tmAbs val="0"/>
                                  </p:iterate>
                                  <p:childTnLst>
                                    <p:set>
                                      <p:cBhvr>
                                        <p:cTn id="79" fill="hold"/>
                                        <p:tgtEl>
                                          <p:spTgt spid="301"/>
                                        </p:tgtEl>
                                        <p:attrNameLst>
                                          <p:attrName>style.visibility</p:attrName>
                                        </p:attrNameLst>
                                      </p:cBhvr>
                                      <p:to>
                                        <p:strVal val="visible"/>
                                      </p:to>
                                    </p:set>
                                    <p:animEffect transition="in" filter="wipe(right)">
                                      <p:cBhvr>
                                        <p:cTn id="80" dur="400"/>
                                        <p:tgtEl>
                                          <p:spTgt spid="301"/>
                                        </p:tgtEl>
                                      </p:cBhvr>
                                    </p:animEffect>
                                  </p:childTnLst>
                                </p:cTn>
                              </p:par>
                            </p:childTnLst>
                          </p:cTn>
                        </p:par>
                        <p:par>
                          <p:cTn id="81" fill="hold" nodeType="afterGroup">
                            <p:stCondLst>
                              <p:cond delay="2700"/>
                            </p:stCondLst>
                            <p:childTnLst>
                              <p:par>
                                <p:cTn id="82" presetID="22" presetClass="entr" presetSubtype="8" fill="hold" nodeType="afterEffect">
                                  <p:stCondLst>
                                    <p:cond delay="0"/>
                                  </p:stCondLst>
                                  <p:iterate>
                                    <p:tmAbs val="0"/>
                                  </p:iterate>
                                  <p:childTnLst>
                                    <p:set>
                                      <p:cBhvr>
                                        <p:cTn id="83" fill="hold"/>
                                        <p:tgtEl>
                                          <p:spTgt spid="302"/>
                                        </p:tgtEl>
                                        <p:attrNameLst>
                                          <p:attrName>style.visibility</p:attrName>
                                        </p:attrNameLst>
                                      </p:cBhvr>
                                      <p:to>
                                        <p:strVal val="visible"/>
                                      </p:to>
                                    </p:set>
                                    <p:animEffect transition="in" filter="wipe(left)">
                                      <p:cBhvr>
                                        <p:cTn id="84" dur="400"/>
                                        <p:tgtEl>
                                          <p:spTgt spid="3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1" grpId="0" animBg="1" advAuto="0"/>
      <p:bldP spid="262" grpId="0" animBg="1" advAuto="0"/>
      <p:bldP spid="268" grpId="0" animBg="1" advAuto="0"/>
      <p:bldP spid="271" grpId="0" animBg="1" advAuto="0"/>
      <p:bldP spid="274" grpId="0" animBg="1" advAuto="0"/>
      <p:bldP spid="277" grpId="0" animBg="1" advAuto="0"/>
      <p:bldP spid="280" grpId="0" animBg="1" advAuto="0"/>
      <p:bldP spid="283" grpId="0" animBg="1" advAuto="0"/>
      <p:bldP spid="286" grpId="0" animBg="1" advAuto="0"/>
      <p:bldP spid="289" grpId="0" animBg="1" advAuto="0"/>
      <p:bldP spid="292" grpId="0" animBg="1" advAuto="0"/>
      <p:bldP spid="295" grpId="0" animBg="1" advAuto="0"/>
      <p:bldP spid="298" grpId="0" animBg="1" advAuto="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5588" y="587375"/>
            <a:ext cx="8545512" cy="555625"/>
          </a:xfrm>
        </p:spPr>
        <p:txBody>
          <a:bodyPr/>
          <a:lstStyle/>
          <a:p>
            <a:r>
              <a:rPr lang="en-US" sz="2400" dirty="0" smtClean="0">
                <a:solidFill>
                  <a:srgbClr val="0070C0"/>
                </a:solidFill>
              </a:rPr>
              <a:t>Bookmarks &amp; References</a:t>
            </a:r>
            <a:endParaRPr lang="en-US" sz="2400" dirty="0">
              <a:solidFill>
                <a:srgbClr val="0070C0"/>
              </a:solidFill>
            </a:endParaRPr>
          </a:p>
        </p:txBody>
      </p:sp>
      <p:sp>
        <p:nvSpPr>
          <p:cNvPr id="4" name="Rectangle 3"/>
          <p:cNvSpPr/>
          <p:nvPr/>
        </p:nvSpPr>
        <p:spPr>
          <a:xfrm>
            <a:off x="457200" y="948690"/>
            <a:ext cx="8458200" cy="5909310"/>
          </a:xfrm>
          <a:prstGeom prst="rect">
            <a:avLst/>
          </a:prstGeom>
        </p:spPr>
        <p:txBody>
          <a:bodyPr wrap="square">
            <a:spAutoFit/>
          </a:bodyPr>
          <a:lstStyle/>
          <a:p>
            <a:r>
              <a:rPr lang="en-US" u="sng" dirty="0">
                <a:hlinkClick r:id="rId3"/>
              </a:rPr>
              <a:t>http://www.ibm.com/cloud-computing/us/en</a:t>
            </a:r>
            <a:r>
              <a:rPr lang="en-US" u="sng" dirty="0" smtClean="0">
                <a:hlinkClick r:id="rId3"/>
              </a:rPr>
              <a:t>/</a:t>
            </a:r>
            <a:endParaRPr lang="en-US" u="sng" dirty="0" smtClean="0"/>
          </a:p>
          <a:p>
            <a:endParaRPr lang="en-US" dirty="0"/>
          </a:p>
          <a:p>
            <a:r>
              <a:rPr lang="en-US" u="sng" dirty="0">
                <a:hlinkClick r:id="rId4"/>
              </a:rPr>
              <a:t>http://</a:t>
            </a:r>
            <a:r>
              <a:rPr lang="en-US" u="sng" dirty="0" smtClean="0">
                <a:hlinkClick r:id="rId4"/>
              </a:rPr>
              <a:t>www.ibm.com/cloud-computing/us/en/iaas.html</a:t>
            </a:r>
            <a:endParaRPr lang="en-US" u="sng" dirty="0" smtClean="0"/>
          </a:p>
          <a:p>
            <a:endParaRPr lang="en-US" dirty="0"/>
          </a:p>
          <a:p>
            <a:r>
              <a:rPr lang="en-US" u="sng" dirty="0">
                <a:hlinkClick r:id="rId5"/>
              </a:rPr>
              <a:t>http://</a:t>
            </a:r>
            <a:r>
              <a:rPr lang="en-US" u="sng" dirty="0" smtClean="0">
                <a:hlinkClick r:id="rId5"/>
              </a:rPr>
              <a:t>www.ibm.com/cloud-computing/us/en/paas.html</a:t>
            </a:r>
            <a:endParaRPr lang="en-US" u="sng" dirty="0" smtClean="0"/>
          </a:p>
          <a:p>
            <a:endParaRPr lang="en-US" dirty="0"/>
          </a:p>
          <a:p>
            <a:r>
              <a:rPr lang="en-US" u="sng" dirty="0">
                <a:hlinkClick r:id="rId6"/>
              </a:rPr>
              <a:t>http://</a:t>
            </a:r>
            <a:r>
              <a:rPr lang="en-US" u="sng" dirty="0" smtClean="0">
                <a:hlinkClick r:id="rId6"/>
              </a:rPr>
              <a:t>www.ibm.com/cloud-computing/us/en/saas.html</a:t>
            </a:r>
            <a:endParaRPr lang="en-US" u="sng" dirty="0" smtClean="0"/>
          </a:p>
          <a:p>
            <a:endParaRPr lang="en-US" dirty="0"/>
          </a:p>
          <a:p>
            <a:r>
              <a:rPr lang="en-US" u="sng" dirty="0">
                <a:hlinkClick r:id="rId7"/>
              </a:rPr>
              <a:t>http://www.ibm.com/developerworks/cloud/library/cl-open-architecture</a:t>
            </a:r>
            <a:r>
              <a:rPr lang="en-US" u="sng" dirty="0" smtClean="0">
                <a:hlinkClick r:id="rId7"/>
              </a:rPr>
              <a:t>/</a:t>
            </a:r>
            <a:endParaRPr lang="en-US" u="sng" dirty="0" smtClean="0"/>
          </a:p>
          <a:p>
            <a:endParaRPr lang="en-US" dirty="0"/>
          </a:p>
          <a:p>
            <a:r>
              <a:rPr lang="en-US" u="sng" dirty="0">
                <a:hlinkClick r:id="rId8"/>
              </a:rPr>
              <a:t>http://www.ibm.com/cloud-computing/us/en/open-cloud-essentials.html</a:t>
            </a:r>
            <a:endParaRPr lang="en-US" dirty="0"/>
          </a:p>
          <a:p>
            <a:endParaRPr lang="en-US" u="sng" dirty="0" smtClean="0">
              <a:hlinkClick r:id="rId9"/>
            </a:endParaRPr>
          </a:p>
          <a:p>
            <a:r>
              <a:rPr lang="en-US" u="sng" dirty="0" smtClean="0">
                <a:hlinkClick r:id="rId9"/>
              </a:rPr>
              <a:t>https</a:t>
            </a:r>
            <a:r>
              <a:rPr lang="en-US" u="sng" dirty="0">
                <a:hlinkClick r:id="rId9"/>
              </a:rPr>
              <a:t>://</a:t>
            </a:r>
            <a:r>
              <a:rPr lang="en-US" u="sng" dirty="0" smtClean="0">
                <a:hlinkClick r:id="rId9"/>
              </a:rPr>
              <a:t>www.bluemix.net</a:t>
            </a:r>
            <a:endParaRPr lang="en-US" u="sng" dirty="0" smtClean="0"/>
          </a:p>
          <a:p>
            <a:endParaRPr lang="en-US" dirty="0"/>
          </a:p>
          <a:p>
            <a:r>
              <a:rPr lang="en-US" u="sng" dirty="0">
                <a:hlinkClick r:id="rId10"/>
              </a:rPr>
              <a:t>https://www.ng.bluemix.net/docs/#</a:t>
            </a:r>
            <a:r>
              <a:rPr lang="en-US" u="sng" dirty="0" smtClean="0">
                <a:hlinkClick r:id="rId10"/>
              </a:rPr>
              <a:t>starters/index-gentopic4.html#genTopProcId5</a:t>
            </a:r>
            <a:endParaRPr lang="en-US" u="sng" dirty="0" smtClean="0"/>
          </a:p>
          <a:p>
            <a:endParaRPr lang="en-US" dirty="0"/>
          </a:p>
          <a:p>
            <a:r>
              <a:rPr lang="en-US" dirty="0">
                <a:hlinkClick r:id="rId10"/>
              </a:rPr>
              <a:t>https://www.ng.bluemix.net/docs/#</a:t>
            </a:r>
            <a:r>
              <a:rPr lang="en-US" dirty="0" smtClean="0">
                <a:hlinkClick r:id="rId10"/>
              </a:rPr>
              <a:t>starters/index-gentopic3.html#container_ov</a:t>
            </a:r>
            <a:endParaRPr lang="en-US" dirty="0" smtClean="0"/>
          </a:p>
          <a:p>
            <a:endParaRPr lang="en-US" dirty="0"/>
          </a:p>
          <a:p>
            <a:r>
              <a:rPr lang="en-US" u="sng" dirty="0">
                <a:hlinkClick r:id="rId11"/>
              </a:rPr>
              <a:t>https://www.docker.com</a:t>
            </a:r>
            <a:r>
              <a:rPr lang="en-US" u="sng" dirty="0" smtClean="0">
                <a:hlinkClick r:id="rId11"/>
              </a:rPr>
              <a:t>/</a:t>
            </a:r>
            <a:endParaRPr lang="en-US" u="sng" dirty="0" smtClean="0"/>
          </a:p>
          <a:p>
            <a:endParaRPr lang="en-US" dirty="0"/>
          </a:p>
          <a:p>
            <a:r>
              <a:rPr lang="en-US" u="sng" dirty="0">
                <a:hlinkClick r:id="rId12"/>
              </a:rPr>
              <a:t>https://www.clouddoundry.org/</a:t>
            </a:r>
            <a:endParaRPr lang="en-US" dirty="0"/>
          </a:p>
        </p:txBody>
      </p:sp>
    </p:spTree>
    <p:extLst>
      <p:ext uri="{BB962C8B-B14F-4D97-AF65-F5344CB8AC3E}">
        <p14:creationId xmlns:p14="http://schemas.microsoft.com/office/powerpoint/2010/main" xmlns="" val="1273137005"/>
      </p:ext>
    </p:extLst>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bwMode="auto">
          <a:xfrm>
            <a:off x="640080" y="1874520"/>
            <a:ext cx="7772400" cy="3323987"/>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gn="l" rtl="0" eaLnBrk="1" fontAlgn="base" hangingPunct="1">
              <a:lnSpc>
                <a:spcPct val="90000"/>
              </a:lnSpc>
              <a:spcBef>
                <a:spcPct val="0"/>
              </a:spcBef>
              <a:spcAft>
                <a:spcPct val="0"/>
              </a:spcAft>
              <a:defRPr sz="4000" b="1" cap="all">
                <a:solidFill>
                  <a:srgbClr val="008ABF"/>
                </a:solidFill>
                <a:latin typeface="+mj-lt"/>
                <a:ea typeface="+mj-ea"/>
                <a:cs typeface="+mj-cs"/>
              </a:defRPr>
            </a:lvl1pPr>
            <a:lvl2pPr algn="l" rtl="0" eaLnBrk="1" fontAlgn="base" hangingPunct="1">
              <a:lnSpc>
                <a:spcPct val="90000"/>
              </a:lnSpc>
              <a:spcBef>
                <a:spcPct val="0"/>
              </a:spcBef>
              <a:spcAft>
                <a:spcPct val="0"/>
              </a:spcAft>
              <a:defRPr sz="2400">
                <a:solidFill>
                  <a:srgbClr val="008ABF"/>
                </a:solidFill>
                <a:latin typeface="Arial" pitchFamily="34" charset="0"/>
              </a:defRPr>
            </a:lvl2pPr>
            <a:lvl3pPr algn="l" rtl="0" eaLnBrk="1" fontAlgn="base" hangingPunct="1">
              <a:lnSpc>
                <a:spcPct val="90000"/>
              </a:lnSpc>
              <a:spcBef>
                <a:spcPct val="0"/>
              </a:spcBef>
              <a:spcAft>
                <a:spcPct val="0"/>
              </a:spcAft>
              <a:defRPr sz="2400">
                <a:solidFill>
                  <a:srgbClr val="008ABF"/>
                </a:solidFill>
                <a:latin typeface="Arial" pitchFamily="34" charset="0"/>
              </a:defRPr>
            </a:lvl3pPr>
            <a:lvl4pPr algn="l" rtl="0" eaLnBrk="1" fontAlgn="base" hangingPunct="1">
              <a:lnSpc>
                <a:spcPct val="90000"/>
              </a:lnSpc>
              <a:spcBef>
                <a:spcPct val="0"/>
              </a:spcBef>
              <a:spcAft>
                <a:spcPct val="0"/>
              </a:spcAft>
              <a:defRPr sz="2400">
                <a:solidFill>
                  <a:srgbClr val="008ABF"/>
                </a:solidFill>
                <a:latin typeface="Arial" pitchFamily="34" charset="0"/>
              </a:defRPr>
            </a:lvl4pPr>
            <a:lvl5pPr algn="l" rtl="0" eaLnBrk="1" fontAlgn="base" hangingPunct="1">
              <a:lnSpc>
                <a:spcPct val="90000"/>
              </a:lnSpc>
              <a:spcBef>
                <a:spcPct val="0"/>
              </a:spcBef>
              <a:spcAft>
                <a:spcPct val="0"/>
              </a:spcAft>
              <a:defRPr sz="2400">
                <a:solidFill>
                  <a:srgbClr val="008ABF"/>
                </a:solidFill>
                <a:latin typeface="Arial" pitchFamily="34" charset="0"/>
              </a:defRPr>
            </a:lvl5pPr>
            <a:lvl6pPr marL="457082" algn="l" rtl="0" eaLnBrk="1" fontAlgn="base" hangingPunct="1">
              <a:lnSpc>
                <a:spcPct val="90000"/>
              </a:lnSpc>
              <a:spcBef>
                <a:spcPct val="0"/>
              </a:spcBef>
              <a:spcAft>
                <a:spcPct val="0"/>
              </a:spcAft>
              <a:defRPr sz="2600">
                <a:solidFill>
                  <a:schemeClr val="hlink"/>
                </a:solidFill>
                <a:latin typeface="Arial" pitchFamily="34" charset="0"/>
              </a:defRPr>
            </a:lvl6pPr>
            <a:lvl7pPr marL="914165" algn="l" rtl="0" eaLnBrk="1" fontAlgn="base" hangingPunct="1">
              <a:lnSpc>
                <a:spcPct val="90000"/>
              </a:lnSpc>
              <a:spcBef>
                <a:spcPct val="0"/>
              </a:spcBef>
              <a:spcAft>
                <a:spcPct val="0"/>
              </a:spcAft>
              <a:defRPr sz="2600">
                <a:solidFill>
                  <a:schemeClr val="hlink"/>
                </a:solidFill>
                <a:latin typeface="Arial" pitchFamily="34" charset="0"/>
              </a:defRPr>
            </a:lvl7pPr>
            <a:lvl8pPr marL="1371250" algn="l" rtl="0" eaLnBrk="1" fontAlgn="base" hangingPunct="1">
              <a:lnSpc>
                <a:spcPct val="90000"/>
              </a:lnSpc>
              <a:spcBef>
                <a:spcPct val="0"/>
              </a:spcBef>
              <a:spcAft>
                <a:spcPct val="0"/>
              </a:spcAft>
              <a:defRPr sz="2600">
                <a:solidFill>
                  <a:schemeClr val="hlink"/>
                </a:solidFill>
                <a:latin typeface="Arial" pitchFamily="34" charset="0"/>
              </a:defRPr>
            </a:lvl8pPr>
            <a:lvl9pPr marL="1828332" algn="l" rtl="0" eaLnBrk="1" fontAlgn="base" hangingPunct="1">
              <a:lnSpc>
                <a:spcPct val="90000"/>
              </a:lnSpc>
              <a:spcBef>
                <a:spcPct val="0"/>
              </a:spcBef>
              <a:spcAft>
                <a:spcPct val="0"/>
              </a:spcAft>
              <a:defRPr sz="2600">
                <a:solidFill>
                  <a:schemeClr val="hlink"/>
                </a:solidFill>
                <a:latin typeface="Arial" pitchFamily="34" charset="0"/>
              </a:defRPr>
            </a:lvl9pPr>
          </a:lstStyle>
          <a:p>
            <a:pPr marL="0" marR="0" lvl="0" indent="0" algn="ctr" defTabSz="914400" rtl="0" eaLnBrk="1" fontAlgn="base" latinLnBrk="0" hangingPunct="1">
              <a:lnSpc>
                <a:spcPct val="90000"/>
              </a:lnSpc>
              <a:spcBef>
                <a:spcPct val="0"/>
              </a:spcBef>
              <a:spcAft>
                <a:spcPct val="0"/>
              </a:spcAft>
              <a:buClrTx/>
              <a:buSzTx/>
              <a:buFontTx/>
              <a:buNone/>
              <a:tabLst/>
              <a:defRPr/>
            </a:pPr>
            <a:r>
              <a:rPr kumimoji="0" lang="en-US" sz="4000" b="1" i="0" u="none" strike="noStrike" kern="0" cap="all" spc="0" normalizeH="0" baseline="0" noProof="0" dirty="0" smtClean="0">
                <a:ln>
                  <a:noFill/>
                </a:ln>
                <a:solidFill>
                  <a:srgbClr val="008ABF"/>
                </a:solidFill>
                <a:effectLst/>
                <a:uLnTx/>
                <a:uFillTx/>
                <a:latin typeface="Arial"/>
                <a:ea typeface="+mj-ea"/>
                <a:cs typeface="+mj-cs"/>
                <a:hlinkClick r:id="rId3"/>
              </a:rPr>
              <a:t>QUESTIONS?</a:t>
            </a:r>
            <a:endParaRPr kumimoji="0" lang="en-US" sz="4000" b="1" i="0" u="none" strike="noStrike" kern="0" cap="all" spc="0" normalizeH="0" baseline="0" noProof="0" dirty="0" smtClean="0">
              <a:ln>
                <a:noFill/>
              </a:ln>
              <a:solidFill>
                <a:srgbClr val="008ABF"/>
              </a:solidFill>
              <a:effectLst/>
              <a:uLnTx/>
              <a:uFillTx/>
              <a:latin typeface="Arial"/>
              <a:ea typeface="+mj-ea"/>
              <a:cs typeface="+mj-cs"/>
            </a:endParaRPr>
          </a:p>
          <a:p>
            <a:pPr marL="0" marR="0" lvl="0" indent="0" algn="ctr" defTabSz="914400" rtl="0" eaLnBrk="1" fontAlgn="base" latinLnBrk="0" hangingPunct="1">
              <a:lnSpc>
                <a:spcPct val="90000"/>
              </a:lnSpc>
              <a:spcBef>
                <a:spcPct val="0"/>
              </a:spcBef>
              <a:spcAft>
                <a:spcPct val="0"/>
              </a:spcAft>
              <a:buClrTx/>
              <a:buSzTx/>
              <a:buFontTx/>
              <a:buNone/>
              <a:tabLst/>
              <a:defRPr/>
            </a:pPr>
            <a:endParaRPr kumimoji="0" lang="en-US" sz="4000" b="1" i="0" u="none" strike="noStrike" kern="0" cap="all" spc="0" normalizeH="0" baseline="0" noProof="0" dirty="0" smtClean="0">
              <a:ln>
                <a:noFill/>
              </a:ln>
              <a:solidFill>
                <a:srgbClr val="008ABF"/>
              </a:solidFill>
              <a:effectLst/>
              <a:uLnTx/>
              <a:uFillTx/>
              <a:latin typeface="Arial"/>
              <a:ea typeface="+mj-ea"/>
              <a:cs typeface="+mj-cs"/>
            </a:endParaRPr>
          </a:p>
          <a:p>
            <a:pPr algn="ctr">
              <a:defRPr/>
            </a:pPr>
            <a:r>
              <a:rPr lang="en-US" cap="none" dirty="0"/>
              <a:t>https://ibm.biz/BdXGBL</a:t>
            </a:r>
          </a:p>
          <a:p>
            <a:pPr lvl="0" algn="ctr">
              <a:defRPr/>
            </a:pPr>
            <a:r>
              <a:rPr kumimoji="0" lang="en-US" sz="4000" b="0" i="0" u="none" strike="noStrike" kern="0" cap="none" spc="0" normalizeH="0" noProof="0" dirty="0" smtClean="0">
                <a:ln>
                  <a:noFill/>
                </a:ln>
                <a:solidFill>
                  <a:schemeClr val="tx1"/>
                </a:solidFill>
                <a:effectLst/>
                <a:uLnTx/>
                <a:uFillTx/>
                <a:latin typeface="Arial"/>
                <a:ea typeface="+mj-ea"/>
                <a:cs typeface="+mj-cs"/>
              </a:rPr>
              <a:t>Get help from Bluemix development team and Stack Overflow community</a:t>
            </a:r>
            <a:endParaRPr kumimoji="0" lang="en-US" sz="4000" b="0" i="0" u="none" strike="noStrike" kern="0" cap="none" spc="0" normalizeH="0" noProof="0" dirty="0">
              <a:ln>
                <a:noFill/>
              </a:ln>
              <a:solidFill>
                <a:schemeClr val="tx1"/>
              </a:solidFill>
              <a:effectLst/>
              <a:uLnTx/>
              <a:uFillTx/>
              <a:latin typeface="Arial"/>
              <a:ea typeface="+mj-ea"/>
              <a:cs typeface="+mj-cs"/>
            </a:endParaRPr>
          </a:p>
        </p:txBody>
      </p:sp>
    </p:spTree>
    <p:extLst>
      <p:ext uri="{BB962C8B-B14F-4D97-AF65-F5344CB8AC3E}">
        <p14:creationId xmlns:p14="http://schemas.microsoft.com/office/powerpoint/2010/main" xmlns="" val="4066225822"/>
      </p:ext>
    </p:extLst>
  </p:cSld>
  <p:clrMapOvr>
    <a:masterClrMapping/>
  </p:clrMapOvr>
  <p:transition spd="med"/>
  <p:timing>
    <p:tnLst>
      <p:par>
        <p:cTn id="1" dur="indefinite" restart="never" nodeType="tmRoot"/>
      </p:par>
    </p:tnLst>
  </p:timing>
</p:sld>
</file>

<file path=ppt/theme/theme1.xml><?xml version="1.0" encoding="utf-8"?>
<a:theme xmlns:a="http://schemas.openxmlformats.org/drawingml/2006/main" name="IBM Cloud 2015">
  <a:themeElements>
    <a:clrScheme name="IBM Cloud 2105">
      <a:dk1>
        <a:sysClr val="windowText" lastClr="000000"/>
      </a:dk1>
      <a:lt1>
        <a:sysClr val="window" lastClr="FFFFFF"/>
      </a:lt1>
      <a:dk2>
        <a:srgbClr val="085571"/>
      </a:dk2>
      <a:lt2>
        <a:srgbClr val="81CDF2"/>
      </a:lt2>
      <a:accent1>
        <a:srgbClr val="009EE2"/>
      </a:accent1>
      <a:accent2>
        <a:srgbClr val="1174B9"/>
      </a:accent2>
      <a:accent3>
        <a:srgbClr val="00A39C"/>
      </a:accent3>
      <a:accent4>
        <a:srgbClr val="00706E"/>
      </a:accent4>
      <a:accent5>
        <a:srgbClr val="611773"/>
      </a:accent5>
      <a:accent6>
        <a:srgbClr val="340F51"/>
      </a:accent6>
      <a:hlink>
        <a:srgbClr val="0000FF"/>
      </a:hlink>
      <a:folHlink>
        <a:srgbClr val="800080"/>
      </a:folHlink>
    </a:clrScheme>
    <a:fontScheme name="IBM Cloud 2015">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84441"/>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rtlCol="0">
        <a:spAutoFit/>
      </a:bodyPr>
      <a:lstStyle>
        <a:defPPr>
          <a:defRPr sz="1200" kern="0" spc="-30" dirty="0" smtClean="0">
            <a:solidFill>
              <a:srgbClr val="FFFFFF"/>
            </a:solidFill>
            <a:latin typeface="Arial"/>
            <a:cs typeface="Arial"/>
          </a:defRPr>
        </a:defPPr>
      </a:lstStyle>
    </a:txDef>
  </a:objectDefaults>
  <a:extraClrSchemeLst/>
</a:theme>
</file>

<file path=ppt/theme/theme2.xml><?xml version="1.0" encoding="utf-8"?>
<a:theme xmlns:a="http://schemas.openxmlformats.org/drawingml/2006/main" name="IBM Cloud sub">
  <a:themeElements>
    <a:clrScheme name="617-01_SP_Business&amp;IT_Services_Sourcing_Blk_Template_R3 1">
      <a:dk1>
        <a:srgbClr val="000000"/>
      </a:dk1>
      <a:lt1>
        <a:srgbClr val="FFFFFF"/>
      </a:lt1>
      <a:dk2>
        <a:srgbClr val="000000"/>
      </a:dk2>
      <a:lt2>
        <a:srgbClr val="808080"/>
      </a:lt2>
      <a:accent1>
        <a:srgbClr val="83D1F5"/>
      </a:accent1>
      <a:accent2>
        <a:srgbClr val="003F69"/>
      </a:accent2>
      <a:accent3>
        <a:srgbClr val="FFFFFF"/>
      </a:accent3>
      <a:accent4>
        <a:srgbClr val="000000"/>
      </a:accent4>
      <a:accent5>
        <a:srgbClr val="C1E5F9"/>
      </a:accent5>
      <a:accent6>
        <a:srgbClr val="00385E"/>
      </a:accent6>
      <a:hlink>
        <a:srgbClr val="008ABF"/>
      </a:hlink>
      <a:folHlink>
        <a:srgbClr val="8CC63F"/>
      </a:folHlink>
    </a:clrScheme>
    <a:fontScheme name="617-01_SP_Business&amp;IT_Services_Sourcing_Blk_Template_R3">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617-01_SP_Business&amp;IT_Services_Sourcing_Blk_Template_R3 1">
        <a:dk1>
          <a:srgbClr val="000000"/>
        </a:dk1>
        <a:lt1>
          <a:srgbClr val="FFFFFF"/>
        </a:lt1>
        <a:dk2>
          <a:srgbClr val="000000"/>
        </a:dk2>
        <a:lt2>
          <a:srgbClr val="808080"/>
        </a:lt2>
        <a:accent1>
          <a:srgbClr val="83D1F5"/>
        </a:accent1>
        <a:accent2>
          <a:srgbClr val="003F69"/>
        </a:accent2>
        <a:accent3>
          <a:srgbClr val="FFFFFF"/>
        </a:accent3>
        <a:accent4>
          <a:srgbClr val="000000"/>
        </a:accent4>
        <a:accent5>
          <a:srgbClr val="C1E5F9"/>
        </a:accent5>
        <a:accent6>
          <a:srgbClr val="00385E"/>
        </a:accent6>
        <a:hlink>
          <a:srgbClr val="008ABF"/>
        </a:hlink>
        <a:folHlink>
          <a:srgbClr val="8CC63F"/>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3258</Words>
  <Application>Microsoft Office PowerPoint</Application>
  <PresentationFormat>On-screen Show (4:3)</PresentationFormat>
  <Paragraphs>338</Paragraphs>
  <Slides>19</Slides>
  <Notes>19</Notes>
  <HiddenSlides>0</HiddenSlides>
  <MMClips>0</MMClips>
  <ScaleCrop>false</ScaleCrop>
  <HeadingPairs>
    <vt:vector size="4" baseType="variant">
      <vt:variant>
        <vt:lpstr>Theme</vt:lpstr>
      </vt:variant>
      <vt:variant>
        <vt:i4>2</vt:i4>
      </vt:variant>
      <vt:variant>
        <vt:lpstr>Slide Titles</vt:lpstr>
      </vt:variant>
      <vt:variant>
        <vt:i4>19</vt:i4>
      </vt:variant>
    </vt:vector>
  </HeadingPairs>
  <TitlesOfParts>
    <vt:vector size="21" baseType="lpstr">
      <vt:lpstr>IBM Cloud 2015</vt:lpstr>
      <vt:lpstr>IBM Cloud sub</vt:lpstr>
      <vt:lpstr>IBM Bluemix Capabilities</vt:lpstr>
      <vt:lpstr>Capability - Cloud Foundry - Contianers - VMs</vt:lpstr>
      <vt:lpstr>Bluemix offers different deployment models to run your code</vt:lpstr>
      <vt:lpstr>Bluemix offers different fit-for-purpose compute models for running your code </vt:lpstr>
      <vt:lpstr>Cloud Foundry – an Open PaaS</vt:lpstr>
      <vt:lpstr>IBM Bluemix PaaS Advantages</vt:lpstr>
      <vt:lpstr>What is Container in Cloud environment?</vt:lpstr>
      <vt:lpstr>What is Docker ?</vt:lpstr>
      <vt:lpstr>What are Docker’s Basic Concepts and Functions?</vt:lpstr>
      <vt:lpstr>Basic Docker Commands as an example - Build</vt:lpstr>
      <vt:lpstr>Slide 11</vt:lpstr>
      <vt:lpstr> IBM Bluemix Containers Advantages </vt:lpstr>
      <vt:lpstr>IBM Bluemix Container Advantages &amp; Differentiators</vt:lpstr>
      <vt:lpstr>What is an Openstack Virtual Machine?</vt:lpstr>
      <vt:lpstr> IBM Openstack VM’s Advantages </vt:lpstr>
      <vt:lpstr>Slide 16</vt:lpstr>
      <vt:lpstr>Timing is Critical …so are all of your other investments</vt:lpstr>
      <vt:lpstr>Bookmarks &amp; References</vt:lpstr>
      <vt:lpstr>Slide 19</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cp:lastModifiedBy/>
  <cp:revision>1</cp:revision>
  <dcterms:created xsi:type="dcterms:W3CDTF">2015-05-08T18:58:46Z</dcterms:created>
  <dcterms:modified xsi:type="dcterms:W3CDTF">2016-01-17T07:14:27Z</dcterms:modified>
</cp:coreProperties>
</file>