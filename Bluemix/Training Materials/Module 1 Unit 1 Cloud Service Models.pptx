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 id="2147483717" r:id="rId2"/>
  </p:sldMasterIdLst>
  <p:notesMasterIdLst>
    <p:notesMasterId r:id="rId18"/>
  </p:notesMasterIdLst>
  <p:sldIdLst>
    <p:sldId id="256" r:id="rId3"/>
    <p:sldId id="258" r:id="rId4"/>
    <p:sldId id="285" r:id="rId5"/>
    <p:sldId id="288" r:id="rId6"/>
    <p:sldId id="260" r:id="rId7"/>
    <p:sldId id="261" r:id="rId8"/>
    <p:sldId id="282" r:id="rId9"/>
    <p:sldId id="291" r:id="rId10"/>
    <p:sldId id="264" r:id="rId11"/>
    <p:sldId id="265" r:id="rId12"/>
    <p:sldId id="290" r:id="rId13"/>
    <p:sldId id="266" r:id="rId14"/>
    <p:sldId id="292" r:id="rId15"/>
    <p:sldId id="283" r:id="rId16"/>
    <p:sldId id="279"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3514">
          <p15:clr>
            <a:srgbClr val="A4A3A4"/>
          </p15:clr>
        </p15:guide>
        <p15:guide id="2" pos="28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EB6AC"/>
    <a:srgbClr val="83F5CF"/>
    <a:srgbClr val="0D426C"/>
    <a:srgbClr val="4EBBEB"/>
    <a:srgbClr val="1A3961"/>
    <a:srgbClr val="183C60"/>
    <a:srgbClr val="113F60"/>
    <a:srgbClr val="123964"/>
    <a:srgbClr val="1B4E77"/>
    <a:srgbClr val="11293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71618" autoAdjust="0"/>
  </p:normalViewPr>
  <p:slideViewPr>
    <p:cSldViewPr>
      <p:cViewPr varScale="1">
        <p:scale>
          <a:sx n="51" d="100"/>
          <a:sy n="51" d="100"/>
        </p:scale>
        <p:origin x="-2034" y="-96"/>
      </p:cViewPr>
      <p:guideLst>
        <p:guide orient="horz" pos="3514"/>
        <p:guide pos="2851"/>
      </p:guideLst>
    </p:cSldViewPr>
  </p:slideViewPr>
  <p:outlineViewPr>
    <p:cViewPr>
      <p:scale>
        <a:sx n="33" d="100"/>
        <a:sy n="33" d="100"/>
      </p:scale>
      <p:origin x="42" y="0"/>
    </p:cViewPr>
  </p:outlineViewPr>
  <p:notesTextViewPr>
    <p:cViewPr>
      <p:scale>
        <a:sx n="150" d="100"/>
        <a:sy n="150" d="100"/>
      </p:scale>
      <p:origin x="30" y="564"/>
    </p:cViewPr>
  </p:notesTextViewPr>
  <p:sorterViewPr>
    <p:cViewPr varScale="1">
      <p:scale>
        <a:sx n="1" d="1"/>
        <a:sy n="1" d="1"/>
      </p:scale>
      <p:origin x="0" y="0"/>
    </p:cViewPr>
  </p:sorterViewPr>
  <p:gridSpacing cx="46816963" cy="46816963"/>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A6D163-A0F5-498D-A72B-50DE16555140}" type="datetimeFigureOut">
              <a:rPr lang="en-US" smtClean="0"/>
              <a:pPr/>
              <a:t>1/12/2016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C999AD-79EC-4F02-84A9-EEA7F0527E47}" type="slidenum">
              <a:rPr lang="en-US" smtClean="0"/>
              <a:pPr/>
              <a:t>‹#›</a:t>
            </a:fld>
            <a:endParaRPr lang="en-US"/>
          </a:p>
        </p:txBody>
      </p:sp>
    </p:spTree>
    <p:extLst>
      <p:ext uri="{BB962C8B-B14F-4D97-AF65-F5344CB8AC3E}">
        <p14:creationId xmlns:p14="http://schemas.microsoft.com/office/powerpoint/2010/main" xmlns="" val="344646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a:t>
            </a:fld>
            <a:endParaRPr lang="en-US"/>
          </a:p>
        </p:txBody>
      </p:sp>
    </p:spTree>
    <p:extLst>
      <p:ext uri="{BB962C8B-B14F-4D97-AF65-F5344CB8AC3E}">
        <p14:creationId xmlns:p14="http://schemas.microsoft.com/office/powerpoint/2010/main" xmlns="" val="3910746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Cloud is not only the term of technology but also is a business offering model.</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As we know,</a:t>
            </a:r>
            <a:r>
              <a:rPr lang="en-US" baseline="0" dirty="0" smtClean="0"/>
              <a:t> </a:t>
            </a:r>
            <a:r>
              <a:rPr lang="en-US" sz="1200" b="0" i="0" u="none" strike="noStrike" kern="1200" baseline="0" dirty="0" smtClean="0">
                <a:solidFill>
                  <a:schemeClr val="tx1"/>
                </a:solidFill>
                <a:latin typeface="+mn-lt"/>
                <a:ea typeface="+mn-ea"/>
                <a:cs typeface="+mn-cs"/>
              </a:rPr>
              <a:t>Infrastructure as a Service (IaaS), Platform as a Service (PaaS) and Software as a Service (SaaS) are three Cloud service models.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this section,</a:t>
            </a:r>
            <a:r>
              <a:rPr lang="en-US" baseline="0" dirty="0" smtClean="0"/>
              <a:t> we will </a:t>
            </a:r>
            <a:r>
              <a:rPr lang="en-US" sz="1200" b="0" i="0" u="none" strike="noStrike" kern="1200" baseline="0" dirty="0" smtClean="0">
                <a:solidFill>
                  <a:schemeClr val="tx1"/>
                </a:solidFill>
                <a:latin typeface="+mn-lt"/>
                <a:ea typeface="+mn-ea"/>
                <a:cs typeface="+mn-cs"/>
              </a:rPr>
              <a:t>describe the benefits of each Cloud service models and IBM Cloud offerings related to the service models. Then we will introduce the different capabilities of IBM Bluemix for developers to make best decision on hosting their applications on the Cloud.</a:t>
            </a:r>
            <a:endParaRPr lang="en-US" dirty="0" smtClean="0"/>
          </a:p>
          <a:p>
            <a:endParaRPr lang="en-US" altLang="en-US" dirty="0" smtClean="0">
              <a:latin typeface="Arial" panose="020B0604020202020204" pitchFamily="34" charset="0"/>
              <a:cs typeface="Arial" panose="020B0604020202020204" pitchFamily="34" charset="0"/>
            </a:endParaRPr>
          </a:p>
        </p:txBody>
      </p:sp>
      <p:sp>
        <p:nvSpPr>
          <p:cNvPr id="19460"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B4D3DCBC-7805-4AEC-A7ED-B704ECDD5A96}" type="slidenum">
              <a:rPr lang="en-US" altLang="en-US" smtClean="0"/>
              <a:pPr/>
              <a:t>2</a:t>
            </a:fld>
            <a:endParaRPr lang="en-US" altLang="en-US" smtClean="0"/>
          </a:p>
        </p:txBody>
      </p:sp>
    </p:spTree>
    <p:extLst>
      <p:ext uri="{BB962C8B-B14F-4D97-AF65-F5344CB8AC3E}">
        <p14:creationId xmlns:p14="http://schemas.microsoft.com/office/powerpoint/2010/main" xmlns="" val="81571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As we know,</a:t>
            </a:r>
            <a:r>
              <a:rPr lang="en-US" baseline="0" dirty="0" smtClean="0"/>
              <a:t> </a:t>
            </a:r>
            <a:r>
              <a:rPr lang="en-US" sz="1200" b="0" i="0" u="none" strike="noStrike" kern="1200" baseline="0" dirty="0" smtClean="0">
                <a:solidFill>
                  <a:schemeClr val="tx1"/>
                </a:solidFill>
                <a:latin typeface="+mn-lt"/>
                <a:ea typeface="+mn-ea"/>
                <a:cs typeface="+mn-cs"/>
              </a:rPr>
              <a:t>Infrastructure as a Service (IaaS), Platform as a Service (PaaS) and Software as a Service (SaaS) are three Cloud service models. </a:t>
            </a:r>
            <a:r>
              <a:rPr lang="en-US" dirty="0" smtClean="0"/>
              <a:t>In this </a:t>
            </a:r>
            <a:r>
              <a:rPr lang="en-US" dirty="0" smtClean="0"/>
              <a:t>session,</a:t>
            </a:r>
            <a:r>
              <a:rPr lang="en-US" baseline="0" dirty="0" smtClean="0"/>
              <a:t> </a:t>
            </a:r>
            <a:r>
              <a:rPr lang="en-US" baseline="0" dirty="0" smtClean="0"/>
              <a:t>we will </a:t>
            </a:r>
            <a:r>
              <a:rPr lang="en-US" sz="1200" b="0" i="0" u="none" strike="noStrike" kern="1200" baseline="0" dirty="0" smtClean="0">
                <a:solidFill>
                  <a:schemeClr val="tx1"/>
                </a:solidFill>
                <a:latin typeface="+mn-lt"/>
                <a:ea typeface="+mn-ea"/>
                <a:cs typeface="+mn-cs"/>
              </a:rPr>
              <a:t>describe the benefits of each Cloud service models and IBM Cloud offerings related to the service models. </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3</a:t>
            </a:fld>
            <a:endParaRPr lang="en-US"/>
          </a:p>
        </p:txBody>
      </p:sp>
    </p:spTree>
    <p:extLst>
      <p:ext uri="{BB962C8B-B14F-4D97-AF65-F5344CB8AC3E}">
        <p14:creationId xmlns:p14="http://schemas.microsoft.com/office/powerpoint/2010/main" xmlns="" val="143603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dirty="0" smtClean="0">
                <a:latin typeface="Arial" panose="020B0604020202020204" pitchFamily="34" charset="0"/>
                <a:cs typeface="Arial" panose="020B0604020202020204" pitchFamily="34" charset="0"/>
              </a:rPr>
              <a:t>Timing is critical if your apps (and the functionality they provide to your employees and/or customers) are to keep up with the new expectations and competition the app revolution has generated.  This slide summarizes</a:t>
            </a:r>
            <a:r>
              <a:rPr lang="en-US" altLang="en-US" baseline="0" dirty="0" smtClean="0">
                <a:latin typeface="Arial" panose="020B0604020202020204" pitchFamily="34" charset="0"/>
                <a:cs typeface="Arial" panose="020B0604020202020204" pitchFamily="34" charset="0"/>
              </a:rPr>
              <a:t> the components of each Cloud service model. The components in black are managed by clients, the service providers manage the components in blue for clients in cloud environment.  Client has more control and higher customization on the left hand side of traditional on-pre model, has higher standardization and faster time to market on the right hand side of the SaaS model.</a:t>
            </a:r>
            <a:endParaRPr lang="en-US" altLang="en-US" dirty="0" smtClean="0">
              <a:latin typeface="Arial" panose="020B0604020202020204" pitchFamily="34" charset="0"/>
              <a:cs typeface="Arial" panose="020B0604020202020204" pitchFamily="34" charset="0"/>
            </a:endParaRPr>
          </a:p>
          <a:p>
            <a:endParaRPr lang="en-US" altLang="en-US" dirty="0" smtClean="0">
              <a:latin typeface="Arial" panose="020B0604020202020204" pitchFamily="34" charset="0"/>
              <a:cs typeface="Arial" panose="020B0604020202020204" pitchFamily="34" charset="0"/>
            </a:endParaRPr>
          </a:p>
        </p:txBody>
      </p:sp>
      <p:sp>
        <p:nvSpPr>
          <p:cNvPr id="21508"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AAA83E9D-3A91-4FBC-AC63-D94086822DC7}" type="slidenum">
              <a:rPr lang="en-US" altLang="en-US" smtClean="0"/>
              <a:pPr/>
              <a:t>4</a:t>
            </a:fld>
            <a:endParaRPr lang="en-US" altLang="en-US" smtClean="0"/>
          </a:p>
        </p:txBody>
      </p:sp>
    </p:spTree>
    <p:extLst>
      <p:ext uri="{BB962C8B-B14F-4D97-AF65-F5344CB8AC3E}">
        <p14:creationId xmlns:p14="http://schemas.microsoft.com/office/powerpoint/2010/main" xmlns="" val="4228815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hape 169"/>
          <p:cNvSpPr>
            <a:spLocks noGrp="1" noRot="1" noChangeAspect="1" noTextEdit="1"/>
          </p:cNvSpPr>
          <p:nvPr>
            <p:ph type="sldImg"/>
          </p:nvPr>
        </p:nvSpPr>
        <p:spPr>
          <a:ln/>
        </p:spPr>
      </p:sp>
      <p:sp>
        <p:nvSpPr>
          <p:cNvPr id="170" name="Shape 170"/>
          <p:cNvSpPr>
            <a:spLocks noGrp="1"/>
          </p:cNvSpPr>
          <p:nvPr>
            <p:ph type="body" sz="quarter" idx="1"/>
          </p:nvPr>
        </p:nvSpPr>
        <p:spPr/>
        <p:txBody>
          <a:bodyPr/>
          <a:lstStyle/>
          <a:p>
            <a:pPr>
              <a:defRPr/>
            </a:pPr>
            <a:r>
              <a:rPr lang="en-US" sz="1200" dirty="0" smtClean="0"/>
              <a:t>Core IT represents everything you own and manage in your data centers (the full stack pictured here). This is still a critical part of enterprise IT - let’s take a look why it is beneficial and what it takes to manage all of this.</a:t>
            </a:r>
          </a:p>
          <a:p>
            <a:pPr>
              <a:defRPr/>
            </a:pPr>
            <a:r>
              <a:rPr lang="en-US" sz="1200" dirty="0" smtClean="0"/>
              <a:t> </a:t>
            </a:r>
          </a:p>
          <a:p>
            <a:pPr>
              <a:defRPr/>
            </a:pPr>
            <a:r>
              <a:rPr lang="en-US" sz="1200" dirty="0" smtClean="0"/>
              <a:t>Traditional On-Premise</a:t>
            </a:r>
            <a:r>
              <a:rPr lang="en-US" sz="1200" b="1" dirty="0" smtClean="0"/>
              <a:t> </a:t>
            </a:r>
            <a:r>
              <a:rPr lang="en-US" sz="1200" dirty="0" smtClean="0"/>
              <a:t>Benefits -</a:t>
            </a:r>
          </a:p>
          <a:p>
            <a:pPr>
              <a:defRPr/>
            </a:pPr>
            <a:r>
              <a:rPr lang="en-US" sz="1200" dirty="0" smtClean="0"/>
              <a:t>As stable and customizable as the customer wants - the only main limitation is cost. </a:t>
            </a:r>
          </a:p>
          <a:p>
            <a:pPr>
              <a:defRPr/>
            </a:pPr>
            <a:r>
              <a:rPr lang="en-US" sz="1200" dirty="0" smtClean="0"/>
              <a:t>Necessary for certain solutions (Core IT still has value in many scenarios i.e. transaction processing)</a:t>
            </a:r>
          </a:p>
          <a:p>
            <a:pPr>
              <a:defRPr/>
            </a:pPr>
            <a:r>
              <a:rPr lang="en-US" sz="1200" dirty="0" smtClean="0"/>
              <a:t>Houses a lot of the investments most companies have already made (customer data, inventory, SAP, you name it).</a:t>
            </a:r>
          </a:p>
          <a:p>
            <a:pPr>
              <a:defRPr/>
            </a:pPr>
            <a:r>
              <a:rPr lang="en-US" sz="1200" dirty="0" smtClean="0"/>
              <a:t>Traditional On-Premise Time Commitment -</a:t>
            </a:r>
          </a:p>
          <a:p>
            <a:pPr>
              <a:defRPr/>
            </a:pPr>
            <a:r>
              <a:rPr lang="en-US" sz="1200" dirty="0" smtClean="0"/>
              <a:t>Typically takes weeks to setup an environment and deploy an initial app - customer manages entire stack pictured here</a:t>
            </a:r>
          </a:p>
          <a:p>
            <a:pPr>
              <a:defRPr/>
            </a:pPr>
            <a:r>
              <a:rPr lang="en-US" sz="1200" dirty="0" smtClean="0"/>
              <a:t>Have to maintain hardware and software as well (think environment uptime, fixes, and upgrades). Dedicated staff necessary.</a:t>
            </a:r>
          </a:p>
          <a:p>
            <a:pPr>
              <a:defRPr/>
            </a:pPr>
            <a:r>
              <a:rPr lang="en-US" sz="1200" dirty="0" smtClean="0"/>
              <a:t>Thus, Core IT doesn’t lend itself to the experimental nature of development in the cloud/app revolution</a:t>
            </a:r>
          </a:p>
          <a:p>
            <a:pPr>
              <a:defRPr sz="1800"/>
            </a:pPr>
            <a:endParaRPr sz="1200" b="1" dirty="0"/>
          </a:p>
          <a:p>
            <a:pPr>
              <a:defRPr sz="1800"/>
            </a:pPr>
            <a:r>
              <a:rPr sz="1200" b="1" dirty="0">
                <a:solidFill>
                  <a:srgbClr val="0365C0"/>
                </a:solidFill>
              </a:rPr>
              <a:t>Core IT</a:t>
            </a:r>
            <a:r>
              <a:rPr sz="1200" b="1" dirty="0"/>
              <a:t> represents everything you own and manage in your data centers (the full stack pictured here). This is still a critical part of enterprise IT - let’s take a look why it is beneficial and what it takes to manage all of this.</a:t>
            </a:r>
          </a:p>
          <a:p>
            <a:pPr>
              <a:defRPr sz="1800"/>
            </a:pPr>
            <a:endParaRPr sz="1200" b="1" dirty="0"/>
          </a:p>
          <a:p>
            <a:pPr>
              <a:defRPr sz="1800"/>
            </a:pPr>
            <a:r>
              <a:rPr sz="1200" b="1" dirty="0"/>
              <a:t>Core IT Benefits</a:t>
            </a:r>
            <a:endParaRPr sz="1200" dirty="0"/>
          </a:p>
          <a:p>
            <a:pPr marL="197555" indent="-197555">
              <a:buSzPct val="75000"/>
              <a:buFontTx/>
              <a:buChar char="•"/>
              <a:defRPr sz="1800"/>
            </a:pPr>
            <a:r>
              <a:rPr sz="1200" dirty="0"/>
              <a:t>As stable and customizable as the customer wants - the only main limitation is cost. </a:t>
            </a:r>
          </a:p>
          <a:p>
            <a:pPr marL="197555" indent="-197555">
              <a:buSzPct val="75000"/>
              <a:buFontTx/>
              <a:buChar char="•"/>
              <a:defRPr sz="1800"/>
            </a:pPr>
            <a:r>
              <a:rPr sz="1200" dirty="0"/>
              <a:t>Necessary for certain solutions </a:t>
            </a:r>
            <a:r>
              <a:rPr sz="1200" b="1" dirty="0"/>
              <a:t>(Core IT still has value in many scenarios i.e. transaction processing)</a:t>
            </a:r>
          </a:p>
          <a:p>
            <a:pPr marL="197555" indent="-197555">
              <a:buSzPct val="75000"/>
              <a:buFontTx/>
              <a:buChar char="•"/>
              <a:defRPr sz="1800"/>
            </a:pPr>
            <a:r>
              <a:rPr sz="1200" dirty="0"/>
              <a:t>Houses a lot of the investments most companies have already made (customer data, inventory, SAP, you name it).</a:t>
            </a:r>
          </a:p>
          <a:p>
            <a:pPr>
              <a:defRPr sz="1800"/>
            </a:pPr>
            <a:r>
              <a:rPr sz="1200" b="1" dirty="0"/>
              <a:t>Core IT Time Commitment</a:t>
            </a:r>
          </a:p>
          <a:p>
            <a:pPr marL="197555" indent="-197555">
              <a:buSzPct val="75000"/>
              <a:buFontTx/>
              <a:buChar char="•"/>
              <a:defRPr sz="1800"/>
            </a:pPr>
            <a:r>
              <a:rPr sz="1200" dirty="0"/>
              <a:t>Typically takes weeks to setup an environment and deploy an initial app - customer manages entire stack pictured here</a:t>
            </a:r>
          </a:p>
          <a:p>
            <a:pPr marL="197555" indent="-197555">
              <a:buSzPct val="75000"/>
              <a:buFontTx/>
              <a:buChar char="•"/>
              <a:defRPr sz="1800"/>
            </a:pPr>
            <a:r>
              <a:rPr sz="1200" dirty="0"/>
              <a:t>Have to maintain hardware and software as well (think environment uptime, fixes, upgrades). Dedicated staff necessary.</a:t>
            </a:r>
          </a:p>
          <a:p>
            <a:pPr marL="197555" indent="-197555">
              <a:buSzPct val="75000"/>
              <a:buFontTx/>
              <a:buChar char="•"/>
              <a:defRPr sz="1800"/>
            </a:pPr>
            <a:r>
              <a:rPr sz="1200" dirty="0"/>
              <a:t>Thus, Core IT doesn’t lend itself to the experimental nature of development in the cloud/app revolution</a:t>
            </a:r>
            <a:endParaRPr sz="1600" dirty="0"/>
          </a:p>
        </p:txBody>
      </p:sp>
    </p:spTree>
    <p:extLst>
      <p:ext uri="{BB962C8B-B14F-4D97-AF65-F5344CB8AC3E}">
        <p14:creationId xmlns:p14="http://schemas.microsoft.com/office/powerpoint/2010/main" xmlns="" val="2319659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hape 206"/>
          <p:cNvSpPr>
            <a:spLocks noGrp="1" noRot="1" noChangeAspect="1" noTextEdit="1"/>
          </p:cNvSpPr>
          <p:nvPr>
            <p:ph type="sldImg"/>
          </p:nvPr>
        </p:nvSpPr>
        <p:spPr>
          <a:ln/>
        </p:spPr>
      </p:sp>
      <p:sp>
        <p:nvSpPr>
          <p:cNvPr id="207" name="Shape 207"/>
          <p:cNvSpPr>
            <a:spLocks noGrp="1"/>
          </p:cNvSpPr>
          <p:nvPr>
            <p:ph type="body" sz="quarter" idx="1"/>
          </p:nvPr>
        </p:nvSpPr>
        <p:spPr/>
        <p:txBody>
          <a:bodyPr/>
          <a:lstStyle/>
          <a:p>
            <a:pPr>
              <a:defRPr sz="1800"/>
            </a:pPr>
            <a:r>
              <a:rPr sz="1200" b="0" dirty="0"/>
              <a:t>Infrastructure as a Service (and specifically IBM’s acquisition of SoftLayer) was the cloud’s initial answer to the need for faster deployments, faster environment setup, etc… by abstracting the infrastructure from the customer</a:t>
            </a:r>
            <a:r>
              <a:rPr sz="1200" b="0" dirty="0" smtClean="0"/>
              <a:t>.</a:t>
            </a:r>
            <a:r>
              <a:rPr lang="en-US" sz="1200" b="0" dirty="0" smtClean="0"/>
              <a:t> It m</a:t>
            </a:r>
            <a:r>
              <a:rPr lang="en-GB" sz="1200" dirty="0" err="1" smtClean="0"/>
              <a:t>anages</a:t>
            </a:r>
            <a:r>
              <a:rPr lang="en-GB" sz="1200" dirty="0" smtClean="0"/>
              <a:t> infrastructure resources in a resource pool, with self-service provisioning, rapid elasticity, and as measured services. Virtualization alone does not accomplish this vision and set of characteristics. After all infrastructure resources are provided and managed as a set of capacity services, the data </a:t>
            </a:r>
            <a:r>
              <a:rPr lang="en-GB" sz="1200" dirty="0" err="1" smtClean="0"/>
              <a:t>center</a:t>
            </a:r>
            <a:r>
              <a:rPr lang="en-GB" sz="1200" dirty="0" smtClean="0"/>
              <a:t> can be treated as a true software-defined environment</a:t>
            </a:r>
            <a:endParaRPr lang="en-US" sz="1200" dirty="0" smtClean="0"/>
          </a:p>
          <a:p>
            <a:pPr>
              <a:defRPr sz="1800"/>
            </a:pPr>
            <a:r>
              <a:rPr sz="1200" b="1" dirty="0" err="1" smtClean="0"/>
              <a:t>IaaS</a:t>
            </a:r>
            <a:r>
              <a:rPr sz="1200" b="1" dirty="0" smtClean="0"/>
              <a:t> </a:t>
            </a:r>
            <a:r>
              <a:rPr sz="1200" b="1" dirty="0"/>
              <a:t>Benefits</a:t>
            </a:r>
          </a:p>
          <a:p>
            <a:pPr marL="197555" indent="-197555">
              <a:buSzPct val="75000"/>
              <a:buFontTx/>
              <a:buChar char="•"/>
              <a:defRPr sz="1800"/>
            </a:pPr>
            <a:r>
              <a:rPr sz="1200" dirty="0"/>
              <a:t>Networking, Storage</a:t>
            </a:r>
            <a:r>
              <a:rPr sz="1200" dirty="0" smtClean="0"/>
              <a:t>, Server</a:t>
            </a:r>
            <a:r>
              <a:rPr lang="en-US" sz="1200" dirty="0" smtClean="0"/>
              <a:t>, Vitualization</a:t>
            </a:r>
            <a:r>
              <a:rPr sz="1200" dirty="0" smtClean="0"/>
              <a:t> </a:t>
            </a:r>
            <a:r>
              <a:rPr sz="1200" dirty="0"/>
              <a:t>managed by service provider.</a:t>
            </a:r>
          </a:p>
          <a:p>
            <a:pPr marL="197555" indent="-197555">
              <a:buSzPct val="75000"/>
              <a:buFontTx/>
              <a:buChar char="•"/>
              <a:defRPr sz="1800"/>
            </a:pPr>
            <a:r>
              <a:rPr sz="1200" dirty="0"/>
              <a:t>Most customizable cloud offering</a:t>
            </a:r>
          </a:p>
          <a:p>
            <a:pPr marL="197555" indent="-197555">
              <a:buSzPct val="75000"/>
              <a:buFontTx/>
              <a:buChar char="•"/>
              <a:defRPr sz="1800"/>
            </a:pPr>
            <a:r>
              <a:rPr sz="1200" dirty="0"/>
              <a:t>Solutions where` customizability </a:t>
            </a:r>
            <a:r>
              <a:rPr sz="1200" dirty="0" smtClean="0"/>
              <a:t>of </a:t>
            </a:r>
            <a:r>
              <a:rPr sz="1200" dirty="0"/>
              <a:t>OS, Middleware, or Runtime needed </a:t>
            </a:r>
          </a:p>
          <a:p>
            <a:pPr>
              <a:defRPr sz="1800"/>
            </a:pPr>
            <a:r>
              <a:rPr sz="1200" b="1" dirty="0"/>
              <a:t>IaaS Time Commitment</a:t>
            </a:r>
          </a:p>
          <a:p>
            <a:pPr marL="197555" indent="-197555">
              <a:buSzPct val="75000"/>
              <a:buFontTx/>
              <a:buChar char="•"/>
              <a:defRPr sz="1800"/>
            </a:pPr>
            <a:r>
              <a:rPr sz="1200" dirty="0"/>
              <a:t>Customer sets up and manages </a:t>
            </a:r>
            <a:r>
              <a:rPr sz="1200" dirty="0" smtClean="0"/>
              <a:t>OS</a:t>
            </a:r>
            <a:r>
              <a:rPr sz="1200" dirty="0"/>
              <a:t>, Middleware, and Runtime - these still take at least a matter of days to setup and reach an initial deployment</a:t>
            </a:r>
          </a:p>
          <a:p>
            <a:pPr marL="197555" indent="-197555">
              <a:buSzPct val="75000"/>
              <a:buFontTx/>
              <a:buChar char="•"/>
              <a:defRPr sz="1800"/>
            </a:pPr>
            <a:r>
              <a:rPr sz="1200" dirty="0"/>
              <a:t>Maintenance/upgrades necessary as well</a:t>
            </a:r>
          </a:p>
        </p:txBody>
      </p:sp>
    </p:spTree>
    <p:extLst>
      <p:ext uri="{BB962C8B-B14F-4D97-AF65-F5344CB8AC3E}">
        <p14:creationId xmlns:p14="http://schemas.microsoft.com/office/powerpoint/2010/main" xmlns="" val="1702675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b="1" dirty="0" err="1" smtClean="0"/>
              <a:t>SoftLayer</a:t>
            </a:r>
            <a:r>
              <a:rPr lang="en-US" sz="1000" dirty="0" smtClean="0"/>
              <a:t> is IBM’s BlueMix </a:t>
            </a:r>
            <a:r>
              <a:rPr lang="en-US" sz="1000" dirty="0" err="1" smtClean="0"/>
              <a:t>IaaS</a:t>
            </a:r>
            <a:r>
              <a:rPr lang="en-US" sz="1000" dirty="0" smtClean="0"/>
              <a:t> .  </a:t>
            </a:r>
            <a:r>
              <a:rPr lang="en-US" sz="1000" kern="1200" dirty="0" err="1" smtClean="0">
                <a:solidFill>
                  <a:schemeClr val="tx1"/>
                </a:solidFill>
                <a:effectLst/>
                <a:latin typeface="+mn-lt"/>
                <a:ea typeface="+mn-ea"/>
                <a:cs typeface="+mn-cs"/>
              </a:rPr>
              <a:t>SoftLayer</a:t>
            </a:r>
            <a:r>
              <a:rPr lang="en-US" sz="1000" kern="1200" dirty="0" smtClean="0">
                <a:solidFill>
                  <a:schemeClr val="tx1"/>
                </a:solidFill>
                <a:effectLst/>
                <a:latin typeface="+mn-lt"/>
                <a:ea typeface="+mn-ea"/>
                <a:cs typeface="+mn-cs"/>
              </a:rPr>
              <a:t> provides:</a:t>
            </a:r>
          </a:p>
          <a:p>
            <a:pPr marL="171450" lvl="0" indent="-171450">
              <a:buFont typeface="Arial" panose="020B0604020202020204" pitchFamily="34" charset="0"/>
              <a:buChar char="•"/>
            </a:pPr>
            <a:r>
              <a:rPr lang="en-US" sz="1000" kern="1200" dirty="0" smtClean="0">
                <a:solidFill>
                  <a:schemeClr val="tx1"/>
                </a:solidFill>
                <a:effectLst/>
                <a:latin typeface="+mn-lt"/>
                <a:ea typeface="+mn-ea"/>
                <a:cs typeface="+mn-cs"/>
              </a:rPr>
              <a:t>Highly flexible architecture</a:t>
            </a:r>
          </a:p>
          <a:p>
            <a:pPr marL="171450" lvl="0" indent="-171450">
              <a:buFont typeface="Arial" panose="020B0604020202020204" pitchFamily="34" charset="0"/>
              <a:buChar char="•"/>
            </a:pPr>
            <a:r>
              <a:rPr lang="en-US" sz="1000" kern="1200" dirty="0" smtClean="0">
                <a:solidFill>
                  <a:schemeClr val="tx1"/>
                </a:solidFill>
                <a:effectLst/>
                <a:latin typeface="+mn-lt"/>
                <a:ea typeface="+mn-ea"/>
                <a:cs typeface="+mn-cs"/>
              </a:rPr>
              <a:t>One platform for public cloud servers, private clouds, bare metal servers</a:t>
            </a:r>
          </a:p>
          <a:p>
            <a:pPr marL="171450" lvl="0" indent="-171450">
              <a:buFont typeface="Arial" panose="020B0604020202020204" pitchFamily="34" charset="0"/>
              <a:buChar char="•"/>
            </a:pPr>
            <a:r>
              <a:rPr lang="en-US" sz="1000" kern="1200" dirty="0" smtClean="0">
                <a:solidFill>
                  <a:schemeClr val="tx1"/>
                </a:solidFill>
                <a:effectLst/>
                <a:latin typeface="+mn-lt"/>
                <a:ea typeface="+mn-ea"/>
                <a:cs typeface="+mn-cs"/>
              </a:rPr>
              <a:t>Unified systems management &amp; API</a:t>
            </a:r>
          </a:p>
          <a:p>
            <a:pPr marL="171450" lvl="0" indent="-171450">
              <a:buFont typeface="Arial" panose="020B0604020202020204" pitchFamily="34" charset="0"/>
              <a:buChar char="•"/>
            </a:pPr>
            <a:r>
              <a:rPr lang="en-US" sz="1000" kern="1200" dirty="0" smtClean="0">
                <a:solidFill>
                  <a:schemeClr val="tx1"/>
                </a:solidFill>
                <a:effectLst/>
                <a:latin typeface="+mn-lt"/>
                <a:ea typeface="+mn-ea"/>
                <a:cs typeface="+mn-cs"/>
              </a:rPr>
              <a:t>Technology-neutral platform</a:t>
            </a:r>
          </a:p>
          <a:p>
            <a:pPr marL="171450" lvl="0" indent="-171450">
              <a:buFont typeface="Arial" panose="020B0604020202020204" pitchFamily="34" charset="0"/>
              <a:buChar char="•"/>
            </a:pPr>
            <a:r>
              <a:rPr lang="en-US" sz="1000" kern="1200" dirty="0" smtClean="0">
                <a:solidFill>
                  <a:schemeClr val="tx1"/>
                </a:solidFill>
                <a:effectLst/>
                <a:latin typeface="+mn-lt"/>
                <a:ea typeface="+mn-ea"/>
                <a:cs typeface="+mn-cs"/>
              </a:rPr>
              <a:t>Support for broad range of operating systems, virtualization platforms</a:t>
            </a:r>
          </a:p>
          <a:p>
            <a:pPr lvl="0"/>
            <a:r>
              <a:rPr lang="en-US" sz="1000" b="1" kern="1200" dirty="0" smtClean="0">
                <a:solidFill>
                  <a:schemeClr val="tx1"/>
                </a:solidFill>
                <a:effectLst/>
                <a:latin typeface="+mn-lt"/>
                <a:ea typeface="+mn-ea"/>
                <a:cs typeface="+mn-cs"/>
              </a:rPr>
              <a:t>Key Resources it offers including:</a:t>
            </a:r>
            <a:endParaRPr lang="en-US" sz="800" b="1"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A dedicated bare metal server, custom configured to your spec:  Wide selection, from low range to GPU, etc.  You can install anything you want and use it as a building block</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A Virtual Machine (VM, Cloud Computing Instance or CCI)</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Off server Storage Options: NAS, SAN, Object storage</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A private or hybrid cloud</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Hardware Firewalls and Load Balancers</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IP addresses, subnets, VLANs</a:t>
            </a:r>
            <a:endParaRPr lang="en-US" sz="800" kern="1200" dirty="0" smtClean="0">
              <a:solidFill>
                <a:schemeClr val="tx1"/>
              </a:solidFill>
              <a:effectLst/>
              <a:latin typeface="+mn-lt"/>
              <a:ea typeface="+mn-ea"/>
              <a:cs typeface="+mn-cs"/>
            </a:endParaRPr>
          </a:p>
          <a:p>
            <a:pPr marL="628650" lvl="1" indent="-171450">
              <a:buFont typeface="Arial" panose="020B0604020202020204" pitchFamily="34" charset="0"/>
              <a:buChar char="•"/>
            </a:pPr>
            <a:r>
              <a:rPr lang="en-US" sz="1000" kern="1200" dirty="0" smtClean="0">
                <a:solidFill>
                  <a:schemeClr val="tx1"/>
                </a:solidFill>
                <a:effectLst/>
                <a:latin typeface="+mn-lt"/>
                <a:ea typeface="+mn-ea"/>
                <a:cs typeface="+mn-cs"/>
              </a:rPr>
              <a:t>Services: Backups, Vulnerability scans, Object Store, Monitoring, Messaging service, Content Delivery Network (CDN), Email delivery service, Anti-virus software, DNS entries</a:t>
            </a:r>
            <a:endParaRPr lang="en-US" sz="800" kern="1200" dirty="0" smtClean="0">
              <a:solidFill>
                <a:schemeClr val="tx1"/>
              </a:solidFill>
              <a:effectLst/>
              <a:latin typeface="+mn-lt"/>
              <a:ea typeface="+mn-ea"/>
              <a:cs typeface="+mn-cs"/>
            </a:endParaRPr>
          </a:p>
          <a:p>
            <a:pPr marL="171450" lvl="0" indent="-171450">
              <a:buFont typeface="Arial" panose="020B0604020202020204" pitchFamily="34" charset="0"/>
              <a:buChar char="•"/>
            </a:pP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7</a:t>
            </a:fld>
            <a:endParaRPr lang="en-US"/>
          </a:p>
        </p:txBody>
      </p:sp>
    </p:spTree>
    <p:extLst>
      <p:ext uri="{BB962C8B-B14F-4D97-AF65-F5344CB8AC3E}">
        <p14:creationId xmlns:p14="http://schemas.microsoft.com/office/powerpoint/2010/main" xmlns="" val="2404002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hape 245"/>
          <p:cNvSpPr>
            <a:spLocks noGrp="1" noRot="1" noChangeAspect="1" noTextEdit="1"/>
          </p:cNvSpPr>
          <p:nvPr>
            <p:ph type="sldImg"/>
          </p:nvPr>
        </p:nvSpPr>
        <p:spPr>
          <a:ln/>
        </p:spPr>
      </p:sp>
      <p:sp>
        <p:nvSpPr>
          <p:cNvPr id="29699" name="Shape 246"/>
          <p:cNvSpPr>
            <a:spLocks noGrp="1"/>
          </p:cNvSpPr>
          <p:nvPr>
            <p:ph type="body" sz="quarter"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ltLang="en-US" sz="900" dirty="0" smtClean="0">
                <a:latin typeface="Arial" panose="020B0604020202020204" pitchFamily="34" charset="0"/>
                <a:cs typeface="Arial" panose="020B0604020202020204" pitchFamily="34" charset="0"/>
              </a:rPr>
              <a:t>The concept of </a:t>
            </a:r>
            <a:r>
              <a:rPr lang="en-GB" altLang="en-US" sz="900" dirty="0" err="1" smtClean="0">
                <a:latin typeface="Arial" panose="020B0604020202020204" pitchFamily="34" charset="0"/>
                <a:cs typeface="Arial" panose="020B0604020202020204" pitchFamily="34" charset="0"/>
              </a:rPr>
              <a:t>composable</a:t>
            </a:r>
            <a:r>
              <a:rPr lang="en-GB" altLang="en-US" sz="900" dirty="0" smtClean="0">
                <a:latin typeface="Arial" panose="020B0604020202020204" pitchFamily="34" charset="0"/>
                <a:cs typeface="Arial" panose="020B0604020202020204" pitchFamily="34" charset="0"/>
              </a:rPr>
              <a:t> </a:t>
            </a:r>
            <a:r>
              <a:rPr lang="en-US" altLang="en-US" sz="900" dirty="0" smtClean="0">
                <a:latin typeface="Arial" panose="020B0604020202020204" pitchFamily="34" charset="0"/>
                <a:cs typeface="Arial" panose="020B0604020202020204" pitchFamily="34" charset="0"/>
              </a:rPr>
              <a:t>solutions </a:t>
            </a:r>
            <a:r>
              <a:rPr lang="en-GB" altLang="en-US" sz="900" dirty="0" smtClean="0">
                <a:latin typeface="Arial" panose="020B0604020202020204" pitchFamily="34" charset="0"/>
                <a:cs typeface="Arial" panose="020B0604020202020204" pitchFamily="34" charset="0"/>
              </a:rPr>
              <a:t>in a Cloud Environment, which consists of finer grained services that can be recombined to create new capabilities, is a key element of the cloud. </a:t>
            </a:r>
            <a:r>
              <a:rPr lang="en-GB" altLang="en-US" sz="900" dirty="0" err="1" smtClean="0">
                <a:latin typeface="Arial" panose="020B0604020202020204" pitchFamily="34" charset="0"/>
                <a:cs typeface="Arial" panose="020B0604020202020204" pitchFamily="34" charset="0"/>
              </a:rPr>
              <a:t>Composable</a:t>
            </a:r>
            <a:r>
              <a:rPr lang="en-GB" altLang="en-US" sz="900" dirty="0" smtClean="0">
                <a:latin typeface="Arial" panose="020B0604020202020204" pitchFamily="34" charset="0"/>
                <a:cs typeface="Arial" panose="020B0604020202020204" pitchFamily="34" charset="0"/>
              </a:rPr>
              <a:t> environments can contain cloud services, which bring together operational, development, application, database, and third-party services</a:t>
            </a:r>
            <a:r>
              <a:rPr lang="en-US" altLang="en-US" sz="900" dirty="0" smtClean="0">
                <a:latin typeface="Arial" panose="020B0604020202020204" pitchFamily="34" charset="0"/>
                <a:cs typeface="Arial" panose="020B0604020202020204" pitchFamily="34" charset="0"/>
              </a:rPr>
              <a:t> – all with </a:t>
            </a:r>
            <a:r>
              <a:rPr lang="en-GB" altLang="en-US" sz="900" dirty="0" smtClean="0">
                <a:latin typeface="Arial" panose="020B0604020202020204" pitchFamily="34" charset="0"/>
                <a:cs typeface="Arial" panose="020B0604020202020204" pitchFamily="34" charset="0"/>
              </a:rPr>
              <a:t>embedded monitoring and manageability capabilities. </a:t>
            </a:r>
            <a:endParaRPr lang="en-US" altLang="en-US" sz="900" dirty="0" smtClean="0">
              <a:latin typeface="Arial" panose="020B0604020202020204" pitchFamily="34" charset="0"/>
              <a:cs typeface="Arial" panose="020B0604020202020204" pitchFamily="34" charset="0"/>
            </a:endParaRPr>
          </a:p>
          <a:p>
            <a:r>
              <a:rPr lang="en-GB" altLang="en-US" sz="900" dirty="0" smtClean="0">
                <a:latin typeface="Arial" panose="020B0604020202020204" pitchFamily="34" charset="0"/>
                <a:cs typeface="Arial" panose="020B0604020202020204" pitchFamily="34" charset="0"/>
              </a:rPr>
              <a:t> </a:t>
            </a:r>
            <a:endParaRPr lang="en-US" altLang="en-US" sz="900" dirty="0" smtClean="0">
              <a:latin typeface="Arial" panose="020B0604020202020204" pitchFamily="34" charset="0"/>
              <a:cs typeface="Arial" panose="020B0604020202020204" pitchFamily="34" charset="0"/>
            </a:endParaRPr>
          </a:p>
          <a:p>
            <a:r>
              <a:rPr lang="en-US" altLang="en-US" sz="900" dirty="0" err="1" smtClean="0">
                <a:latin typeface="Arial" panose="020B0604020202020204" pitchFamily="34" charset="0"/>
                <a:cs typeface="Arial" panose="020B0604020202020204" pitchFamily="34" charset="0"/>
              </a:rPr>
              <a:t>PaaS</a:t>
            </a:r>
            <a:r>
              <a:rPr lang="en-US" altLang="en-US" sz="900" dirty="0" smtClean="0">
                <a:latin typeface="Arial" panose="020B0604020202020204" pitchFamily="34" charset="0"/>
                <a:cs typeface="Arial" panose="020B0604020202020204" pitchFamily="34" charset="0"/>
              </a:rPr>
              <a:t> Benefits -</a:t>
            </a:r>
          </a:p>
          <a:p>
            <a:r>
              <a:rPr lang="en-US" altLang="en-US" sz="900" dirty="0" smtClean="0">
                <a:latin typeface="Arial" panose="020B0604020202020204" pitchFamily="34" charset="0"/>
                <a:cs typeface="Arial" panose="020B0604020202020204" pitchFamily="34" charset="0"/>
              </a:rPr>
              <a:t>Setup your environment and deploy apps quicker than any other offering</a:t>
            </a:r>
          </a:p>
          <a:p>
            <a:r>
              <a:rPr lang="en-US" altLang="en-US" sz="900" dirty="0" smtClean="0">
                <a:latin typeface="Arial" panose="020B0604020202020204" pitchFamily="34" charset="0"/>
                <a:cs typeface="Arial" panose="020B0604020202020204" pitchFamily="34" charset="0"/>
              </a:rPr>
              <a:t>Service provider manages the Infrastructure AND the platform</a:t>
            </a:r>
          </a:p>
          <a:p>
            <a:r>
              <a:rPr lang="en-US" altLang="en-US" sz="900" dirty="0" err="1" smtClean="0">
                <a:latin typeface="Arial" panose="020B0604020202020204" pitchFamily="34" charset="0"/>
                <a:cs typeface="Arial" panose="020B0604020202020204" pitchFamily="34" charset="0"/>
              </a:rPr>
              <a:t>PaaS</a:t>
            </a:r>
            <a:r>
              <a:rPr lang="en-US" altLang="en-US" sz="900" dirty="0" smtClean="0">
                <a:latin typeface="Arial" panose="020B0604020202020204" pitchFamily="34" charset="0"/>
                <a:cs typeface="Arial" panose="020B0604020202020204" pitchFamily="34" charset="0"/>
              </a:rPr>
              <a:t> Time Commitment -</a:t>
            </a:r>
          </a:p>
          <a:p>
            <a:r>
              <a:rPr lang="en-US" altLang="en-US" sz="900" dirty="0" smtClean="0">
                <a:latin typeface="Arial" panose="020B0604020202020204" pitchFamily="34" charset="0"/>
                <a:cs typeface="Arial" panose="020B0604020202020204" pitchFamily="34" charset="0"/>
              </a:rPr>
              <a:t>Minutes to initial deployment - developer can handle everything on his/her own</a:t>
            </a:r>
          </a:p>
          <a:p>
            <a:r>
              <a:rPr lang="en-US" altLang="en-US" sz="900" dirty="0" smtClean="0">
                <a:latin typeface="Arial" panose="020B0604020202020204" pitchFamily="34" charset="0"/>
                <a:cs typeface="Arial" panose="020B0604020202020204" pitchFamily="34" charset="0"/>
              </a:rPr>
              <a:t>Maintenance and upgrades of Platform and Infrastructure handled by service provider</a:t>
            </a:r>
          </a:p>
        </p:txBody>
      </p:sp>
    </p:spTree>
    <p:extLst>
      <p:ext uri="{BB962C8B-B14F-4D97-AF65-F5344CB8AC3E}">
        <p14:creationId xmlns:p14="http://schemas.microsoft.com/office/powerpoint/2010/main" xmlns="" val="4092591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800" dirty="0" smtClean="0">
                <a:latin typeface="Arial" panose="020B0604020202020204" pitchFamily="34" charset="0"/>
                <a:cs typeface="Arial" panose="020B0604020202020204" pitchFamily="34" charset="0"/>
              </a:rPr>
              <a:t>Bluemix is IBM’s PaaS</a:t>
            </a:r>
            <a:r>
              <a:rPr lang="en-US" altLang="en-US" sz="800" baseline="0" dirty="0" smtClean="0">
                <a:latin typeface="Arial" panose="020B0604020202020204" pitchFamily="34" charset="0"/>
                <a:cs typeface="Arial" panose="020B0604020202020204" pitchFamily="34" charset="0"/>
              </a:rPr>
              <a:t> offering and atop of IBM </a:t>
            </a:r>
            <a:r>
              <a:rPr lang="en-US" altLang="en-US" sz="800" baseline="0" dirty="0" err="1" smtClean="0">
                <a:latin typeface="Arial" panose="020B0604020202020204" pitchFamily="34" charset="0"/>
                <a:cs typeface="Arial" panose="020B0604020202020204" pitchFamily="34" charset="0"/>
              </a:rPr>
              <a:t>SoftLayer</a:t>
            </a:r>
            <a:r>
              <a:rPr lang="en-US" altLang="en-US" sz="800" baseline="0" dirty="0" smtClean="0">
                <a:latin typeface="Arial" panose="020B0604020202020204" pitchFamily="34" charset="0"/>
                <a:cs typeface="Arial" panose="020B0604020202020204" pitchFamily="34" charset="0"/>
              </a:rPr>
              <a:t> to help you </a:t>
            </a:r>
            <a:r>
              <a:rPr lang="en-US" sz="800" kern="0" dirty="0" smtClean="0">
                <a:solidFill>
                  <a:srgbClr val="00B2EF"/>
                </a:solidFill>
                <a:latin typeface="Helvetica Neue Light"/>
                <a:ea typeface="ＭＳ Ｐゴシック"/>
                <a:cs typeface="Helvetica Neue Light"/>
              </a:rPr>
              <a:t>build, run, scale, manage, integrate &amp; secure applications in the cloud.</a:t>
            </a:r>
            <a:r>
              <a:rPr lang="en-US" sz="1000" kern="0" dirty="0" smtClean="0">
                <a:solidFill>
                  <a:srgbClr val="00B2EF"/>
                </a:solidFill>
                <a:latin typeface="Helvetica Neue Light"/>
                <a:ea typeface="ＭＳ Ｐゴシック"/>
                <a:cs typeface="Helvetica Neue Light"/>
              </a:rPr>
              <a:t> </a:t>
            </a:r>
            <a:endParaRPr lang="en-US" sz="800" dirty="0" smtClean="0"/>
          </a:p>
          <a:p>
            <a:r>
              <a:rPr lang="en-US" altLang="en-US" sz="800" baseline="0" dirty="0" smtClean="0">
                <a:latin typeface="Arial" panose="020B0604020202020204" pitchFamily="34" charset="0"/>
                <a:cs typeface="Arial" panose="020B0604020202020204" pitchFamily="34" charset="0"/>
              </a:rPr>
              <a:t>It’s </a:t>
            </a:r>
            <a:r>
              <a:rPr lang="en-US" altLang="en-US" sz="800" dirty="0" smtClean="0">
                <a:latin typeface="Arial" panose="020B0604020202020204" pitchFamily="34" charset="0"/>
                <a:cs typeface="Arial" panose="020B0604020202020204" pitchFamily="34" charset="0"/>
                <a:sym typeface="Helvetica Neue Light"/>
              </a:rPr>
              <a:t>an </a:t>
            </a:r>
            <a:r>
              <a:rPr lang="en-US" altLang="en-US" sz="800" b="1" dirty="0" smtClean="0">
                <a:latin typeface="Arial" panose="020B0604020202020204" pitchFamily="34" charset="0"/>
                <a:cs typeface="Arial" panose="020B0604020202020204" pitchFamily="34" charset="0"/>
                <a:sym typeface="Helvetica Neue Light"/>
              </a:rPr>
              <a:t>open-standard</a:t>
            </a:r>
            <a:r>
              <a:rPr lang="en-US" altLang="en-US" sz="800" dirty="0" smtClean="0">
                <a:latin typeface="Arial" panose="020B0604020202020204" pitchFamily="34" charset="0"/>
                <a:cs typeface="Arial" panose="020B0604020202020204" pitchFamily="34" charset="0"/>
                <a:sym typeface="Helvetica Neue Light"/>
              </a:rPr>
              <a:t>, cloud-based </a:t>
            </a:r>
            <a:r>
              <a:rPr lang="en-US" altLang="en-US" sz="800" b="1" dirty="0" smtClean="0">
                <a:latin typeface="Arial" panose="020B0604020202020204" pitchFamily="34" charset="0"/>
                <a:cs typeface="Arial" panose="020B0604020202020204" pitchFamily="34" charset="0"/>
                <a:sym typeface="Helvetica Neue Light"/>
              </a:rPr>
              <a:t>platform</a:t>
            </a:r>
            <a:r>
              <a:rPr lang="en-US" altLang="en-US" sz="800" dirty="0" smtClean="0">
                <a:latin typeface="Arial" panose="020B0604020202020204" pitchFamily="34" charset="0"/>
                <a:cs typeface="Arial" panose="020B0604020202020204" pitchFamily="34" charset="0"/>
                <a:sym typeface="Helvetica Neue Light"/>
              </a:rPr>
              <a:t> for </a:t>
            </a:r>
            <a:r>
              <a:rPr lang="en-US" altLang="en-US" sz="800" b="1" dirty="0" smtClean="0">
                <a:latin typeface="Arial" panose="020B0604020202020204" pitchFamily="34" charset="0"/>
                <a:cs typeface="Arial" panose="020B0604020202020204" pitchFamily="34" charset="0"/>
                <a:sym typeface="Helvetica Neue Light"/>
              </a:rPr>
              <a:t>building</a:t>
            </a:r>
            <a:r>
              <a:rPr lang="en-US" altLang="en-US" sz="800" dirty="0" smtClean="0">
                <a:latin typeface="Arial" panose="020B0604020202020204" pitchFamily="34" charset="0"/>
                <a:cs typeface="Arial" panose="020B0604020202020204" pitchFamily="34" charset="0"/>
                <a:sym typeface="Helvetica Neue Light"/>
              </a:rPr>
              <a:t>, </a:t>
            </a:r>
            <a:r>
              <a:rPr lang="en-US" altLang="en-US" sz="800" b="1" dirty="0" smtClean="0">
                <a:latin typeface="Arial" panose="020B0604020202020204" pitchFamily="34" charset="0"/>
                <a:cs typeface="Arial" panose="020B0604020202020204" pitchFamily="34" charset="0"/>
                <a:sym typeface="Helvetica Neue Light"/>
              </a:rPr>
              <a:t>managing</a:t>
            </a:r>
            <a:r>
              <a:rPr lang="en-US" altLang="en-US" sz="800" dirty="0" smtClean="0">
                <a:latin typeface="Arial" panose="020B0604020202020204" pitchFamily="34" charset="0"/>
                <a:cs typeface="Arial" panose="020B0604020202020204" pitchFamily="34" charset="0"/>
                <a:sym typeface="Helvetica Neue Light"/>
              </a:rPr>
              <a:t>, and </a:t>
            </a:r>
            <a:r>
              <a:rPr lang="en-US" altLang="en-US" sz="800" b="1" dirty="0" smtClean="0">
                <a:latin typeface="Arial" panose="020B0604020202020204" pitchFamily="34" charset="0"/>
                <a:cs typeface="Arial" panose="020B0604020202020204" pitchFamily="34" charset="0"/>
                <a:sym typeface="Helvetica Neue Light"/>
              </a:rPr>
              <a:t>running applications of all types</a:t>
            </a:r>
            <a:r>
              <a:rPr lang="en-US" altLang="en-US" sz="800" dirty="0" smtClean="0">
                <a:latin typeface="Arial" panose="020B0604020202020204" pitchFamily="34" charset="0"/>
                <a:cs typeface="Arial" panose="020B0604020202020204" pitchFamily="34" charset="0"/>
                <a:sym typeface="Helvetica Neue Light"/>
              </a:rPr>
              <a:t> (web, mobile, big data, new smart devices, and so on). Bluemix</a:t>
            </a:r>
            <a:r>
              <a:rPr lang="en-US" altLang="en-US" sz="800" baseline="0" dirty="0" smtClean="0">
                <a:latin typeface="Arial" panose="020B0604020202020204" pitchFamily="34" charset="0"/>
                <a:cs typeface="Arial" panose="020B0604020202020204" pitchFamily="34" charset="0"/>
                <a:sym typeface="Helvetica Neue Light"/>
              </a:rPr>
              <a:t> brings a full suite of cloud services to one place, such as API management &amp; Integration, DevOps, </a:t>
            </a:r>
            <a:r>
              <a:rPr lang="en-US" altLang="en-US" sz="800" baseline="0" dirty="0" err="1" smtClean="0">
                <a:latin typeface="Arial" panose="020B0604020202020204" pitchFamily="34" charset="0"/>
                <a:cs typeface="Arial" panose="020B0604020202020204" pitchFamily="34" charset="0"/>
                <a:sym typeface="Helvetica Neue Light"/>
              </a:rPr>
              <a:t>IoT</a:t>
            </a:r>
            <a:r>
              <a:rPr lang="en-US" altLang="en-US" sz="800" baseline="0" dirty="0" smtClean="0">
                <a:latin typeface="Arial" panose="020B0604020202020204" pitchFamily="34" charset="0"/>
                <a:cs typeface="Arial" panose="020B0604020202020204" pitchFamily="34" charset="0"/>
                <a:sym typeface="Helvetica Neue Light"/>
              </a:rPr>
              <a:t>, Cloud integration, Big Data and Analytics, Security and Watson to enhance development experience and provide enterprise capability.</a:t>
            </a:r>
            <a:endParaRPr lang="en-US" altLang="en-US" sz="800" dirty="0" smtClean="0">
              <a:latin typeface="Arial" panose="020B0604020202020204" pitchFamily="34" charset="0"/>
              <a:cs typeface="Arial" panose="020B0604020202020204" pitchFamily="34" charset="0"/>
              <a:sym typeface="Helvetica Neue Light"/>
            </a:endParaRPr>
          </a:p>
          <a:p>
            <a:r>
              <a:rPr lang="en-US" altLang="en-US" sz="800" dirty="0" smtClean="0">
                <a:latin typeface="Arial" panose="020B0604020202020204" pitchFamily="34" charset="0"/>
                <a:cs typeface="Arial" panose="020B0604020202020204" pitchFamily="34" charset="0"/>
              </a:rPr>
              <a:t>So whether you’re creating apps for the web, for mobile,</a:t>
            </a:r>
            <a:r>
              <a:rPr lang="en-US" altLang="en-US" sz="800" baseline="0" dirty="0" smtClean="0">
                <a:latin typeface="Arial" panose="020B0604020202020204" pitchFamily="34" charset="0"/>
                <a:cs typeface="Arial" panose="020B0604020202020204" pitchFamily="34" charset="0"/>
              </a:rPr>
              <a:t> </a:t>
            </a:r>
            <a:r>
              <a:rPr lang="en-US" altLang="en-US" sz="800" baseline="0" dirty="0" err="1" smtClean="0">
                <a:latin typeface="Arial" panose="020B0604020202020204" pitchFamily="34" charset="0"/>
                <a:cs typeface="Arial" panose="020B0604020202020204" pitchFamily="34" charset="0"/>
              </a:rPr>
              <a:t>IoT</a:t>
            </a:r>
            <a:r>
              <a:rPr lang="en-US" altLang="en-US" sz="800" baseline="0" dirty="0" smtClean="0">
                <a:latin typeface="Arial" panose="020B0604020202020204" pitchFamily="34" charset="0"/>
                <a:cs typeface="Arial" panose="020B0604020202020204" pitchFamily="34" charset="0"/>
              </a:rPr>
              <a:t> </a:t>
            </a:r>
            <a:r>
              <a:rPr lang="en-US" altLang="en-US" sz="800" dirty="0" smtClean="0">
                <a:latin typeface="Arial" panose="020B0604020202020204" pitchFamily="34" charset="0"/>
                <a:cs typeface="Arial" panose="020B0604020202020204" pitchFamily="34" charset="0"/>
              </a:rPr>
              <a:t>or for Big Data, Bluemix can help you build them smarter and get them to market faster...</a:t>
            </a:r>
          </a:p>
          <a:p>
            <a:r>
              <a:rPr lang="en-US" altLang="en-US" sz="800" dirty="0" smtClean="0">
                <a:latin typeface="Arial" panose="020B0604020202020204" pitchFamily="34" charset="0"/>
                <a:cs typeface="Arial" panose="020B0604020202020204" pitchFamily="34" charset="0"/>
              </a:rPr>
              <a:t>We will introduce detail Bluemix capabilities in later</a:t>
            </a:r>
            <a:r>
              <a:rPr lang="en-US" altLang="en-US" sz="800" baseline="0" dirty="0" smtClean="0">
                <a:latin typeface="Arial" panose="020B0604020202020204" pitchFamily="34" charset="0"/>
                <a:cs typeface="Arial" panose="020B0604020202020204" pitchFamily="34" charset="0"/>
              </a:rPr>
              <a:t> of this section.</a:t>
            </a:r>
            <a:endParaRPr lang="en-US" altLang="en-US" sz="800" dirty="0" smtClean="0">
              <a:latin typeface="Arial" panose="020B0604020202020204" pitchFamily="34" charset="0"/>
              <a:cs typeface="Arial" panose="020B0604020202020204" pitchFamily="34" charset="0"/>
            </a:endParaRPr>
          </a:p>
        </p:txBody>
      </p:sp>
      <p:sp>
        <p:nvSpPr>
          <p:cNvPr id="31748"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5F2FACD7-622B-4516-9FFF-EE16D08C99EE}" type="slidenum">
              <a:rPr lang="en-US" altLang="en-US" smtClean="0"/>
              <a:pPr/>
              <a:t>9</a:t>
            </a:fld>
            <a:endParaRPr lang="en-US" altLang="en-US" smtClean="0"/>
          </a:p>
        </p:txBody>
      </p:sp>
    </p:spTree>
    <p:extLst>
      <p:ext uri="{BB962C8B-B14F-4D97-AF65-F5344CB8AC3E}">
        <p14:creationId xmlns:p14="http://schemas.microsoft.com/office/powerpoint/2010/main" xmlns="" val="582199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mtClean="0">
                <a:latin typeface="Arial" panose="020B0604020202020204" pitchFamily="34" charset="0"/>
                <a:cs typeface="Arial" panose="020B0604020202020204" pitchFamily="34" charset="0"/>
              </a:rPr>
              <a:t>SaaS is place where software providers share IT resources such as application software /services between customers to enable self-service, rapid elasticity, and pay-per-use pricing.</a:t>
            </a:r>
          </a:p>
          <a:p>
            <a:r>
              <a:rPr lang="en-US" altLang="en-US" smtClean="0">
                <a:latin typeface="Arial" panose="020B0604020202020204" pitchFamily="34" charset="0"/>
                <a:cs typeface="Arial" panose="020B0604020202020204" pitchFamily="34" charset="0"/>
              </a:rPr>
              <a:t> </a:t>
            </a:r>
          </a:p>
          <a:p>
            <a:endParaRPr lang="en-US" altLang="en-US" smtClean="0">
              <a:latin typeface="Arial" panose="020B0604020202020204" pitchFamily="34" charset="0"/>
              <a:cs typeface="Arial" panose="020B0604020202020204" pitchFamily="34" charset="0"/>
            </a:endParaRPr>
          </a:p>
        </p:txBody>
      </p:sp>
      <p:sp>
        <p:nvSpPr>
          <p:cNvPr id="33796" name="Slide Number Placeholder 3"/>
          <p:cNvSpPr>
            <a:spLocks noGrp="1"/>
          </p:cNvSpPr>
          <p:nvPr>
            <p:ph type="sldNum" sz="quarter" idx="5"/>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fld id="{FB12ED29-9760-4D1B-B738-0C2847B01875}" type="slidenum">
              <a:rPr lang="en-US" altLang="en-US" smtClean="0"/>
              <a:pPr/>
              <a:t>10</a:t>
            </a:fld>
            <a:endParaRPr lang="en-US" altLang="en-US" smtClean="0"/>
          </a:p>
        </p:txBody>
      </p:sp>
    </p:spTree>
    <p:extLst>
      <p:ext uri="{BB962C8B-B14F-4D97-AF65-F5344CB8AC3E}">
        <p14:creationId xmlns:p14="http://schemas.microsoft.com/office/powerpoint/2010/main" xmlns="" val="2462799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u="none" strike="noStrike" kern="1200" baseline="0" dirty="0" smtClean="0">
                <a:solidFill>
                  <a:schemeClr val="tx1"/>
                </a:solidFill>
                <a:latin typeface="+mn-lt"/>
                <a:ea typeface="+mn-ea"/>
                <a:cs typeface="+mn-cs"/>
              </a:rPr>
              <a:t>while most companies see the value of SaaS for specific needs, IBM delivers a broad portfolio of SaaS solutions around Big Data &amp; Analytics, IT Operations, Business Process, Smarter Commerce, Smarter Cities, Smarter Workforce and social business, that can be deployed as part of a deeper business strategy to transform every aspect of an organization. With a robust cloud portfolio and proven track record in the industry, IBM is committed to delivering an innovative SaaS experience that combines the agility, compatibility and cost efficiency needed for every organization’s success now and into the future.</a:t>
            </a: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The IBM Cloud SaaS portfolio consists of five major categories with many unique applications, each designed to address unique business processes, industries and functions:</a:t>
            </a:r>
          </a:p>
          <a:p>
            <a:r>
              <a:rPr lang="en-US" sz="1200" b="1" i="0" u="none" strike="noStrike" kern="1200" baseline="0" dirty="0" smtClean="0">
                <a:solidFill>
                  <a:schemeClr val="tx1"/>
                </a:solidFill>
                <a:latin typeface="+mn-lt"/>
                <a:ea typeface="+mn-ea"/>
                <a:cs typeface="+mn-cs"/>
              </a:rPr>
              <a:t>Business Process as a Service - </a:t>
            </a:r>
            <a:r>
              <a:rPr lang="en-US" sz="1200" b="0" i="0" u="none" strike="noStrike" kern="1200" baseline="0" dirty="0" smtClean="0">
                <a:solidFill>
                  <a:schemeClr val="tx1"/>
                </a:solidFill>
                <a:latin typeface="+mn-lt"/>
                <a:ea typeface="+mn-ea"/>
                <a:cs typeface="+mn-cs"/>
              </a:rPr>
              <a:t>Rely on </a:t>
            </a:r>
            <a:r>
              <a:rPr lang="en-US" sz="1200" b="0" i="0" u="none" strike="noStrike" kern="1200" baseline="0" dirty="0" err="1" smtClean="0">
                <a:solidFill>
                  <a:schemeClr val="tx1"/>
                </a:solidFill>
                <a:latin typeface="+mn-lt"/>
                <a:ea typeface="+mn-ea"/>
                <a:cs typeface="+mn-cs"/>
              </a:rPr>
              <a:t>BPaaS</a:t>
            </a:r>
            <a:r>
              <a:rPr lang="en-US" sz="1200" b="0" i="0" u="none" strike="noStrike" kern="1200" baseline="0" dirty="0" smtClean="0">
                <a:solidFill>
                  <a:schemeClr val="tx1"/>
                </a:solidFill>
                <a:latin typeface="+mn-lt"/>
                <a:ea typeface="+mn-ea"/>
                <a:cs typeface="+mn-cs"/>
              </a:rPr>
              <a:t> tools to manage specific industry solutions that streamline efficiencies, unify business processes and enhance customer experience.</a:t>
            </a:r>
          </a:p>
          <a:p>
            <a:r>
              <a:rPr lang="en-US" sz="1200" b="1" i="0" u="none" strike="noStrike" kern="1200" baseline="0" dirty="0" smtClean="0">
                <a:solidFill>
                  <a:schemeClr val="tx1"/>
                </a:solidFill>
                <a:latin typeface="+mn-lt"/>
                <a:ea typeface="+mn-ea"/>
                <a:cs typeface="+mn-cs"/>
              </a:rPr>
              <a:t>IBM Cloud for Smarter Commerce - </a:t>
            </a:r>
            <a:r>
              <a:rPr lang="en-US" sz="1200" b="0" i="0" u="none" strike="noStrike" kern="1200" baseline="0" dirty="0" smtClean="0">
                <a:solidFill>
                  <a:schemeClr val="tx1"/>
                </a:solidFill>
                <a:latin typeface="+mn-lt"/>
                <a:ea typeface="+mn-ea"/>
                <a:cs typeface="+mn-cs"/>
              </a:rPr>
              <a:t>Leverage the power of the cloud to drive more meaningful interactions with customers and suppliers across every facet of the value chain: buy, market, sell and service.</a:t>
            </a:r>
          </a:p>
          <a:p>
            <a:r>
              <a:rPr lang="en-US" sz="1200" b="1" i="0" u="none" strike="noStrike" kern="1200" baseline="0" dirty="0" smtClean="0">
                <a:solidFill>
                  <a:schemeClr val="tx1"/>
                </a:solidFill>
                <a:latin typeface="+mn-lt"/>
                <a:ea typeface="+mn-ea"/>
                <a:cs typeface="+mn-cs"/>
              </a:rPr>
              <a:t>IBM Cloud for Smarter Cities</a:t>
            </a:r>
            <a:r>
              <a:rPr lang="en-US" sz="1200" b="0" i="0" u="none" strike="noStrike" kern="1200" baseline="0" dirty="0" smtClean="0">
                <a:solidFill>
                  <a:schemeClr val="tx1"/>
                </a:solidFill>
                <a:latin typeface="+mn-lt"/>
                <a:ea typeface="+mn-ea"/>
                <a:cs typeface="+mn-cs"/>
              </a:rPr>
              <a:t>: Flexible, cost-effective SaaS solutions grow with a city’s demands and deliver the powerful data needed to efficiently manage resources and make informed, proactive decisions.</a:t>
            </a:r>
          </a:p>
          <a:p>
            <a:r>
              <a:rPr lang="en-US" sz="1200" b="1" i="0" u="none" strike="noStrike" kern="1200" baseline="0" dirty="0" smtClean="0">
                <a:solidFill>
                  <a:schemeClr val="tx1"/>
                </a:solidFill>
                <a:latin typeface="+mn-lt"/>
                <a:ea typeface="+mn-ea"/>
                <a:cs typeface="+mn-cs"/>
              </a:rPr>
              <a:t>IBM Cloud for Social Business: </a:t>
            </a:r>
            <a:r>
              <a:rPr lang="en-US" sz="1200" b="0" i="0" u="none" strike="noStrike" kern="1200" baseline="0" dirty="0" smtClean="0">
                <a:solidFill>
                  <a:schemeClr val="tx1"/>
                </a:solidFill>
                <a:latin typeface="+mn-lt"/>
                <a:ea typeface="+mn-ea"/>
                <a:cs typeface="+mn-cs"/>
              </a:rPr>
              <a:t>Increase innovation and accelerate decision making by unifying human capital to build high-functioning communities.</a:t>
            </a:r>
          </a:p>
          <a:p>
            <a:r>
              <a:rPr lang="en-US" sz="1200" b="1" i="0" u="none" strike="noStrike" kern="1200" baseline="0" dirty="0" smtClean="0">
                <a:solidFill>
                  <a:schemeClr val="tx1"/>
                </a:solidFill>
                <a:latin typeface="+mn-lt"/>
                <a:ea typeface="+mn-ea"/>
                <a:cs typeface="+mn-cs"/>
              </a:rPr>
              <a:t>IBM Cloud for Smarter Analytics: </a:t>
            </a:r>
            <a:r>
              <a:rPr lang="en-US" sz="1200" b="0" i="0" u="none" strike="noStrike" kern="1200" baseline="0" dirty="0" smtClean="0">
                <a:solidFill>
                  <a:schemeClr val="tx1"/>
                </a:solidFill>
                <a:latin typeface="+mn-lt"/>
                <a:ea typeface="+mn-ea"/>
                <a:cs typeface="+mn-cs"/>
              </a:rPr>
              <a:t>Facilitate better decisions, increased efficiency and faster innovation across the enterprise by delivering the right data to the right people more effectively and economically than ever.</a:t>
            </a:r>
          </a:p>
          <a:p>
            <a:r>
              <a:rPr lang="en-US" sz="1200" b="0" i="0" u="none" strike="noStrike" kern="1200" baseline="0" dirty="0" smtClean="0">
                <a:solidFill>
                  <a:schemeClr val="tx1"/>
                </a:solidFill>
                <a:latin typeface="+mn-lt"/>
                <a:ea typeface="+mn-ea"/>
                <a:cs typeface="+mn-cs"/>
              </a:rPr>
              <a:t>With a robust cloud portfolio and proven track record in the industry, IBM is committed to delivering an innovative SaaS experience that combines the agility, compatibility and cost efficiency</a:t>
            </a:r>
          </a:p>
          <a:p>
            <a:r>
              <a:rPr lang="en-US" sz="1200" b="0" i="0" u="none" strike="noStrike" kern="1200" baseline="0" dirty="0" smtClean="0">
                <a:solidFill>
                  <a:schemeClr val="tx1"/>
                </a:solidFill>
                <a:latin typeface="+mn-lt"/>
                <a:ea typeface="+mn-ea"/>
                <a:cs typeface="+mn-cs"/>
              </a:rPr>
              <a:t>needed for every organization’s success now and into the future.</a:t>
            </a:r>
          </a:p>
          <a:p>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11</a:t>
            </a:fld>
            <a:endParaRPr lang="en-US"/>
          </a:p>
        </p:txBody>
      </p:sp>
    </p:spTree>
    <p:extLst>
      <p:ext uri="{BB962C8B-B14F-4D97-AF65-F5344CB8AC3E}">
        <p14:creationId xmlns:p14="http://schemas.microsoft.com/office/powerpoint/2010/main" xmlns="" val="3209567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a:ln/>
        </p:spPr>
      </p:sp>
      <p:sp>
        <p:nvSpPr>
          <p:cNvPr id="35843" name="Rectangle 3"/>
          <p:cNvSpPr>
            <a:spLocks noGrp="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1000" dirty="0" smtClean="0">
                <a:latin typeface="Arial" panose="020B0604020202020204" pitchFamily="34" charset="0"/>
                <a:cs typeface="Arial" panose="020B0604020202020204" pitchFamily="34" charset="0"/>
              </a:rPr>
              <a:t>IBM Cloud marketplace is a customer facing cloud services store where the service providers (IBM or Business Partners) can publish their cloud services, and consumers (also called clients) can purchase these services.</a:t>
            </a:r>
          </a:p>
          <a:p>
            <a:r>
              <a:rPr lang="en-US" altLang="en-US" sz="1000" dirty="0" smtClean="0">
                <a:latin typeface="Arial" panose="020B0604020202020204" pitchFamily="34" charset="0"/>
                <a:cs typeface="Arial" panose="020B0604020202020204" pitchFamily="34" charset="0"/>
              </a:rPr>
              <a:t>IBM’s marketplace contains a variety of Software as a Service products that can be up and running within minutes of ordering. The services published</a:t>
            </a:r>
            <a:r>
              <a:rPr lang="en-US" altLang="en-US" sz="1000" baseline="0" dirty="0" smtClean="0">
                <a:latin typeface="Arial" panose="020B0604020202020204" pitchFamily="34" charset="0"/>
                <a:cs typeface="Arial" panose="020B0604020202020204" pitchFamily="34" charset="0"/>
              </a:rPr>
              <a:t> on Market place are from both IBM and Business partners shown on the slide.  More partners are publishing their applications as service on IBM Cloud Marketplace.</a:t>
            </a:r>
            <a:endParaRPr lang="en-US" altLang="en-US" sz="1000" dirty="0" smtClean="0">
              <a:latin typeface="Arial" panose="020B0604020202020204" pitchFamily="34" charset="0"/>
              <a:cs typeface="Arial" panose="020B0604020202020204" pitchFamily="34" charset="0"/>
            </a:endParaRPr>
          </a:p>
          <a:p>
            <a:pPr>
              <a:lnSpc>
                <a:spcPct val="105000"/>
              </a:lnSpc>
            </a:pPr>
            <a:endParaRPr lang="en-US" altLang="en-US" sz="1000" dirty="0" smtClean="0">
              <a:latin typeface="Arial" panose="020B0604020202020204" pitchFamily="34" charset="0"/>
              <a:cs typeface="Arial" panose="020B0604020202020204" pitchFamily="34" charset="0"/>
            </a:endParaRPr>
          </a:p>
          <a:p>
            <a:pPr>
              <a:lnSpc>
                <a:spcPct val="105000"/>
              </a:lnSpc>
            </a:pPr>
            <a:r>
              <a:rPr lang="en-US" altLang="en-US" sz="1000" dirty="0" smtClean="0">
                <a:latin typeface="Arial" panose="020B0604020202020204" pitchFamily="34" charset="0"/>
                <a:cs typeface="Arial" panose="020B0604020202020204" pitchFamily="34" charset="0"/>
              </a:rPr>
              <a:t>We have a limited preview of the IBM Cloud partner marketplace. You can </a:t>
            </a:r>
            <a:r>
              <a:rPr lang="en-US" altLang="en-US" sz="1050" dirty="0" smtClean="0">
                <a:latin typeface="Arial" panose="020B0604020202020204" pitchFamily="34" charset="0"/>
                <a:cs typeface="Arial" panose="020B0604020202020204" pitchFamily="34" charset="0"/>
              </a:rPr>
              <a:t>Nominate your cloud offering now at ibm.biz/newway4partners.</a:t>
            </a:r>
            <a:r>
              <a:rPr lang="en-US" altLang="en-US" sz="1000" dirty="0" smtClean="0">
                <a:latin typeface="Arial" panose="020B0604020202020204" pitchFamily="34" charset="0"/>
                <a:cs typeface="Arial" panose="020B0604020202020204" pitchFamily="34" charset="0"/>
              </a:rPr>
              <a:t> </a:t>
            </a:r>
          </a:p>
          <a:p>
            <a:pPr>
              <a:lnSpc>
                <a:spcPct val="105000"/>
              </a:lnSpc>
            </a:pPr>
            <a:r>
              <a:rPr lang="en-US" altLang="en-US" sz="1000" dirty="0" smtClean="0">
                <a:latin typeface="Arial" panose="020B0604020202020204" pitchFamily="34" charset="0"/>
                <a:cs typeface="Arial" panose="020B0604020202020204" pitchFamily="34" charset="0"/>
              </a:rPr>
              <a:t>We are working with partners  who are creating API-based services which can be used by developers, such as location services and e-signature.</a:t>
            </a:r>
          </a:p>
          <a:p>
            <a:pPr>
              <a:lnSpc>
                <a:spcPct val="105000"/>
              </a:lnSpc>
            </a:pPr>
            <a:r>
              <a:rPr lang="en-US" altLang="en-US" sz="1000" dirty="0" smtClean="0">
                <a:latin typeface="Arial" panose="020B0604020202020204" pitchFamily="34" charset="0"/>
                <a:cs typeface="Arial" panose="020B0604020202020204" pitchFamily="34" charset="0"/>
              </a:rPr>
              <a:t>We are looking for cloud services that simplify, optimize and accelerate the cloud experience.  </a:t>
            </a:r>
          </a:p>
          <a:p>
            <a:pPr>
              <a:lnSpc>
                <a:spcPct val="105000"/>
              </a:lnSpc>
            </a:pPr>
            <a:r>
              <a:rPr lang="en-US" altLang="en-US" sz="1000" dirty="0" smtClean="0">
                <a:latin typeface="Arial" panose="020B0604020202020204" pitchFamily="34" charset="0"/>
                <a:cs typeface="Arial" panose="020B0604020202020204" pitchFamily="34" charset="0"/>
              </a:rPr>
              <a:t>The IBM Cloud partner marketplace is available now in limited preview for partners who qualify - </a:t>
            </a:r>
            <a:r>
              <a:rPr lang="en-US" altLang="en-US" sz="1050" dirty="0" smtClean="0">
                <a:latin typeface="Arial" panose="020B0604020202020204" pitchFamily="34" charset="0"/>
                <a:cs typeface="Arial" panose="020B0604020202020204" pitchFamily="34" charset="0"/>
              </a:rPr>
              <a:t>Nominate your cloud offering now at ibm.biz/newway4partners. </a:t>
            </a:r>
            <a:endParaRPr lang="en-US" altLang="en-US" sz="1000" dirty="0" smtClean="0">
              <a:latin typeface="Arial" panose="020B0604020202020204" pitchFamily="34" charset="0"/>
              <a:cs typeface="Arial" panose="020B0604020202020204" pitchFamily="34" charset="0"/>
            </a:endParaRPr>
          </a:p>
          <a:p>
            <a:pPr>
              <a:lnSpc>
                <a:spcPct val="105000"/>
              </a:lnSpc>
            </a:pPr>
            <a:r>
              <a:rPr lang="en-US" altLang="en-US" sz="1000" dirty="0" smtClean="0">
                <a:solidFill>
                  <a:schemeClr val="hlink"/>
                </a:solidFill>
                <a:latin typeface="Arial" panose="020B0604020202020204" pitchFamily="34" charset="0"/>
                <a:cs typeface="Arial" panose="020B0604020202020204" pitchFamily="34" charset="0"/>
              </a:rPr>
              <a:t>Details are in development, but the commercial model will likely follow established marketplace models.</a:t>
            </a:r>
            <a:endParaRPr lang="en-US" altLang="en-US" dirty="0" smtClean="0">
              <a:solidFill>
                <a:schemeClr val="hlin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49936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hape 303"/>
          <p:cNvSpPr>
            <a:spLocks noGrp="1" noRot="1" noChangeAspect="1" noTextEdit="1"/>
          </p:cNvSpPr>
          <p:nvPr>
            <p:ph type="sldImg"/>
          </p:nvPr>
        </p:nvSpPr>
        <p:spPr>
          <a:ln/>
        </p:spPr>
      </p:sp>
      <p:sp>
        <p:nvSpPr>
          <p:cNvPr id="58371" name="Shape 304"/>
          <p:cNvSpPr>
            <a:spLocks noGrp="1"/>
          </p:cNvSpPr>
          <p:nvPr>
            <p:ph type="body" sz="quarter"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altLang="en-US" sz="1100" dirty="0" smtClean="0">
                <a:latin typeface="Arial" panose="020B0604020202020204" pitchFamily="34" charset="0"/>
                <a:cs typeface="Arial" panose="020B0604020202020204" pitchFamily="34" charset="0"/>
              </a:rPr>
              <a:t>While timing is critical (what we just discussed), </a:t>
            </a:r>
            <a:r>
              <a:rPr lang="en-US" altLang="en-US" sz="1100" b="1" dirty="0" smtClean="0">
                <a:latin typeface="Arial" panose="020B0604020202020204" pitchFamily="34" charset="0"/>
                <a:cs typeface="Arial" panose="020B0604020202020204" pitchFamily="34" charset="0"/>
              </a:rPr>
              <a:t>the systems and data you use today</a:t>
            </a:r>
            <a:r>
              <a:rPr lang="en-US" altLang="en-US" sz="1100" b="1" dirty="0" smtClean="0">
                <a:solidFill>
                  <a:srgbClr val="0365C0"/>
                </a:solidFill>
                <a:latin typeface="Arial" panose="020B0604020202020204" pitchFamily="34" charset="0"/>
                <a:cs typeface="Arial" panose="020B0604020202020204" pitchFamily="34" charset="0"/>
              </a:rPr>
              <a:t> can</a:t>
            </a:r>
            <a:r>
              <a:rPr lang="ja-JP" altLang="en-US" sz="1100" b="1" dirty="0" smtClean="0">
                <a:solidFill>
                  <a:srgbClr val="0365C0"/>
                </a:solidFill>
                <a:latin typeface="Arial" panose="020B0604020202020204" pitchFamily="34" charset="0"/>
                <a:cs typeface="Arial" panose="020B0604020202020204" pitchFamily="34" charset="0"/>
              </a:rPr>
              <a:t>’</a:t>
            </a:r>
            <a:r>
              <a:rPr lang="en-US" altLang="ja-JP" sz="1100" b="1" dirty="0" smtClean="0">
                <a:solidFill>
                  <a:srgbClr val="0365C0"/>
                </a:solidFill>
                <a:latin typeface="Arial" panose="020B0604020202020204" pitchFamily="34" charset="0"/>
                <a:cs typeface="Arial" panose="020B0604020202020204" pitchFamily="34" charset="0"/>
              </a:rPr>
              <a:t>t be forgotten</a:t>
            </a:r>
            <a:r>
              <a:rPr lang="en-US" altLang="ja-JP" sz="1100" dirty="0" smtClean="0">
                <a:latin typeface="Arial" panose="020B0604020202020204" pitchFamily="34" charset="0"/>
                <a:cs typeface="Arial" panose="020B0604020202020204" pitchFamily="34" charset="0"/>
              </a:rPr>
              <a:t>. That</a:t>
            </a:r>
            <a:r>
              <a:rPr lang="ja-JP" altLang="en-US" sz="1100" dirty="0" smtClean="0">
                <a:latin typeface="Arial" panose="020B0604020202020204" pitchFamily="34" charset="0"/>
                <a:cs typeface="Arial" panose="020B0604020202020204" pitchFamily="34" charset="0"/>
              </a:rPr>
              <a:t>’</a:t>
            </a:r>
            <a:r>
              <a:rPr lang="en-US" altLang="ja-JP" sz="1100" dirty="0" smtClean="0">
                <a:latin typeface="Arial" panose="020B0604020202020204" pitchFamily="34" charset="0"/>
                <a:cs typeface="Arial" panose="020B0604020202020204" pitchFamily="34" charset="0"/>
              </a:rPr>
              <a:t>s why Bluemix simply and securely connects to </a:t>
            </a:r>
            <a:r>
              <a:rPr lang="en-US" altLang="ja-JP" sz="1100" b="1" dirty="0" smtClean="0">
                <a:latin typeface="Arial" panose="020B0604020202020204" pitchFamily="34" charset="0"/>
                <a:cs typeface="Arial" panose="020B0604020202020204" pitchFamily="34" charset="0"/>
              </a:rPr>
              <a:t>core IT</a:t>
            </a:r>
            <a:r>
              <a:rPr lang="en-US" altLang="ja-JP" sz="1100" dirty="0" smtClean="0">
                <a:latin typeface="Arial" panose="020B0604020202020204" pitchFamily="34" charset="0"/>
                <a:cs typeface="Arial" panose="020B0604020202020204" pitchFamily="34" charset="0"/>
              </a:rPr>
              <a:t> and </a:t>
            </a:r>
            <a:r>
              <a:rPr lang="en-US" altLang="ja-JP" sz="1100" b="1" dirty="0" smtClean="0">
                <a:latin typeface="Arial" panose="020B0604020202020204" pitchFamily="34" charset="0"/>
                <a:cs typeface="Arial" panose="020B0604020202020204" pitchFamily="34" charset="0"/>
              </a:rPr>
              <a:t>even other clouds</a:t>
            </a:r>
            <a:r>
              <a:rPr lang="en-US" altLang="ja-JP" sz="1100" dirty="0" smtClean="0">
                <a:latin typeface="Arial" panose="020B0604020202020204" pitchFamily="34" charset="0"/>
                <a:cs typeface="Arial" panose="020B0604020202020204" pitchFamily="34" charset="0"/>
              </a:rPr>
              <a:t> (leveraging IBM</a:t>
            </a:r>
            <a:r>
              <a:rPr lang="ja-JP" altLang="en-US" sz="1100" dirty="0" smtClean="0">
                <a:latin typeface="Arial" panose="020B0604020202020204" pitchFamily="34" charset="0"/>
                <a:cs typeface="Arial" panose="020B0604020202020204" pitchFamily="34" charset="0"/>
              </a:rPr>
              <a:t>’</a:t>
            </a:r>
            <a:r>
              <a:rPr lang="en-US" altLang="ja-JP" sz="1100" dirty="0" smtClean="0">
                <a:latin typeface="Arial" panose="020B0604020202020204" pitchFamily="34" charset="0"/>
                <a:cs typeface="Arial" panose="020B0604020202020204" pitchFamily="34" charset="0"/>
              </a:rPr>
              <a:t>s </a:t>
            </a:r>
            <a:r>
              <a:rPr lang="en-US" altLang="ja-JP" sz="1100" b="1" dirty="0" smtClean="0">
                <a:latin typeface="Arial" panose="020B0604020202020204" pitchFamily="34" charset="0"/>
                <a:cs typeface="Arial" panose="020B0604020202020204" pitchFamily="34" charset="0"/>
              </a:rPr>
              <a:t>proven reputation as a systems integrator</a:t>
            </a:r>
            <a:r>
              <a:rPr lang="en-US" altLang="ja-JP" sz="1100" dirty="0" smtClean="0">
                <a:latin typeface="Arial" panose="020B0604020202020204" pitchFamily="34" charset="0"/>
                <a:cs typeface="Arial" panose="020B0604020202020204" pitchFamily="34" charset="0"/>
              </a:rPr>
              <a:t>).</a:t>
            </a:r>
          </a:p>
          <a:p>
            <a:endParaRPr lang="en-US" altLang="en-US" sz="1100" dirty="0" smtClean="0">
              <a:latin typeface="Arial" panose="020B0604020202020204" pitchFamily="34" charset="0"/>
              <a:cs typeface="Arial" panose="020B0604020202020204" pitchFamily="34" charset="0"/>
            </a:endParaRPr>
          </a:p>
          <a:p>
            <a:r>
              <a:rPr lang="en-US" altLang="en-US" sz="1100" b="1" dirty="0" smtClean="0">
                <a:solidFill>
                  <a:srgbClr val="0365C0"/>
                </a:solidFill>
                <a:latin typeface="Arial" panose="020B0604020202020204" pitchFamily="34" charset="0"/>
                <a:cs typeface="Arial" panose="020B0604020202020204" pitchFamily="34" charset="0"/>
              </a:rPr>
              <a:t>Hybrid cloud</a:t>
            </a:r>
            <a:r>
              <a:rPr lang="en-US" altLang="en-US" sz="1100" b="1" dirty="0" smtClean="0">
                <a:latin typeface="Arial" panose="020B0604020202020204" pitchFamily="34" charset="0"/>
                <a:cs typeface="Arial" panose="020B0604020202020204" pitchFamily="34" charset="0"/>
              </a:rPr>
              <a:t>, where Public and Private clouds work together with Core IT investments, is critical to success given the </a:t>
            </a:r>
            <a:r>
              <a:rPr lang="en-US" altLang="en-US" sz="1100" b="1" dirty="0" smtClean="0">
                <a:solidFill>
                  <a:srgbClr val="0365C0"/>
                </a:solidFill>
                <a:latin typeface="Arial" panose="020B0604020202020204" pitchFamily="34" charset="0"/>
                <a:cs typeface="Arial" panose="020B0604020202020204" pitchFamily="34" charset="0"/>
              </a:rPr>
              <a:t>app revolution</a:t>
            </a:r>
            <a:r>
              <a:rPr lang="en-US" altLang="en-US" sz="1100" b="1" dirty="0" smtClean="0">
                <a:latin typeface="Arial" panose="020B0604020202020204" pitchFamily="34" charset="0"/>
                <a:cs typeface="Arial" panose="020B0604020202020204" pitchFamily="34" charset="0"/>
              </a:rPr>
              <a:t> and the </a:t>
            </a:r>
            <a:r>
              <a:rPr lang="en-US" altLang="en-US" sz="1100" b="1" dirty="0" smtClean="0">
                <a:solidFill>
                  <a:srgbClr val="0365C0"/>
                </a:solidFill>
                <a:latin typeface="Arial" panose="020B0604020202020204" pitchFamily="34" charset="0"/>
                <a:cs typeface="Arial" panose="020B0604020202020204" pitchFamily="34" charset="0"/>
              </a:rPr>
              <a:t>expectations and increased competition</a:t>
            </a:r>
            <a:r>
              <a:rPr lang="en-US" altLang="en-US" sz="1100" b="1" dirty="0" smtClean="0">
                <a:latin typeface="Arial" panose="020B0604020202020204" pitchFamily="34" charset="0"/>
                <a:cs typeface="Arial" panose="020B0604020202020204" pitchFamily="34" charset="0"/>
              </a:rPr>
              <a:t> it has generated.</a:t>
            </a:r>
          </a:p>
          <a:p>
            <a:endParaRPr lang="en-US" altLang="en-US" sz="1100" b="1" dirty="0" smtClean="0">
              <a:latin typeface="Arial" panose="020B0604020202020204" pitchFamily="34" charset="0"/>
              <a:cs typeface="Arial" panose="020B0604020202020204" pitchFamily="34" charset="0"/>
            </a:endParaRPr>
          </a:p>
          <a:p>
            <a:r>
              <a:rPr lang="en-US" altLang="en-US" sz="1100" b="1" dirty="0" smtClean="0">
                <a:latin typeface="Arial" panose="020B0604020202020204" pitchFamily="34" charset="0"/>
                <a:cs typeface="Arial" panose="020B0604020202020204" pitchFamily="34" charset="0"/>
              </a:rPr>
              <a:t>Overall, hybrid cloud represents the </a:t>
            </a:r>
            <a:r>
              <a:rPr lang="ja-JP" altLang="en-US" sz="1100" b="1" dirty="0" smtClean="0">
                <a:latin typeface="Arial" panose="020B0604020202020204" pitchFamily="34" charset="0"/>
                <a:cs typeface="Arial" panose="020B0604020202020204" pitchFamily="34" charset="0"/>
              </a:rPr>
              <a:t>“</a:t>
            </a:r>
            <a:r>
              <a:rPr lang="en-US" altLang="ja-JP" sz="1100" b="1" dirty="0" smtClean="0">
                <a:solidFill>
                  <a:srgbClr val="0365C0"/>
                </a:solidFill>
                <a:latin typeface="Arial" panose="020B0604020202020204" pitchFamily="34" charset="0"/>
                <a:cs typeface="Arial" panose="020B0604020202020204" pitchFamily="34" charset="0"/>
              </a:rPr>
              <a:t>New IT…</a:t>
            </a:r>
            <a:r>
              <a:rPr lang="ja-JP" altLang="en-US" sz="1100" b="1" dirty="0" smtClean="0">
                <a:solidFill>
                  <a:srgbClr val="0365C0"/>
                </a:solidFill>
                <a:latin typeface="Arial" panose="020B0604020202020204" pitchFamily="34" charset="0"/>
                <a:cs typeface="Arial" panose="020B0604020202020204" pitchFamily="34" charset="0"/>
              </a:rPr>
              <a:t>”</a:t>
            </a:r>
            <a:endParaRPr lang="en-US" altLang="en-US" b="1" dirty="0" smtClean="0">
              <a:solidFill>
                <a:srgbClr val="0365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xmlns="" val="1872282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Here’s a list of useful bookmarks on the topics</a:t>
            </a:r>
            <a:r>
              <a:rPr lang="en-US" baseline="0" dirty="0" smtClean="0"/>
              <a:t> we covered in this section </a:t>
            </a:r>
            <a:r>
              <a:rPr lang="en-US" dirty="0" smtClean="0"/>
              <a:t>for your reference.</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14</a:t>
            </a:fld>
            <a:endParaRPr lang="en-US"/>
          </a:p>
        </p:txBody>
      </p:sp>
    </p:spTree>
    <p:extLst>
      <p:ext uri="{BB962C8B-B14F-4D97-AF65-F5344CB8AC3E}">
        <p14:creationId xmlns:p14="http://schemas.microsoft.com/office/powerpoint/2010/main" xmlns="" val="38303915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Please post your questions or find the answers on Bluemix Community https://ibm.biz/BdXGBL</a:t>
            </a:r>
            <a:endParaRPr lang="en-US" dirty="0"/>
          </a:p>
        </p:txBody>
      </p:sp>
      <p:sp>
        <p:nvSpPr>
          <p:cNvPr id="4" name="Slide Number Placeholder 3"/>
          <p:cNvSpPr>
            <a:spLocks noGrp="1"/>
          </p:cNvSpPr>
          <p:nvPr>
            <p:ph type="sldNum" sz="quarter" idx="10"/>
          </p:nvPr>
        </p:nvSpPr>
        <p:spPr/>
        <p:txBody>
          <a:bodyPr/>
          <a:lstStyle/>
          <a:p>
            <a:fld id="{C3C999AD-79EC-4F02-84A9-EEA7F0527E47}" type="slidenum">
              <a:rPr lang="en-US" smtClean="0"/>
              <a:pPr/>
              <a:t>15</a:t>
            </a:fld>
            <a:endParaRPr lang="en-US"/>
          </a:p>
        </p:txBody>
      </p:sp>
    </p:spTree>
    <p:extLst>
      <p:ext uri="{BB962C8B-B14F-4D97-AF65-F5344CB8AC3E}">
        <p14:creationId xmlns:p14="http://schemas.microsoft.com/office/powerpoint/2010/main" xmlns="" val="5491206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Rectangle 11"/>
          <p:cNvSpPr/>
          <p:nvPr userDrawn="1"/>
        </p:nvSpPr>
        <p:spPr>
          <a:xfrm>
            <a:off x="0" y="0"/>
            <a:ext cx="9144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400800" y="0"/>
            <a:ext cx="2743200"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311101" y="3886200"/>
            <a:ext cx="5029200" cy="457200"/>
          </a:xfrm>
        </p:spPr>
        <p:txBody>
          <a:bodyPr lIns="0" tIns="0" rIns="0" bIns="0">
            <a:noAutofit/>
          </a:bodyPr>
          <a:lstStyle>
            <a:lvl1pPr algn="l">
              <a:defRPr sz="2800" b="1">
                <a:solidFill>
                  <a:srgbClr val="FFFFFF"/>
                </a:solidFill>
              </a:defRPr>
            </a:lvl1pPr>
          </a:lstStyle>
          <a:p>
            <a:r>
              <a:rPr lang="en-US" dirty="0" smtClean="0"/>
              <a:t>Enter Presentation Title</a:t>
            </a:r>
            <a:endParaRPr lang="en-US" dirty="0"/>
          </a:p>
        </p:txBody>
      </p:sp>
      <p:pic>
        <p:nvPicPr>
          <p:cNvPr id="11" name="Picture 10" descr="Cloud_word.png"/>
          <p:cNvPicPr>
            <a:picLocks noChangeAspect="1"/>
          </p:cNvPicPr>
          <p:nvPr userDrawn="1"/>
        </p:nvPicPr>
        <p:blipFill>
          <a:blip r:embed="rId2" cstate="screen">
            <a:extLst>
              <a:ext uri="{28A0092B-C50C-407E-A947-70E740481C1C}">
                <a14:useLocalDpi xmlns:a14="http://schemas.microsoft.com/office/drawing/2010/main" xmlns="" val="0"/>
              </a:ext>
            </a:extLst>
          </a:blip>
          <a:stretch>
            <a:fillRect/>
          </a:stretch>
        </p:blipFill>
        <p:spPr>
          <a:xfrm>
            <a:off x="6680960" y="6456890"/>
            <a:ext cx="906236" cy="151039"/>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xmlns="" val="0"/>
              </a:ext>
            </a:extLst>
          </a:blip>
          <a:stretch>
            <a:fillRect/>
          </a:stretch>
        </p:blipFill>
        <p:spPr>
          <a:xfrm>
            <a:off x="633131" y="1433615"/>
            <a:ext cx="2917767" cy="2468880"/>
          </a:xfrm>
          <a:prstGeom prst="rect">
            <a:avLst/>
          </a:prstGeom>
        </p:spPr>
      </p:pic>
      <p:sp>
        <p:nvSpPr>
          <p:cNvPr id="8" name="TextBox 7"/>
          <p:cNvSpPr txBox="1"/>
          <p:nvPr userDrawn="1"/>
        </p:nvSpPr>
        <p:spPr>
          <a:xfrm>
            <a:off x="6629400" y="4937760"/>
            <a:ext cx="1737360" cy="274320"/>
          </a:xfrm>
          <a:prstGeom prst="rect">
            <a:avLst/>
          </a:prstGeom>
          <a:noFill/>
        </p:spPr>
        <p:txBody>
          <a:bodyPr wrap="square" lIns="0" tIns="0" rIns="0" bIns="0" rtlCol="0" anchor="ctr" anchorCtr="0">
            <a:noAutofit/>
          </a:bodyPr>
          <a:lstStyle/>
          <a:p>
            <a:r>
              <a:rPr lang="en-US" sz="1600" b="1" kern="0" spc="-30" dirty="0" smtClean="0">
                <a:solidFill>
                  <a:srgbClr val="FFFFFF"/>
                </a:solidFill>
                <a:latin typeface="Arial"/>
                <a:cs typeface="Arial"/>
              </a:rPr>
              <a:t>Presented by:</a:t>
            </a:r>
          </a:p>
        </p:txBody>
      </p:sp>
      <p:sp>
        <p:nvSpPr>
          <p:cNvPr id="13" name="Text Placeholder 6"/>
          <p:cNvSpPr>
            <a:spLocks noGrp="1"/>
          </p:cNvSpPr>
          <p:nvPr>
            <p:ph type="body" sz="quarter" idx="11" hasCustomPrompt="1"/>
          </p:nvPr>
        </p:nvSpPr>
        <p:spPr>
          <a:xfrm>
            <a:off x="6629400" y="521208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Enter Full Name</a:t>
            </a:r>
            <a:endParaRPr lang="en-US" dirty="0"/>
          </a:p>
        </p:txBody>
      </p:sp>
      <p:sp>
        <p:nvSpPr>
          <p:cNvPr id="14" name="Text Placeholder 6"/>
          <p:cNvSpPr>
            <a:spLocks noGrp="1"/>
          </p:cNvSpPr>
          <p:nvPr>
            <p:ph type="body" sz="quarter" idx="12" hasCustomPrompt="1"/>
          </p:nvPr>
        </p:nvSpPr>
        <p:spPr>
          <a:xfrm>
            <a:off x="6629400" y="5486400"/>
            <a:ext cx="2377440" cy="274320"/>
          </a:xfrm>
        </p:spPr>
        <p:txBody>
          <a:bodyPr lIns="0" tIns="0" rIns="0" bIns="0" anchor="ctr" anchorCtr="0">
            <a:noAutofit/>
          </a:bodyPr>
          <a:lstStyle>
            <a:lvl1pPr marL="0" indent="0">
              <a:spcBef>
                <a:spcPts val="0"/>
              </a:spcBef>
              <a:buNone/>
              <a:defRPr sz="1600"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Enter Title</a:t>
            </a:r>
            <a:endParaRPr lang="en-US" dirty="0"/>
          </a:p>
        </p:txBody>
      </p:sp>
    </p:spTree>
    <p:extLst>
      <p:ext uri="{BB962C8B-B14F-4D97-AF65-F5344CB8AC3E}">
        <p14:creationId xmlns:p14="http://schemas.microsoft.com/office/powerpoint/2010/main" xmlns="" val="4011530668"/>
      </p:ext>
    </p:extLst>
  </p:cSld>
  <p:clrMapOvr>
    <a:masterClrMapping/>
  </p:clrMapOvr>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234317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0" name="Shape 20"/>
          <p:cNvSpPr>
            <a:spLocks noGrp="1"/>
          </p:cNvSpPr>
          <p:nvPr>
            <p:ph type="title"/>
          </p:nvPr>
        </p:nvSpPr>
        <p:spPr>
          <a:xfrm>
            <a:off x="261194" y="419695"/>
            <a:ext cx="6168182" cy="389466"/>
          </a:xfrm>
          <a:prstGeom prst="rect">
            <a:avLst/>
          </a:prstGeom>
        </p:spPr>
        <p:txBody>
          <a:bodyPr/>
          <a:lstStyle/>
          <a:p>
            <a:pPr lvl="0"/>
            <a:r>
              <a:rPr/>
              <a:t>Title Text</a:t>
            </a:r>
          </a:p>
        </p:txBody>
      </p:sp>
      <p:sp>
        <p:nvSpPr>
          <p:cNvPr id="21" name="Shape 21"/>
          <p:cNvSpPr>
            <a:spLocks noGrp="1"/>
          </p:cNvSpPr>
          <p:nvPr>
            <p:ph type="body" idx="1"/>
          </p:nvPr>
        </p:nvSpPr>
        <p:spPr>
          <a:prstGeom prst="rect">
            <a:avLst/>
          </a:prstGeom>
        </p:spPr>
        <p:txBody>
          <a:bodyPr/>
          <a:lstStyle/>
          <a:p>
            <a:pPr lvl="0"/>
            <a:r>
              <a:rPr/>
              <a:t>Body Level One</a:t>
            </a:r>
          </a:p>
          <a:p>
            <a:pPr lvl="1"/>
            <a:r>
              <a:rPr/>
              <a:t>Body Level Two</a:t>
            </a:r>
          </a:p>
          <a:p>
            <a:pPr lvl="2"/>
            <a:r>
              <a:rPr/>
              <a:t>Body Level Three</a:t>
            </a:r>
          </a:p>
          <a:p>
            <a:pPr lvl="3"/>
            <a:r>
              <a:rPr/>
              <a:t>Body Level Four</a:t>
            </a:r>
          </a:p>
          <a:p>
            <a:pPr lvl="4"/>
            <a:r>
              <a:rPr/>
              <a:t>Body Level Five</a:t>
            </a:r>
          </a:p>
        </p:txBody>
      </p:sp>
      <p:sp>
        <p:nvSpPr>
          <p:cNvPr id="4" name="Shape 22"/>
          <p:cNvSpPr>
            <a:spLocks noGrp="1"/>
          </p:cNvSpPr>
          <p:nvPr>
            <p:ph type="sldNum" sz="quarter" idx="10"/>
          </p:nvPr>
        </p:nvSpPr>
        <p:spPr>
          <a:xfrm>
            <a:off x="182563" y="6537325"/>
            <a:ext cx="366712" cy="184150"/>
          </a:xfrm>
          <a:prstGeom prst="rect">
            <a:avLst/>
          </a:prstGeom>
        </p:spPr>
        <p:txBody>
          <a:bodyPr/>
          <a:lstStyle>
            <a:lvl1pPr>
              <a:defRPr/>
            </a:lvl1pPr>
          </a:lstStyle>
          <a:p>
            <a:pPr>
              <a:defRPr/>
            </a:pPr>
            <a:fld id="{719B466A-2538-4337-823A-E8F431A14DED}" type="slidenum">
              <a:rPr/>
              <a:pPr>
                <a:defRPr/>
              </a:pPr>
              <a:t>‹#›</a:t>
            </a:fld>
            <a:endParaRPr/>
          </a:p>
        </p:txBody>
      </p:sp>
    </p:spTree>
    <p:extLst>
      <p:ext uri="{BB962C8B-B14F-4D97-AF65-F5344CB8AC3E}">
        <p14:creationId xmlns:p14="http://schemas.microsoft.com/office/powerpoint/2010/main" xmlns="" val="2175117494"/>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xfrm>
            <a:off x="182563" y="6537325"/>
            <a:ext cx="366712" cy="184150"/>
          </a:xfrm>
          <a:prstGeom prst="rect">
            <a:avLst/>
          </a:prstGeom>
        </p:spPr>
        <p:txBody>
          <a:bodyPr/>
          <a:lstStyle>
            <a:lvl1pPr>
              <a:lnSpc>
                <a:spcPct val="90000"/>
              </a:lnSpc>
              <a:defRPr/>
            </a:lvl1pPr>
          </a:lstStyle>
          <a:p>
            <a:pPr>
              <a:defRPr/>
            </a:pPr>
            <a:fld id="{C60ADAAD-56D5-47D5-9DA1-174CE3BB03A7}" type="slidenum">
              <a:rPr lang="en-US" altLang="en-US"/>
              <a:pPr>
                <a:defRPr/>
              </a:pPr>
              <a:t>‹#›</a:t>
            </a:fld>
            <a:endParaRPr lang="en-US" altLang="en-US"/>
          </a:p>
        </p:txBody>
      </p:sp>
      <p:sp>
        <p:nvSpPr>
          <p:cNvPr id="3" name="Rectangle 6"/>
          <p:cNvSpPr>
            <a:spLocks noGrp="1" noChangeArrowheads="1"/>
          </p:cNvSpPr>
          <p:nvPr>
            <p:ph type="ftr" sz="quarter" idx="11"/>
          </p:nvPr>
        </p:nvSpPr>
        <p:spPr>
          <a:xfrm>
            <a:off x="1697038" y="6537325"/>
            <a:ext cx="5943600" cy="184150"/>
          </a:xfrm>
          <a:prstGeom prst="rect">
            <a:avLst/>
          </a:prstGeom>
        </p:spPr>
        <p:txBody>
          <a:bodyPr/>
          <a:lstStyle>
            <a:lvl1pPr>
              <a:lnSpc>
                <a:spcPct val="90000"/>
              </a:lnSpc>
              <a:defRPr/>
            </a:lvl1pPr>
          </a:lstStyle>
          <a:p>
            <a:pPr>
              <a:defRPr/>
            </a:pPr>
            <a:endParaRPr lang="en-US"/>
          </a:p>
        </p:txBody>
      </p:sp>
      <p:sp>
        <p:nvSpPr>
          <p:cNvPr id="4" name="Date Placeholder 3"/>
          <p:cNvSpPr>
            <a:spLocks noGrp="1" noChangeArrowheads="1"/>
          </p:cNvSpPr>
          <p:nvPr>
            <p:ph type="dt" sz="half" idx="12"/>
          </p:nvPr>
        </p:nvSpPr>
        <p:spPr>
          <a:xfrm>
            <a:off x="533400" y="6535738"/>
            <a:ext cx="1004888" cy="184150"/>
          </a:xfrm>
          <a:prstGeom prst="rect">
            <a:avLst/>
          </a:prstGeom>
        </p:spPr>
        <p:txBody>
          <a:bodyPr/>
          <a:lstStyle>
            <a:lvl1pPr>
              <a:lnSpc>
                <a:spcPct val="90000"/>
              </a:lnSpc>
              <a:defRPr/>
            </a:lvl1pPr>
          </a:lstStyle>
          <a:p>
            <a:pPr>
              <a:defRPr/>
            </a:pPr>
            <a:fld id="{6D0526B1-1C68-4397-8056-9A4BC9AE502A}" type="datetime1">
              <a:rPr lang="en-US"/>
              <a:pPr>
                <a:defRPr/>
              </a:pPr>
              <a:t>1/12/2016</a:t>
            </a:fld>
            <a:endParaRPr lang="en-US" dirty="0"/>
          </a:p>
        </p:txBody>
      </p:sp>
    </p:spTree>
    <p:extLst>
      <p:ext uri="{BB962C8B-B14F-4D97-AF65-F5344CB8AC3E}">
        <p14:creationId xmlns:p14="http://schemas.microsoft.com/office/powerpoint/2010/main" xmlns="" val="2169057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sldNum" sz="quarter" idx="10"/>
          </p:nvPr>
        </p:nvSpPr>
        <p:spPr>
          <a:xfrm>
            <a:off x="182563" y="6537325"/>
            <a:ext cx="366712" cy="184150"/>
          </a:xfrm>
          <a:prstGeom prst="rect">
            <a:avLst/>
          </a:prstGeom>
        </p:spPr>
        <p:txBody>
          <a:bodyPr/>
          <a:lstStyle>
            <a:lvl1pPr>
              <a:lnSpc>
                <a:spcPct val="90000"/>
              </a:lnSpc>
              <a:defRPr/>
            </a:lvl1pPr>
          </a:lstStyle>
          <a:p>
            <a:pPr>
              <a:defRPr/>
            </a:pPr>
            <a:fld id="{B2018239-5F8C-493C-9830-B13068697E6F}" type="slidenum">
              <a:rPr lang="en-US" altLang="en-US"/>
              <a:pPr>
                <a:defRPr/>
              </a:pPr>
              <a:t>‹#›</a:t>
            </a:fld>
            <a:endParaRPr lang="en-US" altLang="en-US"/>
          </a:p>
        </p:txBody>
      </p:sp>
      <p:sp>
        <p:nvSpPr>
          <p:cNvPr id="4" name="Rectangle 6"/>
          <p:cNvSpPr>
            <a:spLocks noGrp="1" noChangeArrowheads="1"/>
          </p:cNvSpPr>
          <p:nvPr>
            <p:ph type="ftr" sz="quarter" idx="11"/>
          </p:nvPr>
        </p:nvSpPr>
        <p:spPr>
          <a:xfrm>
            <a:off x="1697038" y="6537325"/>
            <a:ext cx="5943600" cy="184150"/>
          </a:xfrm>
          <a:prstGeom prst="rect">
            <a:avLst/>
          </a:prstGeom>
        </p:spPr>
        <p:txBody>
          <a:bodyPr/>
          <a:lstStyle>
            <a:lvl1pPr>
              <a:lnSpc>
                <a:spcPct val="90000"/>
              </a:lnSpc>
              <a:defRPr/>
            </a:lvl1pPr>
          </a:lstStyle>
          <a:p>
            <a:pPr>
              <a:defRPr/>
            </a:pPr>
            <a:endParaRPr lang="en-US"/>
          </a:p>
        </p:txBody>
      </p:sp>
      <p:sp>
        <p:nvSpPr>
          <p:cNvPr id="5" name="Date Placeholder 4"/>
          <p:cNvSpPr>
            <a:spLocks noGrp="1" noChangeArrowheads="1"/>
          </p:cNvSpPr>
          <p:nvPr>
            <p:ph type="dt" sz="half" idx="12"/>
          </p:nvPr>
        </p:nvSpPr>
        <p:spPr>
          <a:xfrm>
            <a:off x="533400" y="6535738"/>
            <a:ext cx="1004888" cy="184150"/>
          </a:xfrm>
          <a:prstGeom prst="rect">
            <a:avLst/>
          </a:prstGeom>
        </p:spPr>
        <p:txBody>
          <a:bodyPr/>
          <a:lstStyle>
            <a:lvl1pPr>
              <a:lnSpc>
                <a:spcPct val="90000"/>
              </a:lnSpc>
              <a:defRPr/>
            </a:lvl1pPr>
          </a:lstStyle>
          <a:p>
            <a:pPr>
              <a:defRPr/>
            </a:pPr>
            <a:fld id="{7F630E9A-216C-4545-A0D1-82E847CA9E84}" type="datetime1">
              <a:rPr lang="en-US"/>
              <a:pPr>
                <a:defRPr/>
              </a:pPr>
              <a:t>1/12/2016</a:t>
            </a:fld>
            <a:endParaRPr lang="en-US" dirty="0"/>
          </a:p>
        </p:txBody>
      </p:sp>
    </p:spTree>
    <p:extLst>
      <p:ext uri="{BB962C8B-B14F-4D97-AF65-F5344CB8AC3E}">
        <p14:creationId xmlns:p14="http://schemas.microsoft.com/office/powerpoint/2010/main" xmlns="" val="29096456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16" name="Shape 16"/>
          <p:cNvSpPr>
            <a:spLocks noGrp="1"/>
          </p:cNvSpPr>
          <p:nvPr>
            <p:ph type="title"/>
          </p:nvPr>
        </p:nvSpPr>
        <p:spPr>
          <a:prstGeom prst="rect">
            <a:avLst/>
          </a:prstGeom>
        </p:spPr>
        <p:txBody>
          <a:bodyPr/>
          <a:lstStyle/>
          <a:p>
            <a:pPr lvl="0"/>
            <a:r>
              <a:rPr/>
              <a:t>Title Text</a:t>
            </a:r>
          </a:p>
        </p:txBody>
      </p:sp>
      <p:sp>
        <p:nvSpPr>
          <p:cNvPr id="3" name="Rectangle 6"/>
          <p:cNvSpPr>
            <a:spLocks noGrp="1" noChangeArrowheads="1"/>
          </p:cNvSpPr>
          <p:nvPr>
            <p:ph type="sldNum" sz="quarter" idx="10"/>
          </p:nvPr>
        </p:nvSpPr>
        <p:spPr>
          <a:xfrm>
            <a:off x="0" y="6483350"/>
            <a:ext cx="400050" cy="476250"/>
          </a:xfrm>
          <a:prstGeom prst="rect">
            <a:avLst/>
          </a:prstGeom>
        </p:spPr>
        <p:txBody>
          <a:bodyPr/>
          <a:lstStyle>
            <a:lvl1pPr>
              <a:defRPr>
                <a:solidFill>
                  <a:schemeClr val="tx1"/>
                </a:solidFill>
                <a:cs typeface="Helvetica Light" charset="0"/>
              </a:defRPr>
            </a:lvl1pPr>
          </a:lstStyle>
          <a:p>
            <a:fld id="{141633A5-D436-4012-BE64-1ECA1D650423}" type="slidenum">
              <a:rPr lang="en-US" altLang="en-US"/>
              <a:pPr/>
              <a:t>‹#›</a:t>
            </a:fld>
            <a:endParaRPr lang="en-US" altLang="en-US"/>
          </a:p>
        </p:txBody>
      </p:sp>
    </p:spTree>
    <p:extLst>
      <p:ext uri="{BB962C8B-B14F-4D97-AF65-F5344CB8AC3E}">
        <p14:creationId xmlns:p14="http://schemas.microsoft.com/office/powerpoint/2010/main" xmlns="" val="576191845"/>
      </p:ext>
    </p:extLst>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Footer Placeholder 3"/>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Tree>
    <p:extLst>
      <p:ext uri="{BB962C8B-B14F-4D97-AF65-F5344CB8AC3E}">
        <p14:creationId xmlns:p14="http://schemas.microsoft.com/office/powerpoint/2010/main" xmlns="" val="1708171183"/>
      </p:ext>
    </p:extLst>
  </p:cSld>
  <p:clrMap bg1="lt1" tx1="dk1" bg2="lt2" tx2="dk2" accent1="accent1" accent2="accent2" accent3="accent3" accent4="accent4" accent5="accent5" accent6="accent6" hlink="hlink" folHlink="folHlink"/>
  <p:sldLayoutIdLst>
    <p:sldLayoutId id="2147483673" r:id="rId1"/>
  </p:sldLayoutIdLst>
  <mc:AlternateContent xmlns:mc="http://schemas.openxmlformats.org/markup-compatibility/2006">
    <mc:Choice xmlns:p14="http://schemas.microsoft.com/office/powerpoint/2010/main" xmlns="" Requires="p14">
      <p:transition spd="med" p14:dur="700">
        <p:fade/>
      </p:transition>
    </mc:Choice>
    <mc:Fallback>
      <p:transition spd="med">
        <p:fade/>
      </p:transition>
    </mc:Fallback>
  </mc:AlternateContent>
  <p:timing>
    <p:tnLst>
      <p:par>
        <p:cTn id="1" dur="indefinite" restart="never" nodeType="tmRoot"/>
      </p:par>
    </p:tnLst>
  </p:timing>
  <p:txStyles>
    <p:titleStyle>
      <a:lvl1pPr algn="l" defTabSz="457200" rtl="0" eaLnBrk="1" latinLnBrk="0" hangingPunct="1">
        <a:spcBef>
          <a:spcPct val="0"/>
        </a:spcBef>
        <a:buNone/>
        <a:defRPr sz="2400" b="1" kern="0" spc="-3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00" kern="0" spc="-3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1400" kern="0" spc="-30">
          <a:solidFill>
            <a:schemeClr val="tx1"/>
          </a:solidFill>
          <a:latin typeface="Arial"/>
          <a:ea typeface="+mn-ea"/>
          <a:cs typeface="+mn-cs"/>
        </a:defRPr>
      </a:lvl2pPr>
      <a:lvl3pPr marL="1143000" indent="-228600" algn="l" defTabSz="457200" rtl="0" eaLnBrk="1" latinLnBrk="0" hangingPunct="1">
        <a:spcBef>
          <a:spcPct val="20000"/>
        </a:spcBef>
        <a:buFont typeface="Arial"/>
        <a:buChar char="•"/>
        <a:defRPr sz="1200" kern="0" spc="-3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100" kern="0" spc="-3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100" kern="0" spc="-3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5588" y="587375"/>
            <a:ext cx="8545512"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261938" y="1873250"/>
            <a:ext cx="8558212" cy="4495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1028" name="Line 4"/>
          <p:cNvSpPr>
            <a:spLocks noChangeShapeType="1"/>
          </p:cNvSpPr>
          <p:nvPr/>
        </p:nvSpPr>
        <p:spPr bwMode="auto">
          <a:xfrm>
            <a:off x="260350" y="549275"/>
            <a:ext cx="8620125"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smtClean="0">
              <a:solidFill>
                <a:srgbClr val="000000"/>
              </a:solidFill>
              <a:ea typeface="MS PGothic" pitchFamily="34" charset="-128"/>
            </a:endParaRPr>
          </a:p>
        </p:txBody>
      </p:sp>
      <p:sp>
        <p:nvSpPr>
          <p:cNvPr id="1029" name="Rectangle 6"/>
          <p:cNvSpPr>
            <a:spLocks noChangeArrowheads="1"/>
          </p:cNvSpPr>
          <p:nvPr/>
        </p:nvSpPr>
        <p:spPr bwMode="black">
          <a:xfrm>
            <a:off x="5916613" y="6481763"/>
            <a:ext cx="3054350" cy="231475"/>
          </a:xfrm>
          <a:prstGeom prst="rect">
            <a:avLst/>
          </a:prstGeom>
          <a:noFill/>
          <a:ln>
            <a:noFill/>
          </a:ln>
          <a:extLst/>
        </p:spPr>
        <p:txBody>
          <a:bodyPr lIns="92075" tIns="46038" rIns="92075" bIns="46038">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fontAlgn="base">
              <a:spcBef>
                <a:spcPct val="0"/>
              </a:spcBef>
              <a:spcAft>
                <a:spcPct val="0"/>
              </a:spcAft>
              <a:defRPr/>
            </a:pPr>
            <a:r>
              <a:rPr lang="en-US" sz="900" dirty="0">
                <a:solidFill>
                  <a:srgbClr val="000000"/>
                </a:solidFill>
              </a:rPr>
              <a:t>© </a:t>
            </a:r>
            <a:r>
              <a:rPr lang="en-US" sz="900" dirty="0" smtClean="0">
                <a:solidFill>
                  <a:srgbClr val="000000"/>
                </a:solidFill>
              </a:rPr>
              <a:t>2015 </a:t>
            </a:r>
            <a:r>
              <a:rPr lang="en-US" sz="900" dirty="0">
                <a:solidFill>
                  <a:srgbClr val="000000"/>
                </a:solidFill>
              </a:rPr>
              <a:t>IBM Corporation</a:t>
            </a:r>
          </a:p>
        </p:txBody>
      </p:sp>
      <p:sp>
        <p:nvSpPr>
          <p:cNvPr id="1030" name="Rectangle 6"/>
          <p:cNvSpPr>
            <a:spLocks noChangeArrowheads="1"/>
          </p:cNvSpPr>
          <p:nvPr/>
        </p:nvSpPr>
        <p:spPr bwMode="auto">
          <a:xfrm>
            <a:off x="171450" y="6456363"/>
            <a:ext cx="552450" cy="247650"/>
          </a:xfrm>
          <a:prstGeom prst="rect">
            <a:avLst/>
          </a:prstGeom>
          <a:noFill/>
          <a:ln>
            <a:noFill/>
          </a:ln>
          <a:effectLst/>
          <a:extLst/>
        </p:spPr>
        <p:txBody>
          <a:bodyPr/>
          <a:lstStyle/>
          <a:p>
            <a:pPr fontAlgn="base">
              <a:spcBef>
                <a:spcPct val="0"/>
              </a:spcBef>
              <a:spcAft>
                <a:spcPct val="0"/>
              </a:spcAft>
            </a:pPr>
            <a:fld id="{1B95416A-9547-450C-92EE-1B6E3D8D672A}" type="slidenum">
              <a:rPr lang="en-US" altLang="en-US" sz="1000" smtClean="0">
                <a:solidFill>
                  <a:srgbClr val="000000"/>
                </a:solidFill>
                <a:ea typeface="MS PGothic" pitchFamily="34" charset="-128"/>
                <a:cs typeface="Arial" pitchFamily="34" charset="0"/>
              </a:rPr>
              <a:pPr fontAlgn="base">
                <a:spcBef>
                  <a:spcPct val="0"/>
                </a:spcBef>
                <a:spcAft>
                  <a:spcPct val="0"/>
                </a:spcAft>
              </a:pPr>
              <a:t>‹#›</a:t>
            </a:fld>
            <a:endParaRPr lang="en-US" altLang="en-US" sz="1000" smtClean="0">
              <a:solidFill>
                <a:srgbClr val="000000"/>
              </a:solidFill>
              <a:ea typeface="MS PGothic" pitchFamily="34" charset="-128"/>
              <a:cs typeface="Arial" pitchFamily="34" charset="0"/>
            </a:endParaRPr>
          </a:p>
        </p:txBody>
      </p:sp>
      <p:pic>
        <p:nvPicPr>
          <p:cNvPr id="1031" name="Picture 15" descr="IBMCloud black"/>
          <p:cNvPicPr>
            <a:picLocks noChangeAspect="1" noChangeArrowheads="1"/>
          </p:cNvPicPr>
          <p:nvPr userDrawn="1"/>
        </p:nvPicPr>
        <p:blipFill>
          <a:blip r:embed="rId7" cstate="print">
            <a:extLst>
              <a:ext uri="{28A0092B-C50C-407E-A947-70E740481C1C}">
                <a14:useLocalDpi xmlns:a14="http://schemas.microsoft.com/office/drawing/2010/main" xmlns="" val="0"/>
              </a:ext>
            </a:extLst>
          </a:blip>
          <a:srcRect/>
          <a:stretch>
            <a:fillRect/>
          </a:stretch>
        </p:blipFill>
        <p:spPr bwMode="auto">
          <a:xfrm>
            <a:off x="273050" y="338138"/>
            <a:ext cx="1060450" cy="16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2" name="Picture 16" descr="IBM Black"/>
          <p:cNvPicPr>
            <a:picLocks noChangeAspect="1" noChangeArrowheads="1"/>
          </p:cNvPicPr>
          <p:nvPr userDrawn="1"/>
        </p:nvPicPr>
        <p:blipFill>
          <a:blip r:embed="rId8" cstate="print">
            <a:extLst>
              <a:ext uri="{28A0092B-C50C-407E-A947-70E740481C1C}">
                <a14:useLocalDpi xmlns:a14="http://schemas.microsoft.com/office/drawing/2010/main" xmlns="" val="0"/>
              </a:ext>
            </a:extLst>
          </a:blip>
          <a:srcRect/>
          <a:stretch>
            <a:fillRect/>
          </a:stretch>
        </p:blipFill>
        <p:spPr bwMode="auto">
          <a:xfrm>
            <a:off x="7947025" y="263525"/>
            <a:ext cx="923925" cy="241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1663063537"/>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Lst>
  <p:txStyles>
    <p:title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p:titleStyle>
    <p:bodyStyle>
      <a:lvl1pPr marL="176213" indent="-176213" algn="l" rtl="0" eaLnBrk="0" fontAlgn="base" hangingPunct="0">
        <a:spcBef>
          <a:spcPct val="20000"/>
        </a:spcBef>
        <a:spcAft>
          <a:spcPct val="0"/>
        </a:spcAft>
        <a:buClr>
          <a:schemeClr val="tx1"/>
        </a:buClr>
        <a:buFont typeface="Wingdings" pitchFamily="2" charset="2"/>
        <a:buChar char="§"/>
        <a:defRPr sz="1600">
          <a:solidFill>
            <a:schemeClr val="tx1"/>
          </a:solidFill>
          <a:latin typeface="+mn-lt"/>
          <a:ea typeface="MS PGothic" panose="020B0600070205080204" pitchFamily="34" charset="-128"/>
          <a:cs typeface="+mn-cs"/>
        </a:defRPr>
      </a:lvl1pPr>
      <a:lvl2pPr marL="515938" indent="-225425" algn="l" rtl="0" eaLnBrk="0" fontAlgn="base" hangingPunct="0">
        <a:spcBef>
          <a:spcPct val="20000"/>
        </a:spcBef>
        <a:spcAft>
          <a:spcPct val="0"/>
        </a:spcAft>
        <a:buClr>
          <a:schemeClr val="tx1"/>
        </a:buClr>
        <a:buFont typeface="Symbol" pitchFamily="18" charset="2"/>
        <a:buChar char="-"/>
        <a:defRPr sz="1600">
          <a:solidFill>
            <a:schemeClr val="tx1"/>
          </a:solidFill>
          <a:latin typeface="+mn-lt"/>
          <a:ea typeface="MS PGothic" panose="020B0600070205080204" pitchFamily="34" charset="-128"/>
        </a:defRPr>
      </a:lvl2pPr>
      <a:lvl3pPr marL="804863" indent="-171450" algn="l" rtl="0" eaLnBrk="0" fontAlgn="base" hangingPunct="0">
        <a:spcBef>
          <a:spcPct val="20000"/>
        </a:spcBef>
        <a:spcAft>
          <a:spcPct val="0"/>
        </a:spcAft>
        <a:buClr>
          <a:schemeClr val="tx1"/>
        </a:buClr>
        <a:buChar char="•"/>
        <a:defRPr sz="1600">
          <a:solidFill>
            <a:schemeClr val="tx1"/>
          </a:solidFill>
          <a:latin typeface="+mn-lt"/>
          <a:ea typeface="MS PGothic" panose="020B0600070205080204" pitchFamily="34" charset="-128"/>
        </a:defRPr>
      </a:lvl3pPr>
      <a:lvl4pPr marL="1430338" indent="-176213" algn="l" rtl="0" eaLnBrk="0" fontAlgn="base" hangingPunct="0">
        <a:spcBef>
          <a:spcPct val="20000"/>
        </a:spcBef>
        <a:spcAft>
          <a:spcPct val="0"/>
        </a:spcAft>
        <a:buClr>
          <a:schemeClr val="tx1"/>
        </a:buClr>
        <a:buChar char="•"/>
        <a:defRPr sz="1400">
          <a:solidFill>
            <a:schemeClr val="tx1"/>
          </a:solidFill>
          <a:latin typeface="+mn-lt"/>
          <a:ea typeface="MS PGothic" panose="020B0600070205080204" pitchFamily="34" charset="-128"/>
        </a:defRPr>
      </a:lvl4pPr>
      <a:lvl5pPr marL="1719263" indent="-7938" algn="l" rtl="0" eaLnBrk="0" fontAlgn="base" hangingPunct="0">
        <a:spcBef>
          <a:spcPct val="20000"/>
        </a:spcBef>
        <a:spcAft>
          <a:spcPct val="0"/>
        </a:spcAft>
        <a:buClr>
          <a:schemeClr val="tx1"/>
        </a:buClr>
        <a:defRPr sz="1200">
          <a:solidFill>
            <a:schemeClr val="tx1"/>
          </a:solidFill>
          <a:latin typeface="+mn-lt"/>
          <a:ea typeface="MS PGothic" panose="020B0600070205080204" pitchFamily="34" charset="-128"/>
        </a:defRPr>
      </a:lvl5pPr>
      <a:lvl6pPr marL="2176463" indent="-7938" algn="l" rtl="0" fontAlgn="base">
        <a:spcBef>
          <a:spcPct val="20000"/>
        </a:spcBef>
        <a:spcAft>
          <a:spcPct val="0"/>
        </a:spcAft>
        <a:buClr>
          <a:schemeClr val="tx1"/>
        </a:buClr>
        <a:defRPr sz="1200">
          <a:solidFill>
            <a:schemeClr val="tx1"/>
          </a:solidFill>
          <a:latin typeface="+mn-lt"/>
        </a:defRPr>
      </a:lvl6pPr>
      <a:lvl7pPr marL="2633663" indent="-7938" algn="l" rtl="0" fontAlgn="base">
        <a:spcBef>
          <a:spcPct val="20000"/>
        </a:spcBef>
        <a:spcAft>
          <a:spcPct val="0"/>
        </a:spcAft>
        <a:buClr>
          <a:schemeClr val="tx1"/>
        </a:buClr>
        <a:defRPr sz="1200">
          <a:solidFill>
            <a:schemeClr val="tx1"/>
          </a:solidFill>
          <a:latin typeface="+mn-lt"/>
        </a:defRPr>
      </a:lvl7pPr>
      <a:lvl8pPr marL="3090863" indent="-7938" algn="l" rtl="0" fontAlgn="base">
        <a:spcBef>
          <a:spcPct val="20000"/>
        </a:spcBef>
        <a:spcAft>
          <a:spcPct val="0"/>
        </a:spcAft>
        <a:buClr>
          <a:schemeClr val="tx1"/>
        </a:buClr>
        <a:defRPr sz="1200">
          <a:solidFill>
            <a:schemeClr val="tx1"/>
          </a:solidFill>
          <a:latin typeface="+mn-lt"/>
        </a:defRPr>
      </a:lvl8pPr>
      <a:lvl9pPr marL="3548063" indent="-7938" algn="l" rtl="0" fontAlgn="base">
        <a:spcBef>
          <a:spcPct val="20000"/>
        </a:spcBef>
        <a:spcAft>
          <a:spcPct val="0"/>
        </a:spcAft>
        <a:buClr>
          <a:schemeClr val="tx1"/>
        </a:buCl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hyperlink" Target="http://www.ibm.com/cloud-computing/us/en/open-cloud-essentials.html" TargetMode="External"/><Relationship Id="rId3" Type="http://schemas.openxmlformats.org/officeDocument/2006/relationships/hyperlink" Target="http://www.ibm.com/cloud-computing/us/en/" TargetMode="External"/><Relationship Id="rId7" Type="http://schemas.openxmlformats.org/officeDocument/2006/relationships/hyperlink" Target="http://www.ibm.com/developerworks/cloud/library/cl-open-architecture/" TargetMode="External"/><Relationship Id="rId12" Type="http://schemas.openxmlformats.org/officeDocument/2006/relationships/hyperlink" Target="https://www.clouddoundry.org/"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www.ibm.com/cloud-computing/us/en/saas.html" TargetMode="External"/><Relationship Id="rId11" Type="http://schemas.openxmlformats.org/officeDocument/2006/relationships/hyperlink" Target="https://www.docker.com/" TargetMode="External"/><Relationship Id="rId5" Type="http://schemas.openxmlformats.org/officeDocument/2006/relationships/hyperlink" Target="http://www.ibm.com/cloud-computing/us/en/paas.html" TargetMode="External"/><Relationship Id="rId10" Type="http://schemas.openxmlformats.org/officeDocument/2006/relationships/hyperlink" Target="https://www.ng.bluemix.net/docs/" TargetMode="External"/><Relationship Id="rId4" Type="http://schemas.openxmlformats.org/officeDocument/2006/relationships/hyperlink" Target="http://www.ibm.com/cloud-computing/us/en/iaas.html" TargetMode="External"/><Relationship Id="rId9" Type="http://schemas.openxmlformats.org/officeDocument/2006/relationships/hyperlink" Target="https://www.bluemix.ne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eveloper.ibm.com/bluemix/?cm_mc_uid=94933803266914350890234&amp;cm_mc_sid_50200000=1435089023"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457200" y="3886200"/>
            <a:ext cx="6111701" cy="1143000"/>
          </a:xfrm>
        </p:spPr>
        <p:txBody>
          <a:bodyPr/>
          <a:lstStyle/>
          <a:p>
            <a:r>
              <a:rPr lang="en-US" dirty="0" smtClean="0"/>
              <a:t>Cloud Service Models</a:t>
            </a:r>
            <a:endParaRPr lang="en-US" dirty="0"/>
          </a:p>
        </p:txBody>
      </p:sp>
      <p:sp>
        <p:nvSpPr>
          <p:cNvPr id="2" name="Text Placeholder 1"/>
          <p:cNvSpPr>
            <a:spLocks noGrp="1"/>
          </p:cNvSpPr>
          <p:nvPr>
            <p:ph type="body" sz="quarter" idx="11"/>
          </p:nvPr>
        </p:nvSpPr>
        <p:spPr>
          <a:xfrm>
            <a:off x="6629400" y="5257800"/>
            <a:ext cx="2377440" cy="685800"/>
          </a:xfrm>
        </p:spPr>
        <p:txBody>
          <a:bodyPr/>
          <a:lstStyle/>
          <a:p>
            <a:r>
              <a:rPr lang="en-US" sz="1800" dirty="0" smtClean="0"/>
              <a:t>IBM Cloud Ecosystem Development </a:t>
            </a:r>
            <a:endParaRPr lang="en-US" sz="1800" dirty="0"/>
          </a:p>
        </p:txBody>
      </p:sp>
    </p:spTree>
    <p:extLst>
      <p:ext uri="{BB962C8B-B14F-4D97-AF65-F5344CB8AC3E}">
        <p14:creationId xmlns:p14="http://schemas.microsoft.com/office/powerpoint/2010/main" xmlns="" val="2565911924"/>
      </p:ext>
    </p:extLst>
  </p:cSld>
  <p:clrMapOvr>
    <a:masterClrMapping/>
  </p:clrMapOvr>
  <mc:AlternateContent xmlns:mc="http://schemas.openxmlformats.org/markup-compatibility/2006">
    <mc:Choice xmlns:p14="http://schemas.microsoft.com/office/powerpoint/2010/main" xmlns="" Requires="p14">
      <p:transition p14:dur="30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eaLnBrk="1" hangingPunct="1">
              <a:defRPr/>
            </a:pPr>
            <a:r>
              <a:rPr lang="en-US" dirty="0" smtClean="0">
                <a:solidFill>
                  <a:srgbClr val="0070C0"/>
                </a:solidFill>
              </a:rPr>
              <a:t>Objective</a:t>
            </a:r>
            <a:endParaRPr lang="en-US" dirty="0">
              <a:solidFill>
                <a:srgbClr val="0070C0"/>
              </a:solidFill>
            </a:endParaRPr>
          </a:p>
        </p:txBody>
      </p:sp>
      <p:sp>
        <p:nvSpPr>
          <p:cNvPr id="19458" name="Content Placeholder 2"/>
          <p:cNvSpPr>
            <a:spLocks noGrp="1"/>
          </p:cNvSpPr>
          <p:nvPr>
            <p:ph idx="1"/>
          </p:nvPr>
        </p:nvSpPr>
        <p:spPr>
          <a:xfrm>
            <a:off x="261938" y="1325880"/>
            <a:ext cx="8558212" cy="5043170"/>
          </a:xfrm>
        </p:spPr>
        <p:txBody>
          <a:bodyPr/>
          <a:lstStyle/>
          <a:p>
            <a:pPr eaLnBrk="1" hangingPunct="1">
              <a:defRPr/>
            </a:pPr>
            <a:r>
              <a:rPr lang="en-US" altLang="en-US" sz="2000" dirty="0" smtClean="0"/>
              <a:t>After completing this module you will be able to:</a:t>
            </a:r>
          </a:p>
          <a:p>
            <a:pPr marL="339725" lvl="1" indent="0">
              <a:buNone/>
            </a:pPr>
            <a:r>
              <a:rPr lang="en-US" sz="2000" dirty="0"/>
              <a:t>a. Describe Cloud service models and IBM Cloud offerings</a:t>
            </a:r>
          </a:p>
          <a:p>
            <a:pPr marL="628650" lvl="2" indent="0">
              <a:buNone/>
            </a:pPr>
            <a:r>
              <a:rPr lang="en-US" sz="2000" dirty="0"/>
              <a:t>1.	IBM </a:t>
            </a:r>
            <a:r>
              <a:rPr lang="en-US" sz="2000" dirty="0" err="1"/>
              <a:t>SoftLayer</a:t>
            </a:r>
            <a:r>
              <a:rPr lang="en-US" sz="2000" dirty="0"/>
              <a:t> Infrastructure as a Service (</a:t>
            </a:r>
            <a:r>
              <a:rPr lang="en-US" sz="2000" dirty="0" err="1"/>
              <a:t>IaaS</a:t>
            </a:r>
            <a:r>
              <a:rPr lang="en-US" sz="2000" dirty="0"/>
              <a:t>)</a:t>
            </a:r>
          </a:p>
          <a:p>
            <a:pPr marL="628650" lvl="2" indent="0">
              <a:buNone/>
            </a:pPr>
            <a:r>
              <a:rPr lang="en-US" sz="2000" dirty="0"/>
              <a:t>2.	IBM Bluemix Platform as a Service (</a:t>
            </a:r>
            <a:r>
              <a:rPr lang="en-US" sz="2000" dirty="0" err="1"/>
              <a:t>PaaS</a:t>
            </a:r>
            <a:r>
              <a:rPr lang="en-US" sz="2000" dirty="0"/>
              <a:t>) </a:t>
            </a:r>
          </a:p>
          <a:p>
            <a:pPr marL="628650" lvl="2" indent="0">
              <a:buNone/>
            </a:pPr>
            <a:r>
              <a:rPr lang="en-US" sz="2000" dirty="0"/>
              <a:t>3.	Software as a Service (SaaS) and IBM Cloud Marketplace</a:t>
            </a:r>
          </a:p>
          <a:p>
            <a:pPr marL="339725" lvl="1" indent="0">
              <a:buNone/>
            </a:pPr>
            <a:endParaRPr lang="en-US" sz="2000" dirty="0"/>
          </a:p>
          <a:p>
            <a:pPr marL="339725" lvl="1" indent="0">
              <a:buNone/>
            </a:pPr>
            <a:r>
              <a:rPr lang="en-US" sz="2000" dirty="0"/>
              <a:t>b. Describe the different capabilities of IBM Bluemix </a:t>
            </a:r>
          </a:p>
          <a:p>
            <a:pPr marL="628650" lvl="2" indent="0">
              <a:buNone/>
            </a:pPr>
            <a:r>
              <a:rPr lang="en-US" sz="2000" dirty="0"/>
              <a:t>1.	IBM Bluemix </a:t>
            </a:r>
            <a:r>
              <a:rPr lang="en-US" sz="2000" dirty="0" err="1"/>
              <a:t>PaaS</a:t>
            </a:r>
            <a:r>
              <a:rPr lang="en-US" sz="2000" dirty="0"/>
              <a:t> provided by Cloud Foundry</a:t>
            </a:r>
          </a:p>
          <a:p>
            <a:pPr marL="628650" lvl="2" indent="0">
              <a:buNone/>
            </a:pPr>
            <a:r>
              <a:rPr lang="en-US" sz="2000" dirty="0"/>
              <a:t>2.	IBM Bluemix Containers using </a:t>
            </a:r>
            <a:r>
              <a:rPr lang="en-US" sz="2000" dirty="0" err="1"/>
              <a:t>docker</a:t>
            </a:r>
            <a:endParaRPr lang="en-US" sz="2000" dirty="0"/>
          </a:p>
          <a:p>
            <a:pPr marL="628650" lvl="2" indent="0">
              <a:buNone/>
            </a:pPr>
            <a:r>
              <a:rPr lang="en-US" sz="2000" dirty="0"/>
              <a:t>3.	IBM Bluemix virtual machines powered by OpenStack</a:t>
            </a:r>
          </a:p>
          <a:p>
            <a:pPr marL="579438" lvl="2" indent="0" eaLnBrk="1" hangingPunct="1">
              <a:buNone/>
              <a:defRPr/>
            </a:pPr>
            <a:endParaRPr lang="en-US" altLang="en-US" dirty="0" smtClean="0"/>
          </a:p>
        </p:txBody>
      </p:sp>
    </p:spTree>
    <p:extLst>
      <p:ext uri="{BB962C8B-B14F-4D97-AF65-F5344CB8AC3E}">
        <p14:creationId xmlns:p14="http://schemas.microsoft.com/office/powerpoint/2010/main" xmlns="" val="632016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880359" y="2423160"/>
            <a:ext cx="5852161" cy="3307080"/>
          </a:xfrm>
        </p:spPr>
        <p:txBody>
          <a:bodyPr/>
          <a:lstStyle/>
          <a:p>
            <a:pPr marL="0" indent="0">
              <a:buNone/>
            </a:pPr>
            <a:r>
              <a:rPr lang="en-US" sz="3600" dirty="0">
                <a:solidFill>
                  <a:srgbClr val="0070C0"/>
                </a:solidFill>
              </a:rPr>
              <a:t>Cloud </a:t>
            </a:r>
            <a:r>
              <a:rPr lang="en-US" sz="3600" dirty="0" smtClean="0">
                <a:solidFill>
                  <a:srgbClr val="0070C0"/>
                </a:solidFill>
              </a:rPr>
              <a:t>Service Models </a:t>
            </a:r>
          </a:p>
          <a:p>
            <a:pPr marL="0" indent="0" algn="ctr">
              <a:buNone/>
            </a:pPr>
            <a:r>
              <a:rPr lang="en-US" sz="3600" dirty="0" smtClean="0">
                <a:solidFill>
                  <a:srgbClr val="0070C0"/>
                </a:solidFill>
              </a:rPr>
              <a:t>and</a:t>
            </a:r>
          </a:p>
          <a:p>
            <a:pPr marL="0" indent="0">
              <a:buNone/>
            </a:pPr>
            <a:r>
              <a:rPr lang="en-US" sz="3600" dirty="0" smtClean="0">
                <a:solidFill>
                  <a:srgbClr val="0070C0"/>
                </a:solidFill>
              </a:rPr>
              <a:t>IBM </a:t>
            </a:r>
            <a:r>
              <a:rPr lang="en-US" sz="3600" dirty="0">
                <a:solidFill>
                  <a:srgbClr val="0070C0"/>
                </a:solidFill>
              </a:rPr>
              <a:t>Cloud </a:t>
            </a:r>
            <a:r>
              <a:rPr lang="en-US" sz="3600" dirty="0" smtClean="0">
                <a:solidFill>
                  <a:srgbClr val="0070C0"/>
                </a:solidFill>
              </a:rPr>
              <a:t>Offerings</a:t>
            </a:r>
            <a:endParaRPr lang="en-US" sz="3600" dirty="0">
              <a:solidFill>
                <a:srgbClr val="0070C0"/>
              </a:solidFill>
            </a:endParaRPr>
          </a:p>
        </p:txBody>
      </p:sp>
      <p:pic>
        <p:nvPicPr>
          <p:cNvPr id="4" name="Picture 3"/>
          <p:cNvPicPr>
            <a:picLocks noChangeAspect="1"/>
          </p:cNvPicPr>
          <p:nvPr/>
        </p:nvPicPr>
        <p:blipFill>
          <a:blip r:embed="rId3" cstate="print"/>
          <a:stretch>
            <a:fillRect/>
          </a:stretch>
        </p:blipFill>
        <p:spPr>
          <a:xfrm>
            <a:off x="228600" y="2514600"/>
            <a:ext cx="2409825" cy="1847850"/>
          </a:xfrm>
          <a:prstGeom prst="rect">
            <a:avLst/>
          </a:prstGeom>
        </p:spPr>
      </p:pic>
    </p:spTree>
    <p:extLst>
      <p:ext uri="{BB962C8B-B14F-4D97-AF65-F5344CB8AC3E}">
        <p14:creationId xmlns:p14="http://schemas.microsoft.com/office/powerpoint/2010/main" xmlns="" val="3347603492"/>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685" y="572148"/>
            <a:ext cx="8543925" cy="331788"/>
          </a:xfrm>
        </p:spPr>
        <p:txBody>
          <a:bodyPr/>
          <a:lstStyle/>
          <a:p>
            <a:pPr>
              <a:defRPr/>
            </a:pPr>
            <a:r>
              <a:rPr lang="en-US" dirty="0" smtClean="0">
                <a:solidFill>
                  <a:srgbClr val="0070C0"/>
                </a:solidFill>
              </a:rPr>
              <a:t>Cloud Services Models and IBM Cloud Offerings</a:t>
            </a:r>
            <a:endParaRPr lang="en-US" dirty="0">
              <a:solidFill>
                <a:srgbClr val="0070C0"/>
              </a:solidFill>
            </a:endParaRPr>
          </a:p>
        </p:txBody>
      </p:sp>
      <p:grpSp>
        <p:nvGrpSpPr>
          <p:cNvPr id="9" name="Group 18"/>
          <p:cNvGrpSpPr>
            <a:grpSpLocks/>
          </p:cNvGrpSpPr>
          <p:nvPr/>
        </p:nvGrpSpPr>
        <p:grpSpPr bwMode="auto">
          <a:xfrm>
            <a:off x="488921" y="5669280"/>
            <a:ext cx="8294689" cy="722313"/>
            <a:chOff x="321" y="3685"/>
            <a:chExt cx="5225" cy="455"/>
          </a:xfrm>
          <a:solidFill>
            <a:schemeClr val="accent2">
              <a:lumMod val="40000"/>
              <a:lumOff val="60000"/>
            </a:schemeClr>
          </a:solidFill>
        </p:grpSpPr>
        <p:sp>
          <p:nvSpPr>
            <p:cNvPr id="10" name="AutoShape 19"/>
            <p:cNvSpPr>
              <a:spLocks noChangeArrowheads="1"/>
            </p:cNvSpPr>
            <p:nvPr/>
          </p:nvSpPr>
          <p:spPr bwMode="auto">
            <a:xfrm flipV="1">
              <a:off x="321" y="3685"/>
              <a:ext cx="5106" cy="388"/>
            </a:xfrm>
            <a:prstGeom prst="rtTriangle">
              <a:avLst/>
            </a:prstGeom>
            <a:grpFill/>
            <a:ln w="9525">
              <a:noFill/>
              <a:miter lim="800000"/>
              <a:headEnd/>
              <a:tailEnd/>
            </a:ln>
          </p:spPr>
          <p:txBody>
            <a:bodyPr rot="10800000" wrap="none" anchor="ctr"/>
            <a:lstStyle/>
            <a:p>
              <a:pPr>
                <a:defRPr/>
              </a:pPr>
              <a:endParaRPr lang="en-US" sz="1547">
                <a:latin typeface="Helvetica Light" pitchFamily="2" charset="0"/>
                <a:sym typeface="Helvetica Light" pitchFamily="2" charset="0"/>
              </a:endParaRPr>
            </a:p>
          </p:txBody>
        </p:sp>
        <p:sp>
          <p:nvSpPr>
            <p:cNvPr id="11" name="Text Box 20"/>
            <p:cNvSpPr txBox="1">
              <a:spLocks noChangeArrowheads="1"/>
            </p:cNvSpPr>
            <p:nvPr/>
          </p:nvSpPr>
          <p:spPr bwMode="auto">
            <a:xfrm>
              <a:off x="391" y="3707"/>
              <a:ext cx="2887" cy="215"/>
            </a:xfrm>
            <a:prstGeom prst="rect">
              <a:avLst/>
            </a:prstGeom>
            <a:grpFill/>
            <a:ln w="9525">
              <a:noFill/>
              <a:miter lim="800000"/>
              <a:headEnd/>
              <a:tailEnd/>
            </a:ln>
          </p:spPr>
          <p:txBody>
            <a:bodyPr wrap="none">
              <a:spAutoFit/>
            </a:bodyPr>
            <a:lstStyle/>
            <a:p>
              <a:pPr>
                <a:tabLst>
                  <a:tab pos="0" algn="l"/>
                  <a:tab pos="914353" algn="l"/>
                  <a:tab pos="1828706" algn="l"/>
                  <a:tab pos="2743060" algn="l"/>
                  <a:tab pos="3657413" algn="l"/>
                  <a:tab pos="4571766" algn="l"/>
                  <a:tab pos="5486119" algn="l"/>
                  <a:tab pos="6400473" algn="l"/>
                  <a:tab pos="7314825" algn="l"/>
                  <a:tab pos="8229179" algn="l"/>
                  <a:tab pos="9143532" algn="l"/>
                  <a:tab pos="10057885" algn="l"/>
                </a:tabLst>
                <a:defRPr/>
              </a:pPr>
              <a:r>
                <a:rPr lang="en-US" altLang="en-US" sz="1617" dirty="0">
                  <a:latin typeface="HelvNeue Light for IBM" charset="0"/>
                  <a:sym typeface="Helvetica Light" pitchFamily="2" charset="0"/>
                </a:rPr>
                <a:t>Customization; higher cost; slower time to value</a:t>
              </a:r>
            </a:p>
          </p:txBody>
        </p:sp>
        <p:sp>
          <p:nvSpPr>
            <p:cNvPr id="12" name="AutoShape 21"/>
            <p:cNvSpPr>
              <a:spLocks noChangeArrowheads="1"/>
            </p:cNvSpPr>
            <p:nvPr/>
          </p:nvSpPr>
          <p:spPr bwMode="auto">
            <a:xfrm rot="10800000" flipV="1">
              <a:off x="391" y="3685"/>
              <a:ext cx="5155" cy="455"/>
            </a:xfrm>
            <a:prstGeom prst="rtTriangle">
              <a:avLst/>
            </a:prstGeom>
            <a:grpFill/>
            <a:ln w="9525">
              <a:noFill/>
              <a:miter lim="800000"/>
              <a:headEnd/>
              <a:tailEnd/>
            </a:ln>
          </p:spPr>
          <p:txBody>
            <a:bodyPr wrap="none" anchor="ctr"/>
            <a:lstStyle/>
            <a:p>
              <a:pPr>
                <a:defRPr/>
              </a:pPr>
              <a:endParaRPr lang="en-US" sz="1547">
                <a:latin typeface="Helvetica Light" pitchFamily="2" charset="0"/>
                <a:sym typeface="Helvetica Light" pitchFamily="2" charset="0"/>
              </a:endParaRPr>
            </a:p>
          </p:txBody>
        </p:sp>
        <p:sp>
          <p:nvSpPr>
            <p:cNvPr id="13" name="Text Box 22"/>
            <p:cNvSpPr txBox="1">
              <a:spLocks noChangeArrowheads="1"/>
            </p:cNvSpPr>
            <p:nvPr/>
          </p:nvSpPr>
          <p:spPr bwMode="auto">
            <a:xfrm>
              <a:off x="2681" y="3925"/>
              <a:ext cx="2865" cy="215"/>
            </a:xfrm>
            <a:prstGeom prst="rect">
              <a:avLst/>
            </a:prstGeom>
            <a:grpFill/>
            <a:ln w="9525">
              <a:noFill/>
              <a:miter lim="800000"/>
              <a:headEnd/>
              <a:tailEnd/>
            </a:ln>
          </p:spPr>
          <p:txBody>
            <a:bodyPr wrap="none">
              <a:spAutoFit/>
            </a:bodyPr>
            <a:lstStyle/>
            <a:p>
              <a:pPr>
                <a:tabLst>
                  <a:tab pos="0" algn="l"/>
                  <a:tab pos="914353" algn="l"/>
                  <a:tab pos="1828706" algn="l"/>
                  <a:tab pos="2743060" algn="l"/>
                  <a:tab pos="3657413" algn="l"/>
                  <a:tab pos="4571766" algn="l"/>
                  <a:tab pos="5486119" algn="l"/>
                  <a:tab pos="6400473" algn="l"/>
                  <a:tab pos="7314825" algn="l"/>
                  <a:tab pos="8229179" algn="l"/>
                  <a:tab pos="9143532" algn="l"/>
                  <a:tab pos="10057885" algn="l"/>
                </a:tabLst>
                <a:defRPr/>
              </a:pPr>
              <a:r>
                <a:rPr lang="en-US" altLang="en-US" sz="1617" dirty="0">
                  <a:latin typeface="HelvNeue Light for IBM" charset="0"/>
                  <a:sym typeface="Helvetica Light" pitchFamily="2" charset="0"/>
                </a:rPr>
                <a:t>Standardization; lower cost; faster time to value</a:t>
              </a:r>
            </a:p>
          </p:txBody>
        </p:sp>
      </p:grpSp>
      <p:pic>
        <p:nvPicPr>
          <p:cNvPr id="4" name="Content Placeholder 3"/>
          <p:cNvPicPr>
            <a:picLocks noGrp="1" noChangeAspect="1"/>
          </p:cNvPicPr>
          <p:nvPr>
            <p:ph idx="1"/>
          </p:nvPr>
        </p:nvPicPr>
        <p:blipFill>
          <a:blip r:embed="rId3" cstate="print"/>
          <a:stretch>
            <a:fillRect/>
          </a:stretch>
        </p:blipFill>
        <p:spPr>
          <a:xfrm>
            <a:off x="120400" y="1309113"/>
            <a:ext cx="8884151" cy="4064304"/>
          </a:xfrm>
          <a:prstGeom prst="rect">
            <a:avLst/>
          </a:prstGeom>
        </p:spPr>
      </p:pic>
    </p:spTree>
    <p:extLst>
      <p:ext uri="{BB962C8B-B14F-4D97-AF65-F5344CB8AC3E}">
        <p14:creationId xmlns:p14="http://schemas.microsoft.com/office/powerpoint/2010/main" xmlns="" val="268276418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a:spLocks noChangeArrowheads="1"/>
          </p:cNvSpPr>
          <p:nvPr/>
        </p:nvSpPr>
        <p:spPr bwMode="auto">
          <a:xfrm>
            <a:off x="2903538" y="1182688"/>
            <a:ext cx="1169987" cy="585787"/>
          </a:xfrm>
          <a:prstGeom prst="rect">
            <a:avLst/>
          </a:prstGeom>
          <a:solidFill>
            <a:srgbClr val="FFFFFF"/>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algn="ctr">
              <a:spcBef>
                <a:spcPts val="2400"/>
              </a:spcBef>
            </a:pPr>
            <a:r>
              <a:rPr lang="en-US" altLang="en-US" sz="1800">
                <a:solidFill>
                  <a:srgbClr val="002060"/>
                </a:solidFill>
                <a:sym typeface="Helvetica Neue Light"/>
              </a:rPr>
              <a:t>Core IT</a:t>
            </a:r>
          </a:p>
        </p:txBody>
      </p:sp>
      <p:sp>
        <p:nvSpPr>
          <p:cNvPr id="147" name="Shape 147"/>
          <p:cNvSpPr/>
          <p:nvPr/>
        </p:nvSpPr>
        <p:spPr>
          <a:xfrm flipH="1">
            <a:off x="3487738" y="1970088"/>
            <a:ext cx="0" cy="4192587"/>
          </a:xfrm>
          <a:prstGeom prst="line">
            <a:avLst/>
          </a:prstGeom>
          <a:ln w="25400">
            <a:solidFill>
              <a:srgbClr val="043E68"/>
            </a:solidFill>
            <a:miter lim="400000"/>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148" name="Shape 148"/>
          <p:cNvSpPr>
            <a:spLocks noChangeArrowheads="1"/>
          </p:cNvSpPr>
          <p:nvPr/>
        </p:nvSpPr>
        <p:spPr bwMode="auto">
          <a:xfrm>
            <a:off x="3705225" y="1833563"/>
            <a:ext cx="4706938" cy="1414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spAutoFit/>
          </a:bodyPr>
          <a:lstStyle>
            <a:lvl1pPr defTabSz="320675">
              <a:defRPr sz="2200">
                <a:solidFill>
                  <a:schemeClr val="hlink"/>
                </a:solidFill>
                <a:latin typeface="Arial" panose="020B0604020202020204" pitchFamily="34" charset="0"/>
                <a:cs typeface="Arial" panose="020B0604020202020204" pitchFamily="34" charset="0"/>
              </a:defRPr>
            </a:lvl1pPr>
            <a:lvl2pPr defTabSz="320675">
              <a:defRPr sz="2200">
                <a:solidFill>
                  <a:schemeClr val="hlink"/>
                </a:solidFill>
                <a:latin typeface="Arial" panose="020B0604020202020204" pitchFamily="34" charset="0"/>
                <a:cs typeface="Arial" panose="020B0604020202020204" pitchFamily="34" charset="0"/>
              </a:defRPr>
            </a:lvl2pPr>
            <a:lvl3pPr defTabSz="320675">
              <a:defRPr sz="2200">
                <a:solidFill>
                  <a:schemeClr val="hlink"/>
                </a:solidFill>
                <a:latin typeface="Arial" panose="020B0604020202020204" pitchFamily="34" charset="0"/>
                <a:cs typeface="Arial" panose="020B0604020202020204" pitchFamily="34" charset="0"/>
              </a:defRPr>
            </a:lvl3pPr>
            <a:lvl4pPr defTabSz="320675">
              <a:defRPr sz="2200">
                <a:solidFill>
                  <a:schemeClr val="hlink"/>
                </a:solidFill>
                <a:latin typeface="Arial" panose="020B0604020202020204" pitchFamily="34" charset="0"/>
                <a:cs typeface="Arial" panose="020B0604020202020204" pitchFamily="34" charset="0"/>
              </a:defRPr>
            </a:lvl4pPr>
            <a:lvl5pPr defTabSz="320675">
              <a:defRPr sz="2200">
                <a:solidFill>
                  <a:schemeClr val="hlink"/>
                </a:solidFill>
                <a:latin typeface="Arial" panose="020B0604020202020204" pitchFamily="34" charset="0"/>
                <a:cs typeface="Arial" panose="020B0604020202020204" pitchFamily="34" charset="0"/>
              </a:defRPr>
            </a:lvl5pPr>
            <a:lvl6pPr marL="22844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043E68"/>
                </a:solidFill>
                <a:sym typeface="Helvetica Neue"/>
              </a:rPr>
              <a:t>Benefits</a:t>
            </a:r>
            <a:endParaRPr lang="en-US" altLang="en-US" sz="2000">
              <a:solidFill>
                <a:srgbClr val="043E68"/>
              </a:solidFill>
              <a:sym typeface="Helvetica Neue"/>
            </a:endParaRPr>
          </a:p>
          <a:p>
            <a:pPr>
              <a:buFont typeface="Arial" panose="020B0604020202020204" pitchFamily="34" charset="0"/>
              <a:buChar char="•"/>
            </a:pPr>
            <a:r>
              <a:rPr lang="en-US" altLang="en-US" sz="1800">
                <a:solidFill>
                  <a:schemeClr val="tx1"/>
                </a:solidFill>
                <a:sym typeface="Helvetica Neue Light"/>
              </a:rPr>
              <a:t>Fully customizable.</a:t>
            </a:r>
          </a:p>
          <a:p>
            <a:pPr>
              <a:buFont typeface="Arial" panose="020B0604020202020204" pitchFamily="34" charset="0"/>
              <a:buChar char="•"/>
            </a:pPr>
            <a:r>
              <a:rPr lang="en-US" altLang="en-US" sz="1800">
                <a:solidFill>
                  <a:schemeClr val="tx1"/>
                </a:solidFill>
                <a:sym typeface="Helvetica Neue Light"/>
              </a:rPr>
              <a:t>Few limitations.</a:t>
            </a:r>
          </a:p>
          <a:p>
            <a:pPr>
              <a:buFont typeface="Arial" panose="020B0604020202020204" pitchFamily="34" charset="0"/>
              <a:buChar char="•"/>
            </a:pPr>
            <a:r>
              <a:rPr lang="en-US" altLang="en-US" sz="1800">
                <a:solidFill>
                  <a:schemeClr val="tx1"/>
                </a:solidFill>
                <a:sym typeface="Helvetica Neue Light"/>
              </a:rPr>
              <a:t>Necessary for some solutions.</a:t>
            </a:r>
          </a:p>
          <a:p>
            <a:pPr>
              <a:buFont typeface="Arial" panose="020B0604020202020204" pitchFamily="34" charset="0"/>
              <a:buChar char="•"/>
            </a:pPr>
            <a:r>
              <a:rPr lang="en-US" altLang="en-US" sz="1800">
                <a:solidFill>
                  <a:schemeClr val="tx1"/>
                </a:solidFill>
                <a:sym typeface="Helvetica Neue Light"/>
              </a:rPr>
              <a:t>Existing Investments.</a:t>
            </a:r>
          </a:p>
        </p:txBody>
      </p:sp>
      <p:sp>
        <p:nvSpPr>
          <p:cNvPr id="149" name="Shape 149"/>
          <p:cNvSpPr>
            <a:spLocks noChangeArrowheads="1"/>
          </p:cNvSpPr>
          <p:nvPr/>
        </p:nvSpPr>
        <p:spPr bwMode="auto">
          <a:xfrm>
            <a:off x="3705225" y="3227388"/>
            <a:ext cx="5157788" cy="1812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lvl1pPr defTabSz="320675">
              <a:defRPr sz="2200">
                <a:solidFill>
                  <a:schemeClr val="hlink"/>
                </a:solidFill>
                <a:latin typeface="Arial" panose="020B0604020202020204" pitchFamily="34" charset="0"/>
                <a:cs typeface="Arial" panose="020B0604020202020204" pitchFamily="34" charset="0"/>
              </a:defRPr>
            </a:lvl1pPr>
            <a:lvl2pPr defTabSz="320675">
              <a:defRPr sz="2200">
                <a:solidFill>
                  <a:schemeClr val="hlink"/>
                </a:solidFill>
                <a:latin typeface="Arial" panose="020B0604020202020204" pitchFamily="34" charset="0"/>
                <a:cs typeface="Arial" panose="020B0604020202020204" pitchFamily="34" charset="0"/>
              </a:defRPr>
            </a:lvl2pPr>
            <a:lvl3pPr defTabSz="320675">
              <a:defRPr sz="2200">
                <a:solidFill>
                  <a:schemeClr val="hlink"/>
                </a:solidFill>
                <a:latin typeface="Arial" panose="020B0604020202020204" pitchFamily="34" charset="0"/>
                <a:cs typeface="Arial" panose="020B0604020202020204" pitchFamily="34" charset="0"/>
              </a:defRPr>
            </a:lvl3pPr>
            <a:lvl4pPr defTabSz="320675">
              <a:defRPr sz="2200">
                <a:solidFill>
                  <a:schemeClr val="hlink"/>
                </a:solidFill>
                <a:latin typeface="Arial" panose="020B0604020202020204" pitchFamily="34" charset="0"/>
                <a:cs typeface="Arial" panose="020B0604020202020204" pitchFamily="34" charset="0"/>
              </a:defRPr>
            </a:lvl4pPr>
            <a:lvl5pPr defTabSz="320675">
              <a:defRPr sz="2200">
                <a:solidFill>
                  <a:schemeClr val="hlink"/>
                </a:solidFill>
                <a:latin typeface="Arial" panose="020B0604020202020204" pitchFamily="34" charset="0"/>
                <a:cs typeface="Arial" panose="020B0604020202020204" pitchFamily="34" charset="0"/>
              </a:defRPr>
            </a:lvl5pPr>
            <a:lvl6pPr marL="22844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043E68"/>
                </a:solidFill>
                <a:sym typeface="Helvetica Neue"/>
              </a:rPr>
              <a:t>Time Commitment</a:t>
            </a:r>
            <a:endParaRPr lang="en-US" altLang="en-US" sz="2000">
              <a:solidFill>
                <a:srgbClr val="043E68"/>
              </a:solidFill>
              <a:sym typeface="Helvetica Neue"/>
            </a:endParaRPr>
          </a:p>
          <a:p>
            <a:pPr>
              <a:buFont typeface="Arial" panose="020B0604020202020204" pitchFamily="34" charset="0"/>
              <a:buChar char="•"/>
            </a:pPr>
            <a:r>
              <a:rPr lang="en-US" altLang="en-US" sz="1800">
                <a:solidFill>
                  <a:schemeClr val="tx1"/>
                </a:solidFill>
                <a:sym typeface="Helvetica Neue Light"/>
              </a:rPr>
              <a:t>Weeks to setup and deploy.</a:t>
            </a:r>
          </a:p>
          <a:p>
            <a:pPr>
              <a:buFont typeface="Arial" panose="020B0604020202020204" pitchFamily="34" charset="0"/>
              <a:buChar char="•"/>
            </a:pPr>
            <a:r>
              <a:rPr lang="en-US" altLang="en-US" sz="1800">
                <a:solidFill>
                  <a:schemeClr val="tx1"/>
                </a:solidFill>
                <a:sym typeface="Helvetica Neue Light"/>
              </a:rPr>
              <a:t>Maintenance/upgrades of hardware and software.</a:t>
            </a:r>
          </a:p>
        </p:txBody>
      </p:sp>
      <p:sp>
        <p:nvSpPr>
          <p:cNvPr id="150" name="Shape 150"/>
          <p:cNvSpPr/>
          <p:nvPr/>
        </p:nvSpPr>
        <p:spPr>
          <a:xfrm flipH="1">
            <a:off x="285750" y="6146800"/>
            <a:ext cx="8577263" cy="0"/>
          </a:xfrm>
          <a:prstGeom prst="line">
            <a:avLst/>
          </a:prstGeom>
          <a:ln w="25400">
            <a:solidFill/>
            <a:miter lim="400000"/>
            <a:headEnd type="arrow"/>
            <a:tailEnd type="arrow"/>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152" name="Shape 152"/>
          <p:cNvSpPr/>
          <p:nvPr/>
        </p:nvSpPr>
        <p:spPr>
          <a:xfrm>
            <a:off x="3357563" y="6042025"/>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3E68"/>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8" name="Shape 233"/>
          <p:cNvSpPr/>
          <p:nvPr/>
        </p:nvSpPr>
        <p:spPr>
          <a:xfrm>
            <a:off x="425450" y="5818188"/>
            <a:ext cx="2293938" cy="509587"/>
          </a:xfrm>
          <a:prstGeom prst="rect">
            <a:avLst/>
          </a:prstGeom>
          <a:ln w="12700">
            <a:miter lim="400000"/>
          </a:ln>
          <a:extLst>
            <a:ext uri="{C572A759-6A51-4108-AA02-DFA0A04FC94B}"/>
          </a:extLst>
        </p:spPr>
        <p:txBody>
          <a:bodyPr lIns="0" tIns="0" rIns="0" bIns="0">
            <a:normAutofit/>
          </a:bodyPr>
          <a:lstStyle>
            <a:lvl1pPr algn="l" defTabSz="531622">
              <a:defRPr sz="2002" b="1">
                <a:latin typeface="+mj-lt"/>
                <a:ea typeface="+mj-ea"/>
                <a:cs typeface="+mj-cs"/>
                <a:sym typeface="Helvetica Neue"/>
              </a:defRPr>
            </a:lvl1pPr>
          </a:lstStyle>
          <a:p>
            <a:pPr>
              <a:defRPr sz="1800" b="0"/>
            </a:pPr>
            <a:r>
              <a:rPr sz="1408" b="0" dirty="0">
                <a:cs typeface="Arial"/>
              </a:rPr>
              <a:t>Time to initial deployment</a:t>
            </a:r>
          </a:p>
        </p:txBody>
      </p:sp>
      <p:grpSp>
        <p:nvGrpSpPr>
          <p:cNvPr id="22538" name="Group 180"/>
          <p:cNvGrpSpPr>
            <a:grpSpLocks/>
          </p:cNvGrpSpPr>
          <p:nvPr/>
        </p:nvGrpSpPr>
        <p:grpSpPr bwMode="auto">
          <a:xfrm>
            <a:off x="139700" y="1203325"/>
            <a:ext cx="1871663" cy="598488"/>
            <a:chOff x="-217941" y="0"/>
            <a:chExt cx="2384895" cy="638610"/>
          </a:xfrm>
        </p:grpSpPr>
        <p:sp>
          <p:nvSpPr>
            <p:cNvPr id="22553" name="Shape 178"/>
            <p:cNvSpPr>
              <a:spLocks noChangeArrowheads="1"/>
            </p:cNvSpPr>
            <p:nvPr/>
          </p:nvSpPr>
          <p:spPr bwMode="auto">
            <a:xfrm>
              <a:off x="114253" y="0"/>
              <a:ext cx="2052701" cy="63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Client</a:t>
              </a:r>
              <a:r>
                <a:rPr lang="en-US" altLang="en-US" sz="1100">
                  <a:sym typeface="Helvetica Neue Light"/>
                </a:rPr>
                <a:t> </a:t>
              </a:r>
              <a:r>
                <a:rPr lang="en-US" altLang="en-US" sz="1400">
                  <a:sym typeface="Helvetica Neue Light"/>
                </a:rPr>
                <a:t>Manages</a:t>
              </a:r>
              <a:endParaRPr lang="en-US" altLang="en-US" sz="1100">
                <a:sym typeface="Helvetica Neue Light"/>
              </a:endParaRPr>
            </a:p>
          </p:txBody>
        </p:sp>
        <p:sp>
          <p:nvSpPr>
            <p:cNvPr id="31" name="Shape 179"/>
            <p:cNvSpPr/>
            <p:nvPr/>
          </p:nvSpPr>
          <p:spPr>
            <a:xfrm>
              <a:off x="-217941" y="211741"/>
              <a:ext cx="202281" cy="20327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5059"/>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sp>
        <p:nvSpPr>
          <p:cNvPr id="22539" name="Title 1"/>
          <p:cNvSpPr>
            <a:spLocks noGrp="1"/>
          </p:cNvSpPr>
          <p:nvPr>
            <p:ph type="title"/>
          </p:nvPr>
        </p:nvSpPr>
        <p:spPr>
          <a:xfrm>
            <a:off x="274638" y="619125"/>
            <a:ext cx="6167437" cy="331788"/>
          </a:xfrm>
        </p:spPr>
        <p:txBody>
          <a:bodyPr/>
          <a:lstStyle/>
          <a:p>
            <a:r>
              <a:rPr lang="en-US" altLang="en-US" dirty="0" smtClean="0">
                <a:solidFill>
                  <a:srgbClr val="0070C0"/>
                </a:solidFill>
              </a:rPr>
              <a:t>Traditional On-Premises – Core IT</a:t>
            </a:r>
          </a:p>
        </p:txBody>
      </p:sp>
      <p:sp>
        <p:nvSpPr>
          <p:cNvPr id="22540" name="Shape 156"/>
          <p:cNvSpPr>
            <a:spLocks noChangeArrowheads="1"/>
          </p:cNvSpPr>
          <p:nvPr/>
        </p:nvSpPr>
        <p:spPr bwMode="auto">
          <a:xfrm>
            <a:off x="2859088" y="6323013"/>
            <a:ext cx="1482725" cy="487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r>
              <a:rPr lang="en-US" altLang="en-US" sz="2000" b="1">
                <a:solidFill>
                  <a:srgbClr val="043E68"/>
                </a:solidFill>
                <a:sym typeface="Helvetica Neue"/>
              </a:rPr>
              <a:t>~ Weeks</a:t>
            </a:r>
          </a:p>
        </p:txBody>
      </p:sp>
      <p:sp>
        <p:nvSpPr>
          <p:cNvPr id="22541" name="Shape 157"/>
          <p:cNvSpPr>
            <a:spLocks noChangeArrowheads="1"/>
          </p:cNvSpPr>
          <p:nvPr/>
        </p:nvSpPr>
        <p:spPr bwMode="auto">
          <a:xfrm>
            <a:off x="4876800" y="6273800"/>
            <a:ext cx="17875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r>
              <a:rPr lang="en-US" altLang="en-US" sz="2300" b="1">
                <a:solidFill>
                  <a:srgbClr val="E0A8B5"/>
                </a:solidFill>
                <a:sym typeface="Helvetica Neue"/>
              </a:rPr>
              <a:t>~ Days</a:t>
            </a:r>
          </a:p>
        </p:txBody>
      </p:sp>
      <p:sp>
        <p:nvSpPr>
          <p:cNvPr id="22542" name="Shape 168"/>
          <p:cNvSpPr>
            <a:spLocks noChangeArrowheads="1"/>
          </p:cNvSpPr>
          <p:nvPr/>
        </p:nvSpPr>
        <p:spPr bwMode="auto">
          <a:xfrm>
            <a:off x="7075488" y="6273800"/>
            <a:ext cx="17875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r>
              <a:rPr lang="en-US" altLang="en-US" sz="2300" b="1">
                <a:solidFill>
                  <a:srgbClr val="B5CFEB"/>
                </a:solidFill>
                <a:sym typeface="Helvetica Neue"/>
              </a:rPr>
              <a:t>~ Minutes</a:t>
            </a:r>
          </a:p>
        </p:txBody>
      </p:sp>
      <p:grpSp>
        <p:nvGrpSpPr>
          <p:cNvPr id="36" name="Group 167"/>
          <p:cNvGrpSpPr>
            <a:grpSpLocks/>
          </p:cNvGrpSpPr>
          <p:nvPr/>
        </p:nvGrpSpPr>
        <p:grpSpPr bwMode="auto">
          <a:xfrm>
            <a:off x="579438" y="1833563"/>
            <a:ext cx="2674937" cy="3870325"/>
            <a:chOff x="1846655" y="1060322"/>
            <a:chExt cx="2329204" cy="4834894"/>
          </a:xfrm>
        </p:grpSpPr>
        <p:sp>
          <p:nvSpPr>
            <p:cNvPr id="22544" name="Shape 158"/>
            <p:cNvSpPr>
              <a:spLocks noChangeArrowheads="1"/>
            </p:cNvSpPr>
            <p:nvPr/>
          </p:nvSpPr>
          <p:spPr bwMode="auto">
            <a:xfrm>
              <a:off x="1850916" y="1060322"/>
              <a:ext cx="2320684"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Code</a:t>
              </a:r>
            </a:p>
          </p:txBody>
        </p:sp>
        <p:sp>
          <p:nvSpPr>
            <p:cNvPr id="22545" name="Shape 159"/>
            <p:cNvSpPr>
              <a:spLocks noChangeArrowheads="1"/>
            </p:cNvSpPr>
            <p:nvPr/>
          </p:nvSpPr>
          <p:spPr bwMode="auto">
            <a:xfrm>
              <a:off x="1853475" y="1606944"/>
              <a:ext cx="2315566"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Data</a:t>
              </a:r>
            </a:p>
          </p:txBody>
        </p:sp>
        <p:sp>
          <p:nvSpPr>
            <p:cNvPr id="22546" name="Shape 160"/>
            <p:cNvSpPr>
              <a:spLocks noChangeArrowheads="1"/>
            </p:cNvSpPr>
            <p:nvPr/>
          </p:nvSpPr>
          <p:spPr bwMode="auto">
            <a:xfrm>
              <a:off x="1854529" y="2153567"/>
              <a:ext cx="2313458"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Runtime</a:t>
              </a:r>
            </a:p>
          </p:txBody>
        </p:sp>
        <p:sp>
          <p:nvSpPr>
            <p:cNvPr id="22547" name="Shape 161"/>
            <p:cNvSpPr>
              <a:spLocks noChangeArrowheads="1"/>
            </p:cNvSpPr>
            <p:nvPr/>
          </p:nvSpPr>
          <p:spPr bwMode="auto">
            <a:xfrm>
              <a:off x="1853928" y="2700190"/>
              <a:ext cx="2314660"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Middleware</a:t>
              </a:r>
            </a:p>
          </p:txBody>
        </p:sp>
        <p:sp>
          <p:nvSpPr>
            <p:cNvPr id="22548" name="Shape 162"/>
            <p:cNvSpPr>
              <a:spLocks noChangeArrowheads="1"/>
            </p:cNvSpPr>
            <p:nvPr/>
          </p:nvSpPr>
          <p:spPr bwMode="auto">
            <a:xfrm>
              <a:off x="1847773" y="3246813"/>
              <a:ext cx="2326970"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OS</a:t>
              </a:r>
            </a:p>
          </p:txBody>
        </p:sp>
        <p:sp>
          <p:nvSpPr>
            <p:cNvPr id="22549" name="Shape 163"/>
            <p:cNvSpPr>
              <a:spLocks noChangeArrowheads="1"/>
            </p:cNvSpPr>
            <p:nvPr/>
          </p:nvSpPr>
          <p:spPr bwMode="auto">
            <a:xfrm>
              <a:off x="1854143" y="3793435"/>
              <a:ext cx="2314230"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Virtualization</a:t>
              </a:r>
            </a:p>
          </p:txBody>
        </p:sp>
        <p:sp>
          <p:nvSpPr>
            <p:cNvPr id="22550" name="Shape 164"/>
            <p:cNvSpPr>
              <a:spLocks noChangeArrowheads="1"/>
            </p:cNvSpPr>
            <p:nvPr/>
          </p:nvSpPr>
          <p:spPr bwMode="auto">
            <a:xfrm>
              <a:off x="1846655" y="4340058"/>
              <a:ext cx="2329206"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Servers</a:t>
              </a:r>
            </a:p>
          </p:txBody>
        </p:sp>
        <p:sp>
          <p:nvSpPr>
            <p:cNvPr id="22551" name="Shape 165"/>
            <p:cNvSpPr>
              <a:spLocks noChangeArrowheads="1"/>
            </p:cNvSpPr>
            <p:nvPr/>
          </p:nvSpPr>
          <p:spPr bwMode="auto">
            <a:xfrm>
              <a:off x="1853955" y="4886680"/>
              <a:ext cx="2314606"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Storage</a:t>
              </a:r>
            </a:p>
          </p:txBody>
        </p:sp>
        <p:sp>
          <p:nvSpPr>
            <p:cNvPr id="22552" name="Shape 166"/>
            <p:cNvSpPr>
              <a:spLocks noChangeArrowheads="1"/>
            </p:cNvSpPr>
            <p:nvPr/>
          </p:nvSpPr>
          <p:spPr bwMode="auto">
            <a:xfrm>
              <a:off x="1851963" y="5433304"/>
              <a:ext cx="2318590"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Networking</a:t>
              </a:r>
            </a:p>
          </p:txBody>
        </p:sp>
      </p:grpSp>
    </p:spTree>
    <p:extLst>
      <p:ext uri="{BB962C8B-B14F-4D97-AF65-F5344CB8AC3E}">
        <p14:creationId xmlns:p14="http://schemas.microsoft.com/office/powerpoint/2010/main" xmlns="" val="3894636204"/>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iterate>
                                    <p:tmAbs val="0"/>
                                  </p:iterate>
                                  <p:childTnLst>
                                    <p:set>
                                      <p:cBhvr>
                                        <p:cTn id="6" fill="hold"/>
                                        <p:tgtEl>
                                          <p:spTgt spid="147"/>
                                        </p:tgtEl>
                                        <p:attrNameLst>
                                          <p:attrName>style.visibility</p:attrName>
                                        </p:attrNameLst>
                                      </p:cBhvr>
                                      <p:to>
                                        <p:strVal val="visible"/>
                                      </p:to>
                                    </p:set>
                                    <p:animEffect transition="in" filter="wipe(down)">
                                      <p:cBhvr>
                                        <p:cTn id="7" dur="400"/>
                                        <p:tgtEl>
                                          <p:spTgt spid="147"/>
                                        </p:tgtEl>
                                      </p:cBhvr>
                                    </p:animEffect>
                                  </p:childTnLst>
                                </p:cTn>
                              </p:par>
                            </p:childTnLst>
                          </p:cTn>
                        </p:par>
                        <p:par>
                          <p:cTn id="8" fill="hold" nodeType="afterGroup">
                            <p:stCondLst>
                              <p:cond delay="400"/>
                            </p:stCondLst>
                            <p:childTnLst>
                              <p:par>
                                <p:cTn id="9" presetID="23" presetClass="entr" presetSubtype="16" fill="hold" grpId="0" nodeType="afterEffect">
                                  <p:stCondLst>
                                    <p:cond delay="0"/>
                                  </p:stCondLst>
                                  <p:iterate>
                                    <p:tmAbs val="0"/>
                                  </p:iterate>
                                  <p:childTnLst>
                                    <p:set>
                                      <p:cBhvr>
                                        <p:cTn id="10" fill="hold"/>
                                        <p:tgtEl>
                                          <p:spTgt spid="143"/>
                                        </p:tgtEl>
                                        <p:attrNameLst>
                                          <p:attrName>style.visibility</p:attrName>
                                        </p:attrNameLst>
                                      </p:cBhvr>
                                      <p:to>
                                        <p:strVal val="visible"/>
                                      </p:to>
                                    </p:set>
                                    <p:anim calcmode="lin" valueType="num">
                                      <p:cBhvr>
                                        <p:cTn id="11" dur="250" fill="hold"/>
                                        <p:tgtEl>
                                          <p:spTgt spid="143"/>
                                        </p:tgtEl>
                                        <p:attrNameLst>
                                          <p:attrName>ppt_w</p:attrName>
                                        </p:attrNameLst>
                                      </p:cBhvr>
                                      <p:tavLst>
                                        <p:tav tm="0">
                                          <p:val>
                                            <p:fltVal val="0"/>
                                          </p:val>
                                        </p:tav>
                                        <p:tav tm="100000">
                                          <p:val>
                                            <p:strVal val="#ppt_w"/>
                                          </p:val>
                                        </p:tav>
                                      </p:tavLst>
                                    </p:anim>
                                    <p:anim calcmode="lin" valueType="num">
                                      <p:cBhvr>
                                        <p:cTn id="12" dur="250" fill="hold"/>
                                        <p:tgtEl>
                                          <p:spTgt spid="143"/>
                                        </p:tgtEl>
                                        <p:attrNameLst>
                                          <p:attrName>ppt_h</p:attrName>
                                        </p:attrNameLst>
                                      </p:cBhvr>
                                      <p:tavLst>
                                        <p:tav tm="0">
                                          <p:val>
                                            <p:fltVal val="0"/>
                                          </p:val>
                                        </p:tav>
                                        <p:tav tm="100000">
                                          <p:val>
                                            <p:strVal val="#ppt_h"/>
                                          </p:val>
                                        </p:tav>
                                      </p:tavLst>
                                    </p:anim>
                                  </p:childTnLst>
                                </p:cTn>
                              </p:par>
                            </p:childTnLst>
                          </p:cTn>
                        </p:par>
                        <p:par>
                          <p:cTn id="13" fill="hold" nodeType="afterGroup">
                            <p:stCondLst>
                              <p:cond delay="650"/>
                            </p:stCondLst>
                            <p:childTnLst>
                              <p:par>
                                <p:cTn id="14" presetID="22" presetClass="entr" presetSubtype="8" fill="hold" grpId="0" nodeType="afterEffect">
                                  <p:stCondLst>
                                    <p:cond delay="0"/>
                                  </p:stCondLst>
                                  <p:iterate>
                                    <p:tmAbs val="0"/>
                                  </p:iterate>
                                  <p:childTnLst>
                                    <p:set>
                                      <p:cBhvr>
                                        <p:cTn id="15" fill="hold"/>
                                        <p:tgtEl>
                                          <p:spTgt spid="148"/>
                                        </p:tgtEl>
                                        <p:attrNameLst>
                                          <p:attrName>style.visibility</p:attrName>
                                        </p:attrNameLst>
                                      </p:cBhvr>
                                      <p:to>
                                        <p:strVal val="visible"/>
                                      </p:to>
                                    </p:set>
                                    <p:animEffect transition="in" filter="wipe(left)">
                                      <p:cBhvr>
                                        <p:cTn id="16" dur="300"/>
                                        <p:tgtEl>
                                          <p:spTgt spid="148"/>
                                        </p:tgtEl>
                                      </p:cBhvr>
                                    </p:animEffect>
                                  </p:childTnLst>
                                </p:cTn>
                              </p:par>
                              <p:par>
                                <p:cTn id="17" presetID="22" presetClass="entr" presetSubtype="8" fill="hold" grpId="0" nodeType="withEffect">
                                  <p:stCondLst>
                                    <p:cond delay="0"/>
                                  </p:stCondLst>
                                  <p:iterate>
                                    <p:tmAbs val="0"/>
                                  </p:iterate>
                                  <p:childTnLst>
                                    <p:set>
                                      <p:cBhvr>
                                        <p:cTn id="18" fill="hold"/>
                                        <p:tgtEl>
                                          <p:spTgt spid="149"/>
                                        </p:tgtEl>
                                        <p:attrNameLst>
                                          <p:attrName>style.visibility</p:attrName>
                                        </p:attrNameLst>
                                      </p:cBhvr>
                                      <p:to>
                                        <p:strVal val="visible"/>
                                      </p:to>
                                    </p:set>
                                    <p:animEffect transition="in" filter="wipe(left)">
                                      <p:cBhvr>
                                        <p:cTn id="19" dur="300"/>
                                        <p:tgtEl>
                                          <p:spTgt spid="149"/>
                                        </p:tgtEl>
                                      </p:cBhvr>
                                    </p:animEffect>
                                  </p:childTnLst>
                                </p:cTn>
                              </p:par>
                              <p:par>
                                <p:cTn id="20" presetID="22" presetClass="entr" presetSubtype="4" fill="hold" grpId="0" nodeType="withEffect">
                                  <p:stCondLst>
                                    <p:cond delay="0"/>
                                  </p:stCondLst>
                                  <p:iterate>
                                    <p:tmAbs val="0"/>
                                  </p:iterate>
                                  <p:childTnLst>
                                    <p:set>
                                      <p:cBhvr>
                                        <p:cTn id="21" fill="hold"/>
                                        <p:tgtEl>
                                          <p:spTgt spid="36"/>
                                        </p:tgtEl>
                                        <p:attrNameLst>
                                          <p:attrName>style.visibility</p:attrName>
                                        </p:attrNameLst>
                                      </p:cBhvr>
                                      <p:to>
                                        <p:strVal val="visible"/>
                                      </p:to>
                                    </p:set>
                                    <p:animEffect transition="in" filter="wipe(down)">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 grpId="0" animBg="1" advAuto="0"/>
      <p:bldP spid="148" grpId="0" animBg="1" advAuto="0"/>
      <p:bldP spid="149" grpId="0" animBg="1" advAuto="0"/>
      <p:bldP spid="36" grpId="0"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Shape 172"/>
          <p:cNvSpPr/>
          <p:nvPr/>
        </p:nvSpPr>
        <p:spPr>
          <a:xfrm flipH="1">
            <a:off x="285750" y="6146800"/>
            <a:ext cx="8577263" cy="0"/>
          </a:xfrm>
          <a:prstGeom prst="line">
            <a:avLst/>
          </a:prstGeom>
          <a:ln w="25400">
            <a:solidFill/>
            <a:miter lim="400000"/>
            <a:headEnd type="arrow"/>
            <a:tailEnd type="arrow"/>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174" name="Shape 174"/>
          <p:cNvSpPr/>
          <p:nvPr/>
        </p:nvSpPr>
        <p:spPr>
          <a:xfrm flipH="1">
            <a:off x="4884738" y="1949450"/>
            <a:ext cx="0" cy="4192588"/>
          </a:xfrm>
          <a:prstGeom prst="line">
            <a:avLst/>
          </a:prstGeom>
          <a:ln w="25400">
            <a:solidFill>
              <a:srgbClr val="B3163A"/>
            </a:solidFill>
            <a:miter lim="400000"/>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24581" name="Shape 175"/>
          <p:cNvSpPr>
            <a:spLocks noChangeArrowheads="1"/>
          </p:cNvSpPr>
          <p:nvPr/>
        </p:nvSpPr>
        <p:spPr bwMode="auto">
          <a:xfrm>
            <a:off x="5106988" y="1917700"/>
            <a:ext cx="3756025" cy="11398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spAutoFit/>
          </a:bodyPr>
          <a:lstStyle>
            <a:lvl1pPr defTabSz="320675">
              <a:defRPr sz="2200">
                <a:solidFill>
                  <a:schemeClr val="hlink"/>
                </a:solidFill>
                <a:latin typeface="Arial" panose="020B0604020202020204" pitchFamily="34" charset="0"/>
                <a:cs typeface="Arial" panose="020B0604020202020204" pitchFamily="34" charset="0"/>
              </a:defRPr>
            </a:lvl1pPr>
            <a:lvl2pPr defTabSz="320675">
              <a:defRPr sz="2200">
                <a:solidFill>
                  <a:schemeClr val="hlink"/>
                </a:solidFill>
                <a:latin typeface="Arial" panose="020B0604020202020204" pitchFamily="34" charset="0"/>
                <a:cs typeface="Arial" panose="020B0604020202020204" pitchFamily="34" charset="0"/>
              </a:defRPr>
            </a:lvl2pPr>
            <a:lvl3pPr defTabSz="320675">
              <a:defRPr sz="2200">
                <a:solidFill>
                  <a:schemeClr val="hlink"/>
                </a:solidFill>
                <a:latin typeface="Arial" panose="020B0604020202020204" pitchFamily="34" charset="0"/>
                <a:cs typeface="Arial" panose="020B0604020202020204" pitchFamily="34" charset="0"/>
              </a:defRPr>
            </a:lvl3pPr>
            <a:lvl4pPr defTabSz="320675">
              <a:defRPr sz="2200">
                <a:solidFill>
                  <a:schemeClr val="hlink"/>
                </a:solidFill>
                <a:latin typeface="Arial" panose="020B0604020202020204" pitchFamily="34" charset="0"/>
                <a:cs typeface="Arial" panose="020B0604020202020204" pitchFamily="34" charset="0"/>
              </a:defRPr>
            </a:lvl4pPr>
            <a:lvl5pPr defTabSz="320675">
              <a:defRPr sz="2200">
                <a:solidFill>
                  <a:schemeClr val="hlink"/>
                </a:solidFill>
                <a:latin typeface="Arial" panose="020B0604020202020204" pitchFamily="34" charset="0"/>
                <a:cs typeface="Arial" panose="020B0604020202020204" pitchFamily="34" charset="0"/>
              </a:defRPr>
            </a:lvl5pPr>
            <a:lvl6pPr marL="22844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B3163A"/>
                </a:solidFill>
                <a:sym typeface="Helvetica Neue"/>
              </a:rPr>
              <a:t>Benefits</a:t>
            </a:r>
            <a:endParaRPr lang="en-US" altLang="en-US" sz="2000">
              <a:solidFill>
                <a:srgbClr val="B3163A"/>
              </a:solidFill>
              <a:sym typeface="Helvetica Neue"/>
            </a:endParaRPr>
          </a:p>
          <a:p>
            <a:pPr>
              <a:buFont typeface="Arial" panose="020B0604020202020204" pitchFamily="34" charset="0"/>
              <a:buChar char="•"/>
            </a:pPr>
            <a:r>
              <a:rPr lang="en-US" altLang="en-US" sz="1800">
                <a:solidFill>
                  <a:schemeClr val="tx1"/>
                </a:solidFill>
                <a:sym typeface="Helvetica Neue Light"/>
              </a:rPr>
              <a:t>Most control in the cloud.</a:t>
            </a:r>
          </a:p>
          <a:p>
            <a:pPr>
              <a:buFont typeface="Arial" panose="020B0604020202020204" pitchFamily="34" charset="0"/>
              <a:buChar char="•"/>
            </a:pPr>
            <a:r>
              <a:rPr lang="en-US" altLang="en-US" sz="1800">
                <a:solidFill>
                  <a:schemeClr val="tx1"/>
                </a:solidFill>
                <a:sym typeface="Helvetica Neue Light"/>
              </a:rPr>
              <a:t>Necessary for some solutions.</a:t>
            </a:r>
          </a:p>
          <a:p>
            <a:pPr>
              <a:buFont typeface="Arial" panose="020B0604020202020204" pitchFamily="34" charset="0"/>
              <a:buChar char="•"/>
            </a:pPr>
            <a:r>
              <a:rPr lang="en-US" altLang="en-US" sz="1800">
                <a:solidFill>
                  <a:schemeClr val="tx1"/>
                </a:solidFill>
                <a:sym typeface="Helvetica Neue Light"/>
              </a:rPr>
              <a:t>Infrastructure managed by SP.</a:t>
            </a:r>
          </a:p>
        </p:txBody>
      </p:sp>
      <p:sp>
        <p:nvSpPr>
          <p:cNvPr id="176" name="Shape 176"/>
          <p:cNvSpPr/>
          <p:nvPr/>
        </p:nvSpPr>
        <p:spPr>
          <a:xfrm>
            <a:off x="4768850" y="6042025"/>
            <a:ext cx="227013"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3163A"/>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177" name="Shape 177"/>
          <p:cNvSpPr/>
          <p:nvPr/>
        </p:nvSpPr>
        <p:spPr>
          <a:xfrm>
            <a:off x="4186238" y="1155700"/>
            <a:ext cx="1260475" cy="504825"/>
          </a:xfrm>
          <a:prstGeom prst="rect">
            <a:avLst/>
          </a:prstGeom>
          <a:ln w="12700">
            <a:miter lim="400000"/>
          </a:ln>
          <a:extLst>
            <a:ext uri="{C572A759-6A51-4108-AA02-DFA0A04FC94B}"/>
          </a:extLst>
        </p:spPr>
        <p:txBody>
          <a:bodyPr lIns="35719" tIns="35719" rIns="35719" bIns="35719" anchor="ctr">
            <a:spAutoFit/>
          </a:bodyPr>
          <a:lstStyle>
            <a:lvl1pPr defTabSz="457200">
              <a:spcBef>
                <a:spcPts val="2400"/>
              </a:spcBef>
              <a:defRPr sz="2000" b="1">
                <a:solidFill>
                  <a:srgbClr val="B3163A"/>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CC0066"/>
                </a:solidFill>
                <a:latin typeface="Arial"/>
                <a:ea typeface="Arial"/>
                <a:cs typeface="Arial"/>
              </a:rPr>
              <a:t>Infrastructure as a Service</a:t>
            </a:r>
          </a:p>
        </p:txBody>
      </p:sp>
      <p:grpSp>
        <p:nvGrpSpPr>
          <p:cNvPr id="24584" name="Group 180"/>
          <p:cNvGrpSpPr>
            <a:grpSpLocks/>
          </p:cNvGrpSpPr>
          <p:nvPr/>
        </p:nvGrpSpPr>
        <p:grpSpPr bwMode="auto">
          <a:xfrm>
            <a:off x="365125" y="944563"/>
            <a:ext cx="2060575" cy="520700"/>
            <a:chOff x="0" y="-53670"/>
            <a:chExt cx="2929570" cy="739838"/>
          </a:xfrm>
        </p:grpSpPr>
        <p:sp>
          <p:nvSpPr>
            <p:cNvPr id="24607" name="Shape 178"/>
            <p:cNvSpPr>
              <a:spLocks noChangeArrowheads="1"/>
            </p:cNvSpPr>
            <p:nvPr/>
          </p:nvSpPr>
          <p:spPr bwMode="auto">
            <a:xfrm>
              <a:off x="316707" y="-53670"/>
              <a:ext cx="2612863" cy="739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Client Manages</a:t>
              </a:r>
            </a:p>
          </p:txBody>
        </p:sp>
        <p:sp>
          <p:nvSpPr>
            <p:cNvPr id="179" name="Shape 179"/>
            <p:cNvSpPr/>
            <p:nvPr/>
          </p:nvSpPr>
          <p:spPr>
            <a:xfrm>
              <a:off x="0" y="217002"/>
              <a:ext cx="203129" cy="20300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5059"/>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grpSp>
        <p:nvGrpSpPr>
          <p:cNvPr id="24585" name="Group 183"/>
          <p:cNvGrpSpPr>
            <a:grpSpLocks/>
          </p:cNvGrpSpPr>
          <p:nvPr/>
        </p:nvGrpSpPr>
        <p:grpSpPr bwMode="auto">
          <a:xfrm>
            <a:off x="387350" y="1270000"/>
            <a:ext cx="2332038" cy="449263"/>
            <a:chOff x="31199" y="-84582"/>
            <a:chExt cx="3315210" cy="638610"/>
          </a:xfrm>
        </p:grpSpPr>
        <p:sp>
          <p:nvSpPr>
            <p:cNvPr id="24605" name="Shape 181"/>
            <p:cNvSpPr>
              <a:spLocks noChangeArrowheads="1"/>
            </p:cNvSpPr>
            <p:nvPr/>
          </p:nvSpPr>
          <p:spPr bwMode="auto">
            <a:xfrm>
              <a:off x="316707" y="-84582"/>
              <a:ext cx="3029702" cy="63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Vendor Manages in Cloud</a:t>
              </a:r>
            </a:p>
          </p:txBody>
        </p:sp>
        <p:sp>
          <p:nvSpPr>
            <p:cNvPr id="182" name="Shape 182"/>
            <p:cNvSpPr/>
            <p:nvPr/>
          </p:nvSpPr>
          <p:spPr>
            <a:xfrm>
              <a:off x="31199" y="84661"/>
              <a:ext cx="203110" cy="20309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396B1"/>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sp>
        <p:nvSpPr>
          <p:cNvPr id="184" name="Shape 184"/>
          <p:cNvSpPr/>
          <p:nvPr/>
        </p:nvSpPr>
        <p:spPr>
          <a:xfrm>
            <a:off x="3375025" y="6032500"/>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2B6C5"/>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4587" name="Shape 186"/>
          <p:cNvSpPr>
            <a:spLocks noChangeArrowheads="1"/>
          </p:cNvSpPr>
          <p:nvPr/>
        </p:nvSpPr>
        <p:spPr bwMode="auto">
          <a:xfrm>
            <a:off x="5126038" y="3322638"/>
            <a:ext cx="3835400" cy="1830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lvl1pPr defTabSz="320675">
              <a:defRPr sz="2200">
                <a:solidFill>
                  <a:schemeClr val="hlink"/>
                </a:solidFill>
                <a:latin typeface="Arial" panose="020B0604020202020204" pitchFamily="34" charset="0"/>
                <a:cs typeface="Arial" panose="020B0604020202020204" pitchFamily="34" charset="0"/>
              </a:defRPr>
            </a:lvl1pPr>
            <a:lvl2pPr defTabSz="320675">
              <a:defRPr sz="2200">
                <a:solidFill>
                  <a:schemeClr val="hlink"/>
                </a:solidFill>
                <a:latin typeface="Arial" panose="020B0604020202020204" pitchFamily="34" charset="0"/>
                <a:cs typeface="Arial" panose="020B0604020202020204" pitchFamily="34" charset="0"/>
              </a:defRPr>
            </a:lvl2pPr>
            <a:lvl3pPr defTabSz="320675">
              <a:defRPr sz="2200">
                <a:solidFill>
                  <a:schemeClr val="hlink"/>
                </a:solidFill>
                <a:latin typeface="Arial" panose="020B0604020202020204" pitchFamily="34" charset="0"/>
                <a:cs typeface="Arial" panose="020B0604020202020204" pitchFamily="34" charset="0"/>
              </a:defRPr>
            </a:lvl3pPr>
            <a:lvl4pPr defTabSz="320675">
              <a:defRPr sz="2200">
                <a:solidFill>
                  <a:schemeClr val="hlink"/>
                </a:solidFill>
                <a:latin typeface="Arial" panose="020B0604020202020204" pitchFamily="34" charset="0"/>
                <a:cs typeface="Arial" panose="020B0604020202020204" pitchFamily="34" charset="0"/>
              </a:defRPr>
            </a:lvl4pPr>
            <a:lvl5pPr defTabSz="320675">
              <a:defRPr sz="2200">
                <a:solidFill>
                  <a:schemeClr val="hlink"/>
                </a:solidFill>
                <a:latin typeface="Arial" panose="020B0604020202020204" pitchFamily="34" charset="0"/>
                <a:cs typeface="Arial" panose="020B0604020202020204" pitchFamily="34" charset="0"/>
              </a:defRPr>
            </a:lvl5pPr>
            <a:lvl6pPr marL="22844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320675"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B3163A"/>
                </a:solidFill>
                <a:sym typeface="Helvetica Neue"/>
              </a:rPr>
              <a:t>Time Commitment</a:t>
            </a:r>
            <a:endParaRPr lang="en-US" altLang="en-US" sz="2000">
              <a:solidFill>
                <a:srgbClr val="B3163A"/>
              </a:solidFill>
              <a:sym typeface="Helvetica Neue"/>
            </a:endParaRPr>
          </a:p>
          <a:p>
            <a:pPr>
              <a:buFont typeface="Arial" panose="020B0604020202020204" pitchFamily="34" charset="0"/>
              <a:buChar char="•"/>
            </a:pPr>
            <a:r>
              <a:rPr lang="en-US" altLang="en-US" sz="1800">
                <a:solidFill>
                  <a:schemeClr val="tx1"/>
                </a:solidFill>
                <a:sym typeface="Helvetica Neue Light"/>
              </a:rPr>
              <a:t>Minutes to provision VM.</a:t>
            </a:r>
          </a:p>
          <a:p>
            <a:pPr>
              <a:buFont typeface="Arial" panose="020B0604020202020204" pitchFamily="34" charset="0"/>
              <a:buChar char="•"/>
            </a:pPr>
            <a:r>
              <a:rPr lang="en-US" altLang="en-US" sz="1800">
                <a:solidFill>
                  <a:schemeClr val="tx1"/>
                </a:solidFill>
                <a:sym typeface="Helvetica Neue Light"/>
              </a:rPr>
              <a:t>Time to configure software and apps varies.</a:t>
            </a:r>
          </a:p>
          <a:p>
            <a:pPr>
              <a:buFont typeface="Arial" panose="020B0604020202020204" pitchFamily="34" charset="0"/>
              <a:buChar char="•"/>
            </a:pPr>
            <a:r>
              <a:rPr lang="en-US" altLang="en-US" sz="1800">
                <a:solidFill>
                  <a:schemeClr val="tx1"/>
                </a:solidFill>
                <a:sym typeface="Helvetica Neue Light"/>
              </a:rPr>
              <a:t>Maintenance/upgrades of OS, middleware, runtime</a:t>
            </a:r>
            <a:r>
              <a:rPr lang="en-US" altLang="en-US" sz="1800">
                <a:sym typeface="Helvetica Neue Light"/>
              </a:rPr>
              <a:t>.</a:t>
            </a:r>
          </a:p>
        </p:txBody>
      </p:sp>
      <p:sp>
        <p:nvSpPr>
          <p:cNvPr id="192" name="Shape 192"/>
          <p:cNvSpPr/>
          <p:nvPr/>
        </p:nvSpPr>
        <p:spPr>
          <a:xfrm>
            <a:off x="5827713" y="6275388"/>
            <a:ext cx="1614487" cy="509587"/>
          </a:xfrm>
          <a:prstGeom prst="rect">
            <a:avLst/>
          </a:prstGeom>
          <a:ln w="12700">
            <a:miter lim="400000"/>
          </a:ln>
          <a:extLst>
            <a:ext uri="{C572A759-6A51-4108-AA02-DFA0A04FC94B}"/>
          </a:extLst>
        </p:spPr>
        <p:txBody>
          <a:bodyPr lIns="0" tIns="0" rIns="0" bIns="0">
            <a:normAutofit/>
          </a:bodyPr>
          <a:lstStyle>
            <a:lvl1pPr>
              <a:defRPr sz="2300" b="1">
                <a:solidFill>
                  <a:srgbClr val="B5CFEB"/>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Minutes</a:t>
            </a:r>
          </a:p>
        </p:txBody>
      </p:sp>
      <p:sp>
        <p:nvSpPr>
          <p:cNvPr id="204" name="Shape 204"/>
          <p:cNvSpPr/>
          <p:nvPr/>
        </p:nvSpPr>
        <p:spPr>
          <a:xfrm>
            <a:off x="3046413" y="6275388"/>
            <a:ext cx="1614487" cy="509587"/>
          </a:xfrm>
          <a:prstGeom prst="rect">
            <a:avLst/>
          </a:prstGeom>
          <a:ln w="12700">
            <a:miter lim="400000"/>
          </a:ln>
          <a:extLst>
            <a:ext uri="{C572A759-6A51-4108-AA02-DFA0A04FC94B}"/>
          </a:extLst>
        </p:spPr>
        <p:txBody>
          <a:bodyPr lIns="0" tIns="0" rIns="0" bIns="0">
            <a:normAutofit/>
          </a:bodyPr>
          <a:lstStyle>
            <a:lvl1pPr>
              <a:defRPr sz="2300" b="1">
                <a:solidFill>
                  <a:srgbClr val="A3B6C4"/>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Weeks</a:t>
            </a:r>
          </a:p>
        </p:txBody>
      </p:sp>
      <p:sp>
        <p:nvSpPr>
          <p:cNvPr id="205" name="Shape 205"/>
          <p:cNvSpPr/>
          <p:nvPr/>
        </p:nvSpPr>
        <p:spPr>
          <a:xfrm>
            <a:off x="3154363" y="5573713"/>
            <a:ext cx="1171575" cy="687387"/>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A3B6C4"/>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000000"/>
                </a:solidFill>
                <a:latin typeface="Arial"/>
                <a:ea typeface="Arial"/>
                <a:cs typeface="Arial"/>
              </a:rPr>
              <a:t>Core IT</a:t>
            </a:r>
          </a:p>
        </p:txBody>
      </p:sp>
      <p:sp>
        <p:nvSpPr>
          <p:cNvPr id="37" name="Shape 233"/>
          <p:cNvSpPr/>
          <p:nvPr/>
        </p:nvSpPr>
        <p:spPr>
          <a:xfrm>
            <a:off x="425450" y="5818188"/>
            <a:ext cx="2293938" cy="509587"/>
          </a:xfrm>
          <a:prstGeom prst="rect">
            <a:avLst/>
          </a:prstGeom>
          <a:ln w="12700">
            <a:miter lim="400000"/>
          </a:ln>
          <a:extLst>
            <a:ext uri="{C572A759-6A51-4108-AA02-DFA0A04FC94B}"/>
          </a:extLst>
        </p:spPr>
        <p:txBody>
          <a:bodyPr lIns="0" tIns="0" rIns="0" bIns="0">
            <a:normAutofit/>
          </a:bodyPr>
          <a:lstStyle>
            <a:lvl1pPr algn="l" defTabSz="531622">
              <a:defRPr sz="2002" b="1">
                <a:latin typeface="+mj-lt"/>
                <a:ea typeface="+mj-ea"/>
                <a:cs typeface="+mj-cs"/>
                <a:sym typeface="Helvetica Neue"/>
              </a:defRPr>
            </a:lvl1pPr>
          </a:lstStyle>
          <a:p>
            <a:pPr>
              <a:defRPr sz="1800" b="0"/>
            </a:pPr>
            <a:r>
              <a:rPr sz="1408" b="0" dirty="0">
                <a:cs typeface="Arial"/>
              </a:rPr>
              <a:t>Time to initial deployment</a:t>
            </a:r>
          </a:p>
        </p:txBody>
      </p:sp>
      <p:sp>
        <p:nvSpPr>
          <p:cNvPr id="38" name="Title 1"/>
          <p:cNvSpPr txBox="1">
            <a:spLocks/>
          </p:cNvSpPr>
          <p:nvPr/>
        </p:nvSpPr>
        <p:spPr bwMode="auto">
          <a:xfrm>
            <a:off x="417513" y="587375"/>
            <a:ext cx="8543925" cy="331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algn="l" rtl="0" eaLnBrk="0" fontAlgn="base" hangingPunct="0">
              <a:lnSpc>
                <a:spcPct val="90000"/>
              </a:lnSpc>
              <a:spcBef>
                <a:spcPct val="0"/>
              </a:spcBef>
              <a:spcAft>
                <a:spcPct val="0"/>
              </a:spcAft>
              <a:defRPr sz="2400">
                <a:solidFill>
                  <a:srgbClr val="008ABF"/>
                </a:solidFill>
                <a:latin typeface="+mj-lt"/>
                <a:ea typeface="+mj-ea"/>
                <a:cs typeface="+mj-cs"/>
              </a:defRPr>
            </a:lvl1pPr>
            <a:lvl2pPr algn="l" rtl="0" eaLnBrk="0" fontAlgn="base" hangingPunct="0">
              <a:lnSpc>
                <a:spcPct val="90000"/>
              </a:lnSpc>
              <a:spcBef>
                <a:spcPct val="0"/>
              </a:spcBef>
              <a:spcAft>
                <a:spcPct val="0"/>
              </a:spcAft>
              <a:defRPr sz="2400">
                <a:solidFill>
                  <a:srgbClr val="008ABF"/>
                </a:solidFill>
                <a:latin typeface="Arial" pitchFamily="34" charset="0"/>
              </a:defRPr>
            </a:lvl2pPr>
            <a:lvl3pPr algn="l" rtl="0" eaLnBrk="0" fontAlgn="base" hangingPunct="0">
              <a:lnSpc>
                <a:spcPct val="90000"/>
              </a:lnSpc>
              <a:spcBef>
                <a:spcPct val="0"/>
              </a:spcBef>
              <a:spcAft>
                <a:spcPct val="0"/>
              </a:spcAft>
              <a:defRPr sz="2400">
                <a:solidFill>
                  <a:srgbClr val="008ABF"/>
                </a:solidFill>
                <a:latin typeface="Arial" pitchFamily="34" charset="0"/>
              </a:defRPr>
            </a:lvl3pPr>
            <a:lvl4pPr algn="l" rtl="0" eaLnBrk="0" fontAlgn="base" hangingPunct="0">
              <a:lnSpc>
                <a:spcPct val="90000"/>
              </a:lnSpc>
              <a:spcBef>
                <a:spcPct val="0"/>
              </a:spcBef>
              <a:spcAft>
                <a:spcPct val="0"/>
              </a:spcAft>
              <a:defRPr sz="2400">
                <a:solidFill>
                  <a:srgbClr val="008ABF"/>
                </a:solidFill>
                <a:latin typeface="Arial" pitchFamily="34" charset="0"/>
              </a:defRPr>
            </a:lvl4pPr>
            <a:lvl5pPr algn="l" rtl="0" eaLnBrk="0" fontAlgn="base" hangingPunct="0">
              <a:lnSpc>
                <a:spcPct val="90000"/>
              </a:lnSpc>
              <a:spcBef>
                <a:spcPct val="0"/>
              </a:spcBef>
              <a:spcAft>
                <a:spcPct val="0"/>
              </a:spcAft>
              <a:defRPr sz="2400">
                <a:solidFill>
                  <a:srgbClr val="008ABF"/>
                </a:solidFill>
                <a:latin typeface="Arial" pitchFamily="34" charset="0"/>
              </a:defRPr>
            </a:lvl5pPr>
            <a:lvl6pPr marL="457034" algn="l" rtl="0" eaLnBrk="1" fontAlgn="base" hangingPunct="1">
              <a:lnSpc>
                <a:spcPct val="90000"/>
              </a:lnSpc>
              <a:spcBef>
                <a:spcPct val="0"/>
              </a:spcBef>
              <a:spcAft>
                <a:spcPct val="0"/>
              </a:spcAft>
              <a:defRPr sz="2600">
                <a:solidFill>
                  <a:schemeClr val="hlink"/>
                </a:solidFill>
                <a:latin typeface="Arial" pitchFamily="34" charset="0"/>
              </a:defRPr>
            </a:lvl6pPr>
            <a:lvl7pPr marL="914070" algn="l" rtl="0" eaLnBrk="1" fontAlgn="base" hangingPunct="1">
              <a:lnSpc>
                <a:spcPct val="90000"/>
              </a:lnSpc>
              <a:spcBef>
                <a:spcPct val="0"/>
              </a:spcBef>
              <a:spcAft>
                <a:spcPct val="0"/>
              </a:spcAft>
              <a:defRPr sz="2600">
                <a:solidFill>
                  <a:schemeClr val="hlink"/>
                </a:solidFill>
                <a:latin typeface="Arial" pitchFamily="34" charset="0"/>
              </a:defRPr>
            </a:lvl7pPr>
            <a:lvl8pPr marL="1371108" algn="l" rtl="0" eaLnBrk="1" fontAlgn="base" hangingPunct="1">
              <a:lnSpc>
                <a:spcPct val="90000"/>
              </a:lnSpc>
              <a:spcBef>
                <a:spcPct val="0"/>
              </a:spcBef>
              <a:spcAft>
                <a:spcPct val="0"/>
              </a:spcAft>
              <a:defRPr sz="2600">
                <a:solidFill>
                  <a:schemeClr val="hlink"/>
                </a:solidFill>
                <a:latin typeface="Arial" pitchFamily="34" charset="0"/>
              </a:defRPr>
            </a:lvl8pPr>
            <a:lvl9pPr marL="1828142" algn="l" rtl="0" eaLnBrk="1" fontAlgn="base" hangingPunct="1">
              <a:lnSpc>
                <a:spcPct val="90000"/>
              </a:lnSpc>
              <a:spcBef>
                <a:spcPct val="0"/>
              </a:spcBef>
              <a:spcAft>
                <a:spcPct val="0"/>
              </a:spcAft>
              <a:defRPr sz="2600">
                <a:solidFill>
                  <a:schemeClr val="hlink"/>
                </a:solidFill>
                <a:latin typeface="Arial" pitchFamily="34" charset="0"/>
              </a:defRPr>
            </a:lvl9pPr>
          </a:lstStyle>
          <a:p>
            <a:pPr>
              <a:defRPr/>
            </a:pPr>
            <a:r>
              <a:rPr lang="en-US" kern="0" dirty="0" smtClean="0"/>
              <a:t>Infrastructure as a Services (</a:t>
            </a:r>
            <a:r>
              <a:rPr lang="en-US" kern="0" dirty="0" err="1" smtClean="0"/>
              <a:t>IaaS</a:t>
            </a:r>
            <a:r>
              <a:rPr lang="en-US" kern="0" dirty="0" smtClean="0"/>
              <a:t>)</a:t>
            </a:r>
            <a:endParaRPr lang="en-US" kern="0" dirty="0"/>
          </a:p>
        </p:txBody>
      </p:sp>
      <p:sp>
        <p:nvSpPr>
          <p:cNvPr id="24593" name="Shape 185"/>
          <p:cNvSpPr>
            <a:spLocks noChangeArrowheads="1"/>
          </p:cNvSpPr>
          <p:nvPr/>
        </p:nvSpPr>
        <p:spPr bwMode="auto">
          <a:xfrm>
            <a:off x="4278313" y="6283325"/>
            <a:ext cx="1447800" cy="398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r>
              <a:rPr lang="en-US" altLang="en-US" sz="2300" b="1">
                <a:solidFill>
                  <a:srgbClr val="B3163A"/>
                </a:solidFill>
                <a:sym typeface="Helvetica Neue"/>
              </a:rPr>
              <a:t>~ Days</a:t>
            </a:r>
          </a:p>
        </p:txBody>
      </p:sp>
      <p:grpSp>
        <p:nvGrpSpPr>
          <p:cNvPr id="24594" name="Group 203"/>
          <p:cNvGrpSpPr>
            <a:grpSpLocks/>
          </p:cNvGrpSpPr>
          <p:nvPr/>
        </p:nvGrpSpPr>
        <p:grpSpPr bwMode="auto">
          <a:xfrm>
            <a:off x="1812925" y="1863725"/>
            <a:ext cx="2636838" cy="3773488"/>
            <a:chOff x="1846655" y="1060322"/>
            <a:chExt cx="2329204" cy="4834894"/>
          </a:xfrm>
        </p:grpSpPr>
        <p:sp>
          <p:nvSpPr>
            <p:cNvPr id="24596" name="Shape 194"/>
            <p:cNvSpPr>
              <a:spLocks noChangeArrowheads="1"/>
            </p:cNvSpPr>
            <p:nvPr/>
          </p:nvSpPr>
          <p:spPr bwMode="auto">
            <a:xfrm>
              <a:off x="1850916" y="1060322"/>
              <a:ext cx="2320684"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Code</a:t>
              </a:r>
            </a:p>
          </p:txBody>
        </p:sp>
        <p:sp>
          <p:nvSpPr>
            <p:cNvPr id="24597" name="Shape 195"/>
            <p:cNvSpPr>
              <a:spLocks noChangeArrowheads="1"/>
            </p:cNvSpPr>
            <p:nvPr/>
          </p:nvSpPr>
          <p:spPr bwMode="auto">
            <a:xfrm>
              <a:off x="1853475" y="1606944"/>
              <a:ext cx="2315566"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Data</a:t>
              </a:r>
            </a:p>
          </p:txBody>
        </p:sp>
        <p:sp>
          <p:nvSpPr>
            <p:cNvPr id="24598" name="Shape 196"/>
            <p:cNvSpPr>
              <a:spLocks noChangeArrowheads="1"/>
            </p:cNvSpPr>
            <p:nvPr/>
          </p:nvSpPr>
          <p:spPr bwMode="auto">
            <a:xfrm>
              <a:off x="1854529" y="2153567"/>
              <a:ext cx="2313458"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Runtime</a:t>
              </a:r>
            </a:p>
          </p:txBody>
        </p:sp>
        <p:sp>
          <p:nvSpPr>
            <p:cNvPr id="24599" name="Shape 197"/>
            <p:cNvSpPr>
              <a:spLocks noChangeArrowheads="1"/>
            </p:cNvSpPr>
            <p:nvPr/>
          </p:nvSpPr>
          <p:spPr bwMode="auto">
            <a:xfrm>
              <a:off x="1853928" y="2700190"/>
              <a:ext cx="2314660"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Middleware</a:t>
              </a:r>
            </a:p>
          </p:txBody>
        </p:sp>
        <p:sp>
          <p:nvSpPr>
            <p:cNvPr id="24600" name="Shape 198"/>
            <p:cNvSpPr>
              <a:spLocks noChangeArrowheads="1"/>
            </p:cNvSpPr>
            <p:nvPr/>
          </p:nvSpPr>
          <p:spPr bwMode="auto">
            <a:xfrm>
              <a:off x="1847773" y="3246813"/>
              <a:ext cx="2326970"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OS</a:t>
              </a:r>
            </a:p>
          </p:txBody>
        </p:sp>
        <p:sp>
          <p:nvSpPr>
            <p:cNvPr id="24601" name="Shape 199"/>
            <p:cNvSpPr>
              <a:spLocks noChangeArrowheads="1"/>
            </p:cNvSpPr>
            <p:nvPr/>
          </p:nvSpPr>
          <p:spPr bwMode="auto">
            <a:xfrm>
              <a:off x="1854143" y="3793435"/>
              <a:ext cx="2314230" cy="461915"/>
            </a:xfrm>
            <a:prstGeom prst="rect">
              <a:avLst/>
            </a:prstGeom>
            <a:solidFill>
              <a:srgbClr val="1F96B2"/>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Virtualization</a:t>
              </a:r>
            </a:p>
          </p:txBody>
        </p:sp>
        <p:sp>
          <p:nvSpPr>
            <p:cNvPr id="24602" name="Shape 200"/>
            <p:cNvSpPr>
              <a:spLocks noChangeArrowheads="1"/>
            </p:cNvSpPr>
            <p:nvPr/>
          </p:nvSpPr>
          <p:spPr bwMode="auto">
            <a:xfrm>
              <a:off x="1846655" y="4340058"/>
              <a:ext cx="23292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Servers</a:t>
              </a:r>
            </a:p>
          </p:txBody>
        </p:sp>
        <p:sp>
          <p:nvSpPr>
            <p:cNvPr id="24603" name="Shape 201"/>
            <p:cNvSpPr>
              <a:spLocks noChangeArrowheads="1"/>
            </p:cNvSpPr>
            <p:nvPr/>
          </p:nvSpPr>
          <p:spPr bwMode="auto">
            <a:xfrm>
              <a:off x="1853955" y="4886680"/>
              <a:ext cx="23146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Storage</a:t>
              </a:r>
            </a:p>
          </p:txBody>
        </p:sp>
        <p:sp>
          <p:nvSpPr>
            <p:cNvPr id="24604" name="Shape 202"/>
            <p:cNvSpPr>
              <a:spLocks noChangeArrowheads="1"/>
            </p:cNvSpPr>
            <p:nvPr/>
          </p:nvSpPr>
          <p:spPr bwMode="auto">
            <a:xfrm>
              <a:off x="1851963" y="5433304"/>
              <a:ext cx="231859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Networking</a:t>
              </a:r>
            </a:p>
          </p:txBody>
        </p:sp>
      </p:grpSp>
      <p:pic>
        <p:nvPicPr>
          <p:cNvPr id="24595"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064125" y="5475288"/>
            <a:ext cx="2343150" cy="487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extLst>
      <p:ext uri="{BB962C8B-B14F-4D97-AF65-F5344CB8AC3E}">
        <p14:creationId xmlns:p14="http://schemas.microsoft.com/office/powerpoint/2010/main" xmlns="" val="91753922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1"/>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24590" y="3017520"/>
            <a:ext cx="8887786" cy="34205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itle 1"/>
          <p:cNvSpPr>
            <a:spLocks noGrp="1"/>
          </p:cNvSpPr>
          <p:nvPr>
            <p:ph type="title"/>
          </p:nvPr>
        </p:nvSpPr>
        <p:spPr>
          <a:xfrm>
            <a:off x="274320" y="548640"/>
            <a:ext cx="6168182" cy="389466"/>
          </a:xfrm>
        </p:spPr>
        <p:txBody>
          <a:bodyPr/>
          <a:lstStyle/>
          <a:p>
            <a:pPr>
              <a:defRPr/>
            </a:pPr>
            <a:r>
              <a:rPr lang="en-US" b="1" dirty="0">
                <a:solidFill>
                  <a:srgbClr val="0070C0"/>
                </a:solidFill>
              </a:rPr>
              <a:t>IBM </a:t>
            </a:r>
            <a:r>
              <a:rPr lang="en-US" b="1" dirty="0" err="1">
                <a:solidFill>
                  <a:srgbClr val="0070C0"/>
                </a:solidFill>
              </a:rPr>
              <a:t>SoftLayer</a:t>
            </a:r>
            <a:r>
              <a:rPr lang="en-US" b="1" dirty="0">
                <a:solidFill>
                  <a:srgbClr val="0070C0"/>
                </a:solidFill>
              </a:rPr>
              <a:t> </a:t>
            </a:r>
            <a:r>
              <a:rPr lang="en-US" b="1" dirty="0" err="1">
                <a:solidFill>
                  <a:srgbClr val="0070C0"/>
                </a:solidFill>
              </a:rPr>
              <a:t>IaaS</a:t>
            </a:r>
            <a:r>
              <a:rPr lang="en-US" b="1" dirty="0">
                <a:solidFill>
                  <a:srgbClr val="0070C0"/>
                </a:solidFill>
              </a:rPr>
              <a:t> Offerings</a:t>
            </a:r>
            <a:endParaRPr lang="en-US" dirty="0">
              <a:solidFill>
                <a:srgbClr val="0070C0"/>
              </a:solidFill>
            </a:endParaRPr>
          </a:p>
        </p:txBody>
      </p:sp>
      <p:sp>
        <p:nvSpPr>
          <p:cNvPr id="4" name="TextBox 3"/>
          <p:cNvSpPr txBox="1"/>
          <p:nvPr/>
        </p:nvSpPr>
        <p:spPr>
          <a:xfrm>
            <a:off x="142696" y="1100650"/>
            <a:ext cx="8869680" cy="1754326"/>
          </a:xfrm>
          <a:prstGeom prst="rect">
            <a:avLst/>
          </a:prstGeom>
          <a:noFill/>
        </p:spPr>
        <p:txBody>
          <a:bodyPr wrap="square" rtlCol="0">
            <a:spAutoFit/>
          </a:bodyPr>
          <a:lstStyle/>
          <a:p>
            <a:pPr marL="285750" lvl="0" indent="-285750">
              <a:buFont typeface="Arial" panose="020B0604020202020204" pitchFamily="34" charset="0"/>
              <a:buChar char="•"/>
            </a:pPr>
            <a:r>
              <a:rPr lang="en-US" dirty="0"/>
              <a:t>Highly flexible architecture</a:t>
            </a:r>
          </a:p>
          <a:p>
            <a:pPr marL="285750" lvl="0" indent="-285750">
              <a:buFont typeface="Arial" panose="020B0604020202020204" pitchFamily="34" charset="0"/>
              <a:buChar char="•"/>
            </a:pPr>
            <a:r>
              <a:rPr lang="en-US" dirty="0"/>
              <a:t>One platform for public cloud servers, private clouds, bare metal servers</a:t>
            </a:r>
          </a:p>
          <a:p>
            <a:pPr marL="285750" lvl="0" indent="-285750">
              <a:buFont typeface="Arial" panose="020B0604020202020204" pitchFamily="34" charset="0"/>
              <a:buChar char="•"/>
            </a:pPr>
            <a:r>
              <a:rPr lang="en-US" dirty="0"/>
              <a:t>Unified systems management &amp; API </a:t>
            </a:r>
            <a:endParaRPr lang="en-US" dirty="0" smtClean="0"/>
          </a:p>
          <a:p>
            <a:pPr marL="285750" lvl="0" indent="-285750">
              <a:buFont typeface="Arial" panose="020B0604020202020204" pitchFamily="34" charset="0"/>
              <a:buChar char="•"/>
            </a:pPr>
            <a:r>
              <a:rPr lang="en-US" dirty="0" smtClean="0"/>
              <a:t>Technology-neutral </a:t>
            </a:r>
            <a:r>
              <a:rPr lang="en-US" dirty="0"/>
              <a:t>platform</a:t>
            </a:r>
          </a:p>
          <a:p>
            <a:pPr marL="285750" lvl="0" indent="-285750">
              <a:buFont typeface="Arial" panose="020B0604020202020204" pitchFamily="34" charset="0"/>
              <a:buChar char="•"/>
            </a:pPr>
            <a:r>
              <a:rPr lang="en-US" dirty="0"/>
              <a:t>Support for broad range of operating systems, virtualization platforms</a:t>
            </a:r>
          </a:p>
          <a:p>
            <a:endParaRPr lang="en-US" dirty="0"/>
          </a:p>
        </p:txBody>
      </p:sp>
      <p:pic>
        <p:nvPicPr>
          <p:cNvPr id="7" name="Picture 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6669226" y="694425"/>
            <a:ext cx="2343150" cy="487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pic>
    </p:spTree>
    <p:extLst>
      <p:ext uri="{BB962C8B-B14F-4D97-AF65-F5344CB8AC3E}">
        <p14:creationId xmlns:p14="http://schemas.microsoft.com/office/powerpoint/2010/main" xmlns="" val="460355549"/>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Shape 209"/>
          <p:cNvSpPr/>
          <p:nvPr/>
        </p:nvSpPr>
        <p:spPr>
          <a:xfrm flipH="1">
            <a:off x="169863" y="6183313"/>
            <a:ext cx="8577262" cy="0"/>
          </a:xfrm>
          <a:prstGeom prst="line">
            <a:avLst/>
          </a:prstGeom>
          <a:ln w="25400">
            <a:solidFill/>
            <a:miter lim="400000"/>
            <a:headEnd type="arrow"/>
            <a:tailEnd type="arrow"/>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211" name="Shape 211"/>
          <p:cNvSpPr/>
          <p:nvPr/>
        </p:nvSpPr>
        <p:spPr>
          <a:xfrm>
            <a:off x="5429250" y="1687513"/>
            <a:ext cx="26988" cy="4476750"/>
          </a:xfrm>
          <a:prstGeom prst="line">
            <a:avLst/>
          </a:prstGeom>
          <a:ln w="25400">
            <a:solidFill>
              <a:srgbClr val="0365C0"/>
            </a:solidFill>
            <a:miter lim="400000"/>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212" name="Shape 212"/>
          <p:cNvSpPr/>
          <p:nvPr/>
        </p:nvSpPr>
        <p:spPr>
          <a:xfrm>
            <a:off x="4006850" y="6049963"/>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E5B6C1"/>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21" name="Shape 221"/>
          <p:cNvSpPr/>
          <p:nvPr/>
        </p:nvSpPr>
        <p:spPr>
          <a:xfrm>
            <a:off x="3970338" y="5694363"/>
            <a:ext cx="681037" cy="400050"/>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ECCFD6"/>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000000"/>
                </a:solidFill>
                <a:latin typeface="Arial"/>
                <a:ea typeface="Arial"/>
                <a:cs typeface="Arial"/>
              </a:rPr>
              <a:t>IaaS</a:t>
            </a:r>
          </a:p>
        </p:txBody>
      </p:sp>
      <p:sp>
        <p:nvSpPr>
          <p:cNvPr id="222" name="Shape 222"/>
          <p:cNvSpPr/>
          <p:nvPr/>
        </p:nvSpPr>
        <p:spPr>
          <a:xfrm>
            <a:off x="5341938" y="6049963"/>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365C0"/>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27" name="Shape 227"/>
          <p:cNvSpPr/>
          <p:nvPr/>
        </p:nvSpPr>
        <p:spPr>
          <a:xfrm>
            <a:off x="2554288" y="6313488"/>
            <a:ext cx="1614487" cy="511175"/>
          </a:xfrm>
          <a:prstGeom prst="rect">
            <a:avLst/>
          </a:prstGeom>
          <a:ln w="12700">
            <a:miter lim="400000"/>
          </a:ln>
          <a:extLst>
            <a:ext uri="{C572A759-6A51-4108-AA02-DFA0A04FC94B}"/>
          </a:extLst>
        </p:spPr>
        <p:txBody>
          <a:bodyPr lIns="0" tIns="0" rIns="0" bIns="0">
            <a:normAutofit/>
          </a:bodyPr>
          <a:lstStyle>
            <a:lvl1pPr>
              <a:defRPr sz="2300" b="1">
                <a:solidFill>
                  <a:srgbClr val="A3B6C4"/>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Weeks</a:t>
            </a:r>
          </a:p>
        </p:txBody>
      </p:sp>
      <p:sp>
        <p:nvSpPr>
          <p:cNvPr id="228" name="Shape 228"/>
          <p:cNvSpPr/>
          <p:nvPr/>
        </p:nvSpPr>
        <p:spPr>
          <a:xfrm>
            <a:off x="2900363" y="6049963"/>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2B6C5"/>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32" name="Shape 232"/>
          <p:cNvSpPr/>
          <p:nvPr/>
        </p:nvSpPr>
        <p:spPr>
          <a:xfrm>
            <a:off x="3668713" y="6313488"/>
            <a:ext cx="982662" cy="511175"/>
          </a:xfrm>
          <a:prstGeom prst="rect">
            <a:avLst/>
          </a:prstGeom>
          <a:ln w="12700">
            <a:miter lim="400000"/>
          </a:ln>
          <a:extLst>
            <a:ext uri="{C572A759-6A51-4108-AA02-DFA0A04FC94B}"/>
          </a:extLst>
        </p:spPr>
        <p:txBody>
          <a:bodyPr lIns="0" tIns="0" rIns="0" bIns="0">
            <a:normAutofit/>
          </a:bodyPr>
          <a:lstStyle>
            <a:lvl1pPr>
              <a:defRPr sz="2300" b="1">
                <a:solidFill>
                  <a:srgbClr val="E0A8B5"/>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Days</a:t>
            </a:r>
          </a:p>
        </p:txBody>
      </p:sp>
      <p:sp>
        <p:nvSpPr>
          <p:cNvPr id="233" name="Shape 233"/>
          <p:cNvSpPr/>
          <p:nvPr/>
        </p:nvSpPr>
        <p:spPr>
          <a:xfrm>
            <a:off x="327025" y="5840413"/>
            <a:ext cx="2293938" cy="511175"/>
          </a:xfrm>
          <a:prstGeom prst="rect">
            <a:avLst/>
          </a:prstGeom>
          <a:ln w="12700">
            <a:miter lim="400000"/>
          </a:ln>
          <a:extLst>
            <a:ext uri="{C572A759-6A51-4108-AA02-DFA0A04FC94B}"/>
          </a:extLst>
        </p:spPr>
        <p:txBody>
          <a:bodyPr lIns="0" tIns="0" rIns="0" bIns="0">
            <a:normAutofit/>
          </a:bodyPr>
          <a:lstStyle>
            <a:lvl1pPr algn="l" defTabSz="531622">
              <a:defRPr sz="2002" b="1">
                <a:latin typeface="+mj-lt"/>
                <a:ea typeface="+mj-ea"/>
                <a:cs typeface="+mj-cs"/>
                <a:sym typeface="Helvetica Neue"/>
              </a:defRPr>
            </a:lvl1pPr>
          </a:lstStyle>
          <a:p>
            <a:pPr>
              <a:defRPr sz="1800" b="0"/>
            </a:pPr>
            <a:r>
              <a:rPr sz="1408" b="0" dirty="0">
                <a:cs typeface="Arial"/>
              </a:rPr>
              <a:t>Time to initial deployment</a:t>
            </a:r>
          </a:p>
        </p:txBody>
      </p:sp>
      <p:sp>
        <p:nvSpPr>
          <p:cNvPr id="244" name="Shape 244"/>
          <p:cNvSpPr/>
          <p:nvPr/>
        </p:nvSpPr>
        <p:spPr>
          <a:xfrm>
            <a:off x="2613025" y="5534025"/>
            <a:ext cx="1171575" cy="687388"/>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A3B6C4"/>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000000"/>
                </a:solidFill>
                <a:latin typeface="Arial"/>
                <a:ea typeface="Arial"/>
                <a:cs typeface="Arial"/>
              </a:rPr>
              <a:t>Core IT</a:t>
            </a:r>
          </a:p>
        </p:txBody>
      </p:sp>
      <p:sp>
        <p:nvSpPr>
          <p:cNvPr id="28685" name="Shape 213"/>
          <p:cNvSpPr>
            <a:spLocks noChangeArrowheads="1"/>
          </p:cNvSpPr>
          <p:nvPr/>
        </p:nvSpPr>
        <p:spPr bwMode="auto">
          <a:xfrm>
            <a:off x="4651375" y="6313488"/>
            <a:ext cx="1901825" cy="4302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r>
              <a:rPr lang="en-US" altLang="en-US" sz="2000" b="1">
                <a:solidFill>
                  <a:srgbClr val="0365C0"/>
                </a:solidFill>
                <a:sym typeface="Helvetica Neue"/>
              </a:rPr>
              <a:t>~ Minutes</a:t>
            </a:r>
          </a:p>
        </p:txBody>
      </p:sp>
      <p:grpSp>
        <p:nvGrpSpPr>
          <p:cNvPr id="28686" name="Group 180"/>
          <p:cNvGrpSpPr>
            <a:grpSpLocks/>
          </p:cNvGrpSpPr>
          <p:nvPr/>
        </p:nvGrpSpPr>
        <p:grpSpPr bwMode="auto">
          <a:xfrm>
            <a:off x="365125" y="944563"/>
            <a:ext cx="2060575" cy="520700"/>
            <a:chOff x="0" y="-53670"/>
            <a:chExt cx="2929570" cy="739838"/>
          </a:xfrm>
        </p:grpSpPr>
        <p:sp>
          <p:nvSpPr>
            <p:cNvPr id="28707" name="Shape 178"/>
            <p:cNvSpPr>
              <a:spLocks noChangeArrowheads="1"/>
            </p:cNvSpPr>
            <p:nvPr/>
          </p:nvSpPr>
          <p:spPr bwMode="auto">
            <a:xfrm>
              <a:off x="316707" y="-53670"/>
              <a:ext cx="2612863" cy="739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Client Manages</a:t>
              </a:r>
            </a:p>
          </p:txBody>
        </p:sp>
        <p:sp>
          <p:nvSpPr>
            <p:cNvPr id="59" name="Shape 179"/>
            <p:cNvSpPr/>
            <p:nvPr/>
          </p:nvSpPr>
          <p:spPr>
            <a:xfrm>
              <a:off x="0" y="217002"/>
              <a:ext cx="203129" cy="203004"/>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405059"/>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grpSp>
        <p:nvGrpSpPr>
          <p:cNvPr id="28687" name="Group 183"/>
          <p:cNvGrpSpPr>
            <a:grpSpLocks/>
          </p:cNvGrpSpPr>
          <p:nvPr/>
        </p:nvGrpSpPr>
        <p:grpSpPr bwMode="auto">
          <a:xfrm>
            <a:off x="387350" y="1270000"/>
            <a:ext cx="2332038" cy="449263"/>
            <a:chOff x="31199" y="-84582"/>
            <a:chExt cx="3315210" cy="638610"/>
          </a:xfrm>
        </p:grpSpPr>
        <p:sp>
          <p:nvSpPr>
            <p:cNvPr id="28705" name="Shape 181"/>
            <p:cNvSpPr>
              <a:spLocks noChangeArrowheads="1"/>
            </p:cNvSpPr>
            <p:nvPr/>
          </p:nvSpPr>
          <p:spPr bwMode="auto">
            <a:xfrm>
              <a:off x="316707" y="-84582"/>
              <a:ext cx="3029702" cy="63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Vendor Manages in Cloud</a:t>
              </a:r>
            </a:p>
          </p:txBody>
        </p:sp>
        <p:sp>
          <p:nvSpPr>
            <p:cNvPr id="62" name="Shape 182"/>
            <p:cNvSpPr/>
            <p:nvPr/>
          </p:nvSpPr>
          <p:spPr>
            <a:xfrm>
              <a:off x="31199" y="84661"/>
              <a:ext cx="203110" cy="20309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396B1"/>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sp>
        <p:nvSpPr>
          <p:cNvPr id="28688" name="Shape 214"/>
          <p:cNvSpPr>
            <a:spLocks noChangeArrowheads="1"/>
          </p:cNvSpPr>
          <p:nvPr/>
        </p:nvSpPr>
        <p:spPr bwMode="auto">
          <a:xfrm>
            <a:off x="4573588" y="846138"/>
            <a:ext cx="1992312" cy="717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50800" tIns="50800" rIns="50800" bIns="50800" anchor="ctr">
            <a:spAutoFit/>
          </a:bodyP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a:spcBef>
                <a:spcPts val="2400"/>
              </a:spcBef>
            </a:pPr>
            <a:r>
              <a:rPr lang="en-US" altLang="en-US" sz="2000" b="1">
                <a:solidFill>
                  <a:srgbClr val="0365C0"/>
                </a:solidFill>
                <a:sym typeface="Helvetica Neue Light"/>
              </a:rPr>
              <a:t>Platform         as a Service</a:t>
            </a:r>
          </a:p>
        </p:txBody>
      </p:sp>
      <p:sp>
        <p:nvSpPr>
          <p:cNvPr id="28689" name="Shape 223"/>
          <p:cNvSpPr>
            <a:spLocks noChangeArrowheads="1"/>
          </p:cNvSpPr>
          <p:nvPr/>
        </p:nvSpPr>
        <p:spPr bwMode="auto">
          <a:xfrm>
            <a:off x="5675313" y="1543050"/>
            <a:ext cx="3138487" cy="1692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spAutoFit/>
          </a:bodyP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0365C0"/>
                </a:solidFill>
                <a:sym typeface="Helvetica Neue"/>
              </a:rPr>
              <a:t>Benefits</a:t>
            </a:r>
            <a:endParaRPr lang="en-US" altLang="en-US" sz="2000">
              <a:solidFill>
                <a:srgbClr val="0365C0"/>
              </a:solidFill>
              <a:sym typeface="Helvetica Neue"/>
            </a:endParaRPr>
          </a:p>
          <a:p>
            <a:pPr>
              <a:buFont typeface="Arial" panose="020B0604020202020204" pitchFamily="34" charset="0"/>
              <a:buChar char="•"/>
            </a:pPr>
            <a:r>
              <a:rPr lang="en-US" altLang="en-US" sz="1800">
                <a:solidFill>
                  <a:schemeClr val="tx1"/>
                </a:solidFill>
                <a:sym typeface="Helvetica Neue Light"/>
              </a:rPr>
              <a:t>Setup environments and deploy apps </a:t>
            </a:r>
            <a:r>
              <a:rPr lang="en-US" altLang="en-US" sz="1800" i="1">
                <a:solidFill>
                  <a:schemeClr val="tx1"/>
                </a:solidFill>
                <a:sym typeface="Helvetica Neue Light"/>
              </a:rPr>
              <a:t>very </a:t>
            </a:r>
            <a:r>
              <a:rPr lang="en-US" altLang="en-US" sz="1800">
                <a:solidFill>
                  <a:schemeClr val="tx1"/>
                </a:solidFill>
                <a:sym typeface="Helvetica Neue Light"/>
              </a:rPr>
              <a:t>quickly.</a:t>
            </a:r>
          </a:p>
          <a:p>
            <a:pPr>
              <a:buFont typeface="Arial" panose="020B0604020202020204" pitchFamily="34" charset="0"/>
              <a:buChar char="•"/>
            </a:pPr>
            <a:r>
              <a:rPr lang="en-US" altLang="en-US" sz="1800">
                <a:solidFill>
                  <a:schemeClr val="tx1"/>
                </a:solidFill>
                <a:sym typeface="Helvetica Neue Light"/>
              </a:rPr>
              <a:t>Infrastructure and platform managed by Service Provider.</a:t>
            </a:r>
          </a:p>
        </p:txBody>
      </p:sp>
      <p:sp>
        <p:nvSpPr>
          <p:cNvPr id="28690" name="Shape 224"/>
          <p:cNvSpPr>
            <a:spLocks noChangeArrowheads="1"/>
          </p:cNvSpPr>
          <p:nvPr/>
        </p:nvSpPr>
        <p:spPr bwMode="auto">
          <a:xfrm>
            <a:off x="5675313" y="3538538"/>
            <a:ext cx="3541712" cy="1292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0365C0"/>
                </a:solidFill>
                <a:sym typeface="Helvetica Neue"/>
              </a:rPr>
              <a:t>Time Commitment</a:t>
            </a:r>
            <a:endParaRPr lang="en-US" altLang="en-US" sz="2000">
              <a:solidFill>
                <a:srgbClr val="0365C0"/>
              </a:solidFill>
              <a:sym typeface="Helvetica Neue"/>
            </a:endParaRPr>
          </a:p>
          <a:p>
            <a:pPr>
              <a:buFont typeface="Arial" panose="020B0604020202020204" pitchFamily="34" charset="0"/>
              <a:buChar char="•"/>
            </a:pPr>
            <a:r>
              <a:rPr lang="en-US" altLang="en-US" sz="1800">
                <a:solidFill>
                  <a:schemeClr val="tx1"/>
                </a:solidFill>
                <a:sym typeface="Helvetica Neue Light"/>
              </a:rPr>
              <a:t>Minutes to setup and deploy.</a:t>
            </a:r>
          </a:p>
          <a:p>
            <a:pPr>
              <a:buFont typeface="Arial" panose="020B0604020202020204" pitchFamily="34" charset="0"/>
              <a:buChar char="•"/>
            </a:pPr>
            <a:r>
              <a:rPr lang="en-US" altLang="en-US" sz="1800">
                <a:solidFill>
                  <a:schemeClr val="tx1"/>
                </a:solidFill>
                <a:sym typeface="Helvetica Neue Light"/>
              </a:rPr>
              <a:t>Focus on your apps and their data.</a:t>
            </a:r>
          </a:p>
        </p:txBody>
      </p:sp>
      <p:grpSp>
        <p:nvGrpSpPr>
          <p:cNvPr id="28691" name="Group 231"/>
          <p:cNvGrpSpPr>
            <a:grpSpLocks/>
          </p:cNvGrpSpPr>
          <p:nvPr/>
        </p:nvGrpSpPr>
        <p:grpSpPr bwMode="auto">
          <a:xfrm>
            <a:off x="5924776" y="5299087"/>
            <a:ext cx="3013406" cy="834826"/>
            <a:chOff x="173115" y="755236"/>
            <a:chExt cx="3011622" cy="986775"/>
          </a:xfrm>
        </p:grpSpPr>
        <p:sp>
          <p:nvSpPr>
            <p:cNvPr id="28703" name="Shape 229"/>
            <p:cNvSpPr>
              <a:spLocks noChangeArrowheads="1"/>
            </p:cNvSpPr>
            <p:nvPr/>
          </p:nvSpPr>
          <p:spPr bwMode="auto">
            <a:xfrm>
              <a:off x="1182498" y="856774"/>
              <a:ext cx="2002239" cy="885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50800" tIns="50800" rIns="50800" bIns="50800" anchor="ctr">
              <a:spAutoFit/>
            </a:bodyPr>
            <a:lstStyle/>
            <a:p>
              <a:r>
                <a:rPr lang="en-US" altLang="en-US" dirty="0">
                  <a:solidFill>
                    <a:srgbClr val="405059"/>
                  </a:solidFill>
                  <a:sym typeface="Helvetica Neue Thin"/>
                </a:rPr>
                <a:t>IBM </a:t>
              </a:r>
              <a:r>
                <a:rPr lang="en-US" altLang="en-US" sz="1400" b="1" dirty="0" smtClean="0">
                  <a:solidFill>
                    <a:srgbClr val="405059"/>
                  </a:solidFill>
                  <a:sym typeface="Helvetica Neue Thin"/>
                </a:rPr>
                <a:t>Bluemix</a:t>
              </a:r>
              <a:r>
                <a:rPr lang="en-US" altLang="en-US" sz="1200" b="1" dirty="0" smtClean="0">
                  <a:solidFill>
                    <a:srgbClr val="405059"/>
                  </a:solidFill>
                  <a:sym typeface="Helvetica Neue Thin"/>
                </a:rPr>
                <a:t> </a:t>
              </a:r>
              <a:r>
                <a:rPr lang="en-US" altLang="en-US" sz="1400" b="1" dirty="0" smtClean="0">
                  <a:solidFill>
                    <a:srgbClr val="405059"/>
                  </a:solidFill>
                  <a:sym typeface="Helvetica Neue Thin"/>
                </a:rPr>
                <a:t>PaaS </a:t>
              </a:r>
              <a:r>
                <a:rPr lang="en-US" altLang="en-US" sz="1200" b="1" dirty="0" smtClean="0">
                  <a:solidFill>
                    <a:srgbClr val="405059"/>
                  </a:solidFill>
                  <a:sym typeface="Helvetica Neue Thin"/>
                </a:rPr>
                <a:t>Environment based on Cloud Foundry</a:t>
              </a:r>
              <a:endParaRPr lang="en-US" altLang="en-US" sz="1200" b="1" dirty="0">
                <a:solidFill>
                  <a:srgbClr val="405059"/>
                </a:solidFill>
                <a:sym typeface="Helvetica Neue Thin"/>
              </a:endParaRPr>
            </a:p>
          </p:txBody>
        </p:sp>
        <p:pic>
          <p:nvPicPr>
            <p:cNvPr id="28704" name="image3.png" descr="Matt_Logo_400.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3115" y="755236"/>
              <a:ext cx="952910" cy="952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692" name="Group 243"/>
          <p:cNvGrpSpPr>
            <a:grpSpLocks/>
          </p:cNvGrpSpPr>
          <p:nvPr/>
        </p:nvGrpSpPr>
        <p:grpSpPr bwMode="auto">
          <a:xfrm>
            <a:off x="2028825" y="1687513"/>
            <a:ext cx="3225800" cy="4071937"/>
            <a:chOff x="1846655" y="1060322"/>
            <a:chExt cx="2329204" cy="4834894"/>
          </a:xfrm>
        </p:grpSpPr>
        <p:sp>
          <p:nvSpPr>
            <p:cNvPr id="28694" name="Shape 234"/>
            <p:cNvSpPr>
              <a:spLocks noChangeArrowheads="1"/>
            </p:cNvSpPr>
            <p:nvPr/>
          </p:nvSpPr>
          <p:spPr bwMode="auto">
            <a:xfrm>
              <a:off x="1850916" y="1060322"/>
              <a:ext cx="2320684" cy="461914"/>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Code</a:t>
              </a:r>
            </a:p>
          </p:txBody>
        </p:sp>
        <p:sp>
          <p:nvSpPr>
            <p:cNvPr id="28695" name="Shape 235"/>
            <p:cNvSpPr>
              <a:spLocks noChangeArrowheads="1"/>
            </p:cNvSpPr>
            <p:nvPr/>
          </p:nvSpPr>
          <p:spPr bwMode="auto">
            <a:xfrm>
              <a:off x="1853475" y="1606944"/>
              <a:ext cx="2315566" cy="461915"/>
            </a:xfrm>
            <a:prstGeom prst="rect">
              <a:avLst/>
            </a:prstGeom>
            <a:solidFill>
              <a:srgbClr val="405059"/>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Data</a:t>
              </a:r>
            </a:p>
          </p:txBody>
        </p:sp>
        <p:sp>
          <p:nvSpPr>
            <p:cNvPr id="28696" name="Shape 236"/>
            <p:cNvSpPr>
              <a:spLocks noChangeArrowheads="1"/>
            </p:cNvSpPr>
            <p:nvPr/>
          </p:nvSpPr>
          <p:spPr bwMode="auto">
            <a:xfrm>
              <a:off x="1854529" y="2153567"/>
              <a:ext cx="2313458" cy="461914"/>
            </a:xfrm>
            <a:prstGeom prst="rect">
              <a:avLst/>
            </a:prstGeom>
            <a:solidFill>
              <a:srgbClr val="1F96B2"/>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Runtime</a:t>
              </a:r>
            </a:p>
          </p:txBody>
        </p:sp>
        <p:sp>
          <p:nvSpPr>
            <p:cNvPr id="28697" name="Shape 237"/>
            <p:cNvSpPr>
              <a:spLocks noChangeArrowheads="1"/>
            </p:cNvSpPr>
            <p:nvPr/>
          </p:nvSpPr>
          <p:spPr bwMode="auto">
            <a:xfrm>
              <a:off x="1853928" y="2700190"/>
              <a:ext cx="231466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Middleware</a:t>
              </a:r>
            </a:p>
          </p:txBody>
        </p:sp>
        <p:sp>
          <p:nvSpPr>
            <p:cNvPr id="28698" name="Shape 238"/>
            <p:cNvSpPr>
              <a:spLocks noChangeArrowheads="1"/>
            </p:cNvSpPr>
            <p:nvPr/>
          </p:nvSpPr>
          <p:spPr bwMode="auto">
            <a:xfrm>
              <a:off x="1847773" y="3246813"/>
              <a:ext cx="232697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OS</a:t>
              </a:r>
            </a:p>
          </p:txBody>
        </p:sp>
        <p:sp>
          <p:nvSpPr>
            <p:cNvPr id="28699" name="Shape 239"/>
            <p:cNvSpPr>
              <a:spLocks noChangeArrowheads="1"/>
            </p:cNvSpPr>
            <p:nvPr/>
          </p:nvSpPr>
          <p:spPr bwMode="auto">
            <a:xfrm>
              <a:off x="1854143" y="3793435"/>
              <a:ext cx="2314230"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Virtualization</a:t>
              </a:r>
            </a:p>
          </p:txBody>
        </p:sp>
        <p:sp>
          <p:nvSpPr>
            <p:cNvPr id="28700" name="Shape 240"/>
            <p:cNvSpPr>
              <a:spLocks noChangeArrowheads="1"/>
            </p:cNvSpPr>
            <p:nvPr/>
          </p:nvSpPr>
          <p:spPr bwMode="auto">
            <a:xfrm>
              <a:off x="1846655" y="4340058"/>
              <a:ext cx="23292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Servers</a:t>
              </a:r>
            </a:p>
          </p:txBody>
        </p:sp>
        <p:sp>
          <p:nvSpPr>
            <p:cNvPr id="28701" name="Shape 241"/>
            <p:cNvSpPr>
              <a:spLocks noChangeArrowheads="1"/>
            </p:cNvSpPr>
            <p:nvPr/>
          </p:nvSpPr>
          <p:spPr bwMode="auto">
            <a:xfrm>
              <a:off x="1853955" y="4886680"/>
              <a:ext cx="23146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Storage</a:t>
              </a:r>
            </a:p>
          </p:txBody>
        </p:sp>
        <p:sp>
          <p:nvSpPr>
            <p:cNvPr id="28702" name="Shape 242"/>
            <p:cNvSpPr>
              <a:spLocks noChangeArrowheads="1"/>
            </p:cNvSpPr>
            <p:nvPr/>
          </p:nvSpPr>
          <p:spPr bwMode="auto">
            <a:xfrm>
              <a:off x="1851963" y="5433304"/>
              <a:ext cx="231859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Networking</a:t>
              </a:r>
            </a:p>
          </p:txBody>
        </p:sp>
      </p:grpSp>
      <p:sp>
        <p:nvSpPr>
          <p:cNvPr id="28693" name="Title 1"/>
          <p:cNvSpPr>
            <a:spLocks noGrp="1"/>
          </p:cNvSpPr>
          <p:nvPr>
            <p:ph type="title"/>
          </p:nvPr>
        </p:nvSpPr>
        <p:spPr>
          <a:xfrm>
            <a:off x="269875" y="554038"/>
            <a:ext cx="8543925" cy="331787"/>
          </a:xfrm>
        </p:spPr>
        <p:txBody>
          <a:bodyPr/>
          <a:lstStyle/>
          <a:p>
            <a:r>
              <a:rPr lang="en-US" altLang="en-US" dirty="0" smtClean="0">
                <a:solidFill>
                  <a:srgbClr val="0070C0"/>
                </a:solidFill>
              </a:rPr>
              <a:t>Platform as a Services (</a:t>
            </a:r>
            <a:r>
              <a:rPr lang="en-US" altLang="en-US" dirty="0" err="1" smtClean="0">
                <a:solidFill>
                  <a:srgbClr val="0070C0"/>
                </a:solidFill>
              </a:rPr>
              <a:t>PaaS</a:t>
            </a:r>
            <a:r>
              <a:rPr lang="en-US" altLang="en-US" dirty="0" smtClean="0">
                <a:solidFill>
                  <a:srgbClr val="0070C0"/>
                </a:solidFill>
              </a:rPr>
              <a:t>)</a:t>
            </a:r>
          </a:p>
        </p:txBody>
      </p:sp>
    </p:spTree>
    <p:extLst>
      <p:ext uri="{BB962C8B-B14F-4D97-AF65-F5344CB8AC3E}">
        <p14:creationId xmlns:p14="http://schemas.microsoft.com/office/powerpoint/2010/main" xmlns="" val="179571635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a:defRPr/>
            </a:pPr>
            <a:r>
              <a:rPr lang="en-US" dirty="0" smtClean="0">
                <a:solidFill>
                  <a:srgbClr val="0070C0"/>
                </a:solidFill>
              </a:rPr>
              <a:t>IBM Platform as a Service Offerings – Bluemix </a:t>
            </a:r>
            <a:endParaRPr lang="en-US" dirty="0">
              <a:solidFill>
                <a:srgbClr val="0070C0"/>
              </a:solidFill>
            </a:endParaRPr>
          </a:p>
        </p:txBody>
      </p:sp>
      <p:sp>
        <p:nvSpPr>
          <p:cNvPr id="5" name="Shape 60"/>
          <p:cNvSpPr>
            <a:spLocks noChangeArrowheads="1"/>
          </p:cNvSpPr>
          <p:nvPr/>
        </p:nvSpPr>
        <p:spPr bwMode="auto">
          <a:xfrm>
            <a:off x="98377" y="1405937"/>
            <a:ext cx="8903860" cy="1447140"/>
          </a:xfrm>
          <a:prstGeom prst="rect">
            <a:avLst/>
          </a:prstGeom>
          <a:solidFill>
            <a:srgbClr val="597C96">
              <a:alpha val="91000"/>
            </a:srgbClr>
          </a:solidFill>
          <a:ln>
            <a:noFill/>
          </a:ln>
          <a:extLst/>
        </p:spPr>
        <p:txBody>
          <a:bodyPr lIns="0" tIns="0" rIns="0" bIns="0"/>
          <a:lstStyle/>
          <a:p>
            <a:pPr eaLnBrk="1" hangingPunct="1"/>
            <a:endParaRPr lang="en-US" sz="1600">
              <a:solidFill>
                <a:schemeClr val="bg1"/>
              </a:solidFill>
              <a:latin typeface="Arial" charset="0"/>
              <a:cs typeface="Arial" charset="0"/>
              <a:sym typeface="Arial" charset="0"/>
            </a:endParaRPr>
          </a:p>
        </p:txBody>
      </p:sp>
      <p:sp>
        <p:nvSpPr>
          <p:cNvPr id="6" name="TextBox 13"/>
          <p:cNvSpPr txBox="1">
            <a:spLocks noChangeArrowheads="1"/>
          </p:cNvSpPr>
          <p:nvPr/>
        </p:nvSpPr>
        <p:spPr bwMode="auto">
          <a:xfrm>
            <a:off x="98377" y="1417396"/>
            <a:ext cx="4669699" cy="13849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365" tIns="45683" rIns="91365" bIns="45683">
            <a:spAutoFit/>
          </a:bodyPr>
          <a:lstStyle>
            <a:lvl1pPr marL="292100" indent="-177800">
              <a:defRPr sz="2200">
                <a:solidFill>
                  <a:schemeClr val="hlink"/>
                </a:solidFill>
                <a:latin typeface="Helvetica" charset="0"/>
                <a:ea typeface="ＭＳ Ｐゴシック" charset="0"/>
                <a:cs typeface="MS PGothic" charset="0"/>
              </a:defRPr>
            </a:lvl1pPr>
            <a:lvl2pPr marL="742950" indent="-285750">
              <a:defRPr sz="2200">
                <a:solidFill>
                  <a:schemeClr val="hlink"/>
                </a:solidFill>
                <a:latin typeface="Helvetica" charset="0"/>
                <a:ea typeface="MS PGothic" charset="0"/>
                <a:cs typeface="MS PGothic" charset="0"/>
              </a:defRPr>
            </a:lvl2pPr>
            <a:lvl3pPr marL="1143000" indent="-228600">
              <a:defRPr sz="2200">
                <a:solidFill>
                  <a:schemeClr val="hlink"/>
                </a:solidFill>
                <a:latin typeface="Helvetica" charset="0"/>
                <a:ea typeface="MS PGothic" charset="0"/>
                <a:cs typeface="MS PGothic" charset="0"/>
              </a:defRPr>
            </a:lvl3pPr>
            <a:lvl4pPr marL="1600200" indent="-228600">
              <a:defRPr sz="2200">
                <a:solidFill>
                  <a:schemeClr val="hlink"/>
                </a:solidFill>
                <a:latin typeface="Helvetica" charset="0"/>
                <a:ea typeface="MS PGothic" charset="0"/>
                <a:cs typeface="MS PGothic" charset="0"/>
              </a:defRPr>
            </a:lvl4pPr>
            <a:lvl5pPr marL="2057400" indent="-228600">
              <a:defRPr sz="2200">
                <a:solidFill>
                  <a:schemeClr val="hlink"/>
                </a:solidFill>
                <a:latin typeface="Helvetica" charset="0"/>
                <a:ea typeface="MS PGothic" charset="0"/>
                <a:cs typeface="MS PGothic" charset="0"/>
              </a:defRPr>
            </a:lvl5pPr>
            <a:lvl6pPr marL="2514600" indent="-228600" eaLnBrk="0" fontAlgn="base" hangingPunct="0">
              <a:spcBef>
                <a:spcPct val="0"/>
              </a:spcBef>
              <a:spcAft>
                <a:spcPct val="0"/>
              </a:spcAft>
              <a:defRPr sz="2200">
                <a:solidFill>
                  <a:schemeClr val="hlink"/>
                </a:solidFill>
                <a:latin typeface="Helvetica" charset="0"/>
                <a:ea typeface="MS PGothic" charset="0"/>
                <a:cs typeface="MS PGothic" charset="0"/>
              </a:defRPr>
            </a:lvl6pPr>
            <a:lvl7pPr marL="2971800" indent="-228600" eaLnBrk="0" fontAlgn="base" hangingPunct="0">
              <a:spcBef>
                <a:spcPct val="0"/>
              </a:spcBef>
              <a:spcAft>
                <a:spcPct val="0"/>
              </a:spcAft>
              <a:defRPr sz="2200">
                <a:solidFill>
                  <a:schemeClr val="hlink"/>
                </a:solidFill>
                <a:latin typeface="Helvetica" charset="0"/>
                <a:ea typeface="MS PGothic" charset="0"/>
                <a:cs typeface="MS PGothic" charset="0"/>
              </a:defRPr>
            </a:lvl7pPr>
            <a:lvl8pPr marL="3429000" indent="-228600" eaLnBrk="0" fontAlgn="base" hangingPunct="0">
              <a:spcBef>
                <a:spcPct val="0"/>
              </a:spcBef>
              <a:spcAft>
                <a:spcPct val="0"/>
              </a:spcAft>
              <a:defRPr sz="2200">
                <a:solidFill>
                  <a:schemeClr val="hlink"/>
                </a:solidFill>
                <a:latin typeface="Helvetica" charset="0"/>
                <a:ea typeface="MS PGothic" charset="0"/>
                <a:cs typeface="MS PGothic" charset="0"/>
              </a:defRPr>
            </a:lvl8pPr>
            <a:lvl9pPr marL="3886200" indent="-228600" eaLnBrk="0" fontAlgn="base" hangingPunct="0">
              <a:spcBef>
                <a:spcPct val="0"/>
              </a:spcBef>
              <a:spcAft>
                <a:spcPct val="0"/>
              </a:spcAft>
              <a:defRPr sz="2200">
                <a:solidFill>
                  <a:schemeClr val="hlink"/>
                </a:solidFill>
                <a:latin typeface="Helvetica" charset="0"/>
                <a:ea typeface="MS PGothic" charset="0"/>
                <a:cs typeface="MS PGothic" charset="0"/>
              </a:defRPr>
            </a:lvl9pPr>
          </a:lstStyle>
          <a:p>
            <a:pPr eaLnBrk="1" hangingPunct="1">
              <a:buFontTx/>
              <a:buChar char="•"/>
            </a:pPr>
            <a:r>
              <a:rPr lang="en-US" sz="1400" b="1" dirty="0" smtClean="0">
                <a:solidFill>
                  <a:schemeClr val="bg1"/>
                </a:solidFill>
                <a:latin typeface="Helvetica Neue Light"/>
                <a:cs typeface="Helvetica Neue Light"/>
              </a:rPr>
              <a:t>DevOps</a:t>
            </a:r>
            <a:r>
              <a:rPr lang="en-US" sz="1400" dirty="0" smtClean="0">
                <a:solidFill>
                  <a:schemeClr val="bg1"/>
                </a:solidFill>
                <a:latin typeface="Helvetica Neue Light"/>
                <a:cs typeface="Helvetica Neue Light"/>
              </a:rPr>
              <a:t> -  From development to deployment</a:t>
            </a:r>
            <a:endParaRPr lang="en-US" sz="1400" dirty="0">
              <a:solidFill>
                <a:schemeClr val="bg1"/>
              </a:solidFill>
              <a:latin typeface="Helvetica Neue Light"/>
              <a:cs typeface="Helvetica Neue Light"/>
            </a:endParaRPr>
          </a:p>
          <a:p>
            <a:pPr eaLnBrk="1" hangingPunct="1">
              <a:buFontTx/>
              <a:buChar char="•"/>
            </a:pPr>
            <a:r>
              <a:rPr lang="en-US" sz="1400" b="1" dirty="0">
                <a:solidFill>
                  <a:schemeClr val="bg1"/>
                </a:solidFill>
                <a:latin typeface="Helvetica Neue Light"/>
                <a:cs typeface="Helvetica Neue Light"/>
              </a:rPr>
              <a:t>Big </a:t>
            </a:r>
            <a:r>
              <a:rPr lang="en-US" sz="1400" b="1" dirty="0" smtClean="0">
                <a:solidFill>
                  <a:schemeClr val="bg1"/>
                </a:solidFill>
                <a:latin typeface="Helvetica Neue Light"/>
                <a:cs typeface="Helvetica Neue Light"/>
              </a:rPr>
              <a:t>Data </a:t>
            </a:r>
            <a:r>
              <a:rPr lang="en-US" sz="1400" dirty="0" smtClean="0">
                <a:solidFill>
                  <a:schemeClr val="bg1"/>
                </a:solidFill>
                <a:latin typeface="Helvetica Neue Light"/>
                <a:cs typeface="Helvetica Neue Light"/>
              </a:rPr>
              <a:t>– Harness the power</a:t>
            </a:r>
            <a:endParaRPr lang="en-US" sz="1400" dirty="0">
              <a:solidFill>
                <a:schemeClr val="bg1"/>
              </a:solidFill>
              <a:latin typeface="Helvetica Neue Light"/>
              <a:cs typeface="Helvetica Neue Light"/>
            </a:endParaRPr>
          </a:p>
          <a:p>
            <a:pPr eaLnBrk="1" hangingPunct="1">
              <a:buFontTx/>
              <a:buChar char="•"/>
            </a:pPr>
            <a:r>
              <a:rPr lang="en-US" sz="1400" b="1" dirty="0" smtClean="0">
                <a:solidFill>
                  <a:schemeClr val="bg1"/>
                </a:solidFill>
                <a:latin typeface="Helvetica Neue Light"/>
                <a:cs typeface="Helvetica Neue Light"/>
              </a:rPr>
              <a:t>Mobile</a:t>
            </a:r>
            <a:r>
              <a:rPr lang="en-US" sz="1400" dirty="0" smtClean="0">
                <a:solidFill>
                  <a:schemeClr val="bg1"/>
                </a:solidFill>
                <a:latin typeface="Helvetica Neue Light"/>
                <a:cs typeface="Helvetica Neue Light"/>
              </a:rPr>
              <a:t> – Quickly get started with your next app</a:t>
            </a:r>
            <a:endParaRPr lang="en-US" sz="1400" dirty="0">
              <a:solidFill>
                <a:schemeClr val="bg1"/>
              </a:solidFill>
              <a:latin typeface="Helvetica Neue Light"/>
              <a:cs typeface="Helvetica Neue Light"/>
            </a:endParaRPr>
          </a:p>
          <a:p>
            <a:pPr eaLnBrk="1" hangingPunct="1">
              <a:buFontTx/>
              <a:buChar char="•"/>
            </a:pPr>
            <a:r>
              <a:rPr lang="en-US" sz="1400" b="1" dirty="0" smtClean="0">
                <a:solidFill>
                  <a:schemeClr val="bg1"/>
                </a:solidFill>
                <a:latin typeface="Helvetica Neue Light"/>
                <a:cs typeface="Helvetica Neue Light"/>
              </a:rPr>
              <a:t>Watson</a:t>
            </a:r>
            <a:r>
              <a:rPr lang="en-US" sz="1400" dirty="0" smtClean="0">
                <a:solidFill>
                  <a:schemeClr val="bg1"/>
                </a:solidFill>
                <a:latin typeface="Helvetica Neue Light"/>
                <a:cs typeface="Helvetica Neue Light"/>
              </a:rPr>
              <a:t> – Enable building cognitive apps</a:t>
            </a:r>
            <a:endParaRPr lang="en-US" sz="1400" dirty="0">
              <a:solidFill>
                <a:schemeClr val="bg1"/>
              </a:solidFill>
              <a:latin typeface="Helvetica Neue Light"/>
              <a:cs typeface="Helvetica Neue Light"/>
            </a:endParaRPr>
          </a:p>
          <a:p>
            <a:pPr eaLnBrk="1" hangingPunct="1">
              <a:buFontTx/>
              <a:buChar char="•"/>
            </a:pPr>
            <a:r>
              <a:rPr lang="en-US" sz="1400" b="1" dirty="0">
                <a:solidFill>
                  <a:schemeClr val="bg1"/>
                </a:solidFill>
                <a:latin typeface="Helvetica Neue Light"/>
                <a:cs typeface="Helvetica Neue Light"/>
              </a:rPr>
              <a:t>Business </a:t>
            </a:r>
            <a:r>
              <a:rPr lang="en-US" sz="1400" b="1" dirty="0" smtClean="0">
                <a:solidFill>
                  <a:schemeClr val="bg1"/>
                </a:solidFill>
                <a:latin typeface="Helvetica Neue Light"/>
                <a:cs typeface="Helvetica Neue Light"/>
              </a:rPr>
              <a:t>Analytics </a:t>
            </a:r>
            <a:r>
              <a:rPr lang="en-US" sz="1400" dirty="0" smtClean="0">
                <a:solidFill>
                  <a:schemeClr val="bg1"/>
                </a:solidFill>
                <a:latin typeface="Helvetica Neue Light"/>
                <a:cs typeface="Helvetica Neue Light"/>
              </a:rPr>
              <a:t>– Powerful analytics made easy</a:t>
            </a:r>
          </a:p>
          <a:p>
            <a:pPr eaLnBrk="1" hangingPunct="1">
              <a:buFontTx/>
              <a:buChar char="•"/>
            </a:pPr>
            <a:r>
              <a:rPr lang="en-US" sz="1400" b="1" dirty="0" smtClean="0">
                <a:solidFill>
                  <a:schemeClr val="bg1"/>
                </a:solidFill>
                <a:latin typeface="Helvetica Neue Light"/>
                <a:cs typeface="Helvetica Neue Light"/>
              </a:rPr>
              <a:t>Data Management </a:t>
            </a:r>
            <a:r>
              <a:rPr lang="en-US" sz="1400" dirty="0" smtClean="0">
                <a:solidFill>
                  <a:schemeClr val="bg1"/>
                </a:solidFill>
                <a:latin typeface="Helvetica Neue Light"/>
                <a:cs typeface="Helvetica Neue Light"/>
              </a:rPr>
              <a:t>– Agile data mgmt. &amp; refinement</a:t>
            </a:r>
            <a:endParaRPr lang="en-US" sz="1400" dirty="0">
              <a:solidFill>
                <a:schemeClr val="bg1"/>
              </a:solidFill>
              <a:latin typeface="Helvetica Neue Light"/>
              <a:cs typeface="Helvetica Neue Light"/>
            </a:endParaRPr>
          </a:p>
        </p:txBody>
      </p:sp>
      <p:sp>
        <p:nvSpPr>
          <p:cNvPr id="7" name="Rectangle 20"/>
          <p:cNvSpPr>
            <a:spLocks noChangeArrowheads="1"/>
          </p:cNvSpPr>
          <p:nvPr/>
        </p:nvSpPr>
        <p:spPr bwMode="auto">
          <a:xfrm>
            <a:off x="274028" y="992207"/>
            <a:ext cx="4833938" cy="4000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1365" tIns="45683" rIns="91365" bIns="45683">
            <a:spAutoFit/>
          </a:bodyPr>
          <a:lstStyle/>
          <a:p>
            <a:r>
              <a:rPr lang="en-US" sz="2000" dirty="0" smtClean="0">
                <a:latin typeface="Helvetica Neue Medium"/>
                <a:cs typeface="Helvetica Neue Medium"/>
              </a:rPr>
              <a:t>Service catalog available on Bluemix</a:t>
            </a:r>
            <a:endParaRPr lang="en-US" sz="2000" dirty="0">
              <a:latin typeface="Helvetica Neue Medium"/>
              <a:cs typeface="Helvetica Neue Medium"/>
            </a:endParaRPr>
          </a:p>
        </p:txBody>
      </p:sp>
      <p:sp>
        <p:nvSpPr>
          <p:cNvPr id="10" name="TextBox 13"/>
          <p:cNvSpPr txBox="1">
            <a:spLocks noChangeArrowheads="1"/>
          </p:cNvSpPr>
          <p:nvPr/>
        </p:nvSpPr>
        <p:spPr bwMode="auto">
          <a:xfrm>
            <a:off x="4541272" y="1458778"/>
            <a:ext cx="4460965" cy="13849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365" tIns="45683" rIns="91365" bIns="45683">
            <a:spAutoFit/>
          </a:bodyPr>
          <a:lstStyle>
            <a:lvl1pPr marL="292100" indent="-177800">
              <a:defRPr sz="2200">
                <a:solidFill>
                  <a:schemeClr val="hlink"/>
                </a:solidFill>
                <a:latin typeface="Helvetica" charset="0"/>
                <a:ea typeface="ＭＳ Ｐゴシック" charset="0"/>
                <a:cs typeface="MS PGothic" charset="0"/>
              </a:defRPr>
            </a:lvl1pPr>
            <a:lvl2pPr marL="742950" indent="-285750">
              <a:defRPr sz="2200">
                <a:solidFill>
                  <a:schemeClr val="hlink"/>
                </a:solidFill>
                <a:latin typeface="Helvetica" charset="0"/>
                <a:ea typeface="MS PGothic" charset="0"/>
                <a:cs typeface="MS PGothic" charset="0"/>
              </a:defRPr>
            </a:lvl2pPr>
            <a:lvl3pPr marL="1143000" indent="-228600">
              <a:defRPr sz="2200">
                <a:solidFill>
                  <a:schemeClr val="hlink"/>
                </a:solidFill>
                <a:latin typeface="Helvetica" charset="0"/>
                <a:ea typeface="MS PGothic" charset="0"/>
                <a:cs typeface="MS PGothic" charset="0"/>
              </a:defRPr>
            </a:lvl3pPr>
            <a:lvl4pPr marL="1600200" indent="-228600">
              <a:defRPr sz="2200">
                <a:solidFill>
                  <a:schemeClr val="hlink"/>
                </a:solidFill>
                <a:latin typeface="Helvetica" charset="0"/>
                <a:ea typeface="MS PGothic" charset="0"/>
                <a:cs typeface="MS PGothic" charset="0"/>
              </a:defRPr>
            </a:lvl4pPr>
            <a:lvl5pPr marL="2057400" indent="-228600">
              <a:defRPr sz="2200">
                <a:solidFill>
                  <a:schemeClr val="hlink"/>
                </a:solidFill>
                <a:latin typeface="Helvetica" charset="0"/>
                <a:ea typeface="MS PGothic" charset="0"/>
                <a:cs typeface="MS PGothic" charset="0"/>
              </a:defRPr>
            </a:lvl5pPr>
            <a:lvl6pPr marL="2514600" indent="-228600" eaLnBrk="0" fontAlgn="base" hangingPunct="0">
              <a:spcBef>
                <a:spcPct val="0"/>
              </a:spcBef>
              <a:spcAft>
                <a:spcPct val="0"/>
              </a:spcAft>
              <a:defRPr sz="2200">
                <a:solidFill>
                  <a:schemeClr val="hlink"/>
                </a:solidFill>
                <a:latin typeface="Helvetica" charset="0"/>
                <a:ea typeface="MS PGothic" charset="0"/>
                <a:cs typeface="MS PGothic" charset="0"/>
              </a:defRPr>
            </a:lvl6pPr>
            <a:lvl7pPr marL="2971800" indent="-228600" eaLnBrk="0" fontAlgn="base" hangingPunct="0">
              <a:spcBef>
                <a:spcPct val="0"/>
              </a:spcBef>
              <a:spcAft>
                <a:spcPct val="0"/>
              </a:spcAft>
              <a:defRPr sz="2200">
                <a:solidFill>
                  <a:schemeClr val="hlink"/>
                </a:solidFill>
                <a:latin typeface="Helvetica" charset="0"/>
                <a:ea typeface="MS PGothic" charset="0"/>
                <a:cs typeface="MS PGothic" charset="0"/>
              </a:defRPr>
            </a:lvl7pPr>
            <a:lvl8pPr marL="3429000" indent="-228600" eaLnBrk="0" fontAlgn="base" hangingPunct="0">
              <a:spcBef>
                <a:spcPct val="0"/>
              </a:spcBef>
              <a:spcAft>
                <a:spcPct val="0"/>
              </a:spcAft>
              <a:defRPr sz="2200">
                <a:solidFill>
                  <a:schemeClr val="hlink"/>
                </a:solidFill>
                <a:latin typeface="Helvetica" charset="0"/>
                <a:ea typeface="MS PGothic" charset="0"/>
                <a:cs typeface="MS PGothic" charset="0"/>
              </a:defRPr>
            </a:lvl8pPr>
            <a:lvl9pPr marL="3886200" indent="-228600" eaLnBrk="0" fontAlgn="base" hangingPunct="0">
              <a:spcBef>
                <a:spcPct val="0"/>
              </a:spcBef>
              <a:spcAft>
                <a:spcPct val="0"/>
              </a:spcAft>
              <a:defRPr sz="2200">
                <a:solidFill>
                  <a:schemeClr val="hlink"/>
                </a:solidFill>
                <a:latin typeface="Helvetica" charset="0"/>
                <a:ea typeface="MS PGothic" charset="0"/>
                <a:cs typeface="MS PGothic" charset="0"/>
              </a:defRPr>
            </a:lvl9pPr>
          </a:lstStyle>
          <a:p>
            <a:pPr eaLnBrk="1" hangingPunct="1">
              <a:buFontTx/>
              <a:buChar char="•"/>
            </a:pPr>
            <a:r>
              <a:rPr lang="en-US" sz="1400" b="1" dirty="0" smtClean="0">
                <a:solidFill>
                  <a:schemeClr val="bg1"/>
                </a:solidFill>
                <a:latin typeface="Helvetica Neue Light"/>
                <a:cs typeface="Helvetica Neue Light"/>
              </a:rPr>
              <a:t>Web </a:t>
            </a:r>
            <a:r>
              <a:rPr lang="en-US" sz="1400" b="1" dirty="0">
                <a:solidFill>
                  <a:schemeClr val="bg1"/>
                </a:solidFill>
                <a:latin typeface="Helvetica Neue Light"/>
                <a:cs typeface="Helvetica Neue Light"/>
              </a:rPr>
              <a:t>and </a:t>
            </a:r>
            <a:r>
              <a:rPr lang="en-US" sz="1400" b="1" dirty="0" smtClean="0">
                <a:solidFill>
                  <a:schemeClr val="bg1"/>
                </a:solidFill>
                <a:latin typeface="Helvetica Neue Light"/>
                <a:cs typeface="Helvetica Neue Light"/>
              </a:rPr>
              <a:t>Application</a:t>
            </a:r>
            <a:r>
              <a:rPr lang="en-US" sz="1400" dirty="0" smtClean="0">
                <a:solidFill>
                  <a:schemeClr val="bg1"/>
                </a:solidFill>
                <a:latin typeface="Helvetica Neue Light"/>
                <a:cs typeface="Helvetica Neue Light"/>
              </a:rPr>
              <a:t> – Deliver new web &amp; mobile apps</a:t>
            </a:r>
            <a:endParaRPr lang="en-US" sz="1400" dirty="0">
              <a:solidFill>
                <a:schemeClr val="bg1"/>
              </a:solidFill>
              <a:latin typeface="Helvetica Neue Light"/>
              <a:cs typeface="Helvetica Neue Light"/>
            </a:endParaRPr>
          </a:p>
          <a:p>
            <a:pPr eaLnBrk="1" hangingPunct="1">
              <a:buFontTx/>
              <a:buChar char="•"/>
            </a:pPr>
            <a:r>
              <a:rPr lang="en-US" sz="1400" b="1" dirty="0">
                <a:solidFill>
                  <a:schemeClr val="bg1"/>
                </a:solidFill>
                <a:latin typeface="Helvetica Neue Light"/>
                <a:cs typeface="Helvetica Neue Light"/>
              </a:rPr>
              <a:t>Security</a:t>
            </a:r>
            <a:r>
              <a:rPr lang="en-US" sz="1400" dirty="0">
                <a:solidFill>
                  <a:schemeClr val="bg1"/>
                </a:solidFill>
                <a:latin typeface="Helvetica Neue Light"/>
                <a:cs typeface="Helvetica Neue Light"/>
              </a:rPr>
              <a:t> </a:t>
            </a:r>
            <a:r>
              <a:rPr lang="en-US" sz="1400" dirty="0" smtClean="0">
                <a:solidFill>
                  <a:schemeClr val="bg1"/>
                </a:solidFill>
                <a:latin typeface="Helvetica Neue Light"/>
                <a:cs typeface="Helvetica Neue Light"/>
              </a:rPr>
              <a:t>– Build security into application design</a:t>
            </a:r>
            <a:endParaRPr lang="en-US" sz="1400" dirty="0">
              <a:solidFill>
                <a:schemeClr val="bg1"/>
              </a:solidFill>
              <a:latin typeface="Helvetica Neue Light"/>
              <a:cs typeface="Helvetica Neue Light"/>
            </a:endParaRPr>
          </a:p>
          <a:p>
            <a:pPr eaLnBrk="1" hangingPunct="1">
              <a:buFontTx/>
              <a:buChar char="•"/>
            </a:pPr>
            <a:r>
              <a:rPr lang="en-US" sz="1400" b="1" dirty="0">
                <a:solidFill>
                  <a:schemeClr val="bg1"/>
                </a:solidFill>
                <a:latin typeface="Helvetica Neue Light"/>
                <a:cs typeface="Helvetica Neue Light"/>
              </a:rPr>
              <a:t>Internet of </a:t>
            </a:r>
            <a:r>
              <a:rPr lang="en-US" sz="1400" b="1" dirty="0" smtClean="0">
                <a:solidFill>
                  <a:schemeClr val="bg1"/>
                </a:solidFill>
                <a:latin typeface="Helvetica Neue Light"/>
                <a:cs typeface="Helvetica Neue Light"/>
              </a:rPr>
              <a:t>Things </a:t>
            </a:r>
            <a:r>
              <a:rPr lang="en-US" sz="1400" dirty="0" smtClean="0">
                <a:solidFill>
                  <a:schemeClr val="bg1"/>
                </a:solidFill>
                <a:latin typeface="Helvetica Neue Light"/>
                <a:cs typeface="Helvetica Neue Light"/>
              </a:rPr>
              <a:t>– A new generation of apps</a:t>
            </a:r>
            <a:endParaRPr lang="en-US" sz="1400" dirty="0">
              <a:solidFill>
                <a:schemeClr val="bg1"/>
              </a:solidFill>
              <a:latin typeface="Helvetica Neue Light"/>
              <a:cs typeface="Helvetica Neue Light"/>
            </a:endParaRPr>
          </a:p>
          <a:p>
            <a:pPr eaLnBrk="1" hangingPunct="1">
              <a:buFontTx/>
              <a:buChar char="•"/>
            </a:pPr>
            <a:r>
              <a:rPr lang="en-US" sz="1400" b="1" dirty="0" smtClean="0">
                <a:solidFill>
                  <a:schemeClr val="bg1"/>
                </a:solidFill>
                <a:latin typeface="Helvetica Neue Light"/>
                <a:cs typeface="Helvetica Neue Light"/>
              </a:rPr>
              <a:t>Integration</a:t>
            </a:r>
            <a:r>
              <a:rPr lang="en-US" sz="1400" dirty="0" smtClean="0">
                <a:solidFill>
                  <a:schemeClr val="bg1"/>
                </a:solidFill>
                <a:latin typeface="Helvetica Neue Light"/>
                <a:cs typeface="Helvetica Neue Light"/>
              </a:rPr>
              <a:t> – Extend existing  investments &amp; Infrastructure</a:t>
            </a:r>
            <a:endParaRPr lang="en-US" sz="1400" dirty="0">
              <a:solidFill>
                <a:schemeClr val="bg1"/>
              </a:solidFill>
              <a:latin typeface="Helvetica Neue Light"/>
              <a:cs typeface="Helvetica Neue Light"/>
            </a:endParaRPr>
          </a:p>
        </p:txBody>
      </p:sp>
      <p:sp>
        <p:nvSpPr>
          <p:cNvPr id="11" name="Shape 58"/>
          <p:cNvSpPr>
            <a:spLocks noChangeArrowheads="1"/>
          </p:cNvSpPr>
          <p:nvPr/>
        </p:nvSpPr>
        <p:spPr bwMode="auto">
          <a:xfrm>
            <a:off x="6334717" y="3250170"/>
            <a:ext cx="2600277" cy="3273425"/>
          </a:xfrm>
          <a:prstGeom prst="rect">
            <a:avLst/>
          </a:prstGeom>
          <a:solidFill>
            <a:srgbClr val="597C96">
              <a:alpha val="10196"/>
            </a:srgbClr>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pPr eaLnBrk="1" hangingPunct="1"/>
            <a:endParaRPr lang="en-US" sz="2400">
              <a:latin typeface="Arial" charset="0"/>
              <a:cs typeface="Arial" charset="0"/>
              <a:sym typeface="Arial" charset="0"/>
            </a:endParaRPr>
          </a:p>
        </p:txBody>
      </p:sp>
      <p:sp>
        <p:nvSpPr>
          <p:cNvPr id="12" name="Shape 58"/>
          <p:cNvSpPr>
            <a:spLocks noChangeArrowheads="1"/>
          </p:cNvSpPr>
          <p:nvPr/>
        </p:nvSpPr>
        <p:spPr bwMode="auto">
          <a:xfrm>
            <a:off x="98377" y="3250170"/>
            <a:ext cx="2578733" cy="3273425"/>
          </a:xfrm>
          <a:prstGeom prst="rect">
            <a:avLst/>
          </a:prstGeom>
          <a:solidFill>
            <a:srgbClr val="597C96">
              <a:alpha val="10196"/>
            </a:srgbClr>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lstStyle/>
          <a:p>
            <a:pPr eaLnBrk="1" hangingPunct="1"/>
            <a:endParaRPr lang="en-US" sz="2400" dirty="0">
              <a:latin typeface="Arial" charset="0"/>
              <a:cs typeface="Arial" charset="0"/>
              <a:sym typeface="Arial" charset="0"/>
            </a:endParaRPr>
          </a:p>
        </p:txBody>
      </p:sp>
      <p:sp>
        <p:nvSpPr>
          <p:cNvPr id="13" name="Shape 54"/>
          <p:cNvSpPr>
            <a:spLocks noChangeArrowheads="1"/>
          </p:cNvSpPr>
          <p:nvPr/>
        </p:nvSpPr>
        <p:spPr bwMode="auto">
          <a:xfrm>
            <a:off x="274028" y="3304309"/>
            <a:ext cx="2364536" cy="249299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wrap="square" lIns="0" tIns="0" rIns="0" bIns="0" anchor="ctr">
            <a:spAutoFit/>
          </a:bodyPr>
          <a:lstStyle/>
          <a:p>
            <a:pPr marL="118965" indent="-118965" defTabSz="456827"/>
            <a:r>
              <a:rPr lang="en-US" dirty="0">
                <a:latin typeface="Helvetica Neue Medium"/>
                <a:cs typeface="Helvetica Neue Medium"/>
                <a:sym typeface="Helvetica Neue Bold for IBM" charset="0"/>
              </a:rPr>
              <a:t>Developer experience</a:t>
            </a:r>
            <a:endParaRPr lang="en-US" dirty="0">
              <a:solidFill>
                <a:srgbClr val="FFFFFF"/>
              </a:solidFill>
              <a:latin typeface="Helvetica Neue Medium"/>
              <a:cs typeface="Helvetica Neue Medium"/>
              <a:sym typeface="Helvetica Neue Light" charset="0"/>
            </a:endParaRPr>
          </a:p>
          <a:p>
            <a:pPr marL="118965" indent="-118965" defTabSz="456827">
              <a:buFontTx/>
              <a:buChar char="•"/>
            </a:pPr>
            <a:endParaRPr lang="en-US" sz="1200" dirty="0">
              <a:latin typeface="Helvetica Neue Light"/>
              <a:cs typeface="Helvetica Neue Light"/>
              <a:sym typeface="Helvetica Neue Light" charset="0"/>
            </a:endParaRPr>
          </a:p>
          <a:p>
            <a:pPr marL="118965" indent="-118965" defTabSz="456827">
              <a:buFontTx/>
              <a:buChar char="•"/>
            </a:pPr>
            <a:r>
              <a:rPr lang="en-US" sz="1200" dirty="0">
                <a:latin typeface="Helvetica Neue Light"/>
                <a:cs typeface="Helvetica Neue Light"/>
                <a:sym typeface="Helvetica Neue Light" charset="0"/>
              </a:rPr>
              <a:t>Rapidly deploy and scale applications in any language.</a:t>
            </a:r>
          </a:p>
          <a:p>
            <a:pPr marL="118965" indent="-118965" defTabSz="456827">
              <a:buFontTx/>
              <a:buChar char="•"/>
            </a:pPr>
            <a:endParaRPr lang="en-US" sz="1200" dirty="0">
              <a:latin typeface="Helvetica Neue Light"/>
              <a:cs typeface="Helvetica Neue Light"/>
              <a:sym typeface="Helvetica Neue Light" charset="0"/>
            </a:endParaRPr>
          </a:p>
          <a:p>
            <a:pPr marL="118965" indent="-118965" defTabSz="456827">
              <a:buFontTx/>
              <a:buChar char="•"/>
            </a:pPr>
            <a:r>
              <a:rPr lang="en-US" sz="1200" dirty="0">
                <a:latin typeface="Helvetica Neue Light"/>
                <a:cs typeface="Helvetica Neue Light"/>
                <a:sym typeface="Helvetica Neue Light" charset="0"/>
              </a:rPr>
              <a:t>Compose applications quickly with useful APIs and services and avoid tedious backend </a:t>
            </a:r>
            <a:r>
              <a:rPr lang="en-US" sz="1200" dirty="0" err="1">
                <a:latin typeface="Helvetica Neue Light"/>
                <a:cs typeface="Helvetica Neue Light"/>
                <a:sym typeface="Helvetica Neue Light" charset="0"/>
              </a:rPr>
              <a:t>config</a:t>
            </a:r>
            <a:r>
              <a:rPr lang="en-US" sz="1200" dirty="0">
                <a:latin typeface="Helvetica Neue Light"/>
                <a:cs typeface="Helvetica Neue Light"/>
                <a:sym typeface="Helvetica Neue Light" charset="0"/>
              </a:rPr>
              <a:t>. </a:t>
            </a:r>
          </a:p>
          <a:p>
            <a:pPr marL="118965" indent="-118965" defTabSz="456827">
              <a:buFontTx/>
              <a:buChar char="•"/>
            </a:pPr>
            <a:endParaRPr lang="en-US" sz="1200" dirty="0">
              <a:latin typeface="Helvetica Neue Light"/>
              <a:cs typeface="Helvetica Neue Light"/>
              <a:sym typeface="Helvetica Neue Light" charset="0"/>
            </a:endParaRPr>
          </a:p>
          <a:p>
            <a:pPr marL="118965" indent="-118965" defTabSz="456827">
              <a:buFontTx/>
              <a:buChar char="•"/>
            </a:pPr>
            <a:r>
              <a:rPr lang="en-US" sz="1200" dirty="0">
                <a:latin typeface="Helvetica Neue Light"/>
                <a:cs typeface="Helvetica Neue Light"/>
                <a:sym typeface="Helvetica Neue Light" charset="0"/>
              </a:rPr>
              <a:t>Realize fast time-to-value with simplicity, flexibility and clear documentation.</a:t>
            </a:r>
          </a:p>
        </p:txBody>
      </p:sp>
      <p:sp>
        <p:nvSpPr>
          <p:cNvPr id="14" name="Rectangle 14"/>
          <p:cNvSpPr>
            <a:spLocks noChangeArrowheads="1"/>
          </p:cNvSpPr>
          <p:nvPr/>
        </p:nvSpPr>
        <p:spPr bwMode="auto">
          <a:xfrm>
            <a:off x="6437867" y="3418645"/>
            <a:ext cx="2443079" cy="2769914"/>
          </a:xfrm>
          <a:prstGeom prst="rect">
            <a:avLst/>
          </a:prstGeom>
          <a:noFill/>
          <a:ln>
            <a:noFill/>
          </a:ln>
          <a:effectLst>
            <a:prstShdw prst="shdw17" dist="17961" dir="2700000">
              <a:schemeClr val="accent1">
                <a:gamma/>
                <a:shade val="60000"/>
                <a:invGamma/>
                <a:alpha val="50000"/>
              </a:schemeClr>
            </a:prst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wrap="square" lIns="91365" tIns="45683" rIns="91365" bIns="45683">
            <a:spAutoFit/>
          </a:bodyPr>
          <a:lstStyle/>
          <a:p>
            <a:pPr marL="118965" indent="-118965"/>
            <a:r>
              <a:rPr lang="en-US" dirty="0">
                <a:latin typeface="Helvetica Neue Medium"/>
                <a:cs typeface="Helvetica Neue Medium"/>
                <a:sym typeface="Helvetica Neue Bold for IBM" charset="0"/>
              </a:rPr>
              <a:t>Enterprise capability </a:t>
            </a:r>
            <a:endParaRPr lang="en-US" dirty="0">
              <a:latin typeface="Helvetica Neue Medium"/>
              <a:cs typeface="Helvetica Neue Medium"/>
              <a:sym typeface="Helvetica Neue Light" charset="0"/>
            </a:endParaRPr>
          </a:p>
          <a:p>
            <a:pPr marL="118965" indent="-118965">
              <a:buFontTx/>
              <a:buChar char="•"/>
            </a:pPr>
            <a:endParaRPr lang="en-US" sz="1200" dirty="0">
              <a:latin typeface="Helvetica Neue Light"/>
              <a:cs typeface="Helvetica Neue Light"/>
              <a:sym typeface="Helvetica Neue Light" charset="0"/>
            </a:endParaRPr>
          </a:p>
          <a:p>
            <a:pPr marL="118965" indent="-118965">
              <a:buFontTx/>
              <a:buChar char="•"/>
            </a:pPr>
            <a:r>
              <a:rPr lang="en-US" sz="1200" dirty="0">
                <a:latin typeface="Helvetica Neue Light"/>
                <a:cs typeface="Helvetica Neue Light"/>
                <a:sym typeface="Helvetica Neue Light" charset="0"/>
              </a:rPr>
              <a:t>Securely integrate with existing on-</a:t>
            </a:r>
            <a:r>
              <a:rPr lang="en-US" sz="1200" dirty="0" err="1">
                <a:latin typeface="Helvetica Neue Light"/>
                <a:cs typeface="Helvetica Neue Light"/>
                <a:sym typeface="Helvetica Neue Light" charset="0"/>
              </a:rPr>
              <a:t>prem</a:t>
            </a:r>
            <a:r>
              <a:rPr lang="en-US" sz="1200" dirty="0">
                <a:latin typeface="Helvetica Neue Light"/>
                <a:cs typeface="Helvetica Neue Light"/>
                <a:sym typeface="Helvetica Neue Light" charset="0"/>
              </a:rPr>
              <a:t> data and systems.</a:t>
            </a:r>
          </a:p>
          <a:p>
            <a:pPr marL="118965" indent="-118965">
              <a:buFontTx/>
              <a:buChar char="•"/>
            </a:pPr>
            <a:endParaRPr lang="en-US" sz="1200" dirty="0">
              <a:latin typeface="Helvetica Neue Light"/>
              <a:cs typeface="Helvetica Neue Light"/>
              <a:sym typeface="Helvetica Neue Light" charset="0"/>
            </a:endParaRPr>
          </a:p>
          <a:p>
            <a:pPr marL="118965" indent="-118965">
              <a:buFontTx/>
              <a:buChar char="•"/>
            </a:pPr>
            <a:r>
              <a:rPr lang="en-US" sz="1200" dirty="0">
                <a:latin typeface="Helvetica Neue Light"/>
                <a:cs typeface="Helvetica Neue Light"/>
                <a:sym typeface="Helvetica Neue Light" charset="0"/>
              </a:rPr>
              <a:t>Choose from flexible deployment models.</a:t>
            </a:r>
          </a:p>
          <a:p>
            <a:pPr marL="118965" indent="-118965">
              <a:buFontTx/>
              <a:buChar char="•"/>
            </a:pPr>
            <a:endParaRPr lang="en-US" sz="1200" dirty="0">
              <a:latin typeface="Helvetica Neue Light"/>
              <a:cs typeface="Helvetica Neue Light"/>
              <a:sym typeface="Helvetica Neue Light" charset="0"/>
            </a:endParaRPr>
          </a:p>
          <a:p>
            <a:pPr marL="118965" indent="-118965">
              <a:buFontTx/>
              <a:buChar char="•"/>
            </a:pPr>
            <a:r>
              <a:rPr lang="en-US" sz="1200" dirty="0">
                <a:latin typeface="Helvetica Neue Light"/>
                <a:cs typeface="Helvetica Neue Light"/>
                <a:sym typeface="Helvetica Neue Light" charset="0"/>
              </a:rPr>
              <a:t>Manage the full application lifecycle with DevOps. </a:t>
            </a:r>
          </a:p>
          <a:p>
            <a:pPr marL="118965" indent="-118965">
              <a:buFontTx/>
              <a:buChar char="•"/>
            </a:pPr>
            <a:endParaRPr lang="en-US" sz="1200" dirty="0">
              <a:latin typeface="Helvetica Neue Light"/>
              <a:cs typeface="Helvetica Neue Light"/>
              <a:sym typeface="Helvetica Neue Light" charset="0"/>
            </a:endParaRPr>
          </a:p>
          <a:p>
            <a:pPr marL="118965" indent="-118965">
              <a:buFontTx/>
              <a:buChar char="•"/>
            </a:pPr>
            <a:r>
              <a:rPr lang="en-US" sz="1200" dirty="0">
                <a:latin typeface="Helvetica Neue Light"/>
                <a:cs typeface="Helvetica Neue Light"/>
                <a:sym typeface="Helvetica Neue Light" charset="0"/>
              </a:rPr>
              <a:t>Develop and deploy on a platform built on a foundation of open technology.</a:t>
            </a:r>
          </a:p>
        </p:txBody>
      </p:sp>
      <p:sp>
        <p:nvSpPr>
          <p:cNvPr id="15" name="Text Box 20"/>
          <p:cNvSpPr txBox="1">
            <a:spLocks noChangeArrowheads="1"/>
          </p:cNvSpPr>
          <p:nvPr/>
        </p:nvSpPr>
        <p:spPr bwMode="auto">
          <a:xfrm>
            <a:off x="2823160" y="6041000"/>
            <a:ext cx="3367087" cy="525281"/>
          </a:xfrm>
          <a:prstGeom prst="rect">
            <a:avLst/>
          </a:prstGeom>
          <a:noFill/>
          <a:ln>
            <a:noFill/>
          </a:ln>
          <a:effectLst>
            <a:prstShdw prst="shdw17" dist="17961" dir="2700000">
              <a:schemeClr val="accent1">
                <a:gamma/>
                <a:shade val="60000"/>
                <a:invGamma/>
                <a:alpha val="74998"/>
              </a:schemeClr>
            </a:prstShdw>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txBody>
          <a:bodyPr lIns="91365" tIns="45683" rIns="91365" bIns="45683">
            <a:spAutoFit/>
          </a:bodyPr>
          <a:lstStyle/>
          <a:p>
            <a:pPr algn="ctr">
              <a:spcBef>
                <a:spcPct val="50000"/>
              </a:spcBef>
            </a:pPr>
            <a:r>
              <a:rPr lang="en-US" sz="1400">
                <a:solidFill>
                  <a:srgbClr val="B2B2B2"/>
                </a:solidFill>
              </a:rPr>
              <a:t>Built on a foundation of </a:t>
            </a:r>
            <a:r>
              <a:rPr lang="en-US" sz="1400" b="1">
                <a:solidFill>
                  <a:srgbClr val="B2B2B2"/>
                </a:solidFill>
              </a:rPr>
              <a:t>open technology.</a:t>
            </a:r>
          </a:p>
        </p:txBody>
      </p:sp>
      <p:grpSp>
        <p:nvGrpSpPr>
          <p:cNvPr id="16" name="Group 15"/>
          <p:cNvGrpSpPr/>
          <p:nvPr/>
        </p:nvGrpSpPr>
        <p:grpSpPr>
          <a:xfrm>
            <a:off x="2797767" y="3264461"/>
            <a:ext cx="3513137" cy="2806700"/>
            <a:chOff x="2820995" y="1458223"/>
            <a:chExt cx="3513137" cy="2806700"/>
          </a:xfrm>
        </p:grpSpPr>
        <p:grpSp>
          <p:nvGrpSpPr>
            <p:cNvPr id="17" name="Group 31"/>
            <p:cNvGrpSpPr>
              <a:grpSpLocks/>
            </p:cNvGrpSpPr>
            <p:nvPr/>
          </p:nvGrpSpPr>
          <p:grpSpPr bwMode="auto">
            <a:xfrm>
              <a:off x="2820995" y="1458223"/>
              <a:ext cx="3513137" cy="2806700"/>
              <a:chOff x="5208" y="1572"/>
              <a:chExt cx="3348" cy="2674"/>
            </a:xfrm>
          </p:grpSpPr>
          <p:pic>
            <p:nvPicPr>
              <p:cNvPr id="19" name="Picture 18"/>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5208" y="1572"/>
                <a:ext cx="3348" cy="26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0" name="Picture 3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380" y="1705"/>
                <a:ext cx="2887" cy="16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18" name="Picture 17"/>
            <p:cNvPicPr>
              <a:picLocks noChangeAspect="1"/>
            </p:cNvPicPr>
            <p:nvPr/>
          </p:nvPicPr>
          <p:blipFill>
            <a:blip r:embed="rId5" cstate="print"/>
            <a:stretch>
              <a:fillRect/>
            </a:stretch>
          </p:blipFill>
          <p:spPr>
            <a:xfrm>
              <a:off x="2957442" y="1597823"/>
              <a:ext cx="3117472" cy="1741231"/>
            </a:xfrm>
            <a:prstGeom prst="rect">
              <a:avLst/>
            </a:prstGeom>
          </p:spPr>
        </p:pic>
      </p:grpSp>
    </p:spTree>
    <p:extLst>
      <p:ext uri="{BB962C8B-B14F-4D97-AF65-F5344CB8AC3E}">
        <p14:creationId xmlns:p14="http://schemas.microsoft.com/office/powerpoint/2010/main" xmlns="" val="354238721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475" y="600075"/>
            <a:ext cx="8543925" cy="331788"/>
          </a:xfrm>
        </p:spPr>
        <p:txBody>
          <a:bodyPr/>
          <a:lstStyle/>
          <a:p>
            <a:pPr>
              <a:defRPr/>
            </a:pPr>
            <a:r>
              <a:rPr lang="en-US" dirty="0" smtClean="0">
                <a:solidFill>
                  <a:srgbClr val="0070C0"/>
                </a:solidFill>
              </a:rPr>
              <a:t>Software as a Services (SaaS)</a:t>
            </a:r>
            <a:endParaRPr lang="en-US" dirty="0">
              <a:solidFill>
                <a:srgbClr val="0070C0"/>
              </a:solidFill>
            </a:endParaRPr>
          </a:p>
        </p:txBody>
      </p:sp>
      <p:grpSp>
        <p:nvGrpSpPr>
          <p:cNvPr id="32772" name="Group 183"/>
          <p:cNvGrpSpPr>
            <a:grpSpLocks/>
          </p:cNvGrpSpPr>
          <p:nvPr/>
        </p:nvGrpSpPr>
        <p:grpSpPr bwMode="auto">
          <a:xfrm>
            <a:off x="387350" y="1270000"/>
            <a:ext cx="2332038" cy="498475"/>
            <a:chOff x="31199" y="-84582"/>
            <a:chExt cx="3315210" cy="638610"/>
          </a:xfrm>
        </p:grpSpPr>
        <p:sp>
          <p:nvSpPr>
            <p:cNvPr id="32798" name="Shape 181"/>
            <p:cNvSpPr>
              <a:spLocks noChangeArrowheads="1"/>
            </p:cNvSpPr>
            <p:nvPr/>
          </p:nvSpPr>
          <p:spPr bwMode="auto">
            <a:xfrm>
              <a:off x="316707" y="-84582"/>
              <a:ext cx="3029702" cy="63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r>
                <a:rPr lang="en-US" altLang="en-US" sz="1400">
                  <a:sym typeface="Helvetica Neue Light"/>
                </a:rPr>
                <a:t>Vendor Manages in Cloud</a:t>
              </a:r>
            </a:p>
          </p:txBody>
        </p:sp>
        <p:sp>
          <p:nvSpPr>
            <p:cNvPr id="7" name="Shape 182"/>
            <p:cNvSpPr/>
            <p:nvPr/>
          </p:nvSpPr>
          <p:spPr>
            <a:xfrm>
              <a:off x="31199" y="84223"/>
              <a:ext cx="203110" cy="20337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2396B1"/>
            </a:solidFill>
            <a:ln w="12700" cap="flat">
              <a:noFill/>
              <a:miter lim="400000"/>
            </a:ln>
            <a:effectLst/>
          </p:spPr>
          <p:txBody>
            <a:bodyPr lIns="0" tIns="0" rIns="0" bIns="0" anchor="ctr"/>
            <a:lstStyle/>
            <a:p>
              <a:pPr>
                <a:defRPr sz="2400">
                  <a:solidFill>
                    <a:srgbClr val="FFFFFF"/>
                  </a:solidFill>
                </a:defRPr>
              </a:pPr>
              <a:endParaRPr sz="1687">
                <a:solidFill>
                  <a:srgbClr val="FFFFFF"/>
                </a:solidFill>
              </a:endParaRPr>
            </a:p>
          </p:txBody>
        </p:sp>
      </p:grpSp>
      <p:grpSp>
        <p:nvGrpSpPr>
          <p:cNvPr id="32773" name="Group 243"/>
          <p:cNvGrpSpPr>
            <a:grpSpLocks/>
          </p:cNvGrpSpPr>
          <p:nvPr/>
        </p:nvGrpSpPr>
        <p:grpSpPr bwMode="auto">
          <a:xfrm>
            <a:off x="1163638" y="2689225"/>
            <a:ext cx="3225800" cy="3151188"/>
            <a:chOff x="1846655" y="2153567"/>
            <a:chExt cx="2329206" cy="3741651"/>
          </a:xfrm>
        </p:grpSpPr>
        <p:sp>
          <p:nvSpPr>
            <p:cNvPr id="32791" name="Shape 236"/>
            <p:cNvSpPr>
              <a:spLocks noChangeArrowheads="1"/>
            </p:cNvSpPr>
            <p:nvPr/>
          </p:nvSpPr>
          <p:spPr bwMode="auto">
            <a:xfrm>
              <a:off x="1854529" y="2153567"/>
              <a:ext cx="2313458" cy="461914"/>
            </a:xfrm>
            <a:prstGeom prst="rect">
              <a:avLst/>
            </a:prstGeom>
            <a:solidFill>
              <a:srgbClr val="1F96B2"/>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Runtime</a:t>
              </a:r>
            </a:p>
          </p:txBody>
        </p:sp>
        <p:sp>
          <p:nvSpPr>
            <p:cNvPr id="32792" name="Shape 237"/>
            <p:cNvSpPr>
              <a:spLocks noChangeArrowheads="1"/>
            </p:cNvSpPr>
            <p:nvPr/>
          </p:nvSpPr>
          <p:spPr bwMode="auto">
            <a:xfrm>
              <a:off x="1853928" y="2700190"/>
              <a:ext cx="231466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Middleware</a:t>
              </a:r>
            </a:p>
          </p:txBody>
        </p:sp>
        <p:sp>
          <p:nvSpPr>
            <p:cNvPr id="32793" name="Shape 238"/>
            <p:cNvSpPr>
              <a:spLocks noChangeArrowheads="1"/>
            </p:cNvSpPr>
            <p:nvPr/>
          </p:nvSpPr>
          <p:spPr bwMode="auto">
            <a:xfrm>
              <a:off x="1847773" y="3246813"/>
              <a:ext cx="232697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OS</a:t>
              </a:r>
            </a:p>
          </p:txBody>
        </p:sp>
        <p:sp>
          <p:nvSpPr>
            <p:cNvPr id="32794" name="Shape 239"/>
            <p:cNvSpPr>
              <a:spLocks noChangeArrowheads="1"/>
            </p:cNvSpPr>
            <p:nvPr/>
          </p:nvSpPr>
          <p:spPr bwMode="auto">
            <a:xfrm>
              <a:off x="1854143" y="3793435"/>
              <a:ext cx="2314230"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Virtualization</a:t>
              </a:r>
            </a:p>
          </p:txBody>
        </p:sp>
        <p:sp>
          <p:nvSpPr>
            <p:cNvPr id="32795" name="Shape 240"/>
            <p:cNvSpPr>
              <a:spLocks noChangeArrowheads="1"/>
            </p:cNvSpPr>
            <p:nvPr/>
          </p:nvSpPr>
          <p:spPr bwMode="auto">
            <a:xfrm>
              <a:off x="1846655" y="4340058"/>
              <a:ext cx="23292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Servers</a:t>
              </a:r>
            </a:p>
          </p:txBody>
        </p:sp>
        <p:sp>
          <p:nvSpPr>
            <p:cNvPr id="32796" name="Shape 241"/>
            <p:cNvSpPr>
              <a:spLocks noChangeArrowheads="1"/>
            </p:cNvSpPr>
            <p:nvPr/>
          </p:nvSpPr>
          <p:spPr bwMode="auto">
            <a:xfrm>
              <a:off x="1853955" y="4886680"/>
              <a:ext cx="2314606" cy="461915"/>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Storage</a:t>
              </a:r>
            </a:p>
          </p:txBody>
        </p:sp>
        <p:sp>
          <p:nvSpPr>
            <p:cNvPr id="32797" name="Shape 242"/>
            <p:cNvSpPr>
              <a:spLocks noChangeArrowheads="1"/>
            </p:cNvSpPr>
            <p:nvPr/>
          </p:nvSpPr>
          <p:spPr bwMode="auto">
            <a:xfrm>
              <a:off x="1851963" y="5433304"/>
              <a:ext cx="2318590" cy="461914"/>
            </a:xfrm>
            <a:prstGeom prst="rect">
              <a:avLst/>
            </a:prstGeom>
            <a:solidFill>
              <a:srgbClr val="1796B3"/>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Networking</a:t>
              </a:r>
            </a:p>
          </p:txBody>
        </p:sp>
      </p:grpSp>
      <p:sp>
        <p:nvSpPr>
          <p:cNvPr id="32774" name="Shape 236"/>
          <p:cNvSpPr>
            <a:spLocks noChangeArrowheads="1"/>
          </p:cNvSpPr>
          <p:nvPr/>
        </p:nvSpPr>
        <p:spPr bwMode="auto">
          <a:xfrm>
            <a:off x="1184275" y="2214563"/>
            <a:ext cx="3203575" cy="388937"/>
          </a:xfrm>
          <a:prstGeom prst="rect">
            <a:avLst/>
          </a:prstGeom>
          <a:solidFill>
            <a:srgbClr val="1F96B2"/>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Data</a:t>
            </a:r>
          </a:p>
        </p:txBody>
      </p:sp>
      <p:sp>
        <p:nvSpPr>
          <p:cNvPr id="32775" name="Shape 236"/>
          <p:cNvSpPr>
            <a:spLocks noChangeArrowheads="1"/>
          </p:cNvSpPr>
          <p:nvPr/>
        </p:nvSpPr>
        <p:spPr bwMode="auto">
          <a:xfrm>
            <a:off x="1184275" y="1739900"/>
            <a:ext cx="3203575" cy="388938"/>
          </a:xfrm>
          <a:prstGeom prst="rect">
            <a:avLst/>
          </a:prstGeom>
          <a:solidFill>
            <a:srgbClr val="1F96B2"/>
          </a:solidFill>
          <a:ln>
            <a:noFill/>
          </a:ln>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lgn="ctr"/>
            <a:r>
              <a:rPr lang="en-US" altLang="en-US" sz="2100">
                <a:solidFill>
                  <a:srgbClr val="FFFFFF"/>
                </a:solidFill>
                <a:sym typeface="Helvetica Neue Light"/>
              </a:rPr>
              <a:t>Code</a:t>
            </a:r>
          </a:p>
        </p:txBody>
      </p:sp>
      <p:sp>
        <p:nvSpPr>
          <p:cNvPr id="22" name="Shape 209"/>
          <p:cNvSpPr/>
          <p:nvPr/>
        </p:nvSpPr>
        <p:spPr>
          <a:xfrm flipH="1">
            <a:off x="114300" y="6446838"/>
            <a:ext cx="8577263" cy="0"/>
          </a:xfrm>
          <a:prstGeom prst="line">
            <a:avLst/>
          </a:prstGeom>
          <a:ln w="25400">
            <a:solidFill/>
            <a:miter lim="400000"/>
            <a:headEnd type="arrow"/>
            <a:tailEnd type="arrow"/>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23" name="Shape 212"/>
          <p:cNvSpPr/>
          <p:nvPr/>
        </p:nvSpPr>
        <p:spPr>
          <a:xfrm>
            <a:off x="3325813" y="6332538"/>
            <a:ext cx="228600" cy="2270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E5B6C1"/>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4" name="Shape 221"/>
          <p:cNvSpPr/>
          <p:nvPr/>
        </p:nvSpPr>
        <p:spPr>
          <a:xfrm>
            <a:off x="3106738" y="6015038"/>
            <a:ext cx="681037" cy="400050"/>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ECCFD6"/>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000000"/>
                </a:solidFill>
                <a:latin typeface="Arial"/>
                <a:ea typeface="Arial"/>
                <a:cs typeface="Arial"/>
              </a:rPr>
              <a:t>IaaS</a:t>
            </a:r>
          </a:p>
        </p:txBody>
      </p:sp>
      <p:sp>
        <p:nvSpPr>
          <p:cNvPr id="25" name="Shape 222"/>
          <p:cNvSpPr/>
          <p:nvPr/>
        </p:nvSpPr>
        <p:spPr>
          <a:xfrm>
            <a:off x="4141788" y="6332538"/>
            <a:ext cx="227012" cy="2270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365C0"/>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6" name="Shape 227"/>
          <p:cNvSpPr/>
          <p:nvPr/>
        </p:nvSpPr>
        <p:spPr>
          <a:xfrm>
            <a:off x="2259013" y="6623050"/>
            <a:ext cx="935037" cy="511175"/>
          </a:xfrm>
          <a:prstGeom prst="rect">
            <a:avLst/>
          </a:prstGeom>
          <a:ln w="12700">
            <a:miter lim="400000"/>
          </a:ln>
          <a:extLst>
            <a:ext uri="{C572A759-6A51-4108-AA02-DFA0A04FC94B}"/>
          </a:extLst>
        </p:spPr>
        <p:txBody>
          <a:bodyPr lIns="0" tIns="0" rIns="0" bIns="0">
            <a:normAutofit/>
          </a:bodyPr>
          <a:lstStyle>
            <a:lvl1pPr>
              <a:defRPr sz="2300" b="1">
                <a:solidFill>
                  <a:srgbClr val="A3B6C4"/>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Weeks</a:t>
            </a:r>
          </a:p>
        </p:txBody>
      </p:sp>
      <p:sp>
        <p:nvSpPr>
          <p:cNvPr id="27" name="Shape 228"/>
          <p:cNvSpPr/>
          <p:nvPr/>
        </p:nvSpPr>
        <p:spPr>
          <a:xfrm>
            <a:off x="2541588" y="6332538"/>
            <a:ext cx="228600" cy="22701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A2B6C5"/>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28" name="Shape 232"/>
          <p:cNvSpPr/>
          <p:nvPr/>
        </p:nvSpPr>
        <p:spPr>
          <a:xfrm>
            <a:off x="3157538" y="6619875"/>
            <a:ext cx="984250" cy="274638"/>
          </a:xfrm>
          <a:prstGeom prst="rect">
            <a:avLst/>
          </a:prstGeom>
          <a:ln w="12700">
            <a:miter lim="400000"/>
          </a:ln>
          <a:extLst>
            <a:ext uri="{C572A759-6A51-4108-AA02-DFA0A04FC94B}"/>
          </a:extLst>
        </p:spPr>
        <p:txBody>
          <a:bodyPr lIns="0" tIns="0" rIns="0" bIns="0">
            <a:normAutofit/>
          </a:bodyPr>
          <a:lstStyle>
            <a:lvl1pPr>
              <a:defRPr sz="2300" b="1">
                <a:solidFill>
                  <a:srgbClr val="E0A8B5"/>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Days</a:t>
            </a:r>
          </a:p>
        </p:txBody>
      </p:sp>
      <p:sp>
        <p:nvSpPr>
          <p:cNvPr id="29" name="Shape 233"/>
          <p:cNvSpPr/>
          <p:nvPr/>
        </p:nvSpPr>
        <p:spPr>
          <a:xfrm>
            <a:off x="273050" y="6103938"/>
            <a:ext cx="2292350" cy="511175"/>
          </a:xfrm>
          <a:prstGeom prst="rect">
            <a:avLst/>
          </a:prstGeom>
          <a:ln w="12700">
            <a:miter lim="400000"/>
          </a:ln>
          <a:extLst>
            <a:ext uri="{C572A759-6A51-4108-AA02-DFA0A04FC94B}"/>
          </a:extLst>
        </p:spPr>
        <p:txBody>
          <a:bodyPr lIns="0" tIns="0" rIns="0" bIns="0">
            <a:normAutofit/>
          </a:bodyPr>
          <a:lstStyle>
            <a:lvl1pPr algn="l" defTabSz="531622">
              <a:defRPr sz="2002" b="1">
                <a:latin typeface="+mj-lt"/>
                <a:ea typeface="+mj-ea"/>
                <a:cs typeface="+mj-cs"/>
                <a:sym typeface="Helvetica Neue"/>
              </a:defRPr>
            </a:lvl1pPr>
          </a:lstStyle>
          <a:p>
            <a:pPr>
              <a:defRPr sz="1800" b="0"/>
            </a:pPr>
            <a:r>
              <a:rPr sz="1408" b="0" dirty="0">
                <a:cs typeface="Arial"/>
              </a:rPr>
              <a:t>Time to initial deployment</a:t>
            </a:r>
          </a:p>
        </p:txBody>
      </p:sp>
      <p:sp>
        <p:nvSpPr>
          <p:cNvPr id="30" name="Shape 244"/>
          <p:cNvSpPr/>
          <p:nvPr/>
        </p:nvSpPr>
        <p:spPr>
          <a:xfrm>
            <a:off x="2365375" y="5959475"/>
            <a:ext cx="828675" cy="487363"/>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A3B6C4"/>
                </a:solidFill>
                <a:latin typeface="Helvetica Neue Light"/>
                <a:ea typeface="Helvetica Neue Light"/>
                <a:cs typeface="Helvetica Neue Light"/>
                <a:sym typeface="Helvetica Neue Light"/>
              </a:defRPr>
            </a:lvl1pPr>
          </a:lstStyle>
          <a:p>
            <a:pPr>
              <a:defRPr sz="1800" b="0">
                <a:solidFill>
                  <a:srgbClr val="000000"/>
                </a:solidFill>
              </a:defRPr>
            </a:pPr>
            <a:r>
              <a:rPr sz="1406" b="0" dirty="0">
                <a:solidFill>
                  <a:srgbClr val="000000"/>
                </a:solidFill>
                <a:latin typeface="Arial"/>
                <a:ea typeface="Arial"/>
                <a:cs typeface="Arial"/>
              </a:rPr>
              <a:t>Core IT</a:t>
            </a:r>
          </a:p>
        </p:txBody>
      </p:sp>
      <p:sp>
        <p:nvSpPr>
          <p:cNvPr id="32" name="Shape 222"/>
          <p:cNvSpPr/>
          <p:nvPr/>
        </p:nvSpPr>
        <p:spPr>
          <a:xfrm>
            <a:off x="4924425" y="6330950"/>
            <a:ext cx="228600" cy="22860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0B0F0"/>
          </a:solidFill>
          <a:ln w="12700">
            <a:miter lim="400000"/>
          </a:ln>
          <a:effectLst>
            <a:outerShdw blurRad="38100" dist="25400" dir="5400000" rotWithShape="0">
              <a:srgbClr val="000000">
                <a:alpha val="50000"/>
              </a:srgbClr>
            </a:outerShdw>
          </a:effectLst>
        </p:spPr>
        <p:txBody>
          <a:bodyPr lIns="0" tIns="0" rIns="0" bIns="0" anchor="ctr"/>
          <a:lstStyle/>
          <a:p>
            <a:pPr>
              <a:defRPr sz="2400">
                <a:solidFill>
                  <a:srgbClr val="FFFFFF"/>
                </a:solidFill>
              </a:defRPr>
            </a:pPr>
            <a:endParaRPr sz="1687">
              <a:solidFill>
                <a:srgbClr val="FFFFFF"/>
              </a:solidFill>
            </a:endParaRPr>
          </a:p>
        </p:txBody>
      </p:sp>
      <p:sp>
        <p:nvSpPr>
          <p:cNvPr id="33" name="Shape 232"/>
          <p:cNvSpPr/>
          <p:nvPr/>
        </p:nvSpPr>
        <p:spPr>
          <a:xfrm>
            <a:off x="4243388" y="6604000"/>
            <a:ext cx="982662" cy="274638"/>
          </a:xfrm>
          <a:prstGeom prst="rect">
            <a:avLst/>
          </a:prstGeom>
          <a:ln w="12700">
            <a:miter lim="400000"/>
          </a:ln>
          <a:extLst>
            <a:ext uri="{C572A759-6A51-4108-AA02-DFA0A04FC94B}"/>
          </a:extLst>
        </p:spPr>
        <p:txBody>
          <a:bodyPr lIns="0" tIns="0" rIns="0" bIns="0">
            <a:normAutofit/>
          </a:bodyPr>
          <a:lstStyle>
            <a:lvl1pPr>
              <a:defRPr sz="2300" b="1">
                <a:solidFill>
                  <a:srgbClr val="E0A8B5"/>
                </a:solidFill>
                <a:latin typeface="+mj-lt"/>
                <a:ea typeface="+mj-ea"/>
                <a:cs typeface="+mj-cs"/>
                <a:sym typeface="Helvetica Neue"/>
              </a:defRPr>
            </a:lvl1pPr>
          </a:lstStyle>
          <a:p>
            <a:pPr>
              <a:defRPr sz="1800" b="0">
                <a:solidFill>
                  <a:srgbClr val="000000"/>
                </a:solidFill>
              </a:defRPr>
            </a:pPr>
            <a:r>
              <a:rPr sz="1617" b="0" dirty="0">
                <a:solidFill>
                  <a:srgbClr val="000000"/>
                </a:solidFill>
                <a:cs typeface="Arial"/>
              </a:rPr>
              <a:t>~ </a:t>
            </a:r>
            <a:r>
              <a:rPr lang="en-US" sz="1617" b="0" dirty="0" smtClean="0">
                <a:solidFill>
                  <a:srgbClr val="000000"/>
                </a:solidFill>
                <a:cs typeface="Arial"/>
              </a:rPr>
              <a:t>Minutes</a:t>
            </a:r>
            <a:endParaRPr sz="1617" b="0" dirty="0">
              <a:solidFill>
                <a:srgbClr val="000000"/>
              </a:solidFill>
              <a:cs typeface="Arial"/>
            </a:endParaRPr>
          </a:p>
        </p:txBody>
      </p:sp>
      <p:sp>
        <p:nvSpPr>
          <p:cNvPr id="34" name="Shape 211"/>
          <p:cNvSpPr/>
          <p:nvPr/>
        </p:nvSpPr>
        <p:spPr>
          <a:xfrm>
            <a:off x="4984750" y="1649413"/>
            <a:ext cx="53975" cy="4740275"/>
          </a:xfrm>
          <a:prstGeom prst="line">
            <a:avLst/>
          </a:prstGeom>
          <a:ln w="25400">
            <a:solidFill>
              <a:srgbClr val="00B0F0"/>
            </a:solidFill>
            <a:miter lim="400000"/>
          </a:ln>
        </p:spPr>
        <p:txBody>
          <a:bodyPr lIns="0" tIns="0" rIns="0" bIns="0"/>
          <a:lstStyle/>
          <a:p>
            <a:pPr defTabSz="321457">
              <a:defRPr sz="1200">
                <a:latin typeface="Helvetica"/>
                <a:ea typeface="Helvetica"/>
                <a:cs typeface="Helvetica"/>
                <a:sym typeface="Helvetica"/>
              </a:defRPr>
            </a:pPr>
            <a:endParaRPr sz="844" dirty="0">
              <a:latin typeface="Arial"/>
              <a:ea typeface="Arial"/>
              <a:cs typeface="Arial"/>
              <a:sym typeface="Helvetica"/>
            </a:endParaRPr>
          </a:p>
        </p:txBody>
      </p:sp>
      <p:sp>
        <p:nvSpPr>
          <p:cNvPr id="32788" name="Shape 214"/>
          <p:cNvSpPr>
            <a:spLocks noChangeArrowheads="1"/>
          </p:cNvSpPr>
          <p:nvPr/>
        </p:nvSpPr>
        <p:spPr bwMode="auto">
          <a:xfrm>
            <a:off x="4387850" y="931863"/>
            <a:ext cx="2243138" cy="717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50800" tIns="50800" rIns="50800" bIns="50800" anchor="ctr">
            <a:spAutoFit/>
          </a:bodyP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pPr>
              <a:spcBef>
                <a:spcPts val="2400"/>
              </a:spcBef>
            </a:pPr>
            <a:r>
              <a:rPr lang="en-US" altLang="en-US" sz="2000" b="1">
                <a:solidFill>
                  <a:srgbClr val="00B0F0"/>
                </a:solidFill>
                <a:sym typeface="Helvetica Neue Light"/>
              </a:rPr>
              <a:t>Software as a Service</a:t>
            </a:r>
          </a:p>
        </p:txBody>
      </p:sp>
      <p:sp>
        <p:nvSpPr>
          <p:cNvPr id="32789" name="Shape 223"/>
          <p:cNvSpPr>
            <a:spLocks noChangeArrowheads="1"/>
          </p:cNvSpPr>
          <p:nvPr/>
        </p:nvSpPr>
        <p:spPr bwMode="auto">
          <a:xfrm>
            <a:off x="5394325" y="1560513"/>
            <a:ext cx="3140075" cy="3630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spAutoFit/>
          </a:bodyPr>
          <a:lstStyle>
            <a:lvl1pPr defTabSz="457200">
              <a:defRPr sz="2200">
                <a:solidFill>
                  <a:schemeClr val="hlink"/>
                </a:solidFill>
                <a:latin typeface="Arial" panose="020B0604020202020204" pitchFamily="34" charset="0"/>
                <a:cs typeface="Arial" panose="020B0604020202020204" pitchFamily="34" charset="0"/>
              </a:defRPr>
            </a:lvl1pPr>
            <a:lvl2pPr defTabSz="457200">
              <a:defRPr sz="2200">
                <a:solidFill>
                  <a:schemeClr val="hlink"/>
                </a:solidFill>
                <a:latin typeface="Arial" panose="020B0604020202020204" pitchFamily="34" charset="0"/>
                <a:cs typeface="Arial" panose="020B0604020202020204" pitchFamily="34" charset="0"/>
              </a:defRPr>
            </a:lvl2pPr>
            <a:lvl3pPr defTabSz="457200">
              <a:defRPr sz="2200">
                <a:solidFill>
                  <a:schemeClr val="hlink"/>
                </a:solidFill>
                <a:latin typeface="Arial" panose="020B0604020202020204" pitchFamily="34" charset="0"/>
                <a:cs typeface="Arial" panose="020B0604020202020204" pitchFamily="34" charset="0"/>
              </a:defRPr>
            </a:lvl3pPr>
            <a:lvl4pPr defTabSz="457200">
              <a:defRPr sz="2200">
                <a:solidFill>
                  <a:schemeClr val="hlink"/>
                </a:solidFill>
                <a:latin typeface="Arial" panose="020B0604020202020204" pitchFamily="34" charset="0"/>
                <a:cs typeface="Arial" panose="020B0604020202020204" pitchFamily="34" charset="0"/>
              </a:defRPr>
            </a:lvl4pPr>
            <a:lvl5pPr defTabSz="457200">
              <a:defRPr sz="2200">
                <a:solidFill>
                  <a:schemeClr val="hlink"/>
                </a:solidFill>
                <a:latin typeface="Arial" panose="020B0604020202020204" pitchFamily="34" charset="0"/>
                <a:cs typeface="Arial" panose="020B0604020202020204" pitchFamily="34" charset="0"/>
              </a:defRPr>
            </a:lvl5pPr>
            <a:lvl6pPr marL="22844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6pPr>
            <a:lvl7pPr marL="27416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7pPr>
            <a:lvl8pPr marL="31988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8pPr>
            <a:lvl9pPr marL="3656013" indent="1588" defTabSz="457200" eaLnBrk="0" fontAlgn="base" hangingPunct="0">
              <a:spcBef>
                <a:spcPct val="0"/>
              </a:spcBef>
              <a:spcAft>
                <a:spcPct val="0"/>
              </a:spcAft>
              <a:defRPr sz="2200">
                <a:solidFill>
                  <a:schemeClr val="hlink"/>
                </a:solidFill>
                <a:latin typeface="Arial" panose="020B0604020202020204" pitchFamily="34" charset="0"/>
                <a:cs typeface="Arial" panose="020B0604020202020204" pitchFamily="34" charset="0"/>
              </a:defRPr>
            </a:lvl9pPr>
          </a:lstStyle>
          <a:p>
            <a:r>
              <a:rPr lang="en-US" altLang="en-US" sz="2000" b="1">
                <a:solidFill>
                  <a:srgbClr val="0070C0"/>
                </a:solidFill>
                <a:sym typeface="Helvetica Neue"/>
              </a:rPr>
              <a:t>Benefits</a:t>
            </a:r>
            <a:endParaRPr lang="en-US" altLang="en-US" sz="2000">
              <a:solidFill>
                <a:srgbClr val="0070C0"/>
              </a:solidFill>
              <a:sym typeface="Helvetica Neue"/>
            </a:endParaRPr>
          </a:p>
          <a:p>
            <a:pPr>
              <a:buFont typeface="Arial" panose="020B0604020202020204" pitchFamily="34" charset="0"/>
              <a:buChar char="•"/>
            </a:pPr>
            <a:r>
              <a:rPr lang="en-US" altLang="en-US" sz="1800">
                <a:solidFill>
                  <a:schemeClr val="tx1"/>
                </a:solidFill>
                <a:sym typeface="Helvetica Neue Light"/>
              </a:rPr>
              <a:t>Sign up and rapidly start using business applications.</a:t>
            </a:r>
          </a:p>
          <a:p>
            <a:pPr>
              <a:buFont typeface="Arial" panose="020B0604020202020204" pitchFamily="34" charset="0"/>
              <a:buChar char="•"/>
            </a:pPr>
            <a:r>
              <a:rPr lang="en-US" altLang="en-US" sz="1800">
                <a:solidFill>
                  <a:schemeClr val="tx1"/>
                </a:solidFill>
                <a:sym typeface="Helvetica Neue Light"/>
              </a:rPr>
              <a:t>Access apps and data from any connected end points</a:t>
            </a:r>
          </a:p>
          <a:p>
            <a:pPr>
              <a:buFont typeface="Arial" panose="020B0604020202020204" pitchFamily="34" charset="0"/>
              <a:buChar char="•"/>
            </a:pPr>
            <a:r>
              <a:rPr lang="en-US" altLang="en-US" sz="1800">
                <a:solidFill>
                  <a:schemeClr val="tx1"/>
                </a:solidFill>
                <a:sym typeface="Helvetica Neue Light"/>
              </a:rPr>
              <a:t>No data is lost if computer breaks</a:t>
            </a:r>
          </a:p>
          <a:p>
            <a:pPr>
              <a:buFont typeface="Arial" panose="020B0604020202020204" pitchFamily="34" charset="0"/>
              <a:buChar char="•"/>
            </a:pPr>
            <a:r>
              <a:rPr lang="en-US" altLang="en-US" sz="1800">
                <a:solidFill>
                  <a:schemeClr val="tx1"/>
                </a:solidFill>
                <a:sym typeface="Helvetica Neue Light"/>
              </a:rPr>
              <a:t>The service is able to dynamically scale to usage needs</a:t>
            </a:r>
          </a:p>
          <a:p>
            <a:pPr>
              <a:buFont typeface="Arial" panose="020B0604020202020204" pitchFamily="34" charset="0"/>
              <a:buChar char="•"/>
            </a:pPr>
            <a:r>
              <a:rPr lang="en-US" altLang="en-US" sz="1800">
                <a:solidFill>
                  <a:schemeClr val="tx1"/>
                </a:solidFill>
                <a:sym typeface="Helvetica Neue Light"/>
              </a:rPr>
              <a:t>No longer have to install, update and maintain the software</a:t>
            </a:r>
          </a:p>
        </p:txBody>
      </p:sp>
      <p:sp>
        <p:nvSpPr>
          <p:cNvPr id="39" name="Shape 221"/>
          <p:cNvSpPr/>
          <p:nvPr/>
        </p:nvSpPr>
        <p:spPr>
          <a:xfrm>
            <a:off x="3959225" y="6015038"/>
            <a:ext cx="681038" cy="400050"/>
          </a:xfrm>
          <a:prstGeom prst="rect">
            <a:avLst/>
          </a:prstGeom>
          <a:ln w="12700">
            <a:miter lim="400000"/>
          </a:ln>
          <a:extLst>
            <a:ext uri="{C572A759-6A51-4108-AA02-DFA0A04FC94B}"/>
          </a:extLst>
        </p:spPr>
        <p:txBody>
          <a:bodyPr lIns="35719" tIns="35719" rIns="35719" bIns="35719" anchor="ctr"/>
          <a:lstStyle>
            <a:lvl1pPr defTabSz="457200">
              <a:spcBef>
                <a:spcPts val="2400"/>
              </a:spcBef>
              <a:defRPr sz="2000" b="1">
                <a:solidFill>
                  <a:srgbClr val="ECCFD6"/>
                </a:solidFill>
                <a:latin typeface="Helvetica Neue Light"/>
                <a:ea typeface="Helvetica Neue Light"/>
                <a:cs typeface="Helvetica Neue Light"/>
                <a:sym typeface="Helvetica Neue Light"/>
              </a:defRPr>
            </a:lvl1pPr>
          </a:lstStyle>
          <a:p>
            <a:pPr>
              <a:defRPr sz="1800" b="0">
                <a:solidFill>
                  <a:srgbClr val="000000"/>
                </a:solidFill>
              </a:defRPr>
            </a:pPr>
            <a:r>
              <a:rPr lang="en-US" sz="1406" b="0" dirty="0" err="1">
                <a:solidFill>
                  <a:srgbClr val="000000"/>
                </a:solidFill>
                <a:latin typeface="Arial"/>
                <a:ea typeface="Arial"/>
                <a:cs typeface="Arial"/>
              </a:rPr>
              <a:t>P</a:t>
            </a:r>
            <a:r>
              <a:rPr sz="1406" b="0" dirty="0" err="1" smtClean="0">
                <a:solidFill>
                  <a:srgbClr val="000000"/>
                </a:solidFill>
                <a:latin typeface="Arial"/>
                <a:ea typeface="Arial"/>
                <a:cs typeface="Arial"/>
              </a:rPr>
              <a:t>aaS</a:t>
            </a:r>
            <a:endParaRPr sz="1406" b="0" dirty="0">
              <a:solidFill>
                <a:srgbClr val="000000"/>
              </a:solidFill>
              <a:latin typeface="Arial"/>
              <a:ea typeface="Arial"/>
              <a:cs typeface="Arial"/>
            </a:endParaRPr>
          </a:p>
        </p:txBody>
      </p:sp>
    </p:spTree>
    <p:extLst>
      <p:ext uri="{BB962C8B-B14F-4D97-AF65-F5344CB8AC3E}">
        <p14:creationId xmlns:p14="http://schemas.microsoft.com/office/powerpoint/2010/main" xmlns="" val="148247395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71475" y="600075"/>
            <a:ext cx="8543925" cy="331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lvl1pPr algn="l" rtl="0" eaLnBrk="0" fontAlgn="base" hangingPunct="0">
              <a:spcBef>
                <a:spcPct val="0"/>
              </a:spcBef>
              <a:spcAft>
                <a:spcPct val="0"/>
              </a:spcAft>
              <a:defRPr sz="2200">
                <a:solidFill>
                  <a:schemeClr val="tx1"/>
                </a:solidFill>
                <a:latin typeface="+mj-lt"/>
                <a:ea typeface="MS PGothic" panose="020B0600070205080204" pitchFamily="34" charset="-128"/>
                <a:cs typeface="+mj-cs"/>
              </a:defRPr>
            </a:lvl1pPr>
            <a:lvl2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2pPr>
            <a:lvl3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3pPr>
            <a:lvl4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4pPr>
            <a:lvl5pPr algn="l" rtl="0" eaLnBrk="0" fontAlgn="base" hangingPunct="0">
              <a:spcBef>
                <a:spcPct val="0"/>
              </a:spcBef>
              <a:spcAft>
                <a:spcPct val="0"/>
              </a:spcAft>
              <a:defRPr sz="2200">
                <a:solidFill>
                  <a:schemeClr val="tx1"/>
                </a:solidFill>
                <a:latin typeface="Arial" pitchFamily="34" charset="0"/>
                <a:ea typeface="MS PGothic" panose="020B0600070205080204" pitchFamily="34" charset="-128"/>
              </a:defRPr>
            </a:lvl5pPr>
            <a:lvl6pPr marL="457200" algn="l" rtl="0" fontAlgn="base">
              <a:spcBef>
                <a:spcPct val="0"/>
              </a:spcBef>
              <a:spcAft>
                <a:spcPct val="0"/>
              </a:spcAft>
              <a:defRPr sz="2200">
                <a:solidFill>
                  <a:schemeClr val="tx1"/>
                </a:solidFill>
                <a:latin typeface="Arial" pitchFamily="34" charset="0"/>
              </a:defRPr>
            </a:lvl6pPr>
            <a:lvl7pPr marL="914400" algn="l" rtl="0" fontAlgn="base">
              <a:spcBef>
                <a:spcPct val="0"/>
              </a:spcBef>
              <a:spcAft>
                <a:spcPct val="0"/>
              </a:spcAft>
              <a:defRPr sz="2200">
                <a:solidFill>
                  <a:schemeClr val="tx1"/>
                </a:solidFill>
                <a:latin typeface="Arial" pitchFamily="34" charset="0"/>
              </a:defRPr>
            </a:lvl7pPr>
            <a:lvl8pPr marL="1371600" algn="l" rtl="0" fontAlgn="base">
              <a:spcBef>
                <a:spcPct val="0"/>
              </a:spcBef>
              <a:spcAft>
                <a:spcPct val="0"/>
              </a:spcAft>
              <a:defRPr sz="2200">
                <a:solidFill>
                  <a:schemeClr val="tx1"/>
                </a:solidFill>
                <a:latin typeface="Arial" pitchFamily="34" charset="0"/>
              </a:defRPr>
            </a:lvl8pPr>
            <a:lvl9pPr marL="1828800" algn="l" rtl="0" fontAlgn="base">
              <a:spcBef>
                <a:spcPct val="0"/>
              </a:spcBef>
              <a:spcAft>
                <a:spcPct val="0"/>
              </a:spcAft>
              <a:defRPr sz="2200">
                <a:solidFill>
                  <a:schemeClr val="tx1"/>
                </a:solidFill>
                <a:latin typeface="Arial" pitchFamily="34" charset="0"/>
              </a:defRPr>
            </a:lvl9pPr>
          </a:lstStyle>
          <a:p>
            <a:pPr>
              <a:defRPr/>
            </a:pPr>
            <a:r>
              <a:rPr lang="en-US" kern="0" dirty="0" smtClean="0">
                <a:solidFill>
                  <a:srgbClr val="0070C0"/>
                </a:solidFill>
              </a:rPr>
              <a:t> IBM Cloud SaaS Portfolio</a:t>
            </a:r>
            <a:endParaRPr lang="en-US" kern="0" dirty="0">
              <a:solidFill>
                <a:srgbClr val="0070C0"/>
              </a:solidFill>
            </a:endParaRPr>
          </a:p>
        </p:txBody>
      </p:sp>
      <p:pic>
        <p:nvPicPr>
          <p:cNvPr id="9" name="Picture 8"/>
          <p:cNvPicPr>
            <a:picLocks noChangeAspect="1"/>
          </p:cNvPicPr>
          <p:nvPr/>
        </p:nvPicPr>
        <p:blipFill>
          <a:blip r:embed="rId3" cstate="print"/>
          <a:stretch>
            <a:fillRect/>
          </a:stretch>
        </p:blipFill>
        <p:spPr>
          <a:xfrm>
            <a:off x="1645920" y="1143000"/>
            <a:ext cx="5694213" cy="5243513"/>
          </a:xfrm>
          <a:prstGeom prst="rect">
            <a:avLst/>
          </a:prstGeom>
        </p:spPr>
      </p:pic>
    </p:spTree>
    <p:extLst>
      <p:ext uri="{BB962C8B-B14F-4D97-AF65-F5344CB8AC3E}">
        <p14:creationId xmlns:p14="http://schemas.microsoft.com/office/powerpoint/2010/main" xmlns="" val="4003251785"/>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1" name="Rectangle 7"/>
          <p:cNvSpPr>
            <a:spLocks/>
          </p:cNvSpPr>
          <p:nvPr/>
        </p:nvSpPr>
        <p:spPr bwMode="auto">
          <a:xfrm>
            <a:off x="411480" y="5440680"/>
            <a:ext cx="8572500" cy="1303238"/>
          </a:xfrm>
          <a:prstGeom prst="rect">
            <a:avLst/>
          </a:prstGeom>
          <a:noFill/>
          <a:ln>
            <a:noFill/>
          </a:ln>
          <a:effectLst/>
          <a:extLst/>
        </p:spPr>
        <p:txBody>
          <a:bodyPr lIns="35717" tIns="35717" rIns="35717" bIns="35717">
            <a:spAutoFit/>
          </a:bodyPr>
          <a:lstStyle/>
          <a:p>
            <a:pPr marL="503621" indent="-342900">
              <a:buFont typeface="Arial" panose="020B0604020202020204" pitchFamily="34" charset="0"/>
              <a:buChar char="•"/>
              <a:defRPr/>
            </a:pPr>
            <a:r>
              <a:rPr lang="en-US" sz="2000" dirty="0" smtClean="0">
                <a:ea typeface="ＭＳ Ｐゴシック" charset="0"/>
                <a:cs typeface="ＭＳ Ｐゴシック" charset="0"/>
                <a:sym typeface="Helvetica Neue Medium" charset="0"/>
              </a:rPr>
              <a:t>Is </a:t>
            </a:r>
            <a:r>
              <a:rPr lang="en-US" sz="2000" dirty="0">
                <a:ea typeface="ＭＳ Ｐゴシック" charset="0"/>
                <a:cs typeface="ＭＳ Ｐゴシック" charset="0"/>
                <a:sym typeface="Helvetica Neue Medium" charset="0"/>
              </a:rPr>
              <a:t>a dedicated area on </a:t>
            </a:r>
            <a:r>
              <a:rPr lang="en-US" sz="2000" dirty="0">
                <a:solidFill>
                  <a:schemeClr val="accent2">
                    <a:lumMod val="60000"/>
                    <a:lumOff val="40000"/>
                  </a:schemeClr>
                </a:solidFill>
                <a:ea typeface="ＭＳ Ｐゴシック" charset="0"/>
                <a:cs typeface="ＭＳ Ｐゴシック" charset="0"/>
                <a:sym typeface="Helvetica Neue Medium" charset="0"/>
              </a:rPr>
              <a:t>ibm.com/cloud</a:t>
            </a:r>
            <a:r>
              <a:rPr lang="en-US" sz="2000" dirty="0">
                <a:ea typeface="ＭＳ Ｐゴシック" charset="0"/>
                <a:cs typeface="ＭＳ Ｐゴシック" charset="0"/>
                <a:sym typeface="Helvetica Neue Medium" charset="0"/>
              </a:rPr>
              <a:t> for IBM customers to discover enterprise cloud services that run on or are deployable </a:t>
            </a:r>
            <a:r>
              <a:rPr lang="en-US" sz="2000" dirty="0" smtClean="0">
                <a:ea typeface="ＭＳ Ｐゴシック" charset="0"/>
                <a:cs typeface="ＭＳ Ｐゴシック" charset="0"/>
                <a:sym typeface="Helvetica Neue Medium" charset="0"/>
              </a:rPr>
              <a:t>on </a:t>
            </a:r>
            <a:r>
              <a:rPr lang="en-US" sz="2000" dirty="0" err="1">
                <a:ea typeface="ＭＳ Ｐゴシック" charset="0"/>
                <a:cs typeface="ＭＳ Ｐゴシック" charset="0"/>
                <a:sym typeface="Helvetica Neue Medium" charset="0"/>
              </a:rPr>
              <a:t>SoftLayer</a:t>
            </a:r>
            <a:r>
              <a:rPr lang="en-US" sz="2000" dirty="0">
                <a:ea typeface="ＭＳ Ｐゴシック" charset="0"/>
                <a:cs typeface="ＭＳ Ｐゴシック" charset="0"/>
                <a:sym typeface="Helvetica Neue Medium" charset="0"/>
              </a:rPr>
              <a:t> or integrated with Bluemix and are available from  IBM </a:t>
            </a:r>
            <a:r>
              <a:rPr lang="en-US" sz="2000" dirty="0" smtClean="0">
                <a:ea typeface="ＭＳ Ｐゴシック" charset="0"/>
                <a:cs typeface="ＭＳ Ｐゴシック" charset="0"/>
                <a:sym typeface="Helvetica Neue Medium" charset="0"/>
              </a:rPr>
              <a:t>&amp; Business Partners. </a:t>
            </a:r>
            <a:r>
              <a:rPr lang="en-US" sz="2000" dirty="0" smtClean="0">
                <a:solidFill>
                  <a:srgbClr val="0070C0"/>
                </a:solidFill>
                <a:ea typeface="ＭＳ Ｐゴシック" charset="0"/>
                <a:cs typeface="ＭＳ Ｐゴシック" charset="0"/>
                <a:sym typeface="Helvetica Neue Medium" charset="0"/>
              </a:rPr>
              <a:t>                  ibm.biz/newway4partners</a:t>
            </a:r>
            <a:endParaRPr lang="en-US" sz="2000" dirty="0">
              <a:solidFill>
                <a:srgbClr val="0070C0"/>
              </a:solidFill>
              <a:ea typeface="ＭＳ Ｐゴシック" charset="0"/>
              <a:cs typeface="ＭＳ Ｐゴシック" charset="0"/>
              <a:sym typeface="Helvetica Neue Medium" charset="0"/>
            </a:endParaRPr>
          </a:p>
        </p:txBody>
      </p:sp>
      <p:sp>
        <p:nvSpPr>
          <p:cNvPr id="6" name="Rectangle 2"/>
          <p:cNvSpPr>
            <a:spLocks/>
          </p:cNvSpPr>
          <p:nvPr/>
        </p:nvSpPr>
        <p:spPr bwMode="auto">
          <a:xfrm>
            <a:off x="157163" y="586660"/>
            <a:ext cx="8278813" cy="474663"/>
          </a:xfrm>
          <a:prstGeom prst="rect">
            <a:avLst/>
          </a:prstGeom>
          <a:noFill/>
          <a:ln>
            <a:noFill/>
          </a:ln>
          <a:extLst>
            <a:ext uri="{909E8E84-426E-40DD-AFC4-6F175D3DCCD1}">
              <a14:hiddenFill xmlns:a14="http://schemas.microsoft.com/office/drawing/2010/main" xmlns="">
                <a:gradFill rotWithShape="0">
                  <a:gsLst>
                    <a:gs pos="0">
                      <a:srgbClr val="0066C1"/>
                    </a:gs>
                    <a:gs pos="100000">
                      <a:srgbClr val="094593"/>
                    </a:gs>
                  </a:gsLst>
                  <a:lin ang="5400000"/>
                </a:gradFill>
              </a14:hiddenFill>
            </a:ext>
            <a:ext uri="{91240B29-F687-4F45-9708-019B960494DF}">
              <a14:hiddenLine xmlns:a14="http://schemas.microsoft.com/office/drawing/2010/main" xmlns="" w="25400">
                <a:solidFill>
                  <a:srgbClr val="FFFFFF"/>
                </a:solidFill>
                <a:miter lim="0"/>
                <a:headEnd/>
                <a:tailEnd/>
              </a14:hiddenLine>
            </a:ext>
          </a:extLst>
        </p:spPr>
        <p:txBody>
          <a:bodyPr lIns="35717" tIns="35717" rIns="35717" bIns="35717">
            <a:spAutoFit/>
          </a:bodyPr>
          <a:lstStyle>
            <a:lvl1pPr marL="227013"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defRPr/>
            </a:pPr>
            <a:r>
              <a:rPr lang="en-US" altLang="en-US" sz="2531" dirty="0" smtClean="0">
                <a:solidFill>
                  <a:srgbClr val="0070C0"/>
                </a:solidFill>
                <a:sym typeface="Helvetica Neue Medium" charset="0"/>
              </a:rPr>
              <a:t>IBM Cloud Marketplace – Cloud Services Store</a:t>
            </a:r>
          </a:p>
        </p:txBody>
      </p:sp>
      <p:pic>
        <p:nvPicPr>
          <p:cNvPr id="3" name="Picture 2"/>
          <p:cNvPicPr>
            <a:picLocks noChangeAspect="1"/>
          </p:cNvPicPr>
          <p:nvPr/>
        </p:nvPicPr>
        <p:blipFill>
          <a:blip r:embed="rId3" cstate="print"/>
          <a:stretch>
            <a:fillRect/>
          </a:stretch>
        </p:blipFill>
        <p:spPr>
          <a:xfrm>
            <a:off x="632007" y="1061324"/>
            <a:ext cx="7277553" cy="4233406"/>
          </a:xfrm>
          <a:prstGeom prst="rect">
            <a:avLst/>
          </a:prstGeom>
        </p:spPr>
      </p:pic>
    </p:spTree>
    <p:extLst>
      <p:ext uri="{BB962C8B-B14F-4D97-AF65-F5344CB8AC3E}">
        <p14:creationId xmlns:p14="http://schemas.microsoft.com/office/powerpoint/2010/main" xmlns="" val="975229352"/>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a:spLocks/>
          </p:cNvSpPr>
          <p:nvPr/>
        </p:nvSpPr>
        <p:spPr bwMode="auto">
          <a:xfrm>
            <a:off x="2994025" y="2921000"/>
            <a:ext cx="228600" cy="228600"/>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B3163A"/>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34818" name="Shape 250"/>
          <p:cNvSpPr>
            <a:spLocks noChangeArrowheads="1"/>
          </p:cNvSpPr>
          <p:nvPr/>
        </p:nvSpPr>
        <p:spPr bwMode="auto">
          <a:xfrm>
            <a:off x="2757488" y="2533650"/>
            <a:ext cx="681037" cy="4016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B3163A"/>
                </a:solidFill>
                <a:latin typeface="Arial" panose="020B0604020202020204" pitchFamily="34" charset="0"/>
                <a:sym typeface="Helvetica Neue Light"/>
              </a:rPr>
              <a:t>IaaS</a:t>
            </a:r>
          </a:p>
        </p:txBody>
      </p:sp>
      <p:sp>
        <p:nvSpPr>
          <p:cNvPr id="34819" name="Shape 251"/>
          <p:cNvSpPr>
            <a:spLocks noChangeArrowheads="1"/>
          </p:cNvSpPr>
          <p:nvPr/>
        </p:nvSpPr>
        <p:spPr bwMode="auto">
          <a:xfrm>
            <a:off x="4400550" y="2589213"/>
            <a:ext cx="1400175" cy="288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0365C0"/>
                </a:solidFill>
                <a:latin typeface="Arial" panose="020B0604020202020204" pitchFamily="34" charset="0"/>
                <a:sym typeface="Helvetica Neue Light"/>
              </a:rPr>
              <a:t>PaaS</a:t>
            </a:r>
          </a:p>
        </p:txBody>
      </p:sp>
      <p:sp>
        <p:nvSpPr>
          <p:cNvPr id="252" name="Shape 252"/>
          <p:cNvSpPr>
            <a:spLocks/>
          </p:cNvSpPr>
          <p:nvPr/>
        </p:nvSpPr>
        <p:spPr bwMode="auto">
          <a:xfrm>
            <a:off x="4987925" y="2906713"/>
            <a:ext cx="227013" cy="227012"/>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365C0"/>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57350" name="Shape 253"/>
          <p:cNvSpPr>
            <a:spLocks noGrp="1"/>
          </p:cNvSpPr>
          <p:nvPr>
            <p:ph type="title"/>
          </p:nvPr>
        </p:nvSpPr>
        <p:spPr>
          <a:xfrm>
            <a:off x="228717" y="650703"/>
            <a:ext cx="8270875" cy="331787"/>
          </a:xfrm>
        </p:spPr>
        <p:txBody>
          <a:bodyPr/>
          <a:lstStyle/>
          <a:p>
            <a:pPr eaLnBrk="1" hangingPunct="1"/>
            <a:r>
              <a:rPr lang="en-US" altLang="en-US" dirty="0" smtClean="0">
                <a:solidFill>
                  <a:srgbClr val="0070C0"/>
                </a:solidFill>
                <a:cs typeface="Arial" panose="020B0604020202020204" pitchFamily="34" charset="0"/>
              </a:rPr>
              <a:t>Timing is Critical …so are all of your other investments</a:t>
            </a:r>
          </a:p>
        </p:txBody>
      </p:sp>
      <p:sp>
        <p:nvSpPr>
          <p:cNvPr id="57351" name="Shape 254"/>
          <p:cNvSpPr>
            <a:spLocks noChangeArrowheads="1"/>
          </p:cNvSpPr>
          <p:nvPr/>
        </p:nvSpPr>
        <p:spPr bwMode="auto">
          <a:xfrm>
            <a:off x="257175" y="1408113"/>
            <a:ext cx="8643938" cy="381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defTabSz="457200">
              <a:spcBef>
                <a:spcPct val="50000"/>
              </a:spcBef>
              <a:buClr>
                <a:schemeClr val="hlink"/>
              </a:buClr>
              <a:buFont typeface="Wingdings" panose="05000000000000000000" pitchFamily="2" charset="2"/>
              <a:buChar char="§"/>
              <a:defRPr sz="2000">
                <a:solidFill>
                  <a:schemeClr val="tx1"/>
                </a:solidFill>
                <a:latin typeface="Arial" panose="020B0604020202020204" pitchFamily="34" charset="0"/>
              </a:defRPr>
            </a:lvl1pPr>
            <a:lvl2pPr marL="742950" indent="-285750" defTabSz="457200">
              <a:buClr>
                <a:schemeClr val="hlink"/>
              </a:buClr>
              <a:buFont typeface="Arial" panose="020B0604020202020204" pitchFamily="34" charset="0"/>
              <a:buChar char="–"/>
              <a:defRPr sz="2000">
                <a:solidFill>
                  <a:schemeClr val="tx1"/>
                </a:solidFill>
                <a:latin typeface="Arial" panose="020B0604020202020204" pitchFamily="34" charset="0"/>
              </a:defRPr>
            </a:lvl2pPr>
            <a:lvl3pPr marL="1143000" indent="-228600" defTabSz="457200">
              <a:buClr>
                <a:schemeClr val="hlink"/>
              </a:buClr>
              <a:buChar char="•"/>
              <a:defRPr sz="2000">
                <a:solidFill>
                  <a:schemeClr val="tx1"/>
                </a:solidFill>
                <a:latin typeface="Arial" panose="020B0604020202020204" pitchFamily="34" charset="0"/>
              </a:defRPr>
            </a:lvl3pPr>
            <a:lvl4pPr marL="1600200" indent="-228600" defTabSz="457200">
              <a:buClr>
                <a:schemeClr val="hlink"/>
              </a:buClr>
              <a:buFont typeface="Arial" panose="020B0604020202020204" pitchFamily="34" charset="0"/>
              <a:buChar char="–"/>
              <a:defRPr sz="2000">
                <a:solidFill>
                  <a:schemeClr val="tx1"/>
                </a:solidFill>
                <a:latin typeface="Arial" panose="020B0604020202020204" pitchFamily="34" charset="0"/>
              </a:defRPr>
            </a:lvl4pPr>
            <a:lvl5pPr marL="2057400" indent="-228600" defTabSz="457200">
              <a:spcBef>
                <a:spcPct val="20000"/>
              </a:spcBef>
              <a:buClr>
                <a:schemeClr val="bg1"/>
              </a:buClr>
              <a:buChar char="»"/>
              <a:defRPr sz="1600">
                <a:solidFill>
                  <a:schemeClr val="bg1"/>
                </a:solidFill>
                <a:latin typeface="Arial" panose="020B0604020202020204" pitchFamily="34" charset="0"/>
              </a:defRPr>
            </a:lvl5pPr>
            <a:lvl6pPr marL="25146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6pPr>
            <a:lvl7pPr marL="29718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7pPr>
            <a:lvl8pPr marL="34290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8pPr>
            <a:lvl9pPr marL="3886200" indent="-228600" defTabSz="457200" eaLnBrk="0" fontAlgn="base" hangingPunct="0">
              <a:spcBef>
                <a:spcPct val="20000"/>
              </a:spcBef>
              <a:spcAft>
                <a:spcPct val="0"/>
              </a:spcAft>
              <a:buClr>
                <a:schemeClr val="bg1"/>
              </a:buClr>
              <a:buChar char="»"/>
              <a:defRPr sz="1600">
                <a:solidFill>
                  <a:schemeClr val="bg1"/>
                </a:solidFill>
                <a:latin typeface="Arial" panose="020B0604020202020204" pitchFamily="34" charset="0"/>
              </a:defRPr>
            </a:lvl9pPr>
          </a:lstStyle>
          <a:p>
            <a:pPr eaLnBrk="1" hangingPunct="1">
              <a:spcBef>
                <a:spcPts val="1688"/>
              </a:spcBef>
              <a:buClrTx/>
              <a:buFontTx/>
              <a:buNone/>
            </a:pPr>
            <a:r>
              <a:rPr lang="en-US" altLang="en-US">
                <a:ea typeface="MS PGothic" panose="020B0600070205080204" pitchFamily="34" charset="-128"/>
                <a:sym typeface="Helvetica Neue Light"/>
              </a:rPr>
              <a:t>Leverage the power of Bluemix </a:t>
            </a:r>
            <a:r>
              <a:rPr lang="en-US" altLang="en-US" b="1">
                <a:ea typeface="MS PGothic" panose="020B0600070205080204" pitchFamily="34" charset="-128"/>
                <a:sym typeface="Helvetica Neue Light"/>
              </a:rPr>
              <a:t>without abandoning </a:t>
            </a:r>
            <a:r>
              <a:rPr lang="en-US" altLang="en-US">
                <a:ea typeface="MS PGothic" panose="020B0600070205080204" pitchFamily="34" charset="-128"/>
                <a:sym typeface="Helvetica Neue Light"/>
              </a:rPr>
              <a:t>what you already use.</a:t>
            </a:r>
          </a:p>
        </p:txBody>
      </p:sp>
      <p:sp>
        <p:nvSpPr>
          <p:cNvPr id="34823" name="Shape 255"/>
          <p:cNvSpPr>
            <a:spLocks noChangeArrowheads="1"/>
          </p:cNvSpPr>
          <p:nvPr/>
        </p:nvSpPr>
        <p:spPr bwMode="auto">
          <a:xfrm>
            <a:off x="509588" y="2389188"/>
            <a:ext cx="1171575" cy="688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lstStyle>
            <a:lvl1pPr defTabSz="457200"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defTabSz="45720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defTabSz="4572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defTabSz="4572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defTabSz="4572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457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spcBef>
                <a:spcPts val="1687"/>
              </a:spcBef>
              <a:defRPr/>
            </a:pPr>
            <a:r>
              <a:rPr lang="en-US" altLang="en-US" sz="1406" b="1" smtClean="0">
                <a:solidFill>
                  <a:srgbClr val="043E68"/>
                </a:solidFill>
                <a:latin typeface="Arial" panose="020B0604020202020204" pitchFamily="34" charset="0"/>
                <a:sym typeface="Helvetica Neue Light"/>
              </a:rPr>
              <a:t>Core IT</a:t>
            </a:r>
          </a:p>
        </p:txBody>
      </p:sp>
      <p:sp>
        <p:nvSpPr>
          <p:cNvPr id="256" name="Shape 256"/>
          <p:cNvSpPr>
            <a:spLocks/>
          </p:cNvSpPr>
          <p:nvPr/>
        </p:nvSpPr>
        <p:spPr bwMode="auto">
          <a:xfrm>
            <a:off x="990600" y="2911475"/>
            <a:ext cx="227013" cy="228600"/>
          </a:xfrm>
          <a:custGeom>
            <a:avLst/>
            <a:gdLst>
              <a:gd name="T0" fmla="*/ 161925 w 19679"/>
              <a:gd name="T1" fmla="*/ 161925 h 19679"/>
              <a:gd name="T2" fmla="*/ 161925 w 19679"/>
              <a:gd name="T3" fmla="*/ 161925 h 19679"/>
              <a:gd name="T4" fmla="*/ 161925 w 19679"/>
              <a:gd name="T5" fmla="*/ 161925 h 19679"/>
              <a:gd name="T6" fmla="*/ 161925 w 19679"/>
              <a:gd name="T7" fmla="*/ 161925 h 196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043E68"/>
          </a:solidFill>
          <a:ln>
            <a:noFill/>
          </a:ln>
          <a:effectLst>
            <a:outerShdw blurRad="38100" dist="25400" dir="5400000" rotWithShape="0">
              <a:srgbClr val="000000">
                <a:alpha val="50000"/>
              </a:srgbClr>
            </a:outerShdw>
          </a:effectLst>
          <a:extLst>
            <a:ext uri="{91240B29-F687-4F45-9708-019B960494DF}">
              <a14:hiddenLine xmlns:a14="http://schemas.microsoft.com/office/drawing/2010/main" xmlns="" w="12700">
                <a:solidFill>
                  <a:srgbClr val="000000"/>
                </a:solidFill>
                <a:miter lim="400000"/>
                <a:headEnd/>
                <a:tailEnd/>
              </a14:hiddenLine>
            </a:ext>
          </a:extLst>
        </p:spPr>
        <p:txBody>
          <a:bodyPr lIns="0" tIns="0" rIns="0" bIns="0" anchor="ctr"/>
          <a:lstStyle/>
          <a:p>
            <a:pPr>
              <a:defRPr/>
            </a:pPr>
            <a:endParaRPr lang="en-US" sz="1547"/>
          </a:p>
        </p:txBody>
      </p:sp>
      <p:sp>
        <p:nvSpPr>
          <p:cNvPr id="299" name="Shape 299"/>
          <p:cNvSpPr>
            <a:spLocks/>
          </p:cNvSpPr>
          <p:nvPr/>
        </p:nvSpPr>
        <p:spPr bwMode="auto">
          <a:xfrm>
            <a:off x="1243013" y="3844925"/>
            <a:ext cx="3243262" cy="782638"/>
          </a:xfrm>
          <a:custGeom>
            <a:avLst/>
            <a:gdLst>
              <a:gd name="T0" fmla="*/ 2147483647 w 21600"/>
              <a:gd name="T1" fmla="*/ 2147483647 h 16765"/>
              <a:gd name="T2" fmla="*/ 2147483647 w 21600"/>
              <a:gd name="T3" fmla="*/ 2147483647 h 16765"/>
              <a:gd name="T4" fmla="*/ 2147483647 w 21600"/>
              <a:gd name="T5" fmla="*/ 2147483647 h 16765"/>
              <a:gd name="T6" fmla="*/ 2147483647 w 21600"/>
              <a:gd name="T7" fmla="*/ 2147483647 h 1676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765" extrusionOk="0">
                <a:moveTo>
                  <a:pt x="0" y="0"/>
                </a:moveTo>
                <a:cubicBezTo>
                  <a:pt x="7197" y="18250"/>
                  <a:pt x="14397" y="21600"/>
                  <a:pt x="21600" y="10050"/>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0" name="Shape 300"/>
          <p:cNvSpPr>
            <a:spLocks/>
          </p:cNvSpPr>
          <p:nvPr/>
        </p:nvSpPr>
        <p:spPr bwMode="auto">
          <a:xfrm>
            <a:off x="1243013" y="3900488"/>
            <a:ext cx="3336925" cy="1062037"/>
          </a:xfrm>
          <a:custGeom>
            <a:avLst/>
            <a:gdLst>
              <a:gd name="T0" fmla="*/ 2147483647 w 21600"/>
              <a:gd name="T1" fmla="*/ 2147483647 h 16479"/>
              <a:gd name="T2" fmla="*/ 2147483647 w 21600"/>
              <a:gd name="T3" fmla="*/ 2147483647 h 16479"/>
              <a:gd name="T4" fmla="*/ 2147483647 w 21600"/>
              <a:gd name="T5" fmla="*/ 2147483647 h 16479"/>
              <a:gd name="T6" fmla="*/ 2147483647 w 21600"/>
              <a:gd name="T7" fmla="*/ 2147483647 h 16479"/>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479" extrusionOk="0">
                <a:moveTo>
                  <a:pt x="0" y="0"/>
                </a:moveTo>
                <a:cubicBezTo>
                  <a:pt x="6446" y="19112"/>
                  <a:pt x="13646" y="21600"/>
                  <a:pt x="21600" y="7464"/>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1" name="Shape 301"/>
          <p:cNvSpPr>
            <a:spLocks/>
          </p:cNvSpPr>
          <p:nvPr/>
        </p:nvSpPr>
        <p:spPr bwMode="auto">
          <a:xfrm>
            <a:off x="3228975" y="3319463"/>
            <a:ext cx="1839913" cy="525462"/>
          </a:xfrm>
          <a:custGeom>
            <a:avLst/>
            <a:gdLst>
              <a:gd name="T0" fmla="*/ 2147483647 w 21600"/>
              <a:gd name="T1" fmla="*/ 2147483647 h 16375"/>
              <a:gd name="T2" fmla="*/ 2147483647 w 21600"/>
              <a:gd name="T3" fmla="*/ 2147483647 h 16375"/>
              <a:gd name="T4" fmla="*/ 2147483647 w 21600"/>
              <a:gd name="T5" fmla="*/ 2147483647 h 16375"/>
              <a:gd name="T6" fmla="*/ 2147483647 w 21600"/>
              <a:gd name="T7" fmla="*/ 2147483647 h 16375"/>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375" extrusionOk="0">
                <a:moveTo>
                  <a:pt x="0" y="10305"/>
                </a:moveTo>
                <a:cubicBezTo>
                  <a:pt x="8058" y="-5225"/>
                  <a:pt x="15258" y="-3202"/>
                  <a:pt x="21600" y="16375"/>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sp>
        <p:nvSpPr>
          <p:cNvPr id="302" name="Shape 302"/>
          <p:cNvSpPr>
            <a:spLocks/>
          </p:cNvSpPr>
          <p:nvPr/>
        </p:nvSpPr>
        <p:spPr bwMode="auto">
          <a:xfrm>
            <a:off x="3235325" y="3514725"/>
            <a:ext cx="1819275" cy="354013"/>
          </a:xfrm>
          <a:custGeom>
            <a:avLst/>
            <a:gdLst>
              <a:gd name="T0" fmla="*/ 2147483647 w 21600"/>
              <a:gd name="T1" fmla="*/ 2147483647 h 16624"/>
              <a:gd name="T2" fmla="*/ 2147483647 w 21600"/>
              <a:gd name="T3" fmla="*/ 2147483647 h 16624"/>
              <a:gd name="T4" fmla="*/ 2147483647 w 21600"/>
              <a:gd name="T5" fmla="*/ 2147483647 h 16624"/>
              <a:gd name="T6" fmla="*/ 2147483647 w 21600"/>
              <a:gd name="T7" fmla="*/ 2147483647 h 16624"/>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16624" extrusionOk="0">
                <a:moveTo>
                  <a:pt x="0" y="7701"/>
                </a:moveTo>
                <a:cubicBezTo>
                  <a:pt x="6839" y="-4976"/>
                  <a:pt x="14039" y="-2002"/>
                  <a:pt x="21600" y="16624"/>
                </a:cubicBezTo>
              </a:path>
            </a:pathLst>
          </a:custGeom>
          <a:noFill/>
          <a:ln w="76200" cap="rnd">
            <a:solidFill>
              <a:srgbClr val="043E68">
                <a:alpha val="50195"/>
              </a:srgbClr>
            </a:solidFill>
            <a:miter lim="400000"/>
            <a:headEnd/>
            <a:tailEnd/>
          </a:ln>
          <a:extLst>
            <a:ext uri="{909E8E84-426E-40DD-AFC4-6F175D3DCCD1}">
              <a14:hiddenFill xmlns:a14="http://schemas.microsoft.com/office/drawing/2010/main" xmlns="">
                <a:solidFill>
                  <a:srgbClr val="FFFFFF"/>
                </a:solidFill>
              </a14:hiddenFill>
            </a:ext>
          </a:extLst>
        </p:spPr>
        <p:txBody>
          <a:bodyPr/>
          <a:lstStyle/>
          <a:p>
            <a:pPr>
              <a:defRPr/>
            </a:pPr>
            <a:endParaRPr lang="en-US" sz="1547"/>
          </a:p>
        </p:txBody>
      </p:sp>
      <p:pic>
        <p:nvPicPr>
          <p:cNvPr id="261" name="hexIcon_64.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08050" y="3535363"/>
            <a:ext cx="428625" cy="428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262" name="hexIcon_64.pn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889250" y="3535363"/>
            <a:ext cx="428625" cy="428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nvGrpSpPr>
          <p:cNvPr id="57360" name="Group 265"/>
          <p:cNvGrpSpPr>
            <a:grpSpLocks/>
          </p:cNvGrpSpPr>
          <p:nvPr/>
        </p:nvGrpSpPr>
        <p:grpSpPr bwMode="auto">
          <a:xfrm>
            <a:off x="4397375" y="3446463"/>
            <a:ext cx="1550988" cy="938212"/>
            <a:chOff x="-61961" y="0"/>
            <a:chExt cx="2205789" cy="1336181"/>
          </a:xfrm>
        </p:grpSpPr>
        <p:sp>
          <p:nvSpPr>
            <p:cNvPr id="34865" name="Shape 263"/>
            <p:cNvSpPr>
              <a:spLocks noChangeArrowheads="1"/>
            </p:cNvSpPr>
            <p:nvPr/>
          </p:nvSpPr>
          <p:spPr bwMode="auto">
            <a:xfrm>
              <a:off x="-61961" y="879483"/>
              <a:ext cx="2205789" cy="4566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txBody>
            <a:bodyPr lIns="35719" tIns="35719" rIns="35719" bIns="35719" anchor="ctr">
              <a:spAutoFit/>
            </a:bodyPr>
            <a:lstStyle>
              <a:lvl1pPr eaLnBrk="0" hangingPunct="0">
                <a:defRPr sz="3600">
                  <a:solidFill>
                    <a:schemeClr val="tx1"/>
                  </a:solidFill>
                  <a:latin typeface="Helvetica Light" charset="0"/>
                  <a:ea typeface="MS PGothic" panose="020B0600070205080204" pitchFamily="34" charset="-128"/>
                  <a:sym typeface="Helvetica Light" charset="0"/>
                </a:defRPr>
              </a:lvl1pPr>
              <a:lvl2pPr marL="742950" indent="-285750" eaLnBrk="0" hangingPunct="0">
                <a:defRPr sz="3600">
                  <a:solidFill>
                    <a:schemeClr val="tx1"/>
                  </a:solidFill>
                  <a:latin typeface="Helvetica Light" charset="0"/>
                  <a:ea typeface="MS PGothic" panose="020B0600070205080204" pitchFamily="34" charset="-128"/>
                  <a:sym typeface="Helvetica Light" charset="0"/>
                </a:defRPr>
              </a:lvl2pPr>
              <a:lvl3pPr marL="1143000" indent="-228600" eaLnBrk="0" hangingPunct="0">
                <a:defRPr sz="3600">
                  <a:solidFill>
                    <a:schemeClr val="tx1"/>
                  </a:solidFill>
                  <a:latin typeface="Helvetica Light" charset="0"/>
                  <a:ea typeface="MS PGothic" panose="020B0600070205080204" pitchFamily="34" charset="-128"/>
                  <a:sym typeface="Helvetica Light" charset="0"/>
                </a:defRPr>
              </a:lvl3pPr>
              <a:lvl4pPr marL="1600200" indent="-228600" eaLnBrk="0" hangingPunct="0">
                <a:defRPr sz="3600">
                  <a:solidFill>
                    <a:schemeClr val="tx1"/>
                  </a:solidFill>
                  <a:latin typeface="Helvetica Light" charset="0"/>
                  <a:ea typeface="MS PGothic" panose="020B0600070205080204" pitchFamily="34" charset="-128"/>
                  <a:sym typeface="Helvetica Light" charset="0"/>
                </a:defRPr>
              </a:lvl4pPr>
              <a:lvl5pPr marL="2057400" indent="-228600" eaLnBrk="0" hangingPunct="0">
                <a:defRPr sz="3600">
                  <a:solidFill>
                    <a:schemeClr val="tx1"/>
                  </a:solidFill>
                  <a:latin typeface="Helvetica Light" charset="0"/>
                  <a:ea typeface="MS PGothic" panose="020B0600070205080204" pitchFamily="34" charset="-128"/>
                  <a:sym typeface="Helvetica Light" charset="0"/>
                </a:defRPr>
              </a:lvl5pPr>
              <a:lvl6pPr marL="25146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6pPr>
              <a:lvl7pPr marL="29718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7pPr>
              <a:lvl8pPr marL="34290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8pPr>
              <a:lvl9pPr marL="3886200" indent="-228600" defTabSz="584200" eaLnBrk="0" fontAlgn="base" hangingPunct="0">
                <a:spcBef>
                  <a:spcPct val="0"/>
                </a:spcBef>
                <a:spcAft>
                  <a:spcPct val="0"/>
                </a:spcAft>
                <a:defRPr sz="3600">
                  <a:solidFill>
                    <a:schemeClr val="tx1"/>
                  </a:solidFill>
                  <a:latin typeface="Helvetica Light" charset="0"/>
                  <a:ea typeface="MS PGothic" panose="020B0600070205080204" pitchFamily="34" charset="-128"/>
                  <a:sym typeface="Helvetica Light" charset="0"/>
                </a:defRPr>
              </a:lvl9pPr>
            </a:lstStyle>
            <a:p>
              <a:pPr eaLnBrk="1" hangingPunct="1">
                <a:defRPr/>
              </a:pPr>
              <a:r>
                <a:rPr lang="en-US" altLang="en-US" sz="1617" smtClean="0">
                  <a:solidFill>
                    <a:srgbClr val="405059"/>
                  </a:solidFill>
                  <a:latin typeface="Arial" panose="020B0604020202020204" pitchFamily="34" charset="0"/>
                  <a:sym typeface="Helvetica Neue Thin"/>
                </a:rPr>
                <a:t>IBM </a:t>
              </a:r>
              <a:r>
                <a:rPr lang="en-US" altLang="en-US" sz="1617" b="1" smtClean="0">
                  <a:solidFill>
                    <a:srgbClr val="405059"/>
                  </a:solidFill>
                  <a:latin typeface="Arial" panose="020B0604020202020204" pitchFamily="34" charset="0"/>
                  <a:sym typeface="Helvetica Neue Thin"/>
                </a:rPr>
                <a:t>Bluemix</a:t>
              </a:r>
            </a:p>
          </p:txBody>
        </p:sp>
        <p:pic>
          <p:nvPicPr>
            <p:cNvPr id="57395" name="image3.png" descr="Matt_Logo_400.png"/>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541020" y="0"/>
              <a:ext cx="952910" cy="9529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68" name="Group 268"/>
          <p:cNvGrpSpPr>
            <a:grpSpLocks/>
          </p:cNvGrpSpPr>
          <p:nvPr/>
        </p:nvGrpSpPr>
        <p:grpSpPr bwMode="auto">
          <a:xfrm>
            <a:off x="6704013" y="3471863"/>
            <a:ext cx="779462" cy="692150"/>
            <a:chOff x="0" y="0"/>
            <a:chExt cx="1110294" cy="983404"/>
          </a:xfrm>
        </p:grpSpPr>
        <p:pic>
          <p:nvPicPr>
            <p:cNvPr id="57392" name="image84.png" descr="cloudant6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0294" y="187495"/>
              <a:ext cx="609707" cy="608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93"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5400">
                  <a:solidFill>
                    <a:srgbClr val="000000"/>
                  </a:solidFill>
                  <a:miter lim="400000"/>
                  <a:headEnd/>
                  <a:tailEnd/>
                </a14:hiddenLine>
              </a:ext>
            </a:extLst>
          </p:spPr>
        </p:pic>
      </p:grpSp>
      <p:grpSp>
        <p:nvGrpSpPr>
          <p:cNvPr id="271" name="Group 271"/>
          <p:cNvGrpSpPr>
            <a:grpSpLocks/>
          </p:cNvGrpSpPr>
          <p:nvPr/>
        </p:nvGrpSpPr>
        <p:grpSpPr bwMode="auto">
          <a:xfrm>
            <a:off x="7939088" y="4168775"/>
            <a:ext cx="781050" cy="690563"/>
            <a:chOff x="0" y="0"/>
            <a:chExt cx="1110294" cy="983404"/>
          </a:xfrm>
        </p:grpSpPr>
        <p:pic>
          <p:nvPicPr>
            <p:cNvPr id="57390" name="image73.png" descr="Data64"/>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253760" y="205508"/>
              <a:ext cx="543019" cy="5432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91"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74" name="Group 274"/>
          <p:cNvGrpSpPr>
            <a:grpSpLocks/>
          </p:cNvGrpSpPr>
          <p:nvPr/>
        </p:nvGrpSpPr>
        <p:grpSpPr bwMode="auto">
          <a:xfrm>
            <a:off x="7308850" y="4510088"/>
            <a:ext cx="781050" cy="692150"/>
            <a:chOff x="0" y="0"/>
            <a:chExt cx="1110294" cy="983404"/>
          </a:xfrm>
        </p:grpSpPr>
        <p:pic>
          <p:nvPicPr>
            <p:cNvPr id="57388" name="image86.png" descr="watson64"/>
            <p:cNvPicPr>
              <a:picLocks noChangeAspect="1" noChangeArrowheads="1"/>
            </p:cNvPicPr>
            <p:nvPr/>
          </p:nvPicPr>
          <p:blipFill>
            <a:blip r:embed="rId8" cstate="print">
              <a:extLst>
                <a:ext uri="{28A0092B-C50C-407E-A947-70E740481C1C}">
                  <a14:useLocalDpi xmlns:a14="http://schemas.microsoft.com/office/drawing/2010/main" xmlns="" val="0"/>
                </a:ext>
              </a:extLst>
            </a:blip>
            <a:srcRect/>
            <a:stretch>
              <a:fillRect/>
            </a:stretch>
          </p:blipFill>
          <p:spPr bwMode="auto">
            <a:xfrm>
              <a:off x="242580" y="173734"/>
              <a:ext cx="609705" cy="6099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9"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77" name="Group 277"/>
          <p:cNvGrpSpPr>
            <a:grpSpLocks/>
          </p:cNvGrpSpPr>
          <p:nvPr/>
        </p:nvGrpSpPr>
        <p:grpSpPr bwMode="auto">
          <a:xfrm>
            <a:off x="6097588" y="3122613"/>
            <a:ext cx="781050" cy="690562"/>
            <a:chOff x="0" y="0"/>
            <a:chExt cx="1110294" cy="983404"/>
          </a:xfrm>
        </p:grpSpPr>
        <p:pic>
          <p:nvPicPr>
            <p:cNvPr id="57386" name="image65.png" descr="AppScan_64x64"/>
            <p:cNvPicPr>
              <a:picLocks noChangeAspect="1" noChangeArrowheads="1"/>
            </p:cNvPicPr>
            <p:nvPr/>
          </p:nvPicPr>
          <p:blipFill>
            <a:blip r:embed="rId9" cstate="print">
              <a:extLst>
                <a:ext uri="{28A0092B-C50C-407E-A947-70E740481C1C}">
                  <a14:useLocalDpi xmlns:a14="http://schemas.microsoft.com/office/drawing/2010/main" xmlns="" val="0"/>
                </a:ext>
              </a:extLst>
            </a:blip>
            <a:srcRect/>
            <a:stretch>
              <a:fillRect/>
            </a:stretch>
          </p:blipFill>
          <p:spPr bwMode="auto">
            <a:xfrm>
              <a:off x="238019" y="170753"/>
              <a:ext cx="609705" cy="6099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7"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0" name="Group 280"/>
          <p:cNvGrpSpPr>
            <a:grpSpLocks/>
          </p:cNvGrpSpPr>
          <p:nvPr/>
        </p:nvGrpSpPr>
        <p:grpSpPr bwMode="auto">
          <a:xfrm>
            <a:off x="5468938" y="3446463"/>
            <a:ext cx="781050" cy="690562"/>
            <a:chOff x="0" y="0"/>
            <a:chExt cx="1110294" cy="983404"/>
          </a:xfrm>
        </p:grpSpPr>
        <p:pic>
          <p:nvPicPr>
            <p:cNvPr id="57384" name="image71.png" descr="datacache64"/>
            <p:cNvPicPr>
              <a:picLocks noChangeAspect="1" noChangeArrowheads="1"/>
            </p:cNvPicPr>
            <p:nvPr/>
          </p:nvPicPr>
          <p:blipFill>
            <a:blip r:embed="rId10" cstate="print">
              <a:extLst>
                <a:ext uri="{28A0092B-C50C-407E-A947-70E740481C1C}">
                  <a14:useLocalDpi xmlns:a14="http://schemas.microsoft.com/office/drawing/2010/main" xmlns="" val="0"/>
                </a:ext>
              </a:extLst>
            </a:blip>
            <a:srcRect/>
            <a:stretch>
              <a:fillRect/>
            </a:stretch>
          </p:blipFill>
          <p:spPr bwMode="auto">
            <a:xfrm>
              <a:off x="276932" y="215619"/>
              <a:ext cx="531031" cy="5314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5"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3" name="Group 283"/>
          <p:cNvGrpSpPr>
            <a:grpSpLocks/>
          </p:cNvGrpSpPr>
          <p:nvPr/>
        </p:nvGrpSpPr>
        <p:grpSpPr bwMode="auto">
          <a:xfrm>
            <a:off x="7308850" y="3816350"/>
            <a:ext cx="781050" cy="690563"/>
            <a:chOff x="0" y="0"/>
            <a:chExt cx="1110294" cy="983404"/>
          </a:xfrm>
        </p:grpSpPr>
        <p:pic>
          <p:nvPicPr>
            <p:cNvPr id="57382" name="image87.png" descr="api_management64"/>
            <p:cNvPicPr>
              <a:picLocks noChangeAspect="1" noChangeArrowheads="1"/>
            </p:cNvPicPr>
            <p:nvPr/>
          </p:nvPicPr>
          <p:blipFill>
            <a:blip r:embed="rId11" cstate="print">
              <a:extLst>
                <a:ext uri="{28A0092B-C50C-407E-A947-70E740481C1C}">
                  <a14:useLocalDpi xmlns:a14="http://schemas.microsoft.com/office/drawing/2010/main" xmlns="" val="0"/>
                </a:ext>
              </a:extLst>
            </a:blip>
            <a:srcRect/>
            <a:stretch>
              <a:fillRect/>
            </a:stretch>
          </p:blipFill>
          <p:spPr bwMode="auto">
            <a:xfrm>
              <a:off x="262023" y="178724"/>
              <a:ext cx="608365" cy="60841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3"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6" name="Group 286"/>
          <p:cNvGrpSpPr>
            <a:grpSpLocks/>
          </p:cNvGrpSpPr>
          <p:nvPr/>
        </p:nvGrpSpPr>
        <p:grpSpPr bwMode="auto">
          <a:xfrm>
            <a:off x="6097588" y="4510088"/>
            <a:ext cx="781050" cy="692150"/>
            <a:chOff x="0" y="0"/>
            <a:chExt cx="1110294" cy="983404"/>
          </a:xfrm>
        </p:grpSpPr>
        <p:pic>
          <p:nvPicPr>
            <p:cNvPr id="57380" name="image74.png" descr="Push64"/>
            <p:cNvPicPr>
              <a:picLocks noChangeAspect="1" noChangeArrowheads="1"/>
            </p:cNvPicPr>
            <p:nvPr/>
          </p:nvPicPr>
          <p:blipFill>
            <a:blip r:embed="rId12" cstate="print">
              <a:extLst>
                <a:ext uri="{28A0092B-C50C-407E-A947-70E740481C1C}">
                  <a14:useLocalDpi xmlns:a14="http://schemas.microsoft.com/office/drawing/2010/main" xmlns="" val="0"/>
                </a:ext>
              </a:extLst>
            </a:blip>
            <a:srcRect/>
            <a:stretch>
              <a:fillRect/>
            </a:stretch>
          </p:blipFill>
          <p:spPr bwMode="auto">
            <a:xfrm>
              <a:off x="238739" y="171602"/>
              <a:ext cx="609705" cy="6084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81"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89" name="Group 289"/>
          <p:cNvGrpSpPr>
            <a:grpSpLocks/>
          </p:cNvGrpSpPr>
          <p:nvPr/>
        </p:nvGrpSpPr>
        <p:grpSpPr bwMode="auto">
          <a:xfrm>
            <a:off x="6097588" y="3817938"/>
            <a:ext cx="781050" cy="692150"/>
            <a:chOff x="0" y="0"/>
            <a:chExt cx="1110294" cy="983404"/>
          </a:xfrm>
        </p:grpSpPr>
        <p:pic>
          <p:nvPicPr>
            <p:cNvPr id="57378" name="image75.png" descr="mqa_64"/>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251378" y="212983"/>
              <a:ext cx="609705" cy="60993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9"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2" name="Group 292"/>
          <p:cNvGrpSpPr>
            <a:grpSpLocks/>
          </p:cNvGrpSpPr>
          <p:nvPr/>
        </p:nvGrpSpPr>
        <p:grpSpPr bwMode="auto">
          <a:xfrm>
            <a:off x="6704013" y="4865688"/>
            <a:ext cx="779462" cy="690562"/>
            <a:chOff x="0" y="0"/>
            <a:chExt cx="1110294" cy="983404"/>
          </a:xfrm>
        </p:grpSpPr>
        <p:pic>
          <p:nvPicPr>
            <p:cNvPr id="57376" name="image76.png" descr="twilio64"/>
            <p:cNvPicPr>
              <a:picLocks noChangeAspect="1" noChangeArrowheads="1"/>
            </p:cNvPicPr>
            <p:nvPr/>
          </p:nvPicPr>
          <p:blipFill>
            <a:blip r:embed="rId14" cstate="print">
              <a:extLst>
                <a:ext uri="{28A0092B-C50C-407E-A947-70E740481C1C}">
                  <a14:useLocalDpi xmlns:a14="http://schemas.microsoft.com/office/drawing/2010/main" xmlns="" val="0"/>
                </a:ext>
              </a:extLst>
            </a:blip>
            <a:srcRect/>
            <a:stretch>
              <a:fillRect/>
            </a:stretch>
          </p:blipFill>
          <p:spPr bwMode="auto">
            <a:xfrm>
              <a:off x="239243" y="182460"/>
              <a:ext cx="608908" cy="6085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7" name="hexagongreen.png"/>
            <p:cNvPicPr>
              <a:picLocks noChangeAspect="1" noChangeArrowheads="1"/>
            </p:cNvPicPr>
            <p:nvPr/>
          </p:nvPicPr>
          <p:blipFill>
            <a:blip r:embed="rId15"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5" name="Group 295"/>
          <p:cNvGrpSpPr>
            <a:grpSpLocks/>
          </p:cNvGrpSpPr>
          <p:nvPr/>
        </p:nvGrpSpPr>
        <p:grpSpPr bwMode="auto">
          <a:xfrm>
            <a:off x="6704013" y="4168775"/>
            <a:ext cx="779462" cy="692150"/>
            <a:chOff x="0" y="0"/>
            <a:chExt cx="1110294" cy="983404"/>
          </a:xfrm>
        </p:grpSpPr>
        <p:pic>
          <p:nvPicPr>
            <p:cNvPr id="57374" name="image93.png" descr="agile64"/>
            <p:cNvPicPr>
              <a:picLocks noChangeAspect="1" noChangeArrowheads="1"/>
            </p:cNvPicPr>
            <p:nvPr/>
          </p:nvPicPr>
          <p:blipFill>
            <a:blip r:embed="rId16" cstate="print">
              <a:extLst>
                <a:ext uri="{28A0092B-C50C-407E-A947-70E740481C1C}">
                  <a14:useLocalDpi xmlns:a14="http://schemas.microsoft.com/office/drawing/2010/main" xmlns="" val="0"/>
                </a:ext>
              </a:extLst>
            </a:blip>
            <a:srcRect/>
            <a:stretch>
              <a:fillRect/>
            </a:stretch>
          </p:blipFill>
          <p:spPr bwMode="auto">
            <a:xfrm>
              <a:off x="234580" y="178696"/>
              <a:ext cx="609705" cy="6099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5" name="hexagon.png"/>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0" y="0"/>
              <a:ext cx="1110295" cy="98340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grpSp>
        <p:nvGrpSpPr>
          <p:cNvPr id="298" name="Group 298"/>
          <p:cNvGrpSpPr>
            <a:grpSpLocks/>
          </p:cNvGrpSpPr>
          <p:nvPr/>
        </p:nvGrpSpPr>
        <p:grpSpPr bwMode="auto">
          <a:xfrm>
            <a:off x="7310438" y="3122613"/>
            <a:ext cx="777875" cy="688975"/>
            <a:chOff x="0" y="0"/>
            <a:chExt cx="1105016" cy="978728"/>
          </a:xfrm>
        </p:grpSpPr>
        <p:pic>
          <p:nvPicPr>
            <p:cNvPr id="57372" name="image78.png"/>
            <p:cNvPicPr>
              <a:picLocks noChangeAspect="1" noChangeArrowheads="1"/>
            </p:cNvPicPr>
            <p:nvPr/>
          </p:nvPicPr>
          <p:blipFill>
            <a:blip r:embed="rId17" cstate="print">
              <a:extLst>
                <a:ext uri="{28A0092B-C50C-407E-A947-70E740481C1C}">
                  <a14:useLocalDpi xmlns:a14="http://schemas.microsoft.com/office/drawing/2010/main" xmlns="" val="0"/>
                </a:ext>
              </a:extLst>
            </a:blip>
            <a:srcRect/>
            <a:stretch>
              <a:fillRect/>
            </a:stretch>
          </p:blipFill>
          <p:spPr bwMode="auto">
            <a:xfrm>
              <a:off x="219559" y="246398"/>
              <a:ext cx="609606" cy="4936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pic>
          <p:nvPicPr>
            <p:cNvPr id="57373" name="hexagongreen.png"/>
            <p:cNvPicPr>
              <a:picLocks noChangeAspect="1" noChangeArrowheads="1"/>
            </p:cNvPicPr>
            <p:nvPr/>
          </p:nvPicPr>
          <p:blipFill>
            <a:blip r:embed="rId15" cstate="print">
              <a:extLst>
                <a:ext uri="{28A0092B-C50C-407E-A947-70E740481C1C}">
                  <a14:useLocalDpi xmlns:a14="http://schemas.microsoft.com/office/drawing/2010/main" xmlns="" val="0"/>
                </a:ext>
              </a:extLst>
            </a:blip>
            <a:srcRect/>
            <a:stretch>
              <a:fillRect/>
            </a:stretch>
          </p:blipFill>
          <p:spPr bwMode="auto">
            <a:xfrm>
              <a:off x="0" y="0"/>
              <a:ext cx="1105017" cy="978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400000"/>
                  <a:headEnd/>
                  <a:tailEnd/>
                </a14:hiddenLine>
              </a:ext>
            </a:extLst>
          </p:spPr>
        </p:pic>
      </p:grpSp>
    </p:spTree>
    <p:extLst>
      <p:ext uri="{BB962C8B-B14F-4D97-AF65-F5344CB8AC3E}">
        <p14:creationId xmlns:p14="http://schemas.microsoft.com/office/powerpoint/2010/main" xmlns="" val="2035329095"/>
      </p:ext>
    </p:extLst>
  </p:cSld>
  <p:clrMapOvr>
    <a:masterClrMapping/>
  </p:clrMapOvr>
  <p:transition/>
  <p:timing>
    <p:tnLst>
      <p:par>
        <p:cTn id="1" dur="indefinite" restart="never" fill="hold" nodeType="tmRoot">
          <p:childTnLst>
            <p:seq concurrent="1" prevAc="none" nextAc="seek">
              <p:cTn id="2" dur="indefinite" fill="hold"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afterEffect">
                                  <p:stCondLst>
                                    <p:cond delay="0"/>
                                  </p:stCondLst>
                                  <p:iterate>
                                    <p:tmAbs val="0"/>
                                  </p:iterate>
                                  <p:childTnLst>
                                    <p:set>
                                      <p:cBhvr>
                                        <p:cTn id="6" fill="hold"/>
                                        <p:tgtEl>
                                          <p:spTgt spid="280"/>
                                        </p:tgtEl>
                                        <p:attrNameLst>
                                          <p:attrName>style.visibility</p:attrName>
                                        </p:attrNameLst>
                                      </p:cBhvr>
                                      <p:to>
                                        <p:strVal val="visible"/>
                                      </p:to>
                                    </p:set>
                                    <p:anim calcmode="lin" valueType="num">
                                      <p:cBhvr>
                                        <p:cTn id="7" dur="100" fill="hold"/>
                                        <p:tgtEl>
                                          <p:spTgt spid="280"/>
                                        </p:tgtEl>
                                        <p:attrNameLst>
                                          <p:attrName>ppt_w</p:attrName>
                                        </p:attrNameLst>
                                      </p:cBhvr>
                                      <p:tavLst>
                                        <p:tav tm="0">
                                          <p:val>
                                            <p:fltVal val="0"/>
                                          </p:val>
                                        </p:tav>
                                        <p:tav tm="100000">
                                          <p:val>
                                            <p:strVal val="#ppt_w"/>
                                          </p:val>
                                        </p:tav>
                                      </p:tavLst>
                                    </p:anim>
                                    <p:anim calcmode="lin" valueType="num">
                                      <p:cBhvr>
                                        <p:cTn id="8" dur="100" fill="hold"/>
                                        <p:tgtEl>
                                          <p:spTgt spid="280"/>
                                        </p:tgtEl>
                                        <p:attrNameLst>
                                          <p:attrName>ppt_h</p:attrName>
                                        </p:attrNameLst>
                                      </p:cBhvr>
                                      <p:tavLst>
                                        <p:tav tm="0">
                                          <p:val>
                                            <p:fltVal val="0"/>
                                          </p:val>
                                        </p:tav>
                                        <p:tav tm="100000">
                                          <p:val>
                                            <p:strVal val="#ppt_h"/>
                                          </p:val>
                                        </p:tav>
                                      </p:tavLst>
                                    </p:anim>
                                  </p:childTnLst>
                                </p:cTn>
                              </p:par>
                            </p:childTnLst>
                          </p:cTn>
                        </p:par>
                        <p:par>
                          <p:cTn id="9" fill="hold" nodeType="afterGroup">
                            <p:stCondLst>
                              <p:cond delay="100"/>
                            </p:stCondLst>
                            <p:childTnLst>
                              <p:par>
                                <p:cTn id="10" presetID="23" presetClass="entr" presetSubtype="16" fill="hold" grpId="0" nodeType="afterEffect">
                                  <p:stCondLst>
                                    <p:cond delay="0"/>
                                  </p:stCondLst>
                                  <p:iterate>
                                    <p:tmAbs val="0"/>
                                  </p:iterate>
                                  <p:childTnLst>
                                    <p:set>
                                      <p:cBhvr>
                                        <p:cTn id="11" fill="hold"/>
                                        <p:tgtEl>
                                          <p:spTgt spid="289"/>
                                        </p:tgtEl>
                                        <p:attrNameLst>
                                          <p:attrName>style.visibility</p:attrName>
                                        </p:attrNameLst>
                                      </p:cBhvr>
                                      <p:to>
                                        <p:strVal val="visible"/>
                                      </p:to>
                                    </p:set>
                                    <p:anim calcmode="lin" valueType="num">
                                      <p:cBhvr>
                                        <p:cTn id="12" dur="100" fill="hold"/>
                                        <p:tgtEl>
                                          <p:spTgt spid="289"/>
                                        </p:tgtEl>
                                        <p:attrNameLst>
                                          <p:attrName>ppt_w</p:attrName>
                                        </p:attrNameLst>
                                      </p:cBhvr>
                                      <p:tavLst>
                                        <p:tav tm="0">
                                          <p:val>
                                            <p:fltVal val="0"/>
                                          </p:val>
                                        </p:tav>
                                        <p:tav tm="100000">
                                          <p:val>
                                            <p:strVal val="#ppt_w"/>
                                          </p:val>
                                        </p:tav>
                                      </p:tavLst>
                                    </p:anim>
                                    <p:anim calcmode="lin" valueType="num">
                                      <p:cBhvr>
                                        <p:cTn id="13" dur="100" fill="hold"/>
                                        <p:tgtEl>
                                          <p:spTgt spid="289"/>
                                        </p:tgtEl>
                                        <p:attrNameLst>
                                          <p:attrName>ppt_h</p:attrName>
                                        </p:attrNameLst>
                                      </p:cBhvr>
                                      <p:tavLst>
                                        <p:tav tm="0">
                                          <p:val>
                                            <p:fltVal val="0"/>
                                          </p:val>
                                        </p:tav>
                                        <p:tav tm="100000">
                                          <p:val>
                                            <p:strVal val="#ppt_h"/>
                                          </p:val>
                                        </p:tav>
                                      </p:tavLst>
                                    </p:anim>
                                  </p:childTnLst>
                                </p:cTn>
                              </p:par>
                            </p:childTnLst>
                          </p:cTn>
                        </p:par>
                        <p:par>
                          <p:cTn id="14" fill="hold" nodeType="afterGroup">
                            <p:stCondLst>
                              <p:cond delay="200"/>
                            </p:stCondLst>
                            <p:childTnLst>
                              <p:par>
                                <p:cTn id="15" presetID="23" presetClass="entr" presetSubtype="16" fill="hold" grpId="0" nodeType="afterEffect">
                                  <p:stCondLst>
                                    <p:cond delay="0"/>
                                  </p:stCondLst>
                                  <p:iterate>
                                    <p:tmAbs val="0"/>
                                  </p:iterate>
                                  <p:childTnLst>
                                    <p:set>
                                      <p:cBhvr>
                                        <p:cTn id="16" fill="hold"/>
                                        <p:tgtEl>
                                          <p:spTgt spid="277"/>
                                        </p:tgtEl>
                                        <p:attrNameLst>
                                          <p:attrName>style.visibility</p:attrName>
                                        </p:attrNameLst>
                                      </p:cBhvr>
                                      <p:to>
                                        <p:strVal val="visible"/>
                                      </p:to>
                                    </p:set>
                                    <p:anim calcmode="lin" valueType="num">
                                      <p:cBhvr>
                                        <p:cTn id="17" dur="100" fill="hold"/>
                                        <p:tgtEl>
                                          <p:spTgt spid="277"/>
                                        </p:tgtEl>
                                        <p:attrNameLst>
                                          <p:attrName>ppt_w</p:attrName>
                                        </p:attrNameLst>
                                      </p:cBhvr>
                                      <p:tavLst>
                                        <p:tav tm="0">
                                          <p:val>
                                            <p:fltVal val="0"/>
                                          </p:val>
                                        </p:tav>
                                        <p:tav tm="100000">
                                          <p:val>
                                            <p:strVal val="#ppt_w"/>
                                          </p:val>
                                        </p:tav>
                                      </p:tavLst>
                                    </p:anim>
                                    <p:anim calcmode="lin" valueType="num">
                                      <p:cBhvr>
                                        <p:cTn id="18" dur="100" fill="hold"/>
                                        <p:tgtEl>
                                          <p:spTgt spid="277"/>
                                        </p:tgtEl>
                                        <p:attrNameLst>
                                          <p:attrName>ppt_h</p:attrName>
                                        </p:attrNameLst>
                                      </p:cBhvr>
                                      <p:tavLst>
                                        <p:tav tm="0">
                                          <p:val>
                                            <p:fltVal val="0"/>
                                          </p:val>
                                        </p:tav>
                                        <p:tav tm="100000">
                                          <p:val>
                                            <p:strVal val="#ppt_h"/>
                                          </p:val>
                                        </p:tav>
                                      </p:tavLst>
                                    </p:anim>
                                  </p:childTnLst>
                                </p:cTn>
                              </p:par>
                            </p:childTnLst>
                          </p:cTn>
                        </p:par>
                        <p:par>
                          <p:cTn id="19" fill="hold" nodeType="afterGroup">
                            <p:stCondLst>
                              <p:cond delay="300"/>
                            </p:stCondLst>
                            <p:childTnLst>
                              <p:par>
                                <p:cTn id="20" presetID="23" presetClass="entr" presetSubtype="16" fill="hold" grpId="0" nodeType="afterEffect">
                                  <p:stCondLst>
                                    <p:cond delay="0"/>
                                  </p:stCondLst>
                                  <p:iterate>
                                    <p:tmAbs val="0"/>
                                  </p:iterate>
                                  <p:childTnLst>
                                    <p:set>
                                      <p:cBhvr>
                                        <p:cTn id="21" fill="hold"/>
                                        <p:tgtEl>
                                          <p:spTgt spid="268"/>
                                        </p:tgtEl>
                                        <p:attrNameLst>
                                          <p:attrName>style.visibility</p:attrName>
                                        </p:attrNameLst>
                                      </p:cBhvr>
                                      <p:to>
                                        <p:strVal val="visible"/>
                                      </p:to>
                                    </p:set>
                                    <p:anim calcmode="lin" valueType="num">
                                      <p:cBhvr>
                                        <p:cTn id="22" dur="100" fill="hold"/>
                                        <p:tgtEl>
                                          <p:spTgt spid="268"/>
                                        </p:tgtEl>
                                        <p:attrNameLst>
                                          <p:attrName>ppt_w</p:attrName>
                                        </p:attrNameLst>
                                      </p:cBhvr>
                                      <p:tavLst>
                                        <p:tav tm="0">
                                          <p:val>
                                            <p:fltVal val="0"/>
                                          </p:val>
                                        </p:tav>
                                        <p:tav tm="100000">
                                          <p:val>
                                            <p:strVal val="#ppt_w"/>
                                          </p:val>
                                        </p:tav>
                                      </p:tavLst>
                                    </p:anim>
                                    <p:anim calcmode="lin" valueType="num">
                                      <p:cBhvr>
                                        <p:cTn id="23" dur="100" fill="hold"/>
                                        <p:tgtEl>
                                          <p:spTgt spid="268"/>
                                        </p:tgtEl>
                                        <p:attrNameLst>
                                          <p:attrName>ppt_h</p:attrName>
                                        </p:attrNameLst>
                                      </p:cBhvr>
                                      <p:tavLst>
                                        <p:tav tm="0">
                                          <p:val>
                                            <p:fltVal val="0"/>
                                          </p:val>
                                        </p:tav>
                                        <p:tav tm="100000">
                                          <p:val>
                                            <p:strVal val="#ppt_h"/>
                                          </p:val>
                                        </p:tav>
                                      </p:tavLst>
                                    </p:anim>
                                  </p:childTnLst>
                                </p:cTn>
                              </p:par>
                            </p:childTnLst>
                          </p:cTn>
                        </p:par>
                        <p:par>
                          <p:cTn id="24" fill="hold" nodeType="afterGroup">
                            <p:stCondLst>
                              <p:cond delay="400"/>
                            </p:stCondLst>
                            <p:childTnLst>
                              <p:par>
                                <p:cTn id="25" presetID="23" presetClass="entr" presetSubtype="16" fill="hold" grpId="0" nodeType="afterEffect">
                                  <p:stCondLst>
                                    <p:cond delay="0"/>
                                  </p:stCondLst>
                                  <p:iterate>
                                    <p:tmAbs val="0"/>
                                  </p:iterate>
                                  <p:childTnLst>
                                    <p:set>
                                      <p:cBhvr>
                                        <p:cTn id="26" fill="hold"/>
                                        <p:tgtEl>
                                          <p:spTgt spid="286"/>
                                        </p:tgtEl>
                                        <p:attrNameLst>
                                          <p:attrName>style.visibility</p:attrName>
                                        </p:attrNameLst>
                                      </p:cBhvr>
                                      <p:to>
                                        <p:strVal val="visible"/>
                                      </p:to>
                                    </p:set>
                                    <p:anim calcmode="lin" valueType="num">
                                      <p:cBhvr>
                                        <p:cTn id="27" dur="100" fill="hold"/>
                                        <p:tgtEl>
                                          <p:spTgt spid="286"/>
                                        </p:tgtEl>
                                        <p:attrNameLst>
                                          <p:attrName>ppt_w</p:attrName>
                                        </p:attrNameLst>
                                      </p:cBhvr>
                                      <p:tavLst>
                                        <p:tav tm="0">
                                          <p:val>
                                            <p:fltVal val="0"/>
                                          </p:val>
                                        </p:tav>
                                        <p:tav tm="100000">
                                          <p:val>
                                            <p:strVal val="#ppt_w"/>
                                          </p:val>
                                        </p:tav>
                                      </p:tavLst>
                                    </p:anim>
                                    <p:anim calcmode="lin" valueType="num">
                                      <p:cBhvr>
                                        <p:cTn id="28" dur="100" fill="hold"/>
                                        <p:tgtEl>
                                          <p:spTgt spid="286"/>
                                        </p:tgtEl>
                                        <p:attrNameLst>
                                          <p:attrName>ppt_h</p:attrName>
                                        </p:attrNameLst>
                                      </p:cBhvr>
                                      <p:tavLst>
                                        <p:tav tm="0">
                                          <p:val>
                                            <p:fltVal val="0"/>
                                          </p:val>
                                        </p:tav>
                                        <p:tav tm="100000">
                                          <p:val>
                                            <p:strVal val="#ppt_h"/>
                                          </p:val>
                                        </p:tav>
                                      </p:tavLst>
                                    </p:anim>
                                  </p:childTnLst>
                                </p:cTn>
                              </p:par>
                            </p:childTnLst>
                          </p:cTn>
                        </p:par>
                        <p:par>
                          <p:cTn id="29" fill="hold" nodeType="afterGroup">
                            <p:stCondLst>
                              <p:cond delay="500"/>
                            </p:stCondLst>
                            <p:childTnLst>
                              <p:par>
                                <p:cTn id="30" presetID="23" presetClass="entr" presetSubtype="16" fill="hold" grpId="0" nodeType="afterEffect">
                                  <p:stCondLst>
                                    <p:cond delay="0"/>
                                  </p:stCondLst>
                                  <p:iterate>
                                    <p:tmAbs val="0"/>
                                  </p:iterate>
                                  <p:childTnLst>
                                    <p:set>
                                      <p:cBhvr>
                                        <p:cTn id="31" fill="hold"/>
                                        <p:tgtEl>
                                          <p:spTgt spid="295"/>
                                        </p:tgtEl>
                                        <p:attrNameLst>
                                          <p:attrName>style.visibility</p:attrName>
                                        </p:attrNameLst>
                                      </p:cBhvr>
                                      <p:to>
                                        <p:strVal val="visible"/>
                                      </p:to>
                                    </p:set>
                                    <p:anim calcmode="lin" valueType="num">
                                      <p:cBhvr>
                                        <p:cTn id="32" dur="100" fill="hold"/>
                                        <p:tgtEl>
                                          <p:spTgt spid="295"/>
                                        </p:tgtEl>
                                        <p:attrNameLst>
                                          <p:attrName>ppt_w</p:attrName>
                                        </p:attrNameLst>
                                      </p:cBhvr>
                                      <p:tavLst>
                                        <p:tav tm="0">
                                          <p:val>
                                            <p:fltVal val="0"/>
                                          </p:val>
                                        </p:tav>
                                        <p:tav tm="100000">
                                          <p:val>
                                            <p:strVal val="#ppt_w"/>
                                          </p:val>
                                        </p:tav>
                                      </p:tavLst>
                                    </p:anim>
                                    <p:anim calcmode="lin" valueType="num">
                                      <p:cBhvr>
                                        <p:cTn id="33" dur="100" fill="hold"/>
                                        <p:tgtEl>
                                          <p:spTgt spid="295"/>
                                        </p:tgtEl>
                                        <p:attrNameLst>
                                          <p:attrName>ppt_h</p:attrName>
                                        </p:attrNameLst>
                                      </p:cBhvr>
                                      <p:tavLst>
                                        <p:tav tm="0">
                                          <p:val>
                                            <p:fltVal val="0"/>
                                          </p:val>
                                        </p:tav>
                                        <p:tav tm="100000">
                                          <p:val>
                                            <p:strVal val="#ppt_h"/>
                                          </p:val>
                                        </p:tav>
                                      </p:tavLst>
                                    </p:anim>
                                  </p:childTnLst>
                                </p:cTn>
                              </p:par>
                            </p:childTnLst>
                          </p:cTn>
                        </p:par>
                        <p:par>
                          <p:cTn id="34" fill="hold" nodeType="afterGroup">
                            <p:stCondLst>
                              <p:cond delay="600"/>
                            </p:stCondLst>
                            <p:childTnLst>
                              <p:par>
                                <p:cTn id="35" presetID="23" presetClass="entr" presetSubtype="16" fill="hold" grpId="0" nodeType="afterEffect">
                                  <p:stCondLst>
                                    <p:cond delay="0"/>
                                  </p:stCondLst>
                                  <p:iterate>
                                    <p:tmAbs val="0"/>
                                  </p:iterate>
                                  <p:childTnLst>
                                    <p:set>
                                      <p:cBhvr>
                                        <p:cTn id="36" fill="hold"/>
                                        <p:tgtEl>
                                          <p:spTgt spid="283"/>
                                        </p:tgtEl>
                                        <p:attrNameLst>
                                          <p:attrName>style.visibility</p:attrName>
                                        </p:attrNameLst>
                                      </p:cBhvr>
                                      <p:to>
                                        <p:strVal val="visible"/>
                                      </p:to>
                                    </p:set>
                                    <p:anim calcmode="lin" valueType="num">
                                      <p:cBhvr>
                                        <p:cTn id="37" dur="100" fill="hold"/>
                                        <p:tgtEl>
                                          <p:spTgt spid="283"/>
                                        </p:tgtEl>
                                        <p:attrNameLst>
                                          <p:attrName>ppt_w</p:attrName>
                                        </p:attrNameLst>
                                      </p:cBhvr>
                                      <p:tavLst>
                                        <p:tav tm="0">
                                          <p:val>
                                            <p:fltVal val="0"/>
                                          </p:val>
                                        </p:tav>
                                        <p:tav tm="100000">
                                          <p:val>
                                            <p:strVal val="#ppt_w"/>
                                          </p:val>
                                        </p:tav>
                                      </p:tavLst>
                                    </p:anim>
                                    <p:anim calcmode="lin" valueType="num">
                                      <p:cBhvr>
                                        <p:cTn id="38" dur="100" fill="hold"/>
                                        <p:tgtEl>
                                          <p:spTgt spid="283"/>
                                        </p:tgtEl>
                                        <p:attrNameLst>
                                          <p:attrName>ppt_h</p:attrName>
                                        </p:attrNameLst>
                                      </p:cBhvr>
                                      <p:tavLst>
                                        <p:tav tm="0">
                                          <p:val>
                                            <p:fltVal val="0"/>
                                          </p:val>
                                        </p:tav>
                                        <p:tav tm="100000">
                                          <p:val>
                                            <p:strVal val="#ppt_h"/>
                                          </p:val>
                                        </p:tav>
                                      </p:tavLst>
                                    </p:anim>
                                  </p:childTnLst>
                                </p:cTn>
                              </p:par>
                            </p:childTnLst>
                          </p:cTn>
                        </p:par>
                        <p:par>
                          <p:cTn id="39" fill="hold" nodeType="afterGroup">
                            <p:stCondLst>
                              <p:cond delay="700"/>
                            </p:stCondLst>
                            <p:childTnLst>
                              <p:par>
                                <p:cTn id="40" presetID="23" presetClass="entr" presetSubtype="16" fill="hold" grpId="0" nodeType="afterEffect">
                                  <p:stCondLst>
                                    <p:cond delay="0"/>
                                  </p:stCondLst>
                                  <p:iterate>
                                    <p:tmAbs val="0"/>
                                  </p:iterate>
                                  <p:childTnLst>
                                    <p:set>
                                      <p:cBhvr>
                                        <p:cTn id="41" fill="hold"/>
                                        <p:tgtEl>
                                          <p:spTgt spid="292"/>
                                        </p:tgtEl>
                                        <p:attrNameLst>
                                          <p:attrName>style.visibility</p:attrName>
                                        </p:attrNameLst>
                                      </p:cBhvr>
                                      <p:to>
                                        <p:strVal val="visible"/>
                                      </p:to>
                                    </p:set>
                                    <p:anim calcmode="lin" valueType="num">
                                      <p:cBhvr>
                                        <p:cTn id="42" dur="100" fill="hold"/>
                                        <p:tgtEl>
                                          <p:spTgt spid="292"/>
                                        </p:tgtEl>
                                        <p:attrNameLst>
                                          <p:attrName>ppt_w</p:attrName>
                                        </p:attrNameLst>
                                      </p:cBhvr>
                                      <p:tavLst>
                                        <p:tav tm="0">
                                          <p:val>
                                            <p:fltVal val="0"/>
                                          </p:val>
                                        </p:tav>
                                        <p:tav tm="100000">
                                          <p:val>
                                            <p:strVal val="#ppt_w"/>
                                          </p:val>
                                        </p:tav>
                                      </p:tavLst>
                                    </p:anim>
                                    <p:anim calcmode="lin" valueType="num">
                                      <p:cBhvr>
                                        <p:cTn id="43" dur="100" fill="hold"/>
                                        <p:tgtEl>
                                          <p:spTgt spid="292"/>
                                        </p:tgtEl>
                                        <p:attrNameLst>
                                          <p:attrName>ppt_h</p:attrName>
                                        </p:attrNameLst>
                                      </p:cBhvr>
                                      <p:tavLst>
                                        <p:tav tm="0">
                                          <p:val>
                                            <p:fltVal val="0"/>
                                          </p:val>
                                        </p:tav>
                                        <p:tav tm="100000">
                                          <p:val>
                                            <p:strVal val="#ppt_h"/>
                                          </p:val>
                                        </p:tav>
                                      </p:tavLst>
                                    </p:anim>
                                  </p:childTnLst>
                                </p:cTn>
                              </p:par>
                            </p:childTnLst>
                          </p:cTn>
                        </p:par>
                        <p:par>
                          <p:cTn id="44" fill="hold" nodeType="afterGroup">
                            <p:stCondLst>
                              <p:cond delay="800"/>
                            </p:stCondLst>
                            <p:childTnLst>
                              <p:par>
                                <p:cTn id="45" presetID="23" presetClass="entr" presetSubtype="16" fill="hold" grpId="0" nodeType="afterEffect">
                                  <p:stCondLst>
                                    <p:cond delay="0"/>
                                  </p:stCondLst>
                                  <p:iterate>
                                    <p:tmAbs val="0"/>
                                  </p:iterate>
                                  <p:childTnLst>
                                    <p:set>
                                      <p:cBhvr>
                                        <p:cTn id="46" fill="hold"/>
                                        <p:tgtEl>
                                          <p:spTgt spid="274"/>
                                        </p:tgtEl>
                                        <p:attrNameLst>
                                          <p:attrName>style.visibility</p:attrName>
                                        </p:attrNameLst>
                                      </p:cBhvr>
                                      <p:to>
                                        <p:strVal val="visible"/>
                                      </p:to>
                                    </p:set>
                                    <p:anim calcmode="lin" valueType="num">
                                      <p:cBhvr>
                                        <p:cTn id="47" dur="100" fill="hold"/>
                                        <p:tgtEl>
                                          <p:spTgt spid="274"/>
                                        </p:tgtEl>
                                        <p:attrNameLst>
                                          <p:attrName>ppt_w</p:attrName>
                                        </p:attrNameLst>
                                      </p:cBhvr>
                                      <p:tavLst>
                                        <p:tav tm="0">
                                          <p:val>
                                            <p:fltVal val="0"/>
                                          </p:val>
                                        </p:tav>
                                        <p:tav tm="100000">
                                          <p:val>
                                            <p:strVal val="#ppt_w"/>
                                          </p:val>
                                        </p:tav>
                                      </p:tavLst>
                                    </p:anim>
                                    <p:anim calcmode="lin" valueType="num">
                                      <p:cBhvr>
                                        <p:cTn id="48" dur="100" fill="hold"/>
                                        <p:tgtEl>
                                          <p:spTgt spid="274"/>
                                        </p:tgtEl>
                                        <p:attrNameLst>
                                          <p:attrName>ppt_h</p:attrName>
                                        </p:attrNameLst>
                                      </p:cBhvr>
                                      <p:tavLst>
                                        <p:tav tm="0">
                                          <p:val>
                                            <p:fltVal val="0"/>
                                          </p:val>
                                        </p:tav>
                                        <p:tav tm="100000">
                                          <p:val>
                                            <p:strVal val="#ppt_h"/>
                                          </p:val>
                                        </p:tav>
                                      </p:tavLst>
                                    </p:anim>
                                  </p:childTnLst>
                                </p:cTn>
                              </p:par>
                            </p:childTnLst>
                          </p:cTn>
                        </p:par>
                        <p:par>
                          <p:cTn id="49" fill="hold" nodeType="afterGroup">
                            <p:stCondLst>
                              <p:cond delay="900"/>
                            </p:stCondLst>
                            <p:childTnLst>
                              <p:par>
                                <p:cTn id="50" presetID="23" presetClass="entr" presetSubtype="16" fill="hold" grpId="0" nodeType="afterEffect">
                                  <p:stCondLst>
                                    <p:cond delay="0"/>
                                  </p:stCondLst>
                                  <p:iterate>
                                    <p:tmAbs val="0"/>
                                  </p:iterate>
                                  <p:childTnLst>
                                    <p:set>
                                      <p:cBhvr>
                                        <p:cTn id="51" fill="hold"/>
                                        <p:tgtEl>
                                          <p:spTgt spid="298"/>
                                        </p:tgtEl>
                                        <p:attrNameLst>
                                          <p:attrName>style.visibility</p:attrName>
                                        </p:attrNameLst>
                                      </p:cBhvr>
                                      <p:to>
                                        <p:strVal val="visible"/>
                                      </p:to>
                                    </p:set>
                                    <p:anim calcmode="lin" valueType="num">
                                      <p:cBhvr>
                                        <p:cTn id="52" dur="100" fill="hold"/>
                                        <p:tgtEl>
                                          <p:spTgt spid="298"/>
                                        </p:tgtEl>
                                        <p:attrNameLst>
                                          <p:attrName>ppt_w</p:attrName>
                                        </p:attrNameLst>
                                      </p:cBhvr>
                                      <p:tavLst>
                                        <p:tav tm="0">
                                          <p:val>
                                            <p:fltVal val="0"/>
                                          </p:val>
                                        </p:tav>
                                        <p:tav tm="100000">
                                          <p:val>
                                            <p:strVal val="#ppt_w"/>
                                          </p:val>
                                        </p:tav>
                                      </p:tavLst>
                                    </p:anim>
                                    <p:anim calcmode="lin" valueType="num">
                                      <p:cBhvr>
                                        <p:cTn id="53" dur="100" fill="hold"/>
                                        <p:tgtEl>
                                          <p:spTgt spid="298"/>
                                        </p:tgtEl>
                                        <p:attrNameLst>
                                          <p:attrName>ppt_h</p:attrName>
                                        </p:attrNameLst>
                                      </p:cBhvr>
                                      <p:tavLst>
                                        <p:tav tm="0">
                                          <p:val>
                                            <p:fltVal val="0"/>
                                          </p:val>
                                        </p:tav>
                                        <p:tav tm="100000">
                                          <p:val>
                                            <p:strVal val="#ppt_h"/>
                                          </p:val>
                                        </p:tav>
                                      </p:tavLst>
                                    </p:anim>
                                  </p:childTnLst>
                                </p:cTn>
                              </p:par>
                            </p:childTnLst>
                          </p:cTn>
                        </p:par>
                        <p:par>
                          <p:cTn id="54" fill="hold" nodeType="afterGroup">
                            <p:stCondLst>
                              <p:cond delay="1000"/>
                            </p:stCondLst>
                            <p:childTnLst>
                              <p:par>
                                <p:cTn id="55" presetID="23" presetClass="entr" presetSubtype="16" fill="hold" grpId="0" nodeType="afterEffect">
                                  <p:stCondLst>
                                    <p:cond delay="0"/>
                                  </p:stCondLst>
                                  <p:iterate>
                                    <p:tmAbs val="0"/>
                                  </p:iterate>
                                  <p:childTnLst>
                                    <p:set>
                                      <p:cBhvr>
                                        <p:cTn id="56" fill="hold"/>
                                        <p:tgtEl>
                                          <p:spTgt spid="271"/>
                                        </p:tgtEl>
                                        <p:attrNameLst>
                                          <p:attrName>style.visibility</p:attrName>
                                        </p:attrNameLst>
                                      </p:cBhvr>
                                      <p:to>
                                        <p:strVal val="visible"/>
                                      </p:to>
                                    </p:set>
                                    <p:anim calcmode="lin" valueType="num">
                                      <p:cBhvr>
                                        <p:cTn id="57" dur="100" fill="hold"/>
                                        <p:tgtEl>
                                          <p:spTgt spid="271"/>
                                        </p:tgtEl>
                                        <p:attrNameLst>
                                          <p:attrName>ppt_w</p:attrName>
                                        </p:attrNameLst>
                                      </p:cBhvr>
                                      <p:tavLst>
                                        <p:tav tm="0">
                                          <p:val>
                                            <p:fltVal val="0"/>
                                          </p:val>
                                        </p:tav>
                                        <p:tav tm="100000">
                                          <p:val>
                                            <p:strVal val="#ppt_w"/>
                                          </p:val>
                                        </p:tav>
                                      </p:tavLst>
                                    </p:anim>
                                    <p:anim calcmode="lin" valueType="num">
                                      <p:cBhvr>
                                        <p:cTn id="58" dur="100" fill="hold"/>
                                        <p:tgtEl>
                                          <p:spTgt spid="271"/>
                                        </p:tgtEl>
                                        <p:attrNameLst>
                                          <p:attrName>ppt_h</p:attrName>
                                        </p:attrNameLst>
                                      </p:cBhvr>
                                      <p:tavLst>
                                        <p:tav tm="0">
                                          <p:val>
                                            <p:fltVal val="0"/>
                                          </p:val>
                                        </p:tav>
                                        <p:tav tm="100000">
                                          <p:val>
                                            <p:strVal val="#ppt_h"/>
                                          </p:val>
                                        </p:tav>
                                      </p:tavLst>
                                    </p:anim>
                                  </p:childTnLst>
                                </p:cTn>
                              </p:par>
                            </p:childTnLst>
                          </p:cTn>
                        </p:par>
                        <p:par>
                          <p:cTn id="59" fill="hold" nodeType="afterGroup">
                            <p:stCondLst>
                              <p:cond delay="1100"/>
                            </p:stCondLst>
                            <p:childTnLst>
                              <p:par>
                                <p:cTn id="60" presetID="23" presetClass="entr" presetSubtype="16" fill="hold" grpId="0" nodeType="afterEffect">
                                  <p:stCondLst>
                                    <p:cond delay="100"/>
                                  </p:stCondLst>
                                  <p:iterate>
                                    <p:tmAbs val="0"/>
                                  </p:iterate>
                                  <p:childTnLst>
                                    <p:set>
                                      <p:cBhvr>
                                        <p:cTn id="61" fill="hold"/>
                                        <p:tgtEl>
                                          <p:spTgt spid="261"/>
                                        </p:tgtEl>
                                        <p:attrNameLst>
                                          <p:attrName>style.visibility</p:attrName>
                                        </p:attrNameLst>
                                      </p:cBhvr>
                                      <p:to>
                                        <p:strVal val="visible"/>
                                      </p:to>
                                    </p:set>
                                    <p:anim calcmode="lin" valueType="num">
                                      <p:cBhvr>
                                        <p:cTn id="62" dur="150" fill="hold"/>
                                        <p:tgtEl>
                                          <p:spTgt spid="261"/>
                                        </p:tgtEl>
                                        <p:attrNameLst>
                                          <p:attrName>ppt_w</p:attrName>
                                        </p:attrNameLst>
                                      </p:cBhvr>
                                      <p:tavLst>
                                        <p:tav tm="0">
                                          <p:val>
                                            <p:fltVal val="0"/>
                                          </p:val>
                                        </p:tav>
                                        <p:tav tm="100000">
                                          <p:val>
                                            <p:strVal val="#ppt_w"/>
                                          </p:val>
                                        </p:tav>
                                      </p:tavLst>
                                    </p:anim>
                                    <p:anim calcmode="lin" valueType="num">
                                      <p:cBhvr>
                                        <p:cTn id="63" dur="150" fill="hold"/>
                                        <p:tgtEl>
                                          <p:spTgt spid="261"/>
                                        </p:tgtEl>
                                        <p:attrNameLst>
                                          <p:attrName>ppt_h</p:attrName>
                                        </p:attrNameLst>
                                      </p:cBhvr>
                                      <p:tavLst>
                                        <p:tav tm="0">
                                          <p:val>
                                            <p:fltVal val="0"/>
                                          </p:val>
                                        </p:tav>
                                        <p:tav tm="100000">
                                          <p:val>
                                            <p:strVal val="#ppt_h"/>
                                          </p:val>
                                        </p:tav>
                                      </p:tavLst>
                                    </p:anim>
                                  </p:childTnLst>
                                </p:cTn>
                              </p:par>
                            </p:childTnLst>
                          </p:cTn>
                        </p:par>
                        <p:par>
                          <p:cTn id="64" fill="hold" nodeType="afterGroup">
                            <p:stCondLst>
                              <p:cond delay="1350"/>
                            </p:stCondLst>
                            <p:childTnLst>
                              <p:par>
                                <p:cTn id="65" presetID="22" presetClass="entr" presetSubtype="2" fill="hold" nodeType="afterEffect">
                                  <p:stCondLst>
                                    <p:cond delay="0"/>
                                  </p:stCondLst>
                                  <p:iterate>
                                    <p:tmAbs val="0"/>
                                  </p:iterate>
                                  <p:childTnLst>
                                    <p:set>
                                      <p:cBhvr>
                                        <p:cTn id="66" fill="hold"/>
                                        <p:tgtEl>
                                          <p:spTgt spid="299"/>
                                        </p:tgtEl>
                                        <p:attrNameLst>
                                          <p:attrName>style.visibility</p:attrName>
                                        </p:attrNameLst>
                                      </p:cBhvr>
                                      <p:to>
                                        <p:strVal val="visible"/>
                                      </p:to>
                                    </p:set>
                                    <p:animEffect transition="in" filter="wipe(right)">
                                      <p:cBhvr>
                                        <p:cTn id="67" dur="400"/>
                                        <p:tgtEl>
                                          <p:spTgt spid="299"/>
                                        </p:tgtEl>
                                      </p:cBhvr>
                                    </p:animEffect>
                                  </p:childTnLst>
                                </p:cTn>
                              </p:par>
                            </p:childTnLst>
                          </p:cTn>
                        </p:par>
                        <p:par>
                          <p:cTn id="68" fill="hold" nodeType="afterGroup">
                            <p:stCondLst>
                              <p:cond delay="1750"/>
                            </p:stCondLst>
                            <p:childTnLst>
                              <p:par>
                                <p:cTn id="69" presetID="22" presetClass="entr" presetSubtype="8" fill="hold" nodeType="afterEffect">
                                  <p:stCondLst>
                                    <p:cond delay="0"/>
                                  </p:stCondLst>
                                  <p:iterate>
                                    <p:tmAbs val="0"/>
                                  </p:iterate>
                                  <p:childTnLst>
                                    <p:set>
                                      <p:cBhvr>
                                        <p:cTn id="70" fill="hold"/>
                                        <p:tgtEl>
                                          <p:spTgt spid="300"/>
                                        </p:tgtEl>
                                        <p:attrNameLst>
                                          <p:attrName>style.visibility</p:attrName>
                                        </p:attrNameLst>
                                      </p:cBhvr>
                                      <p:to>
                                        <p:strVal val="visible"/>
                                      </p:to>
                                    </p:set>
                                    <p:animEffect transition="in" filter="wipe(left)">
                                      <p:cBhvr>
                                        <p:cTn id="71" dur="400"/>
                                        <p:tgtEl>
                                          <p:spTgt spid="300"/>
                                        </p:tgtEl>
                                      </p:cBhvr>
                                    </p:animEffect>
                                  </p:childTnLst>
                                </p:cTn>
                              </p:par>
                            </p:childTnLst>
                          </p:cTn>
                        </p:par>
                        <p:par>
                          <p:cTn id="72" fill="hold" nodeType="afterGroup">
                            <p:stCondLst>
                              <p:cond delay="2150"/>
                            </p:stCondLst>
                            <p:childTnLst>
                              <p:par>
                                <p:cTn id="73" presetID="23" presetClass="entr" presetSubtype="16" fill="hold" grpId="0" nodeType="afterEffect">
                                  <p:stCondLst>
                                    <p:cond delay="0"/>
                                  </p:stCondLst>
                                  <p:iterate>
                                    <p:tmAbs val="0"/>
                                  </p:iterate>
                                  <p:childTnLst>
                                    <p:set>
                                      <p:cBhvr>
                                        <p:cTn id="74" fill="hold"/>
                                        <p:tgtEl>
                                          <p:spTgt spid="262"/>
                                        </p:tgtEl>
                                        <p:attrNameLst>
                                          <p:attrName>style.visibility</p:attrName>
                                        </p:attrNameLst>
                                      </p:cBhvr>
                                      <p:to>
                                        <p:strVal val="visible"/>
                                      </p:to>
                                    </p:set>
                                    <p:anim calcmode="lin" valueType="num">
                                      <p:cBhvr>
                                        <p:cTn id="75" dur="150" fill="hold"/>
                                        <p:tgtEl>
                                          <p:spTgt spid="262"/>
                                        </p:tgtEl>
                                        <p:attrNameLst>
                                          <p:attrName>ppt_w</p:attrName>
                                        </p:attrNameLst>
                                      </p:cBhvr>
                                      <p:tavLst>
                                        <p:tav tm="0">
                                          <p:val>
                                            <p:fltVal val="0"/>
                                          </p:val>
                                        </p:tav>
                                        <p:tav tm="100000">
                                          <p:val>
                                            <p:strVal val="#ppt_w"/>
                                          </p:val>
                                        </p:tav>
                                      </p:tavLst>
                                    </p:anim>
                                    <p:anim calcmode="lin" valueType="num">
                                      <p:cBhvr>
                                        <p:cTn id="76" dur="150" fill="hold"/>
                                        <p:tgtEl>
                                          <p:spTgt spid="262"/>
                                        </p:tgtEl>
                                        <p:attrNameLst>
                                          <p:attrName>ppt_h</p:attrName>
                                        </p:attrNameLst>
                                      </p:cBhvr>
                                      <p:tavLst>
                                        <p:tav tm="0">
                                          <p:val>
                                            <p:fltVal val="0"/>
                                          </p:val>
                                        </p:tav>
                                        <p:tav tm="100000">
                                          <p:val>
                                            <p:strVal val="#ppt_h"/>
                                          </p:val>
                                        </p:tav>
                                      </p:tavLst>
                                    </p:anim>
                                  </p:childTnLst>
                                </p:cTn>
                              </p:par>
                            </p:childTnLst>
                          </p:cTn>
                        </p:par>
                        <p:par>
                          <p:cTn id="77" fill="hold" nodeType="afterGroup">
                            <p:stCondLst>
                              <p:cond delay="2300"/>
                            </p:stCondLst>
                            <p:childTnLst>
                              <p:par>
                                <p:cTn id="78" presetID="22" presetClass="entr" presetSubtype="2" fill="hold" nodeType="afterEffect">
                                  <p:stCondLst>
                                    <p:cond delay="0"/>
                                  </p:stCondLst>
                                  <p:iterate>
                                    <p:tmAbs val="0"/>
                                  </p:iterate>
                                  <p:childTnLst>
                                    <p:set>
                                      <p:cBhvr>
                                        <p:cTn id="79" fill="hold"/>
                                        <p:tgtEl>
                                          <p:spTgt spid="301"/>
                                        </p:tgtEl>
                                        <p:attrNameLst>
                                          <p:attrName>style.visibility</p:attrName>
                                        </p:attrNameLst>
                                      </p:cBhvr>
                                      <p:to>
                                        <p:strVal val="visible"/>
                                      </p:to>
                                    </p:set>
                                    <p:animEffect transition="in" filter="wipe(right)">
                                      <p:cBhvr>
                                        <p:cTn id="80" dur="400"/>
                                        <p:tgtEl>
                                          <p:spTgt spid="301"/>
                                        </p:tgtEl>
                                      </p:cBhvr>
                                    </p:animEffect>
                                  </p:childTnLst>
                                </p:cTn>
                              </p:par>
                            </p:childTnLst>
                          </p:cTn>
                        </p:par>
                        <p:par>
                          <p:cTn id="81" fill="hold" nodeType="afterGroup">
                            <p:stCondLst>
                              <p:cond delay="2700"/>
                            </p:stCondLst>
                            <p:childTnLst>
                              <p:par>
                                <p:cTn id="82" presetID="22" presetClass="entr" presetSubtype="8" fill="hold" nodeType="afterEffect">
                                  <p:stCondLst>
                                    <p:cond delay="0"/>
                                  </p:stCondLst>
                                  <p:iterate>
                                    <p:tmAbs val="0"/>
                                  </p:iterate>
                                  <p:childTnLst>
                                    <p:set>
                                      <p:cBhvr>
                                        <p:cTn id="83" fill="hold"/>
                                        <p:tgtEl>
                                          <p:spTgt spid="302"/>
                                        </p:tgtEl>
                                        <p:attrNameLst>
                                          <p:attrName>style.visibility</p:attrName>
                                        </p:attrNameLst>
                                      </p:cBhvr>
                                      <p:to>
                                        <p:strVal val="visible"/>
                                      </p:to>
                                    </p:set>
                                    <p:animEffect transition="in" filter="wipe(left)">
                                      <p:cBhvr>
                                        <p:cTn id="84" dur="400"/>
                                        <p:tgtEl>
                                          <p:spTgt spid="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 grpId="0" animBg="1" advAuto="0"/>
      <p:bldP spid="262" grpId="0" animBg="1" advAuto="0"/>
      <p:bldP spid="268" grpId="0" animBg="1" advAuto="0"/>
      <p:bldP spid="271" grpId="0" animBg="1" advAuto="0"/>
      <p:bldP spid="274" grpId="0" animBg="1" advAuto="0"/>
      <p:bldP spid="277" grpId="0" animBg="1" advAuto="0"/>
      <p:bldP spid="280" grpId="0" animBg="1" advAuto="0"/>
      <p:bldP spid="283" grpId="0" animBg="1" advAuto="0"/>
      <p:bldP spid="286" grpId="0" animBg="1" advAuto="0"/>
      <p:bldP spid="289" grpId="0" animBg="1" advAuto="0"/>
      <p:bldP spid="292" grpId="0" animBg="1" advAuto="0"/>
      <p:bldP spid="295" grpId="0" animBg="1" advAuto="0"/>
      <p:bldP spid="298" grpId="0"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588" y="587375"/>
            <a:ext cx="8545512" cy="555625"/>
          </a:xfrm>
        </p:spPr>
        <p:txBody>
          <a:bodyPr/>
          <a:lstStyle/>
          <a:p>
            <a:r>
              <a:rPr lang="en-US" sz="2400" dirty="0" smtClean="0">
                <a:solidFill>
                  <a:srgbClr val="0070C0"/>
                </a:solidFill>
              </a:rPr>
              <a:t>Bookmarks &amp; References</a:t>
            </a:r>
            <a:endParaRPr lang="en-US" sz="2400" dirty="0">
              <a:solidFill>
                <a:srgbClr val="0070C0"/>
              </a:solidFill>
            </a:endParaRPr>
          </a:p>
        </p:txBody>
      </p:sp>
      <p:sp>
        <p:nvSpPr>
          <p:cNvPr id="4" name="Rectangle 3"/>
          <p:cNvSpPr/>
          <p:nvPr/>
        </p:nvSpPr>
        <p:spPr>
          <a:xfrm>
            <a:off x="457200" y="948690"/>
            <a:ext cx="8458200" cy="5909310"/>
          </a:xfrm>
          <a:prstGeom prst="rect">
            <a:avLst/>
          </a:prstGeom>
        </p:spPr>
        <p:txBody>
          <a:bodyPr wrap="square">
            <a:spAutoFit/>
          </a:bodyPr>
          <a:lstStyle/>
          <a:p>
            <a:r>
              <a:rPr lang="en-US" u="sng" dirty="0">
                <a:hlinkClick r:id="rId3"/>
              </a:rPr>
              <a:t>http://www.ibm.com/cloud-computing/us/en</a:t>
            </a:r>
            <a:r>
              <a:rPr lang="en-US" u="sng" dirty="0" smtClean="0">
                <a:hlinkClick r:id="rId3"/>
              </a:rPr>
              <a:t>/</a:t>
            </a:r>
            <a:endParaRPr lang="en-US" u="sng" dirty="0" smtClean="0"/>
          </a:p>
          <a:p>
            <a:endParaRPr lang="en-US" dirty="0"/>
          </a:p>
          <a:p>
            <a:r>
              <a:rPr lang="en-US" u="sng" dirty="0">
                <a:hlinkClick r:id="rId4"/>
              </a:rPr>
              <a:t>http://</a:t>
            </a:r>
            <a:r>
              <a:rPr lang="en-US" u="sng" dirty="0" smtClean="0">
                <a:hlinkClick r:id="rId4"/>
              </a:rPr>
              <a:t>www.ibm.com/cloud-computing/us/en/iaas.html</a:t>
            </a:r>
            <a:endParaRPr lang="en-US" u="sng" dirty="0" smtClean="0"/>
          </a:p>
          <a:p>
            <a:endParaRPr lang="en-US" dirty="0"/>
          </a:p>
          <a:p>
            <a:r>
              <a:rPr lang="en-US" u="sng" dirty="0">
                <a:hlinkClick r:id="rId5"/>
              </a:rPr>
              <a:t>http://</a:t>
            </a:r>
            <a:r>
              <a:rPr lang="en-US" u="sng" dirty="0" smtClean="0">
                <a:hlinkClick r:id="rId5"/>
              </a:rPr>
              <a:t>www.ibm.com/cloud-computing/us/en/paas.html</a:t>
            </a:r>
            <a:endParaRPr lang="en-US" u="sng" dirty="0" smtClean="0"/>
          </a:p>
          <a:p>
            <a:endParaRPr lang="en-US" dirty="0"/>
          </a:p>
          <a:p>
            <a:r>
              <a:rPr lang="en-US" u="sng" dirty="0">
                <a:hlinkClick r:id="rId6"/>
              </a:rPr>
              <a:t>http://</a:t>
            </a:r>
            <a:r>
              <a:rPr lang="en-US" u="sng" dirty="0" smtClean="0">
                <a:hlinkClick r:id="rId6"/>
              </a:rPr>
              <a:t>www.ibm.com/cloud-computing/us/en/saas.html</a:t>
            </a:r>
            <a:endParaRPr lang="en-US" u="sng" dirty="0" smtClean="0"/>
          </a:p>
          <a:p>
            <a:endParaRPr lang="en-US" dirty="0"/>
          </a:p>
          <a:p>
            <a:r>
              <a:rPr lang="en-US" u="sng" dirty="0">
                <a:hlinkClick r:id="rId7"/>
              </a:rPr>
              <a:t>http://www.ibm.com/developerworks/cloud/library/cl-open-architecture</a:t>
            </a:r>
            <a:r>
              <a:rPr lang="en-US" u="sng" dirty="0" smtClean="0">
                <a:hlinkClick r:id="rId7"/>
              </a:rPr>
              <a:t>/</a:t>
            </a:r>
            <a:endParaRPr lang="en-US" u="sng" dirty="0" smtClean="0"/>
          </a:p>
          <a:p>
            <a:endParaRPr lang="en-US" dirty="0"/>
          </a:p>
          <a:p>
            <a:r>
              <a:rPr lang="en-US" u="sng" dirty="0">
                <a:hlinkClick r:id="rId8"/>
              </a:rPr>
              <a:t>http://www.ibm.com/cloud-computing/us/en/open-cloud-essentials.html</a:t>
            </a:r>
            <a:endParaRPr lang="en-US" dirty="0"/>
          </a:p>
          <a:p>
            <a:endParaRPr lang="en-US" u="sng" dirty="0" smtClean="0">
              <a:hlinkClick r:id="rId9"/>
            </a:endParaRPr>
          </a:p>
          <a:p>
            <a:r>
              <a:rPr lang="en-US" u="sng" dirty="0" smtClean="0">
                <a:hlinkClick r:id="rId9"/>
              </a:rPr>
              <a:t>https</a:t>
            </a:r>
            <a:r>
              <a:rPr lang="en-US" u="sng" dirty="0">
                <a:hlinkClick r:id="rId9"/>
              </a:rPr>
              <a:t>://</a:t>
            </a:r>
            <a:r>
              <a:rPr lang="en-US" u="sng" dirty="0" smtClean="0">
                <a:hlinkClick r:id="rId9"/>
              </a:rPr>
              <a:t>www.bluemix.net</a:t>
            </a:r>
            <a:endParaRPr lang="en-US" u="sng" dirty="0" smtClean="0"/>
          </a:p>
          <a:p>
            <a:endParaRPr lang="en-US" dirty="0"/>
          </a:p>
          <a:p>
            <a:r>
              <a:rPr lang="en-US" u="sng" dirty="0">
                <a:hlinkClick r:id="rId10"/>
              </a:rPr>
              <a:t>https://www.ng.bluemix.net/docs/#</a:t>
            </a:r>
            <a:r>
              <a:rPr lang="en-US" u="sng" dirty="0" smtClean="0">
                <a:hlinkClick r:id="rId10"/>
              </a:rPr>
              <a:t>starters/index-gentopic4.html#genTopProcId5</a:t>
            </a:r>
            <a:endParaRPr lang="en-US" u="sng" dirty="0" smtClean="0"/>
          </a:p>
          <a:p>
            <a:endParaRPr lang="en-US" dirty="0"/>
          </a:p>
          <a:p>
            <a:r>
              <a:rPr lang="en-US" dirty="0">
                <a:hlinkClick r:id="rId10"/>
              </a:rPr>
              <a:t>https://www.ng.bluemix.net/docs/#</a:t>
            </a:r>
            <a:r>
              <a:rPr lang="en-US" dirty="0" smtClean="0">
                <a:hlinkClick r:id="rId10"/>
              </a:rPr>
              <a:t>starters/index-gentopic3.html#container_ov</a:t>
            </a:r>
            <a:endParaRPr lang="en-US" dirty="0" smtClean="0"/>
          </a:p>
          <a:p>
            <a:endParaRPr lang="en-US" dirty="0"/>
          </a:p>
          <a:p>
            <a:r>
              <a:rPr lang="en-US" u="sng" dirty="0">
                <a:hlinkClick r:id="rId11"/>
              </a:rPr>
              <a:t>https://www.docker.com</a:t>
            </a:r>
            <a:r>
              <a:rPr lang="en-US" u="sng" dirty="0" smtClean="0">
                <a:hlinkClick r:id="rId11"/>
              </a:rPr>
              <a:t>/</a:t>
            </a:r>
            <a:endParaRPr lang="en-US" u="sng" dirty="0" smtClean="0"/>
          </a:p>
          <a:p>
            <a:endParaRPr lang="en-US" dirty="0"/>
          </a:p>
          <a:p>
            <a:r>
              <a:rPr lang="en-US" u="sng" dirty="0">
                <a:hlinkClick r:id="rId12"/>
              </a:rPr>
              <a:t>https://www.clouddoundry.org/</a:t>
            </a:r>
            <a:endParaRPr lang="en-US" dirty="0"/>
          </a:p>
        </p:txBody>
      </p:sp>
    </p:spTree>
    <p:extLst>
      <p:ext uri="{BB962C8B-B14F-4D97-AF65-F5344CB8AC3E}">
        <p14:creationId xmlns:p14="http://schemas.microsoft.com/office/powerpoint/2010/main" xmlns="" val="1273137005"/>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640080" y="1874520"/>
            <a:ext cx="7772400" cy="332398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rtl="0" eaLnBrk="1" fontAlgn="base" hangingPunct="1">
              <a:lnSpc>
                <a:spcPct val="90000"/>
              </a:lnSpc>
              <a:spcBef>
                <a:spcPct val="0"/>
              </a:spcBef>
              <a:spcAft>
                <a:spcPct val="0"/>
              </a:spcAft>
              <a:defRPr sz="4000" b="1" cap="all">
                <a:solidFill>
                  <a:srgbClr val="008ABF"/>
                </a:solidFill>
                <a:latin typeface="+mj-lt"/>
                <a:ea typeface="+mj-ea"/>
                <a:cs typeface="+mj-cs"/>
              </a:defRPr>
            </a:lvl1pPr>
            <a:lvl2pPr algn="l" rtl="0" eaLnBrk="1" fontAlgn="base" hangingPunct="1">
              <a:lnSpc>
                <a:spcPct val="90000"/>
              </a:lnSpc>
              <a:spcBef>
                <a:spcPct val="0"/>
              </a:spcBef>
              <a:spcAft>
                <a:spcPct val="0"/>
              </a:spcAft>
              <a:defRPr sz="2400">
                <a:solidFill>
                  <a:srgbClr val="008ABF"/>
                </a:solidFill>
                <a:latin typeface="Arial" pitchFamily="34" charset="0"/>
              </a:defRPr>
            </a:lvl2pPr>
            <a:lvl3pPr algn="l" rtl="0" eaLnBrk="1" fontAlgn="base" hangingPunct="1">
              <a:lnSpc>
                <a:spcPct val="90000"/>
              </a:lnSpc>
              <a:spcBef>
                <a:spcPct val="0"/>
              </a:spcBef>
              <a:spcAft>
                <a:spcPct val="0"/>
              </a:spcAft>
              <a:defRPr sz="2400">
                <a:solidFill>
                  <a:srgbClr val="008ABF"/>
                </a:solidFill>
                <a:latin typeface="Arial" pitchFamily="34" charset="0"/>
              </a:defRPr>
            </a:lvl3pPr>
            <a:lvl4pPr algn="l" rtl="0" eaLnBrk="1" fontAlgn="base" hangingPunct="1">
              <a:lnSpc>
                <a:spcPct val="90000"/>
              </a:lnSpc>
              <a:spcBef>
                <a:spcPct val="0"/>
              </a:spcBef>
              <a:spcAft>
                <a:spcPct val="0"/>
              </a:spcAft>
              <a:defRPr sz="2400">
                <a:solidFill>
                  <a:srgbClr val="008ABF"/>
                </a:solidFill>
                <a:latin typeface="Arial" pitchFamily="34" charset="0"/>
              </a:defRPr>
            </a:lvl4pPr>
            <a:lvl5pPr algn="l" rtl="0" eaLnBrk="1" fontAlgn="base" hangingPunct="1">
              <a:lnSpc>
                <a:spcPct val="90000"/>
              </a:lnSpc>
              <a:spcBef>
                <a:spcPct val="0"/>
              </a:spcBef>
              <a:spcAft>
                <a:spcPct val="0"/>
              </a:spcAft>
              <a:defRPr sz="2400">
                <a:solidFill>
                  <a:srgbClr val="008ABF"/>
                </a:solidFill>
                <a:latin typeface="Arial" pitchFamily="34" charset="0"/>
              </a:defRPr>
            </a:lvl5pPr>
            <a:lvl6pPr marL="457082" algn="l" rtl="0" eaLnBrk="1" fontAlgn="base" hangingPunct="1">
              <a:lnSpc>
                <a:spcPct val="90000"/>
              </a:lnSpc>
              <a:spcBef>
                <a:spcPct val="0"/>
              </a:spcBef>
              <a:spcAft>
                <a:spcPct val="0"/>
              </a:spcAft>
              <a:defRPr sz="2600">
                <a:solidFill>
                  <a:schemeClr val="hlink"/>
                </a:solidFill>
                <a:latin typeface="Arial" pitchFamily="34" charset="0"/>
              </a:defRPr>
            </a:lvl6pPr>
            <a:lvl7pPr marL="914165" algn="l" rtl="0" eaLnBrk="1" fontAlgn="base" hangingPunct="1">
              <a:lnSpc>
                <a:spcPct val="90000"/>
              </a:lnSpc>
              <a:spcBef>
                <a:spcPct val="0"/>
              </a:spcBef>
              <a:spcAft>
                <a:spcPct val="0"/>
              </a:spcAft>
              <a:defRPr sz="2600">
                <a:solidFill>
                  <a:schemeClr val="hlink"/>
                </a:solidFill>
                <a:latin typeface="Arial" pitchFamily="34" charset="0"/>
              </a:defRPr>
            </a:lvl7pPr>
            <a:lvl8pPr marL="1371250" algn="l" rtl="0" eaLnBrk="1" fontAlgn="base" hangingPunct="1">
              <a:lnSpc>
                <a:spcPct val="90000"/>
              </a:lnSpc>
              <a:spcBef>
                <a:spcPct val="0"/>
              </a:spcBef>
              <a:spcAft>
                <a:spcPct val="0"/>
              </a:spcAft>
              <a:defRPr sz="2600">
                <a:solidFill>
                  <a:schemeClr val="hlink"/>
                </a:solidFill>
                <a:latin typeface="Arial" pitchFamily="34" charset="0"/>
              </a:defRPr>
            </a:lvl8pPr>
            <a:lvl9pPr marL="1828332" algn="l" rtl="0" eaLnBrk="1" fontAlgn="base" hangingPunct="1">
              <a:lnSpc>
                <a:spcPct val="90000"/>
              </a:lnSpc>
              <a:spcBef>
                <a:spcPct val="0"/>
              </a:spcBef>
              <a:spcAft>
                <a:spcPct val="0"/>
              </a:spcAft>
              <a:defRPr sz="2600">
                <a:solidFill>
                  <a:schemeClr val="hlink"/>
                </a:solidFill>
                <a:latin typeface="Arial" pitchFamily="34" charset="0"/>
              </a:defRPr>
            </a:lvl9pPr>
          </a:lstStyle>
          <a:p>
            <a:pPr marL="0" marR="0" lvl="0" indent="0" algn="ctr" defTabSz="914400" rtl="0" eaLnBrk="1" fontAlgn="base" latinLnBrk="0" hangingPunct="1">
              <a:lnSpc>
                <a:spcPct val="90000"/>
              </a:lnSpc>
              <a:spcBef>
                <a:spcPct val="0"/>
              </a:spcBef>
              <a:spcAft>
                <a:spcPct val="0"/>
              </a:spcAft>
              <a:buClrTx/>
              <a:buSzTx/>
              <a:buFontTx/>
              <a:buNone/>
              <a:tabLst/>
              <a:defRPr/>
            </a:pPr>
            <a:r>
              <a:rPr kumimoji="0" lang="en-US" sz="4000" b="1" i="0" u="none" strike="noStrike" kern="0" cap="all" spc="0" normalizeH="0" baseline="0" noProof="0" dirty="0" smtClean="0">
                <a:ln>
                  <a:noFill/>
                </a:ln>
                <a:solidFill>
                  <a:srgbClr val="008ABF"/>
                </a:solidFill>
                <a:effectLst/>
                <a:uLnTx/>
                <a:uFillTx/>
                <a:latin typeface="Arial"/>
                <a:ea typeface="+mj-ea"/>
                <a:cs typeface="+mj-cs"/>
                <a:hlinkClick r:id="rId3"/>
              </a:rPr>
              <a:t>QUESTIONS?</a:t>
            </a:r>
            <a:endParaRPr kumimoji="0" lang="en-US" sz="4000" b="1" i="0" u="none" strike="noStrike" kern="0" cap="all" spc="0" normalizeH="0" baseline="0" noProof="0" dirty="0" smtClean="0">
              <a:ln>
                <a:noFill/>
              </a:ln>
              <a:solidFill>
                <a:srgbClr val="008ABF"/>
              </a:solidFill>
              <a:effectLst/>
              <a:uLnTx/>
              <a:uFillTx/>
              <a:latin typeface="Arial"/>
              <a:ea typeface="+mj-ea"/>
              <a:cs typeface="+mj-cs"/>
            </a:endParaRPr>
          </a:p>
          <a:p>
            <a:pPr marL="0" marR="0" lvl="0" indent="0" algn="ctr" defTabSz="914400" rtl="0" eaLnBrk="1" fontAlgn="base" latinLnBrk="0" hangingPunct="1">
              <a:lnSpc>
                <a:spcPct val="90000"/>
              </a:lnSpc>
              <a:spcBef>
                <a:spcPct val="0"/>
              </a:spcBef>
              <a:spcAft>
                <a:spcPct val="0"/>
              </a:spcAft>
              <a:buClrTx/>
              <a:buSzTx/>
              <a:buFontTx/>
              <a:buNone/>
              <a:tabLst/>
              <a:defRPr/>
            </a:pPr>
            <a:endParaRPr kumimoji="0" lang="en-US" sz="4000" b="1" i="0" u="none" strike="noStrike" kern="0" cap="all" spc="0" normalizeH="0" baseline="0" noProof="0" dirty="0" smtClean="0">
              <a:ln>
                <a:noFill/>
              </a:ln>
              <a:solidFill>
                <a:srgbClr val="008ABF"/>
              </a:solidFill>
              <a:effectLst/>
              <a:uLnTx/>
              <a:uFillTx/>
              <a:latin typeface="Arial"/>
              <a:ea typeface="+mj-ea"/>
              <a:cs typeface="+mj-cs"/>
            </a:endParaRPr>
          </a:p>
          <a:p>
            <a:pPr lvl="0" algn="ctr">
              <a:defRPr/>
            </a:pPr>
            <a:r>
              <a:rPr lang="en-US" b="0" cap="none" dirty="0" smtClean="0"/>
              <a:t>https://ibm.biz/BdXGBL</a:t>
            </a:r>
            <a:endParaRPr lang="en-US" cap="none" dirty="0"/>
          </a:p>
          <a:p>
            <a:pPr lvl="0" algn="ctr">
              <a:defRPr/>
            </a:pPr>
            <a:r>
              <a:rPr lang="en-US" b="0" kern="0" cap="none" dirty="0">
                <a:solidFill>
                  <a:schemeClr val="tx1"/>
                </a:solidFill>
                <a:latin typeface="Arial"/>
              </a:rPr>
              <a:t>G</a:t>
            </a:r>
            <a:r>
              <a:rPr kumimoji="0" lang="en-US" sz="4000" b="0" i="0" u="none" strike="noStrike" kern="0" cap="none" spc="0" normalizeH="0" noProof="0" dirty="0" smtClean="0">
                <a:ln>
                  <a:noFill/>
                </a:ln>
                <a:solidFill>
                  <a:schemeClr val="tx1"/>
                </a:solidFill>
                <a:effectLst/>
                <a:uLnTx/>
                <a:uFillTx/>
                <a:latin typeface="Arial"/>
                <a:ea typeface="+mj-ea"/>
                <a:cs typeface="+mj-cs"/>
              </a:rPr>
              <a:t>et help from Bluemix development team and Stack Overflow community</a:t>
            </a:r>
            <a:endParaRPr kumimoji="0" lang="en-US" sz="4000" b="0" i="0" u="none" strike="noStrike" kern="0" cap="none" spc="0" normalizeH="0" noProof="0" dirty="0">
              <a:ln>
                <a:noFill/>
              </a:ln>
              <a:solidFill>
                <a:schemeClr val="tx1"/>
              </a:solidFill>
              <a:effectLst/>
              <a:uLnTx/>
              <a:uFillTx/>
              <a:latin typeface="Arial"/>
              <a:ea typeface="+mj-ea"/>
              <a:cs typeface="+mj-cs"/>
            </a:endParaRPr>
          </a:p>
        </p:txBody>
      </p:sp>
    </p:spTree>
    <p:extLst>
      <p:ext uri="{BB962C8B-B14F-4D97-AF65-F5344CB8AC3E}">
        <p14:creationId xmlns:p14="http://schemas.microsoft.com/office/powerpoint/2010/main" xmlns="" val="482294053"/>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IBM Cloud 2015">
  <a:themeElements>
    <a:clrScheme name="IBM Cloud 2105">
      <a:dk1>
        <a:sysClr val="windowText" lastClr="000000"/>
      </a:dk1>
      <a:lt1>
        <a:sysClr val="window" lastClr="FFFFFF"/>
      </a:lt1>
      <a:dk2>
        <a:srgbClr val="085571"/>
      </a:dk2>
      <a:lt2>
        <a:srgbClr val="81CDF2"/>
      </a:lt2>
      <a:accent1>
        <a:srgbClr val="009EE2"/>
      </a:accent1>
      <a:accent2>
        <a:srgbClr val="1174B9"/>
      </a:accent2>
      <a:accent3>
        <a:srgbClr val="00A39C"/>
      </a:accent3>
      <a:accent4>
        <a:srgbClr val="00706E"/>
      </a:accent4>
      <a:accent5>
        <a:srgbClr val="611773"/>
      </a:accent5>
      <a:accent6>
        <a:srgbClr val="340F51"/>
      </a:accent6>
      <a:hlink>
        <a:srgbClr val="0000FF"/>
      </a:hlink>
      <a:folHlink>
        <a:srgbClr val="800080"/>
      </a:folHlink>
    </a:clrScheme>
    <a:fontScheme name="IBM Cloud 2015">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8444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kern="0" spc="-30" dirty="0" smtClean="0">
            <a:solidFill>
              <a:srgbClr val="FFFFFF"/>
            </a:solidFill>
            <a:latin typeface="Arial"/>
            <a:cs typeface="Arial"/>
          </a:defRPr>
        </a:defPPr>
      </a:lstStyle>
    </a:txDef>
  </a:objectDefaults>
  <a:extraClrSchemeLst/>
</a:theme>
</file>

<file path=ppt/theme/theme2.xml><?xml version="1.0" encoding="utf-8"?>
<a:theme xmlns:a="http://schemas.openxmlformats.org/drawingml/2006/main" name="IBM Cloud sub">
  <a:themeElements>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fontScheme name="617-01_SP_Business&amp;IT_Services_Sourcing_Blk_Template_R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17-01_SP_Business&amp;IT_Services_Sourcing_Blk_Template_R3 1">
        <a:dk1>
          <a:srgbClr val="000000"/>
        </a:dk1>
        <a:lt1>
          <a:srgbClr val="FFFFFF"/>
        </a:lt1>
        <a:dk2>
          <a:srgbClr val="000000"/>
        </a:dk2>
        <a:lt2>
          <a:srgbClr val="808080"/>
        </a:lt2>
        <a:accent1>
          <a:srgbClr val="83D1F5"/>
        </a:accent1>
        <a:accent2>
          <a:srgbClr val="003F69"/>
        </a:accent2>
        <a:accent3>
          <a:srgbClr val="FFFFFF"/>
        </a:accent3>
        <a:accent4>
          <a:srgbClr val="000000"/>
        </a:accent4>
        <a:accent5>
          <a:srgbClr val="C1E5F9"/>
        </a:accent5>
        <a:accent6>
          <a:srgbClr val="00385E"/>
        </a:accent6>
        <a:hlink>
          <a:srgbClr val="008ABF"/>
        </a:hlink>
        <a:folHlink>
          <a:srgbClr val="8CC63F"/>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2271</Words>
  <Application>Microsoft Office PowerPoint</Application>
  <PresentationFormat>On-screen Show (4:3)</PresentationFormat>
  <Paragraphs>290</Paragraphs>
  <Slides>15</Slides>
  <Notes>15</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IBM Cloud 2015</vt:lpstr>
      <vt:lpstr>IBM Cloud sub</vt:lpstr>
      <vt:lpstr>Cloud Service Models</vt:lpstr>
      <vt:lpstr>Objective</vt:lpstr>
      <vt:lpstr>Slide 3</vt:lpstr>
      <vt:lpstr>Cloud Services Models and IBM Cloud Offerings</vt:lpstr>
      <vt:lpstr>Traditional On-Premises – Core IT</vt:lpstr>
      <vt:lpstr>Slide 6</vt:lpstr>
      <vt:lpstr>IBM SoftLayer IaaS Offerings</vt:lpstr>
      <vt:lpstr>Platform as a Services (PaaS)</vt:lpstr>
      <vt:lpstr>IBM Platform as a Service Offerings – Bluemix </vt:lpstr>
      <vt:lpstr>Software as a Services (SaaS)</vt:lpstr>
      <vt:lpstr>Slide 11</vt:lpstr>
      <vt:lpstr>Slide 12</vt:lpstr>
      <vt:lpstr>Timing is Critical …so are all of your other investments</vt:lpstr>
      <vt:lpstr>Bookmarks &amp; References</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2015-05-08T18:58:46Z</dcterms:created>
  <dcterms:modified xsi:type="dcterms:W3CDTF">2016-01-13T10:00:45Z</dcterms:modified>
</cp:coreProperties>
</file>