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72" r:id="rId1"/>
    <p:sldMasterId id="2147483717" r:id="rId2"/>
  </p:sldMasterIdLst>
  <p:notesMasterIdLst>
    <p:notesMasterId r:id="rId19"/>
  </p:notesMasterIdLst>
  <p:sldIdLst>
    <p:sldId id="256" r:id="rId3"/>
    <p:sldId id="272" r:id="rId4"/>
    <p:sldId id="273" r:id="rId5"/>
    <p:sldId id="275" r:id="rId6"/>
    <p:sldId id="277" r:id="rId7"/>
    <p:sldId id="278" r:id="rId8"/>
    <p:sldId id="280" r:id="rId9"/>
    <p:sldId id="306" r:id="rId10"/>
    <p:sldId id="318" r:id="rId11"/>
    <p:sldId id="319" r:id="rId12"/>
    <p:sldId id="321" r:id="rId13"/>
    <p:sldId id="320" r:id="rId14"/>
    <p:sldId id="316" r:id="rId15"/>
    <p:sldId id="311" r:id="rId16"/>
    <p:sldId id="286" r:id="rId17"/>
    <p:sldId id="309" r:id="rId18"/>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xmlns="">
        <p15:guide id="1" orient="horz" pos="3514">
          <p15:clr>
            <a:srgbClr val="A4A3A4"/>
          </p15:clr>
        </p15:guide>
        <p15:guide id="2" pos="285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D426C"/>
    <a:srgbClr val="4EBBEB"/>
    <a:srgbClr val="1A3961"/>
    <a:srgbClr val="183C60"/>
    <a:srgbClr val="113F60"/>
    <a:srgbClr val="123964"/>
    <a:srgbClr val="1B4E77"/>
    <a:srgbClr val="11293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038" autoAdjust="0"/>
    <p:restoredTop sz="74396" autoAdjust="0"/>
  </p:normalViewPr>
  <p:slideViewPr>
    <p:cSldViewPr>
      <p:cViewPr varScale="1">
        <p:scale>
          <a:sx n="51" d="100"/>
          <a:sy n="51" d="100"/>
        </p:scale>
        <p:origin x="-1224" y="-82"/>
      </p:cViewPr>
      <p:guideLst>
        <p:guide orient="horz" pos="3514"/>
        <p:guide pos="2851"/>
      </p:guideLst>
    </p:cSldViewPr>
  </p:slideViewPr>
  <p:outlineViewPr>
    <p:cViewPr>
      <p:scale>
        <a:sx n="33" d="100"/>
        <a:sy n="33" d="100"/>
      </p:scale>
      <p:origin x="42" y="0"/>
    </p:cViewPr>
  </p:outlineViewPr>
  <p:notesTextViewPr>
    <p:cViewPr>
      <p:scale>
        <a:sx n="1" d="1"/>
        <a:sy n="1" d="1"/>
      </p:scale>
      <p:origin x="0" y="0"/>
    </p:cViewPr>
  </p:notesTextViewPr>
  <p:sorterViewPr>
    <p:cViewPr varScale="1">
      <p:scale>
        <a:sx n="1" d="1"/>
        <a:sy n="1" d="1"/>
      </p:scale>
      <p:origin x="0" y="0"/>
    </p:cViewPr>
  </p:sorterViewPr>
  <p:gridSpacing cx="45720" cy="4572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32A8BA34-4A35-47B0-9E8E-9E6480EBA406}" type="datetimeFigureOut">
              <a:rPr lang="en-US"/>
              <a:pPr>
                <a:defRPr/>
              </a:pPr>
              <a:t>9/11/2015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6D5BD514-D57C-4B50-95F0-55A515BE4BCD}" type="slidenum">
              <a:rPr lang="en-US" altLang="en-US"/>
              <a:pPr>
                <a:defRPr/>
              </a:pPr>
              <a:t>‹#›</a:t>
            </a:fld>
            <a:endParaRPr lang="en-US" altLang="en-US"/>
          </a:p>
        </p:txBody>
      </p:sp>
    </p:spTree>
    <p:extLst>
      <p:ext uri="{BB962C8B-B14F-4D97-AF65-F5344CB8AC3E}">
        <p14:creationId xmlns:p14="http://schemas.microsoft.com/office/powerpoint/2010/main" val="41944810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github.com/cloudfoundry/cli/releases"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docs.cloudfoundry.org/running/cf-api-endpoint.html" TargetMode="External"/><Relationship Id="rId2" Type="http://schemas.openxmlformats.org/officeDocument/2006/relationships/slide" Target="../slides/slide5.xml"/><Relationship Id="rId1" Type="http://schemas.openxmlformats.org/officeDocument/2006/relationships/notesMaster" Target="../notesMasters/notesMaster1.xml"/><Relationship Id="rId5" Type="http://schemas.openxmlformats.org/officeDocument/2006/relationships/hyperlink" Target="mailto:developer@us.ibm.com" TargetMode="External"/><Relationship Id="rId4" Type="http://schemas.openxmlformats.org/officeDocument/2006/relationships/hyperlink" Target="https://api.ng.bluemix.net/" TargetMode="Externa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github.com/heroku/heroku-buildpack-play.git" TargetMode="External"/><Relationship Id="rId2" Type="http://schemas.openxmlformats.org/officeDocument/2006/relationships/slide" Target="../slides/slide6.xml"/><Relationship Id="rId1" Type="http://schemas.openxmlformats.org/officeDocument/2006/relationships/notesMaster" Target="../notesMasters/notesMaster1.xml"/><Relationship Id="rId4" Type="http://schemas.openxmlformats.org/officeDocument/2006/relationships/hyperlink" Target="https://github.com/heroku/heroku-buildpack-play.git#stable"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docs.cloudfoundry.org/devguide/deploy-apps/blue-green.html"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81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0F6D9AA-1F80-486F-8766-5C965B4AF05F}" type="slidenum">
              <a:rPr lang="en-US" altLang="en-US" smtClean="0">
                <a:latin typeface="Calibri" panose="020F0502020204030204" pitchFamily="34" charset="0"/>
              </a:rPr>
              <a:pPr/>
              <a:t>1</a:t>
            </a:fld>
            <a:endParaRPr lang="en-US" altLang="en-US" smtClean="0">
              <a:latin typeface="Calibri" panose="020F0502020204030204" pitchFamily="34" charset="0"/>
            </a:endParaRPr>
          </a:p>
        </p:txBody>
      </p:sp>
    </p:spTree>
    <p:extLst>
      <p:ext uri="{BB962C8B-B14F-4D97-AF65-F5344CB8AC3E}">
        <p14:creationId xmlns:p14="http://schemas.microsoft.com/office/powerpoint/2010/main" val="4763011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smtClean="0"/>
              <a:t>Developers can build, deploy, test and manage applications and environment via Console UI or Command Line Interface in Bluemix platform.</a:t>
            </a:r>
          </a:p>
        </p:txBody>
      </p:sp>
      <p:sp>
        <p:nvSpPr>
          <p:cNvPr id="102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93F5DB9-D8A6-4DB0-ABEC-FCBE8AC29878}" type="slidenum">
              <a:rPr lang="en-US" altLang="en-US" smtClean="0">
                <a:latin typeface="Calibri" panose="020F0502020204030204" pitchFamily="34" charset="0"/>
              </a:rPr>
              <a:pPr/>
              <a:t>2</a:t>
            </a:fld>
            <a:endParaRPr lang="en-US" altLang="en-US" smtClean="0">
              <a:latin typeface="Calibri" panose="020F0502020204030204" pitchFamily="34" charset="0"/>
            </a:endParaRPr>
          </a:p>
        </p:txBody>
      </p:sp>
    </p:spTree>
    <p:extLst>
      <p:ext uri="{BB962C8B-B14F-4D97-AF65-F5344CB8AC3E}">
        <p14:creationId xmlns:p14="http://schemas.microsoft.com/office/powerpoint/2010/main" val="27746783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7938" name="Notes Placeholder 2"/>
          <p:cNvSpPr>
            <a:spLocks noGrp="1"/>
          </p:cNvSpPr>
          <p:nvPr>
            <p:ph type="body" idx="1"/>
          </p:nvPr>
        </p:nvSpPr>
        <p:spPr/>
        <p:txBody>
          <a:bodyPr/>
          <a:lstStyle/>
          <a:p>
            <a:pPr lvl="1" eaLnBrk="1" hangingPunct="1">
              <a:defRPr/>
            </a:pPr>
            <a:r>
              <a:rPr lang="en-US" dirty="0" smtClean="0">
                <a:latin typeface="Arial" charset="0"/>
                <a:cs typeface="Arial" charset="0"/>
              </a:rPr>
              <a:t>Download CF-CLI from </a:t>
            </a:r>
            <a:r>
              <a:rPr lang="en-US" u="sng" dirty="0" smtClean="0">
                <a:latin typeface="Arial" charset="0"/>
                <a:cs typeface="Arial" charset="0"/>
                <a:hlinkClick r:id="rId3"/>
              </a:rPr>
              <a:t>https://github.com/cloudfoundry/cli/releases</a:t>
            </a:r>
            <a:endParaRPr lang="en-US" sz="1050" dirty="0" smtClean="0">
              <a:latin typeface="Arial" charset="0"/>
              <a:cs typeface="Arial" charset="0"/>
            </a:endParaRPr>
          </a:p>
          <a:p>
            <a:pPr eaLnBrk="1" hangingPunct="1">
              <a:defRPr/>
            </a:pPr>
            <a:r>
              <a:rPr lang="en-US" dirty="0" smtClean="0">
                <a:latin typeface="Arial" charset="0"/>
                <a:cs typeface="Arial" charset="0"/>
              </a:rPr>
              <a:t> </a:t>
            </a:r>
            <a:endParaRPr lang="en-US" sz="1050" dirty="0" smtClean="0">
              <a:latin typeface="Arial" charset="0"/>
              <a:cs typeface="Arial" charset="0"/>
            </a:endParaRPr>
          </a:p>
          <a:p>
            <a:pPr eaLnBrk="1" hangingPunct="1">
              <a:defRPr/>
            </a:pPr>
            <a:r>
              <a:rPr lang="en-US" dirty="0" smtClean="0">
                <a:latin typeface="Arial" charset="0"/>
                <a:cs typeface="Arial" charset="0"/>
              </a:rPr>
              <a:t>Windows</a:t>
            </a:r>
            <a:endParaRPr lang="en-US" sz="1050" dirty="0" smtClean="0">
              <a:latin typeface="Arial" charset="0"/>
              <a:cs typeface="Arial" charset="0"/>
            </a:endParaRPr>
          </a:p>
          <a:p>
            <a:pPr eaLnBrk="1" hangingPunct="1">
              <a:defRPr/>
            </a:pPr>
            <a:r>
              <a:rPr lang="en-US" dirty="0" smtClean="0">
                <a:latin typeface="Arial" charset="0"/>
                <a:cs typeface="Arial" charset="0"/>
              </a:rPr>
              <a:t> </a:t>
            </a:r>
            <a:endParaRPr lang="en-US" sz="1050" dirty="0" smtClean="0">
              <a:latin typeface="Arial" charset="0"/>
              <a:cs typeface="Arial" charset="0"/>
            </a:endParaRPr>
          </a:p>
          <a:p>
            <a:pPr lvl="1" eaLnBrk="1" hangingPunct="1">
              <a:defRPr/>
            </a:pPr>
            <a:r>
              <a:rPr lang="en-US" dirty="0" smtClean="0">
                <a:latin typeface="Arial" charset="0"/>
                <a:cs typeface="Arial" charset="0"/>
              </a:rPr>
              <a:t>Unpack the zip file.</a:t>
            </a:r>
            <a:endParaRPr lang="en-US" sz="1050" dirty="0" smtClean="0">
              <a:latin typeface="Arial" charset="0"/>
              <a:cs typeface="Arial" charset="0"/>
            </a:endParaRPr>
          </a:p>
          <a:p>
            <a:pPr lvl="1" eaLnBrk="1" hangingPunct="1">
              <a:defRPr/>
            </a:pPr>
            <a:r>
              <a:rPr lang="en-US" dirty="0" smtClean="0">
                <a:latin typeface="Arial" charset="0"/>
                <a:cs typeface="Arial" charset="0"/>
              </a:rPr>
              <a:t>Double click the </a:t>
            </a:r>
            <a:r>
              <a:rPr lang="en-US" dirty="0" err="1" smtClean="0">
                <a:latin typeface="Arial" charset="0"/>
                <a:cs typeface="Arial" charset="0"/>
              </a:rPr>
              <a:t>cf</a:t>
            </a:r>
            <a:r>
              <a:rPr lang="en-US" dirty="0" smtClean="0">
                <a:latin typeface="Arial" charset="0"/>
                <a:cs typeface="Arial" charset="0"/>
              </a:rPr>
              <a:t> executable.</a:t>
            </a:r>
            <a:endParaRPr lang="en-US" sz="1050" dirty="0" smtClean="0">
              <a:latin typeface="Arial" charset="0"/>
              <a:cs typeface="Arial" charset="0"/>
            </a:endParaRPr>
          </a:p>
          <a:p>
            <a:pPr lvl="1" eaLnBrk="1" hangingPunct="1">
              <a:defRPr/>
            </a:pPr>
            <a:r>
              <a:rPr lang="en-US" dirty="0" smtClean="0">
                <a:latin typeface="Arial" charset="0"/>
                <a:cs typeface="Arial" charset="0"/>
              </a:rPr>
              <a:t>When prompted, click Install, and then Close.</a:t>
            </a:r>
            <a:endParaRPr lang="en-US" sz="1050" dirty="0" smtClean="0">
              <a:latin typeface="Arial" charset="0"/>
              <a:cs typeface="Arial" charset="0"/>
            </a:endParaRPr>
          </a:p>
          <a:p>
            <a:pPr eaLnBrk="1" hangingPunct="1">
              <a:defRPr/>
            </a:pPr>
            <a:r>
              <a:rPr lang="en-US" dirty="0" smtClean="0">
                <a:latin typeface="Arial" charset="0"/>
                <a:cs typeface="Arial" charset="0"/>
              </a:rPr>
              <a:t> </a:t>
            </a:r>
            <a:endParaRPr lang="en-US" sz="1050" dirty="0" smtClean="0">
              <a:latin typeface="Arial" charset="0"/>
              <a:cs typeface="Arial" charset="0"/>
            </a:endParaRPr>
          </a:p>
          <a:p>
            <a:pPr eaLnBrk="1" hangingPunct="1">
              <a:defRPr/>
            </a:pPr>
            <a:r>
              <a:rPr lang="en-US" dirty="0" smtClean="0">
                <a:latin typeface="Arial" charset="0"/>
                <a:cs typeface="Arial" charset="0"/>
              </a:rPr>
              <a:t>MAC OSX and Linux Installation</a:t>
            </a:r>
            <a:endParaRPr lang="en-US" sz="1050" dirty="0" smtClean="0">
              <a:latin typeface="Arial" charset="0"/>
              <a:cs typeface="Arial" charset="0"/>
            </a:endParaRPr>
          </a:p>
          <a:p>
            <a:pPr eaLnBrk="1" hangingPunct="1">
              <a:defRPr/>
            </a:pPr>
            <a:r>
              <a:rPr lang="en-US" dirty="0" smtClean="0">
                <a:latin typeface="Arial" charset="0"/>
                <a:cs typeface="Arial" charset="0"/>
              </a:rPr>
              <a:t> </a:t>
            </a:r>
            <a:endParaRPr lang="en-US" sz="1050" dirty="0" smtClean="0">
              <a:latin typeface="Arial" charset="0"/>
              <a:cs typeface="Arial" charset="0"/>
            </a:endParaRPr>
          </a:p>
          <a:p>
            <a:pPr lvl="1" eaLnBrk="1" hangingPunct="1">
              <a:defRPr/>
            </a:pPr>
            <a:r>
              <a:rPr lang="en-US" dirty="0" smtClean="0">
                <a:latin typeface="Arial" charset="0"/>
                <a:cs typeface="Arial" charset="0"/>
              </a:rPr>
              <a:t>Open the .</a:t>
            </a:r>
            <a:r>
              <a:rPr lang="en-US" dirty="0" err="1" smtClean="0">
                <a:latin typeface="Arial" charset="0"/>
                <a:cs typeface="Arial" charset="0"/>
              </a:rPr>
              <a:t>pkg</a:t>
            </a:r>
            <a:r>
              <a:rPr lang="en-US" dirty="0" smtClean="0">
                <a:latin typeface="Arial" charset="0"/>
                <a:cs typeface="Arial" charset="0"/>
              </a:rPr>
              <a:t> file.</a:t>
            </a:r>
            <a:endParaRPr lang="en-US" sz="1050" dirty="0" smtClean="0">
              <a:latin typeface="Arial" charset="0"/>
              <a:cs typeface="Arial" charset="0"/>
            </a:endParaRPr>
          </a:p>
          <a:p>
            <a:pPr lvl="1" eaLnBrk="1" hangingPunct="1">
              <a:defRPr/>
            </a:pPr>
            <a:r>
              <a:rPr lang="en-US" dirty="0" smtClean="0">
                <a:latin typeface="Arial" charset="0"/>
                <a:cs typeface="Arial" charset="0"/>
              </a:rPr>
              <a:t>In the installer wizard, click Continue.</a:t>
            </a:r>
            <a:endParaRPr lang="en-US" sz="1050" dirty="0" smtClean="0">
              <a:latin typeface="Arial" charset="0"/>
              <a:cs typeface="Arial" charset="0"/>
            </a:endParaRPr>
          </a:p>
          <a:p>
            <a:pPr lvl="1" eaLnBrk="1" hangingPunct="1">
              <a:defRPr/>
            </a:pPr>
            <a:r>
              <a:rPr lang="en-US" dirty="0" smtClean="0">
                <a:latin typeface="Arial" charset="0"/>
                <a:cs typeface="Arial" charset="0"/>
              </a:rPr>
              <a:t>Select an install destination and click Continue.</a:t>
            </a:r>
            <a:endParaRPr lang="en-US" sz="1050" dirty="0" smtClean="0">
              <a:latin typeface="Arial" charset="0"/>
              <a:cs typeface="Arial" charset="0"/>
            </a:endParaRPr>
          </a:p>
          <a:p>
            <a:pPr lvl="1" eaLnBrk="1" hangingPunct="1">
              <a:defRPr/>
            </a:pPr>
            <a:r>
              <a:rPr lang="en-US" dirty="0" smtClean="0">
                <a:latin typeface="Arial" charset="0"/>
                <a:cs typeface="Arial" charset="0"/>
              </a:rPr>
              <a:t>When prompted, click Install.</a:t>
            </a:r>
            <a:endParaRPr lang="en-US" sz="1050" dirty="0" smtClean="0">
              <a:latin typeface="Arial" charset="0"/>
              <a:cs typeface="Arial" charset="0"/>
            </a:endParaRPr>
          </a:p>
          <a:p>
            <a:pPr eaLnBrk="1" hangingPunct="1">
              <a:defRPr/>
            </a:pPr>
            <a:r>
              <a:rPr lang="en-US" dirty="0" smtClean="0">
                <a:latin typeface="Arial" charset="0"/>
                <a:cs typeface="Arial" charset="0"/>
              </a:rPr>
              <a:t> </a:t>
            </a:r>
            <a:endParaRPr lang="en-US" sz="1050" dirty="0" smtClean="0">
              <a:latin typeface="Arial" charset="0"/>
              <a:cs typeface="Arial" charset="0"/>
            </a:endParaRPr>
          </a:p>
          <a:p>
            <a:pPr eaLnBrk="1" hangingPunct="1">
              <a:defRPr/>
            </a:pPr>
            <a:endParaRPr lang="en-US" altLang="en-US"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504254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mtClean="0"/>
              <a:t>cf command is a command line tool to interact with Cloud Foundry.  The cf CLI v6 command aliases and command line help feature improved consistency and convenience. The cf CLI v6 introduces single-letter aliases for commonly used commands. For example:</a:t>
            </a:r>
          </a:p>
          <a:p>
            <a:r>
              <a:rPr lang="en-US" altLang="en-US" smtClean="0"/>
              <a:t>cf p is the alias for cf push.</a:t>
            </a:r>
          </a:p>
          <a:p>
            <a:r>
              <a:rPr lang="en-US" altLang="en-US" smtClean="0"/>
              <a:t>cf t is the alias for cf target.</a:t>
            </a:r>
          </a:p>
          <a:p>
            <a:r>
              <a:rPr lang="en-US" altLang="en-US" smtClean="0"/>
              <a:t>The cf CLI v6 command line help introduces streamlined style conventions:</a:t>
            </a:r>
          </a:p>
          <a:p>
            <a:r>
              <a:rPr lang="en-US" altLang="en-US" smtClean="0"/>
              <a:t>User input is capitalized, as in cf push APP.</a:t>
            </a:r>
          </a:p>
          <a:p>
            <a:r>
              <a:rPr lang="en-US" altLang="en-US" smtClean="0"/>
              <a:t>Optional user input is designated with a flag and brackets, as in cf create-route SPACE DOMAIN [-n HOSTNAME].</a:t>
            </a:r>
          </a:p>
          <a:p>
            <a:r>
              <a:rPr lang="en-US" altLang="en-US" smtClean="0"/>
              <a:t>Run cf help to view a list of all cf CLI commands and a brief description of each. Run cf &lt;command-name&gt; -h to view detailed help (including alias) for any command. </a:t>
            </a:r>
          </a:p>
          <a:p>
            <a:pPr eaLnBrk="1" hangingPunct="1"/>
            <a:endParaRPr lang="en-US" altLang="en-US" smtClean="0"/>
          </a:p>
        </p:txBody>
      </p:sp>
      <p:sp>
        <p:nvSpPr>
          <p:cNvPr id="1434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7CD71AE-01A6-428E-98FD-3D6E5CD02DA2}" type="slidenum">
              <a:rPr lang="en-US" altLang="en-US" smtClean="0">
                <a:latin typeface="Calibri" panose="020F0502020204030204" pitchFamily="34" charset="0"/>
              </a:rPr>
              <a:pPr/>
              <a:t>4</a:t>
            </a:fld>
            <a:endParaRPr lang="en-US" altLang="en-US" smtClean="0">
              <a:latin typeface="Calibri" panose="020F0502020204030204" pitchFamily="34" charset="0"/>
            </a:endParaRPr>
          </a:p>
        </p:txBody>
      </p:sp>
    </p:spTree>
    <p:extLst>
      <p:ext uri="{BB962C8B-B14F-4D97-AF65-F5344CB8AC3E}">
        <p14:creationId xmlns:p14="http://schemas.microsoft.com/office/powerpoint/2010/main" val="14301065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lstStyle/>
          <a:p>
            <a:pPr eaLnBrk="1" hangingPunct="1">
              <a:defRPr/>
            </a:pPr>
            <a:r>
              <a:rPr lang="en-US" dirty="0" smtClean="0">
                <a:latin typeface="Arial" charset="0"/>
                <a:cs typeface="Arial" charset="0"/>
              </a:rPr>
              <a:t>The login command in the </a:t>
            </a:r>
            <a:r>
              <a:rPr lang="en-US" dirty="0" err="1" smtClean="0">
                <a:latin typeface="Arial" charset="0"/>
                <a:cs typeface="Arial" charset="0"/>
              </a:rPr>
              <a:t>cf</a:t>
            </a:r>
            <a:r>
              <a:rPr lang="en-US" dirty="0" smtClean="0">
                <a:latin typeface="Arial" charset="0"/>
                <a:cs typeface="Arial" charset="0"/>
              </a:rPr>
              <a:t> CLI v6 has expanded functionality. In addition to your username and password, you can provide a target API endpoint, organization, and space. If not specified on the command line, the </a:t>
            </a:r>
            <a:r>
              <a:rPr lang="en-US" dirty="0" err="1" smtClean="0">
                <a:latin typeface="Arial" charset="0"/>
                <a:cs typeface="Arial" charset="0"/>
              </a:rPr>
              <a:t>cf</a:t>
            </a:r>
            <a:r>
              <a:rPr lang="en-US" dirty="0" smtClean="0">
                <a:latin typeface="Arial" charset="0"/>
                <a:cs typeface="Arial" charset="0"/>
              </a:rPr>
              <a:t> CLI prompts for:</a:t>
            </a:r>
            <a:endParaRPr lang="en-US" sz="1050" dirty="0" smtClean="0">
              <a:latin typeface="Arial" charset="0"/>
              <a:cs typeface="Arial" charset="0"/>
            </a:endParaRPr>
          </a:p>
          <a:p>
            <a:pPr eaLnBrk="1" hangingPunct="1">
              <a:defRPr/>
            </a:pPr>
            <a:r>
              <a:rPr lang="en-US" dirty="0" smtClean="0">
                <a:latin typeface="Arial" charset="0"/>
                <a:cs typeface="Arial" charset="0"/>
              </a:rPr>
              <a:t> </a:t>
            </a:r>
            <a:endParaRPr lang="en-US" sz="1050" dirty="0" smtClean="0">
              <a:latin typeface="Arial" charset="0"/>
              <a:cs typeface="Arial" charset="0"/>
            </a:endParaRPr>
          </a:p>
          <a:p>
            <a:pPr eaLnBrk="1" hangingPunct="1">
              <a:defRPr/>
            </a:pPr>
            <a:r>
              <a:rPr lang="en-US" dirty="0" smtClean="0">
                <a:latin typeface="Arial" charset="0"/>
                <a:cs typeface="Arial" charset="0"/>
              </a:rPr>
              <a:t>Usage </a:t>
            </a:r>
            <a:endParaRPr lang="en-US" sz="1050" dirty="0" smtClean="0">
              <a:latin typeface="Arial" charset="0"/>
              <a:cs typeface="Arial" charset="0"/>
            </a:endParaRPr>
          </a:p>
          <a:p>
            <a:pPr lvl="1" eaLnBrk="1" hangingPunct="1">
              <a:defRPr/>
            </a:pPr>
            <a:r>
              <a:rPr lang="en-US" dirty="0" err="1" smtClean="0">
                <a:latin typeface="Arial" charset="0"/>
                <a:cs typeface="Arial" charset="0"/>
              </a:rPr>
              <a:t>cf</a:t>
            </a:r>
            <a:r>
              <a:rPr lang="en-US" dirty="0" smtClean="0">
                <a:latin typeface="Arial" charset="0"/>
                <a:cs typeface="Arial" charset="0"/>
              </a:rPr>
              <a:t> login [-a API_URL] [-u USERNAME] [-p PASSWORD] [-o ORG] [-s SPACE]</a:t>
            </a:r>
            <a:endParaRPr lang="en-US" sz="1050" dirty="0" smtClean="0">
              <a:latin typeface="Arial" charset="0"/>
              <a:cs typeface="Arial" charset="0"/>
            </a:endParaRPr>
          </a:p>
          <a:p>
            <a:pPr eaLnBrk="1" hangingPunct="1">
              <a:defRPr/>
            </a:pPr>
            <a:r>
              <a:rPr lang="en-US" dirty="0" smtClean="0">
                <a:latin typeface="Arial" charset="0"/>
                <a:cs typeface="Arial" charset="0"/>
              </a:rPr>
              <a:t>Arguments:</a:t>
            </a:r>
            <a:endParaRPr lang="en-US" sz="1050" dirty="0" smtClean="0">
              <a:latin typeface="Arial" charset="0"/>
              <a:cs typeface="Arial" charset="0"/>
            </a:endParaRPr>
          </a:p>
          <a:p>
            <a:pPr lvl="1" eaLnBrk="1" hangingPunct="1">
              <a:defRPr/>
            </a:pPr>
            <a:r>
              <a:rPr lang="en-US" dirty="0" smtClean="0">
                <a:latin typeface="Arial" charset="0"/>
                <a:cs typeface="Arial" charset="0"/>
              </a:rPr>
              <a:t>API endpoint: This is </a:t>
            </a:r>
            <a:r>
              <a:rPr lang="en-US" dirty="0" smtClean="0">
                <a:latin typeface="Arial" charset="0"/>
                <a:cs typeface="Arial" charset="0"/>
                <a:hlinkClick r:id="rId3"/>
              </a:rPr>
              <a:t>the URL of the Cloud Controller in your Cloud Foundry instance</a:t>
            </a:r>
            <a:r>
              <a:rPr lang="en-US" dirty="0" smtClean="0">
                <a:latin typeface="Arial" charset="0"/>
                <a:cs typeface="Arial" charset="0"/>
              </a:rPr>
              <a:t>.</a:t>
            </a:r>
            <a:endParaRPr lang="en-US" sz="1050" dirty="0" smtClean="0">
              <a:latin typeface="Arial" charset="0"/>
              <a:cs typeface="Arial" charset="0"/>
            </a:endParaRPr>
          </a:p>
          <a:p>
            <a:pPr lvl="1" eaLnBrk="1" hangingPunct="1">
              <a:defRPr/>
            </a:pPr>
            <a:r>
              <a:rPr lang="en-US" dirty="0" smtClean="0">
                <a:latin typeface="Arial" charset="0"/>
                <a:cs typeface="Arial" charset="0"/>
              </a:rPr>
              <a:t>Username: Your username.</a:t>
            </a:r>
            <a:endParaRPr lang="en-US" sz="1050" dirty="0" smtClean="0">
              <a:latin typeface="Arial" charset="0"/>
              <a:cs typeface="Arial" charset="0"/>
            </a:endParaRPr>
          </a:p>
          <a:p>
            <a:pPr lvl="1" eaLnBrk="1" hangingPunct="1">
              <a:defRPr/>
            </a:pPr>
            <a:r>
              <a:rPr lang="en-US" dirty="0" smtClean="0">
                <a:latin typeface="Arial" charset="0"/>
                <a:cs typeface="Arial" charset="0"/>
              </a:rPr>
              <a:t>Password: Your password.</a:t>
            </a:r>
            <a:endParaRPr lang="en-US" sz="1050" dirty="0" smtClean="0">
              <a:latin typeface="Arial" charset="0"/>
              <a:cs typeface="Arial" charset="0"/>
            </a:endParaRPr>
          </a:p>
          <a:p>
            <a:pPr lvl="1" eaLnBrk="1" hangingPunct="1">
              <a:defRPr/>
            </a:pPr>
            <a:r>
              <a:rPr lang="en-US" dirty="0" smtClean="0">
                <a:latin typeface="Arial" charset="0"/>
                <a:cs typeface="Arial" charset="0"/>
              </a:rPr>
              <a:t>Org: The organization where you want to deploy your application.</a:t>
            </a:r>
            <a:endParaRPr lang="en-US" sz="1050" dirty="0" smtClean="0">
              <a:latin typeface="Arial" charset="0"/>
              <a:cs typeface="Arial" charset="0"/>
            </a:endParaRPr>
          </a:p>
          <a:p>
            <a:pPr lvl="1" eaLnBrk="1" hangingPunct="1">
              <a:defRPr/>
            </a:pPr>
            <a:r>
              <a:rPr lang="en-US" dirty="0" smtClean="0">
                <a:latin typeface="Arial" charset="0"/>
                <a:cs typeface="Arial" charset="0"/>
              </a:rPr>
              <a:t>Space: The space in the organization where you want to deploy your application.</a:t>
            </a:r>
            <a:endParaRPr lang="en-US" sz="1050" dirty="0" smtClean="0">
              <a:latin typeface="Arial" charset="0"/>
              <a:cs typeface="Arial" charset="0"/>
            </a:endParaRPr>
          </a:p>
          <a:p>
            <a:pPr eaLnBrk="1" hangingPunct="1">
              <a:defRPr/>
            </a:pPr>
            <a:r>
              <a:rPr lang="en-US" dirty="0" smtClean="0">
                <a:latin typeface="Arial" charset="0"/>
                <a:cs typeface="Arial" charset="0"/>
              </a:rPr>
              <a:t>Example</a:t>
            </a:r>
            <a:r>
              <a:rPr lang="en-US" b="1" dirty="0" smtClean="0">
                <a:latin typeface="Arial" charset="0"/>
                <a:cs typeface="Arial" charset="0"/>
              </a:rPr>
              <a:t> </a:t>
            </a:r>
            <a:r>
              <a:rPr lang="en-US" dirty="0" smtClean="0">
                <a:latin typeface="Arial" charset="0"/>
                <a:cs typeface="Arial" charset="0"/>
              </a:rPr>
              <a:t>: </a:t>
            </a:r>
            <a:r>
              <a:rPr lang="en-US" dirty="0" err="1" smtClean="0">
                <a:latin typeface="Arial" charset="0"/>
                <a:cs typeface="Arial" charset="0"/>
              </a:rPr>
              <a:t>cf</a:t>
            </a:r>
            <a:r>
              <a:rPr lang="en-US" dirty="0" smtClean="0">
                <a:latin typeface="Arial" charset="0"/>
                <a:cs typeface="Arial" charset="0"/>
              </a:rPr>
              <a:t> login –a  </a:t>
            </a:r>
            <a:r>
              <a:rPr lang="en-US" u="sng" dirty="0" smtClean="0">
                <a:latin typeface="Arial" charset="0"/>
                <a:cs typeface="Arial" charset="0"/>
                <a:hlinkClick r:id="rId4"/>
              </a:rPr>
              <a:t>https://api.ng.bluemix.net</a:t>
            </a:r>
            <a:r>
              <a:rPr lang="en-US" dirty="0" smtClean="0">
                <a:latin typeface="Arial" charset="0"/>
                <a:cs typeface="Arial" charset="0"/>
              </a:rPr>
              <a:t> –u </a:t>
            </a:r>
            <a:r>
              <a:rPr lang="en-US" u="sng" dirty="0" smtClean="0">
                <a:latin typeface="Arial" charset="0"/>
                <a:cs typeface="Arial" charset="0"/>
                <a:hlinkClick r:id="rId5"/>
              </a:rPr>
              <a:t>developer@us.ibm.com</a:t>
            </a:r>
            <a:r>
              <a:rPr lang="en-US" dirty="0" smtClean="0">
                <a:latin typeface="Arial" charset="0"/>
                <a:cs typeface="Arial" charset="0"/>
              </a:rPr>
              <a:t>  -p XXXX –o </a:t>
            </a:r>
            <a:r>
              <a:rPr lang="en-US" u="sng" dirty="0" smtClean="0">
                <a:latin typeface="Arial" charset="0"/>
                <a:cs typeface="Arial" charset="0"/>
                <a:hlinkClick r:id="rId5"/>
              </a:rPr>
              <a:t>developer@us.ibm.com</a:t>
            </a:r>
            <a:r>
              <a:rPr lang="en-US" dirty="0" smtClean="0">
                <a:latin typeface="Arial" charset="0"/>
                <a:cs typeface="Arial" charset="0"/>
              </a:rPr>
              <a:t>  -s dev</a:t>
            </a:r>
            <a:endParaRPr lang="en-US" sz="1050" dirty="0" smtClean="0">
              <a:latin typeface="Arial" charset="0"/>
              <a:cs typeface="Arial" charset="0"/>
            </a:endParaRPr>
          </a:p>
          <a:p>
            <a:pPr eaLnBrk="1" hangingPunct="1">
              <a:defRPr/>
            </a:pPr>
            <a:endParaRPr lang="en-US" dirty="0"/>
          </a:p>
        </p:txBody>
      </p:sp>
      <p:sp>
        <p:nvSpPr>
          <p:cNvPr id="163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3D0DD1D-993B-4484-9B81-E683D1196B1E}" type="slidenum">
              <a:rPr lang="en-US" altLang="en-US" smtClean="0">
                <a:latin typeface="Calibri" panose="020F0502020204030204" pitchFamily="34" charset="0"/>
              </a:rPr>
              <a:pPr/>
              <a:t>5</a:t>
            </a:fld>
            <a:endParaRPr lang="en-US" altLang="en-US" smtClean="0">
              <a:latin typeface="Calibri" panose="020F0502020204030204" pitchFamily="34" charset="0"/>
            </a:endParaRPr>
          </a:p>
        </p:txBody>
      </p:sp>
    </p:spTree>
    <p:extLst>
      <p:ext uri="{BB962C8B-B14F-4D97-AF65-F5344CB8AC3E}">
        <p14:creationId xmlns:p14="http://schemas.microsoft.com/office/powerpoint/2010/main" val="32837128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lstStyle/>
          <a:p>
            <a:pPr eaLnBrk="1" hangingPunct="1">
              <a:defRPr/>
            </a:pPr>
            <a:r>
              <a:rPr lang="en-US" dirty="0" smtClean="0">
                <a:latin typeface="Arial" charset="0"/>
                <a:cs typeface="Arial" charset="0"/>
              </a:rPr>
              <a:t>This push command in CF CLI allows you deploy and start your application in Cloud Foundry</a:t>
            </a:r>
            <a:endParaRPr lang="en-US" sz="1050" dirty="0" smtClean="0">
              <a:latin typeface="Arial" charset="0"/>
              <a:cs typeface="Arial" charset="0"/>
            </a:endParaRPr>
          </a:p>
          <a:p>
            <a:pPr eaLnBrk="1" hangingPunct="1">
              <a:defRPr/>
            </a:pPr>
            <a:r>
              <a:rPr lang="en-US" dirty="0" smtClean="0">
                <a:latin typeface="Arial" charset="0"/>
                <a:cs typeface="Arial" charset="0"/>
              </a:rPr>
              <a:t> </a:t>
            </a:r>
          </a:p>
          <a:p>
            <a:pPr eaLnBrk="1" hangingPunct="1">
              <a:defRPr/>
            </a:pPr>
            <a:r>
              <a:rPr lang="en-US" dirty="0" smtClean="0">
                <a:latin typeface="Arial" charset="0"/>
                <a:cs typeface="Arial" charset="0"/>
              </a:rPr>
              <a:t>Usage :</a:t>
            </a:r>
            <a:endParaRPr lang="en-US" sz="1050" dirty="0" smtClean="0">
              <a:latin typeface="Arial" charset="0"/>
              <a:cs typeface="Arial" charset="0"/>
            </a:endParaRPr>
          </a:p>
          <a:p>
            <a:pPr lvl="1" eaLnBrk="1" hangingPunct="1">
              <a:defRPr/>
            </a:pPr>
            <a:r>
              <a:rPr lang="en-US" dirty="0" err="1" smtClean="0">
                <a:latin typeface="Arial" charset="0"/>
                <a:cs typeface="Arial" charset="0"/>
              </a:rPr>
              <a:t>cf</a:t>
            </a:r>
            <a:r>
              <a:rPr lang="en-US" dirty="0" smtClean="0">
                <a:latin typeface="Arial" charset="0"/>
                <a:cs typeface="Arial" charset="0"/>
              </a:rPr>
              <a:t> push APP [-b URL] [-c COMMAND] [-d DOMAIN] [-</a:t>
            </a:r>
            <a:r>
              <a:rPr lang="en-US" dirty="0" err="1" smtClean="0">
                <a:latin typeface="Arial" charset="0"/>
                <a:cs typeface="Arial" charset="0"/>
              </a:rPr>
              <a:t>i</a:t>
            </a:r>
            <a:r>
              <a:rPr lang="en-US" dirty="0" smtClean="0">
                <a:latin typeface="Arial" charset="0"/>
                <a:cs typeface="Arial" charset="0"/>
              </a:rPr>
              <a:t> NUM_INSTANCES] [-m MEMORY] / [-n HOST] [-p PATH] [-s STACK] [--no-hostname] [--no-route] [--no-start]</a:t>
            </a:r>
          </a:p>
          <a:p>
            <a:pPr eaLnBrk="1" hangingPunct="1">
              <a:defRPr/>
            </a:pPr>
            <a:r>
              <a:rPr lang="en-US" dirty="0" smtClean="0">
                <a:latin typeface="Arial" charset="0"/>
                <a:cs typeface="Arial" charset="0"/>
              </a:rPr>
              <a:t> </a:t>
            </a:r>
            <a:endParaRPr lang="en-US" sz="1050" dirty="0" smtClean="0">
              <a:latin typeface="Arial" charset="0"/>
              <a:cs typeface="Arial" charset="0"/>
            </a:endParaRPr>
          </a:p>
          <a:p>
            <a:pPr eaLnBrk="1" hangingPunct="1">
              <a:defRPr/>
            </a:pPr>
            <a:r>
              <a:rPr lang="en-US" dirty="0" smtClean="0">
                <a:latin typeface="Arial" charset="0"/>
                <a:cs typeface="Arial" charset="0"/>
              </a:rPr>
              <a:t>Arguments:</a:t>
            </a:r>
            <a:endParaRPr lang="en-US" sz="1050" dirty="0" smtClean="0">
              <a:latin typeface="Arial" charset="0"/>
              <a:cs typeface="Arial" charset="0"/>
            </a:endParaRPr>
          </a:p>
          <a:p>
            <a:pPr lvl="1" eaLnBrk="1" hangingPunct="1">
              <a:defRPr/>
            </a:pPr>
            <a:r>
              <a:rPr lang="en-US" dirty="0" smtClean="0">
                <a:latin typeface="Arial" charset="0"/>
                <a:cs typeface="Arial" charset="0"/>
              </a:rPr>
              <a:t>-b — Custom </a:t>
            </a:r>
            <a:r>
              <a:rPr lang="en-US" dirty="0" err="1" smtClean="0">
                <a:latin typeface="Arial" charset="0"/>
                <a:cs typeface="Arial" charset="0"/>
              </a:rPr>
              <a:t>buildpack</a:t>
            </a:r>
            <a:r>
              <a:rPr lang="en-US" dirty="0" smtClean="0">
                <a:latin typeface="Arial" charset="0"/>
                <a:cs typeface="Arial" charset="0"/>
              </a:rPr>
              <a:t> URL, for example, </a:t>
            </a:r>
            <a:r>
              <a:rPr lang="en-US" u="sng" dirty="0" smtClean="0">
                <a:latin typeface="Arial" charset="0"/>
                <a:cs typeface="Arial" charset="0"/>
                <a:hlinkClick r:id="rId3"/>
              </a:rPr>
              <a:t>https://github.com/heroku/heroku-buildpack-play.git</a:t>
            </a:r>
            <a:r>
              <a:rPr lang="en-US" dirty="0" smtClean="0">
                <a:latin typeface="Arial" charset="0"/>
                <a:cs typeface="Arial" charset="0"/>
              </a:rPr>
              <a:t> or </a:t>
            </a:r>
            <a:r>
              <a:rPr lang="en-US" u="sng" dirty="0" smtClean="0">
                <a:latin typeface="Arial" charset="0"/>
                <a:cs typeface="Arial" charset="0"/>
                <a:hlinkClick r:id="rId4"/>
              </a:rPr>
              <a:t>https://github.com/heroku/heroku-buildpack-play.git#stable</a:t>
            </a:r>
            <a:r>
              <a:rPr lang="en-US" dirty="0" smtClean="0">
                <a:latin typeface="Arial" charset="0"/>
                <a:cs typeface="Arial" charset="0"/>
              </a:rPr>
              <a:t> to select stable branch</a:t>
            </a:r>
            <a:endParaRPr lang="en-US" sz="1050" dirty="0" smtClean="0">
              <a:latin typeface="Arial" charset="0"/>
              <a:cs typeface="Arial" charset="0"/>
            </a:endParaRPr>
          </a:p>
          <a:p>
            <a:pPr lvl="1" eaLnBrk="1" hangingPunct="1">
              <a:defRPr/>
            </a:pPr>
            <a:r>
              <a:rPr lang="en-US" dirty="0" smtClean="0">
                <a:latin typeface="Arial" charset="0"/>
                <a:cs typeface="Arial" charset="0"/>
              </a:rPr>
              <a:t>-c — Start command for the application.</a:t>
            </a:r>
            <a:endParaRPr lang="en-US" sz="1050" dirty="0" smtClean="0">
              <a:latin typeface="Arial" charset="0"/>
              <a:cs typeface="Arial" charset="0"/>
            </a:endParaRPr>
          </a:p>
          <a:p>
            <a:pPr lvl="1" eaLnBrk="1" hangingPunct="1">
              <a:defRPr/>
            </a:pPr>
            <a:r>
              <a:rPr lang="en-US" dirty="0" smtClean="0">
                <a:latin typeface="Arial" charset="0"/>
                <a:cs typeface="Arial" charset="0"/>
              </a:rPr>
              <a:t>-d — Domain, for example, example.com.</a:t>
            </a:r>
            <a:endParaRPr lang="en-US" sz="1050" dirty="0" smtClean="0">
              <a:latin typeface="Arial" charset="0"/>
              <a:cs typeface="Arial" charset="0"/>
            </a:endParaRPr>
          </a:p>
          <a:p>
            <a:pPr lvl="1" eaLnBrk="1" hangingPunct="1">
              <a:defRPr/>
            </a:pPr>
            <a:r>
              <a:rPr lang="en-US" dirty="0" smtClean="0">
                <a:latin typeface="Arial" charset="0"/>
                <a:cs typeface="Arial" charset="0"/>
              </a:rPr>
              <a:t>-f — replaces --manifest</a:t>
            </a:r>
            <a:endParaRPr lang="en-US" sz="1050" dirty="0" smtClean="0">
              <a:latin typeface="Arial" charset="0"/>
              <a:cs typeface="Arial" charset="0"/>
            </a:endParaRPr>
          </a:p>
          <a:p>
            <a:pPr lvl="1" eaLnBrk="1" hangingPunct="1">
              <a:defRPr/>
            </a:pPr>
            <a:r>
              <a:rPr lang="en-US" dirty="0" smtClean="0">
                <a:latin typeface="Arial" charset="0"/>
                <a:cs typeface="Arial" charset="0"/>
              </a:rPr>
              <a:t>-</a:t>
            </a:r>
            <a:r>
              <a:rPr lang="en-US" dirty="0" err="1" smtClean="0">
                <a:latin typeface="Arial" charset="0"/>
                <a:cs typeface="Arial" charset="0"/>
              </a:rPr>
              <a:t>i</a:t>
            </a:r>
            <a:r>
              <a:rPr lang="en-US" dirty="0" smtClean="0">
                <a:latin typeface="Arial" charset="0"/>
                <a:cs typeface="Arial" charset="0"/>
              </a:rPr>
              <a:t> — Number of instances of the application to run.</a:t>
            </a:r>
            <a:endParaRPr lang="en-US" sz="1050" dirty="0" smtClean="0">
              <a:latin typeface="Arial" charset="0"/>
              <a:cs typeface="Arial" charset="0"/>
            </a:endParaRPr>
          </a:p>
          <a:p>
            <a:pPr lvl="1" eaLnBrk="1" hangingPunct="1">
              <a:defRPr/>
            </a:pPr>
            <a:r>
              <a:rPr lang="en-US" dirty="0" smtClean="0">
                <a:latin typeface="Arial" charset="0"/>
                <a:cs typeface="Arial" charset="0"/>
              </a:rPr>
              <a:t>-m — Memory limit, for example, 256, 1G, 1024M, and so on.</a:t>
            </a:r>
            <a:endParaRPr lang="en-US" sz="1050" dirty="0" smtClean="0">
              <a:latin typeface="Arial" charset="0"/>
              <a:cs typeface="Arial" charset="0"/>
            </a:endParaRPr>
          </a:p>
          <a:p>
            <a:pPr lvl="1" eaLnBrk="1" hangingPunct="1">
              <a:defRPr/>
            </a:pPr>
            <a:r>
              <a:rPr lang="en-US" dirty="0" smtClean="0">
                <a:latin typeface="Arial" charset="0"/>
                <a:cs typeface="Arial" charset="0"/>
              </a:rPr>
              <a:t>-n — Hostname, for example, my-subdomain.</a:t>
            </a:r>
            <a:endParaRPr lang="en-US" sz="1050" dirty="0" smtClean="0">
              <a:latin typeface="Arial" charset="0"/>
              <a:cs typeface="Arial" charset="0"/>
            </a:endParaRPr>
          </a:p>
          <a:p>
            <a:pPr lvl="1" eaLnBrk="1" hangingPunct="1">
              <a:defRPr/>
            </a:pPr>
            <a:r>
              <a:rPr lang="en-US" dirty="0" smtClean="0">
                <a:latin typeface="Arial" charset="0"/>
                <a:cs typeface="Arial" charset="0"/>
              </a:rPr>
              <a:t>-p — Path to application directory or archive.</a:t>
            </a:r>
            <a:endParaRPr lang="en-US" sz="1050" dirty="0" smtClean="0">
              <a:latin typeface="Arial" charset="0"/>
              <a:cs typeface="Arial" charset="0"/>
            </a:endParaRPr>
          </a:p>
          <a:p>
            <a:pPr lvl="1" eaLnBrk="1" hangingPunct="1">
              <a:defRPr/>
            </a:pPr>
            <a:r>
              <a:rPr lang="en-US" dirty="0" smtClean="0">
                <a:latin typeface="Arial" charset="0"/>
                <a:cs typeface="Arial" charset="0"/>
              </a:rPr>
              <a:t>-s — Stack to use.</a:t>
            </a:r>
            <a:endParaRPr lang="en-US" sz="1050" dirty="0" smtClean="0">
              <a:latin typeface="Arial" charset="0"/>
              <a:cs typeface="Arial" charset="0"/>
            </a:endParaRPr>
          </a:p>
          <a:p>
            <a:pPr lvl="1" eaLnBrk="1" hangingPunct="1">
              <a:defRPr/>
            </a:pPr>
            <a:r>
              <a:rPr lang="en-US" dirty="0" smtClean="0">
                <a:latin typeface="Arial" charset="0"/>
                <a:cs typeface="Arial" charset="0"/>
              </a:rPr>
              <a:t>-t — Timeout to start in seconds.</a:t>
            </a:r>
            <a:endParaRPr lang="en-US" sz="1050" dirty="0" smtClean="0">
              <a:latin typeface="Arial" charset="0"/>
              <a:cs typeface="Arial" charset="0"/>
            </a:endParaRPr>
          </a:p>
          <a:p>
            <a:pPr lvl="1" eaLnBrk="1" hangingPunct="1">
              <a:defRPr/>
            </a:pPr>
            <a:r>
              <a:rPr lang="en-US" dirty="0" smtClean="0">
                <a:latin typeface="Arial" charset="0"/>
                <a:cs typeface="Arial" charset="0"/>
              </a:rPr>
              <a:t>--no-hostname — Map the root domain to this application (NEW).</a:t>
            </a:r>
            <a:endParaRPr lang="en-US" sz="1050" dirty="0" smtClean="0">
              <a:latin typeface="Arial" charset="0"/>
              <a:cs typeface="Arial" charset="0"/>
            </a:endParaRPr>
          </a:p>
          <a:p>
            <a:pPr lvl="1" eaLnBrk="1" hangingPunct="1">
              <a:defRPr/>
            </a:pPr>
            <a:r>
              <a:rPr lang="en-US" dirty="0" smtClean="0">
                <a:latin typeface="Arial" charset="0"/>
                <a:cs typeface="Arial" charset="0"/>
              </a:rPr>
              <a:t>--no-manifest — Ignore manifests if they exist.</a:t>
            </a:r>
            <a:endParaRPr lang="en-US" sz="1050" dirty="0" smtClean="0">
              <a:latin typeface="Arial" charset="0"/>
              <a:cs typeface="Arial" charset="0"/>
            </a:endParaRPr>
          </a:p>
          <a:p>
            <a:pPr lvl="1" eaLnBrk="1" hangingPunct="1">
              <a:defRPr/>
            </a:pPr>
            <a:r>
              <a:rPr lang="en-US" dirty="0" smtClean="0">
                <a:latin typeface="Arial" charset="0"/>
                <a:cs typeface="Arial" charset="0"/>
              </a:rPr>
              <a:t>--no-route — Do not map a route to this application (NEW).</a:t>
            </a:r>
            <a:endParaRPr lang="en-US" sz="1050" dirty="0" smtClean="0">
              <a:latin typeface="Arial" charset="0"/>
              <a:cs typeface="Arial" charset="0"/>
            </a:endParaRPr>
          </a:p>
          <a:p>
            <a:pPr lvl="1" eaLnBrk="1" hangingPunct="1">
              <a:defRPr/>
            </a:pPr>
            <a:r>
              <a:rPr lang="en-US" dirty="0" smtClean="0">
                <a:latin typeface="Arial" charset="0"/>
                <a:cs typeface="Arial" charset="0"/>
              </a:rPr>
              <a:t>--no-start — Do not start the application after pushing.</a:t>
            </a:r>
            <a:endParaRPr lang="en-US" sz="1050" dirty="0" smtClean="0">
              <a:latin typeface="Arial" charset="0"/>
              <a:cs typeface="Arial" charset="0"/>
            </a:endParaRPr>
          </a:p>
          <a:p>
            <a:pPr eaLnBrk="1" hangingPunct="1">
              <a:defRPr/>
            </a:pPr>
            <a:r>
              <a:rPr lang="en-US" dirty="0" smtClean="0">
                <a:latin typeface="Arial" charset="0"/>
                <a:cs typeface="Arial" charset="0"/>
              </a:rPr>
              <a:t> </a:t>
            </a:r>
            <a:endParaRPr lang="en-US" sz="1050" dirty="0" smtClean="0">
              <a:latin typeface="Arial" charset="0"/>
              <a:cs typeface="Arial" charset="0"/>
            </a:endParaRPr>
          </a:p>
          <a:p>
            <a:pPr eaLnBrk="1" hangingPunct="1">
              <a:defRPr/>
            </a:pPr>
            <a:r>
              <a:rPr lang="en-US" dirty="0" smtClean="0">
                <a:latin typeface="Arial" charset="0"/>
                <a:cs typeface="Arial" charset="0"/>
              </a:rPr>
              <a:t>Example: </a:t>
            </a:r>
            <a:r>
              <a:rPr lang="en-US" dirty="0" err="1" smtClean="0">
                <a:latin typeface="Arial" charset="0"/>
                <a:cs typeface="Arial" charset="0"/>
              </a:rPr>
              <a:t>cf</a:t>
            </a:r>
            <a:r>
              <a:rPr lang="en-US" dirty="0" smtClean="0">
                <a:latin typeface="Arial" charset="0"/>
                <a:cs typeface="Arial" charset="0"/>
              </a:rPr>
              <a:t> push my-app -c "node my-app.js"</a:t>
            </a:r>
            <a:endParaRPr lang="en-US" sz="1050" dirty="0" smtClean="0">
              <a:latin typeface="Arial" charset="0"/>
              <a:cs typeface="Arial" charset="0"/>
            </a:endParaRPr>
          </a:p>
          <a:p>
            <a:pPr eaLnBrk="1" hangingPunct="1">
              <a:defRPr/>
            </a:pPr>
            <a:endParaRPr lang="en-US" dirty="0"/>
          </a:p>
        </p:txBody>
      </p:sp>
      <p:sp>
        <p:nvSpPr>
          <p:cNvPr id="184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4C5CFA3-46F2-4D72-8CC8-4193539D6DD5}" type="slidenum">
              <a:rPr lang="en-US" altLang="en-US" smtClean="0">
                <a:latin typeface="Calibri" panose="020F0502020204030204" pitchFamily="34" charset="0"/>
              </a:rPr>
              <a:pPr/>
              <a:t>6</a:t>
            </a:fld>
            <a:endParaRPr lang="en-US" altLang="en-US" smtClean="0">
              <a:latin typeface="Calibri" panose="020F0502020204030204" pitchFamily="34" charset="0"/>
            </a:endParaRPr>
          </a:p>
        </p:txBody>
      </p:sp>
    </p:spTree>
    <p:extLst>
      <p:ext uri="{BB962C8B-B14F-4D97-AF65-F5344CB8AC3E}">
        <p14:creationId xmlns:p14="http://schemas.microsoft.com/office/powerpoint/2010/main" val="41479912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lstStyle/>
          <a:p>
            <a:pPr eaLnBrk="1" hangingPunct="1">
              <a:defRPr/>
            </a:pPr>
            <a:r>
              <a:rPr lang="en-US" dirty="0" smtClean="0">
                <a:latin typeface="Arial" charset="0"/>
                <a:cs typeface="Arial" charset="0"/>
              </a:rPr>
              <a:t>Factors such as user load, or the number and nature of tasks performed by an application, can change the disk space and memory the application uses. For many applications, increasing the available disk space or memory can improve overall performance. Similarly, running additional instances of an application can allow the application to handle increases in user load and concurrent requests. These adjustments are called </a:t>
            </a:r>
            <a:r>
              <a:rPr lang="en-US" b="1" dirty="0" smtClean="0">
                <a:latin typeface="Arial" charset="0"/>
                <a:cs typeface="Arial" charset="0"/>
              </a:rPr>
              <a:t>scaling</a:t>
            </a:r>
            <a:r>
              <a:rPr lang="en-US" dirty="0" smtClean="0">
                <a:latin typeface="Arial" charset="0"/>
                <a:cs typeface="Arial" charset="0"/>
              </a:rPr>
              <a:t> an application.</a:t>
            </a:r>
            <a:endParaRPr lang="en-US" sz="1400" dirty="0" smtClean="0">
              <a:latin typeface="Arial" charset="0"/>
              <a:cs typeface="Arial" charset="0"/>
            </a:endParaRPr>
          </a:p>
          <a:p>
            <a:pPr eaLnBrk="1" hangingPunct="1">
              <a:defRPr/>
            </a:pPr>
            <a:r>
              <a:rPr lang="en-US" dirty="0" smtClean="0">
                <a:latin typeface="Arial" charset="0"/>
                <a:cs typeface="Arial" charset="0"/>
              </a:rPr>
              <a:t>Command for scaling</a:t>
            </a:r>
            <a:endParaRPr lang="en-US" sz="1400" dirty="0" smtClean="0">
              <a:latin typeface="Arial" charset="0"/>
              <a:cs typeface="Arial" charset="0"/>
            </a:endParaRPr>
          </a:p>
          <a:p>
            <a:pPr lvl="1" eaLnBrk="1" hangingPunct="1">
              <a:defRPr/>
            </a:pPr>
            <a:r>
              <a:rPr lang="en-US" dirty="0" smtClean="0">
                <a:latin typeface="Arial" charset="0"/>
                <a:cs typeface="Arial" charset="0"/>
              </a:rPr>
              <a:t>Use </a:t>
            </a:r>
            <a:r>
              <a:rPr lang="en-US" dirty="0" err="1" smtClean="0">
                <a:latin typeface="Arial" charset="0"/>
                <a:cs typeface="Arial" charset="0"/>
              </a:rPr>
              <a:t>cf</a:t>
            </a:r>
            <a:r>
              <a:rPr lang="en-US" dirty="0" smtClean="0">
                <a:latin typeface="Arial" charset="0"/>
                <a:cs typeface="Arial" charset="0"/>
              </a:rPr>
              <a:t> scale to scale your application up or down to meet changes in traffic or demand.</a:t>
            </a:r>
            <a:endParaRPr lang="en-US" sz="1400" dirty="0" smtClean="0">
              <a:latin typeface="Arial" charset="0"/>
              <a:cs typeface="Arial" charset="0"/>
            </a:endParaRPr>
          </a:p>
          <a:p>
            <a:pPr eaLnBrk="1" hangingPunct="1">
              <a:defRPr/>
            </a:pPr>
            <a:r>
              <a:rPr lang="en-US" dirty="0" smtClean="0">
                <a:latin typeface="Arial" charset="0"/>
                <a:cs typeface="Arial" charset="0"/>
              </a:rPr>
              <a:t>Scaling Horizontally</a:t>
            </a:r>
            <a:endParaRPr lang="en-US" sz="1050" dirty="0" smtClean="0">
              <a:latin typeface="Arial" charset="0"/>
              <a:cs typeface="Arial" charset="0"/>
            </a:endParaRPr>
          </a:p>
          <a:p>
            <a:pPr lvl="1" eaLnBrk="1" hangingPunct="1">
              <a:defRPr/>
            </a:pPr>
            <a:r>
              <a:rPr lang="en-US" dirty="0" smtClean="0">
                <a:latin typeface="Arial" charset="0"/>
                <a:cs typeface="Arial" charset="0"/>
              </a:rPr>
              <a:t>Command for scaling horizontally: Use </a:t>
            </a:r>
            <a:r>
              <a:rPr lang="en-US" dirty="0" err="1" smtClean="0">
                <a:latin typeface="Arial" charset="0"/>
                <a:cs typeface="Arial" charset="0"/>
              </a:rPr>
              <a:t>cf</a:t>
            </a:r>
            <a:r>
              <a:rPr lang="en-US" dirty="0" smtClean="0">
                <a:latin typeface="Arial" charset="0"/>
                <a:cs typeface="Arial" charset="0"/>
              </a:rPr>
              <a:t> scale APP -</a:t>
            </a:r>
            <a:r>
              <a:rPr lang="en-US" dirty="0" err="1" smtClean="0">
                <a:latin typeface="Arial" charset="0"/>
                <a:cs typeface="Arial" charset="0"/>
              </a:rPr>
              <a:t>i</a:t>
            </a:r>
            <a:r>
              <a:rPr lang="en-US" dirty="0" smtClean="0">
                <a:latin typeface="Arial" charset="0"/>
                <a:cs typeface="Arial" charset="0"/>
              </a:rPr>
              <a:t> INSTANCES to horizontally scale your application. Cloud Foundry will increase or decrease the number of instances of your application to match INSTANCES.</a:t>
            </a:r>
            <a:endParaRPr lang="en-US" sz="1400" dirty="0" smtClean="0">
              <a:latin typeface="Arial" charset="0"/>
              <a:cs typeface="Arial" charset="0"/>
            </a:endParaRPr>
          </a:p>
          <a:p>
            <a:pPr lvl="1" eaLnBrk="1" hangingPunct="1">
              <a:defRPr/>
            </a:pPr>
            <a:r>
              <a:rPr lang="en-US" dirty="0" smtClean="0">
                <a:latin typeface="Arial" charset="0"/>
                <a:cs typeface="Arial" charset="0"/>
              </a:rPr>
              <a:t>Example: </a:t>
            </a:r>
            <a:r>
              <a:rPr lang="en-US" dirty="0" err="1" smtClean="0">
                <a:latin typeface="Arial" charset="0"/>
                <a:cs typeface="Arial" charset="0"/>
              </a:rPr>
              <a:t>cf</a:t>
            </a:r>
            <a:r>
              <a:rPr lang="en-US" dirty="0" smtClean="0">
                <a:latin typeface="Arial" charset="0"/>
                <a:cs typeface="Arial" charset="0"/>
              </a:rPr>
              <a:t> scale </a:t>
            </a:r>
            <a:r>
              <a:rPr lang="en-US" dirty="0" err="1" smtClean="0">
                <a:latin typeface="Arial" charset="0"/>
                <a:cs typeface="Arial" charset="0"/>
              </a:rPr>
              <a:t>myApp</a:t>
            </a:r>
            <a:r>
              <a:rPr lang="en-US" dirty="0" smtClean="0">
                <a:latin typeface="Arial" charset="0"/>
                <a:cs typeface="Arial" charset="0"/>
              </a:rPr>
              <a:t> –</a:t>
            </a:r>
            <a:r>
              <a:rPr lang="en-US" dirty="0" err="1" smtClean="0">
                <a:latin typeface="Arial" charset="0"/>
                <a:cs typeface="Arial" charset="0"/>
              </a:rPr>
              <a:t>i</a:t>
            </a:r>
            <a:r>
              <a:rPr lang="en-US" dirty="0" smtClean="0">
                <a:latin typeface="Arial" charset="0"/>
                <a:cs typeface="Arial" charset="0"/>
              </a:rPr>
              <a:t> 5</a:t>
            </a:r>
            <a:endParaRPr lang="en-US" sz="1400" dirty="0" smtClean="0">
              <a:latin typeface="Arial" charset="0"/>
              <a:cs typeface="Arial" charset="0"/>
            </a:endParaRPr>
          </a:p>
          <a:p>
            <a:pPr eaLnBrk="1" hangingPunct="1">
              <a:defRPr/>
            </a:pPr>
            <a:r>
              <a:rPr lang="en-US" b="1" dirty="0" smtClean="0">
                <a:latin typeface="Arial" charset="0"/>
                <a:cs typeface="Arial" charset="0"/>
              </a:rPr>
              <a:t> </a:t>
            </a:r>
            <a:endParaRPr lang="en-US" sz="1400" dirty="0" smtClean="0">
              <a:latin typeface="Arial" charset="0"/>
              <a:cs typeface="Arial" charset="0"/>
            </a:endParaRPr>
          </a:p>
          <a:p>
            <a:pPr eaLnBrk="1" hangingPunct="1">
              <a:defRPr/>
            </a:pPr>
            <a:r>
              <a:rPr lang="en-US" dirty="0" smtClean="0">
                <a:latin typeface="Arial" charset="0"/>
                <a:cs typeface="Arial" charset="0"/>
              </a:rPr>
              <a:t>Scaling Vertically: Vertically scaling an application changes the disk space limit or memory limit that Cloud Foundry applies to all instances of the application.</a:t>
            </a:r>
            <a:endParaRPr lang="en-US" sz="1050" dirty="0" smtClean="0">
              <a:latin typeface="Arial" charset="0"/>
              <a:cs typeface="Arial" charset="0"/>
            </a:endParaRPr>
          </a:p>
          <a:p>
            <a:pPr lvl="1" eaLnBrk="1" hangingPunct="1">
              <a:defRPr/>
            </a:pPr>
            <a:r>
              <a:rPr lang="en-US" dirty="0" smtClean="0">
                <a:latin typeface="Arial" charset="0"/>
                <a:cs typeface="Arial" charset="0"/>
              </a:rPr>
              <a:t>Command for scaling vertically: Use </a:t>
            </a:r>
            <a:r>
              <a:rPr lang="en-US" dirty="0" err="1" smtClean="0">
                <a:latin typeface="Arial" charset="0"/>
                <a:cs typeface="Arial" charset="0"/>
              </a:rPr>
              <a:t>cf</a:t>
            </a:r>
            <a:r>
              <a:rPr lang="en-US" dirty="0" smtClean="0">
                <a:latin typeface="Arial" charset="0"/>
                <a:cs typeface="Arial" charset="0"/>
              </a:rPr>
              <a:t> scale APP -k DISK to change the disk space limit applied to all instances of your application. DISK must be an integer followed by either an </a:t>
            </a:r>
            <a:r>
              <a:rPr lang="en-US" b="1" dirty="0" smtClean="0">
                <a:latin typeface="Arial" charset="0"/>
                <a:cs typeface="Arial" charset="0"/>
              </a:rPr>
              <a:t>M</a:t>
            </a:r>
            <a:r>
              <a:rPr lang="en-US" dirty="0" smtClean="0">
                <a:latin typeface="Arial" charset="0"/>
                <a:cs typeface="Arial" charset="0"/>
              </a:rPr>
              <a:t>, for megabytes, or </a:t>
            </a:r>
            <a:r>
              <a:rPr lang="en-US" b="1" dirty="0" smtClean="0">
                <a:latin typeface="Arial" charset="0"/>
                <a:cs typeface="Arial" charset="0"/>
              </a:rPr>
              <a:t>G</a:t>
            </a:r>
            <a:r>
              <a:rPr lang="en-US" dirty="0" smtClean="0">
                <a:latin typeface="Arial" charset="0"/>
                <a:cs typeface="Arial" charset="0"/>
              </a:rPr>
              <a:t>, for gigabytes.</a:t>
            </a:r>
            <a:endParaRPr lang="en-US" sz="1050" dirty="0" smtClean="0">
              <a:latin typeface="Arial" charset="0"/>
              <a:cs typeface="Arial" charset="0"/>
            </a:endParaRPr>
          </a:p>
          <a:p>
            <a:pPr lvl="1" eaLnBrk="1" hangingPunct="1">
              <a:defRPr/>
            </a:pPr>
            <a:r>
              <a:rPr lang="en-US" dirty="0" smtClean="0">
                <a:latin typeface="Arial" charset="0"/>
                <a:cs typeface="Arial" charset="0"/>
              </a:rPr>
              <a:t>Example: </a:t>
            </a:r>
            <a:r>
              <a:rPr lang="en-US" dirty="0" err="1" smtClean="0">
                <a:latin typeface="Arial" charset="0"/>
                <a:cs typeface="Arial" charset="0"/>
              </a:rPr>
              <a:t>cf</a:t>
            </a:r>
            <a:r>
              <a:rPr lang="en-US" dirty="0" smtClean="0">
                <a:latin typeface="Arial" charset="0"/>
                <a:cs typeface="Arial" charset="0"/>
              </a:rPr>
              <a:t> scale </a:t>
            </a:r>
            <a:r>
              <a:rPr lang="en-US" dirty="0" err="1" smtClean="0">
                <a:latin typeface="Arial" charset="0"/>
                <a:cs typeface="Arial" charset="0"/>
              </a:rPr>
              <a:t>myApp</a:t>
            </a:r>
            <a:r>
              <a:rPr lang="en-US" dirty="0" smtClean="0">
                <a:latin typeface="Arial" charset="0"/>
                <a:cs typeface="Arial" charset="0"/>
              </a:rPr>
              <a:t> -k 512M</a:t>
            </a:r>
            <a:endParaRPr lang="en-US" sz="1400" dirty="0" smtClean="0">
              <a:latin typeface="Arial" charset="0"/>
              <a:cs typeface="Arial" charset="0"/>
            </a:endParaRPr>
          </a:p>
          <a:p>
            <a:pPr lvl="1" eaLnBrk="1" hangingPunct="1">
              <a:defRPr/>
            </a:pPr>
            <a:r>
              <a:rPr lang="en-US" dirty="0" smtClean="0">
                <a:latin typeface="Arial" charset="0"/>
                <a:cs typeface="Arial" charset="0"/>
              </a:rPr>
              <a:t>Example: </a:t>
            </a:r>
            <a:r>
              <a:rPr lang="en-US" dirty="0" err="1" smtClean="0">
                <a:latin typeface="Arial" charset="0"/>
                <a:cs typeface="Arial" charset="0"/>
              </a:rPr>
              <a:t>cf</a:t>
            </a:r>
            <a:r>
              <a:rPr lang="en-US" dirty="0" smtClean="0">
                <a:latin typeface="Arial" charset="0"/>
                <a:cs typeface="Arial" charset="0"/>
              </a:rPr>
              <a:t> scale </a:t>
            </a:r>
            <a:r>
              <a:rPr lang="en-US" dirty="0" err="1" smtClean="0">
                <a:latin typeface="Arial" charset="0"/>
                <a:cs typeface="Arial" charset="0"/>
              </a:rPr>
              <a:t>myApp</a:t>
            </a:r>
            <a:r>
              <a:rPr lang="en-US" dirty="0" smtClean="0">
                <a:latin typeface="Arial" charset="0"/>
                <a:cs typeface="Arial" charset="0"/>
              </a:rPr>
              <a:t> -m 1G</a:t>
            </a:r>
            <a:endParaRPr lang="en-US" sz="1400" dirty="0" smtClean="0">
              <a:latin typeface="Arial" charset="0"/>
              <a:cs typeface="Arial" charset="0"/>
            </a:endParaRPr>
          </a:p>
          <a:p>
            <a:pPr eaLnBrk="1" hangingPunct="1">
              <a:defRPr/>
            </a:pPr>
            <a:endParaRPr lang="en-US" dirty="0"/>
          </a:p>
        </p:txBody>
      </p:sp>
      <p:sp>
        <p:nvSpPr>
          <p:cNvPr id="204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F023EFE-DFD4-433D-8B86-BDA8D2C64917}" type="slidenum">
              <a:rPr lang="en-US" altLang="en-US" smtClean="0">
                <a:latin typeface="Calibri" panose="020F0502020204030204" pitchFamily="34" charset="0"/>
              </a:rPr>
              <a:pPr/>
              <a:t>7</a:t>
            </a:fld>
            <a:endParaRPr lang="en-US" altLang="en-US" smtClean="0">
              <a:latin typeface="Calibri" panose="020F0502020204030204" pitchFamily="34" charset="0"/>
            </a:endParaRPr>
          </a:p>
        </p:txBody>
      </p:sp>
    </p:spTree>
    <p:extLst>
      <p:ext uri="{BB962C8B-B14F-4D97-AF65-F5344CB8AC3E}">
        <p14:creationId xmlns:p14="http://schemas.microsoft.com/office/powerpoint/2010/main" val="23787418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b="1" smtClean="0">
                <a:latin typeface="Arial" panose="020B0604020202020204" pitchFamily="34" charset="0"/>
                <a:cs typeface="Arial" panose="020B0604020202020204" pitchFamily="34" charset="0"/>
              </a:rPr>
              <a:t>Loggregator is the user application logging subsystem of Cloud Foundry</a:t>
            </a:r>
            <a:endParaRPr lang="en-US" altLang="en-US" smtClean="0">
              <a:latin typeface="Arial" panose="020B0604020202020204" pitchFamily="34" charset="0"/>
              <a:cs typeface="Arial" panose="020B0604020202020204" pitchFamily="34" charset="0"/>
            </a:endParaRPr>
          </a:p>
          <a:p>
            <a:pPr eaLnBrk="1" hangingPunct="1"/>
            <a:r>
              <a:rPr lang="en-US" altLang="en-US" smtClean="0"/>
              <a:t>Loggregator allows users to:</a:t>
            </a:r>
          </a:p>
          <a:p>
            <a:pPr eaLnBrk="1" hangingPunct="1"/>
            <a:r>
              <a:rPr lang="en-US" altLang="en-US" smtClean="0"/>
              <a:t>• Tail their application logs.</a:t>
            </a:r>
          </a:p>
          <a:p>
            <a:pPr eaLnBrk="1" hangingPunct="1"/>
            <a:r>
              <a:rPr lang="en-US" altLang="en-US" smtClean="0"/>
              <a:t>• Dump a recent set of application logs (where recent is a configurable number of log packets).</a:t>
            </a:r>
          </a:p>
          <a:p>
            <a:pPr eaLnBrk="1" hangingPunct="1"/>
            <a:r>
              <a:rPr lang="en-US" altLang="en-US" smtClean="0"/>
              <a:t>• Continually drain their application logs to 3rd party log archive and analysis services.</a:t>
            </a:r>
          </a:p>
          <a:p>
            <a:pPr eaLnBrk="1" hangingPunct="1"/>
            <a:r>
              <a:rPr lang="en-US" altLang="en-US" smtClean="0"/>
              <a:t>• (Operators and administrators only) Access the firehose, which includes the combined stream of logs from all apps, plus metrics data from CF components.</a:t>
            </a:r>
          </a:p>
          <a:p>
            <a:pPr eaLnBrk="1" hangingPunct="1"/>
            <a:r>
              <a:rPr lang="en-US" altLang="en-US" smtClean="0"/>
              <a:t>• Usage : cf logs APP_NAME [--recent]</a:t>
            </a:r>
          </a:p>
          <a:p>
            <a:pPr eaLnBrk="1" hangingPunct="1"/>
            <a:endParaRPr lang="en-US" altLang="en-US" smtClean="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B6D0609-F780-4682-B4D5-61F8755FB615}" type="slidenum">
              <a:rPr lang="en-US" altLang="en-US" smtClean="0">
                <a:latin typeface="Calibri" panose="020F0502020204030204" pitchFamily="34" charset="0"/>
              </a:rPr>
              <a:pPr/>
              <a:t>8</a:t>
            </a:fld>
            <a:endParaRPr lang="en-US" altLang="en-US" smtClean="0">
              <a:latin typeface="Calibri" panose="020F0502020204030204" pitchFamily="34" charset="0"/>
            </a:endParaRPr>
          </a:p>
        </p:txBody>
      </p:sp>
    </p:spTree>
    <p:extLst>
      <p:ext uri="{BB962C8B-B14F-4D97-AF65-F5344CB8AC3E}">
        <p14:creationId xmlns:p14="http://schemas.microsoft.com/office/powerpoint/2010/main" val="2481199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smtClean="0">
                <a:cs typeface="Arial" panose="020B0604020202020204" pitchFamily="34" charset="0"/>
              </a:rPr>
              <a:t>Using command line to manage Organization</a:t>
            </a:r>
          </a:p>
          <a:p>
            <a:pPr eaLnBrk="1" hangingPunct="1"/>
            <a:r>
              <a:rPr lang="en-US" altLang="en-US" smtClean="0">
                <a:cs typeface="Arial" panose="020B0604020202020204" pitchFamily="34" charset="0"/>
              </a:rPr>
              <a:t>To check what organization, and space you are logged onto or to change the space:</a:t>
            </a:r>
          </a:p>
          <a:p>
            <a:pPr lvl="1" eaLnBrk="1" hangingPunct="1"/>
            <a:r>
              <a:rPr lang="en-US" altLang="en-US" sz="1800" b="1" smtClean="0">
                <a:cs typeface="Arial" panose="020B0604020202020204" pitchFamily="34" charset="0"/>
              </a:rPr>
              <a:t>cf target  </a:t>
            </a:r>
          </a:p>
          <a:p>
            <a:pPr lvl="1" eaLnBrk="1" hangingPunct="1"/>
            <a:r>
              <a:rPr lang="en-US" altLang="en-US" sz="1800" b="1" smtClean="0">
                <a:cs typeface="Arial" panose="020B0604020202020204" pitchFamily="34" charset="0"/>
              </a:rPr>
              <a:t>cf t -s test</a:t>
            </a:r>
          </a:p>
          <a:p>
            <a:pPr lvl="2" eaLnBrk="1" hangingPunct="1"/>
            <a:r>
              <a:rPr lang="en-US" altLang="en-US" sz="1800" smtClean="0">
                <a:cs typeface="Arial" panose="020B0604020202020204" pitchFamily="34" charset="0"/>
              </a:rPr>
              <a:t>The first option will print the current target organization and space</a:t>
            </a:r>
          </a:p>
          <a:p>
            <a:pPr lvl="2" eaLnBrk="1" hangingPunct="1"/>
            <a:r>
              <a:rPr lang="en-US" altLang="en-US" sz="1800" smtClean="0">
                <a:cs typeface="Arial" panose="020B0604020202020204" pitchFamily="34" charset="0"/>
              </a:rPr>
              <a:t>The second option will switch to the test space</a:t>
            </a:r>
          </a:p>
          <a:p>
            <a:pPr eaLnBrk="1" hangingPunct="1"/>
            <a:r>
              <a:rPr lang="en-US" altLang="en-US" sz="1800" smtClean="0">
                <a:cs typeface="Arial" panose="020B0604020202020204" pitchFamily="34" charset="0"/>
              </a:rPr>
              <a:t>To view your organization information such as domains, quota, spaces:</a:t>
            </a:r>
          </a:p>
          <a:p>
            <a:pPr lvl="1" eaLnBrk="1" hangingPunct="1"/>
            <a:r>
              <a:rPr lang="en-US" altLang="en-US" sz="1800" b="1" smtClean="0">
                <a:cs typeface="Arial" panose="020B0604020202020204" pitchFamily="34" charset="0"/>
              </a:rPr>
              <a:t>cf org </a:t>
            </a:r>
            <a:r>
              <a:rPr lang="en-US" altLang="en-US" sz="1800" b="1" i="1" smtClean="0">
                <a:cs typeface="Arial" panose="020B0604020202020204" pitchFamily="34" charset="0"/>
              </a:rPr>
              <a:t>ORGNAME</a:t>
            </a:r>
          </a:p>
          <a:p>
            <a:pPr eaLnBrk="1" hangingPunct="1"/>
            <a:endParaRPr lang="en-US" altLang="en-US" smtClean="0"/>
          </a:p>
        </p:txBody>
      </p:sp>
      <p:sp>
        <p:nvSpPr>
          <p:cNvPr id="2458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866EAF6-A166-486D-9F74-0FFC11471B5F}" type="slidenum">
              <a:rPr lang="en-US" altLang="en-US" smtClean="0">
                <a:latin typeface="Calibri" panose="020F0502020204030204" pitchFamily="34" charset="0"/>
              </a:rPr>
              <a:pPr/>
              <a:t>9</a:t>
            </a:fld>
            <a:endParaRPr lang="en-US" altLang="en-US" smtClean="0">
              <a:latin typeface="Calibri" panose="020F0502020204030204" pitchFamily="34" charset="0"/>
            </a:endParaRPr>
          </a:p>
        </p:txBody>
      </p:sp>
    </p:spTree>
    <p:extLst>
      <p:ext uri="{BB962C8B-B14F-4D97-AF65-F5344CB8AC3E}">
        <p14:creationId xmlns:p14="http://schemas.microsoft.com/office/powerpoint/2010/main" val="6466884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266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0B91714-89D6-4F8E-844E-B142EB0D94A3}" type="slidenum">
              <a:rPr lang="en-US" altLang="en-US" smtClean="0">
                <a:latin typeface="Calibri" panose="020F0502020204030204" pitchFamily="34" charset="0"/>
              </a:rPr>
              <a:pPr/>
              <a:t>10</a:t>
            </a:fld>
            <a:endParaRPr lang="en-US" altLang="en-US" smtClean="0">
              <a:latin typeface="Calibri" panose="020F0502020204030204" pitchFamily="34" charset="0"/>
            </a:endParaRPr>
          </a:p>
        </p:txBody>
      </p:sp>
    </p:spTree>
    <p:extLst>
      <p:ext uri="{BB962C8B-B14F-4D97-AF65-F5344CB8AC3E}">
        <p14:creationId xmlns:p14="http://schemas.microsoft.com/office/powerpoint/2010/main" val="31631701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b="1" smtClean="0"/>
              <a:t>Users and Roles</a:t>
            </a:r>
          </a:p>
          <a:p>
            <a:r>
              <a:rPr lang="en-US" altLang="en-US" smtClean="0"/>
              <a:t>Commands for listing users:</a:t>
            </a:r>
          </a:p>
          <a:p>
            <a:r>
              <a:rPr lang="en-US" altLang="en-US" smtClean="0"/>
              <a:t>cf org-users — List users in the organization by role.</a:t>
            </a:r>
          </a:p>
          <a:p>
            <a:r>
              <a:rPr lang="en-US" altLang="en-US" smtClean="0"/>
              <a:t>cf space-users — List users in the space by role.</a:t>
            </a:r>
          </a:p>
          <a:p>
            <a:r>
              <a:rPr lang="en-US" altLang="en-US" smtClean="0"/>
              <a:t>Commands for managing roles (admin-only):</a:t>
            </a:r>
          </a:p>
          <a:p>
            <a:r>
              <a:rPr lang="en-US" altLang="en-US" smtClean="0"/>
              <a:t>cf set-org-role — Assign an organization role to a user. The available roles are “OrgManager”, “BillingManager”, and “OrgAuditor”.</a:t>
            </a:r>
          </a:p>
          <a:p>
            <a:r>
              <a:rPr lang="en-US" altLang="en-US" smtClean="0"/>
              <a:t>cf unset-org-role — Remove an organization role from a user.</a:t>
            </a:r>
          </a:p>
          <a:p>
            <a:r>
              <a:rPr lang="en-US" altLang="en-US" smtClean="0"/>
              <a:t>cf set-space-role — Assign a space role to a user. The available roles are “SpaceManager”, “SpaceDeveloper”, and “SpaceAuditor”.</a:t>
            </a:r>
          </a:p>
          <a:p>
            <a:r>
              <a:rPr lang="en-US" altLang="en-US" smtClean="0"/>
              <a:t>cf unset-space-role — Remove a space role from a user.</a:t>
            </a:r>
          </a:p>
          <a:p>
            <a:pPr eaLnBrk="1" hangingPunct="1"/>
            <a:endParaRPr lang="en-US" altLang="en-US" smtClean="0"/>
          </a:p>
        </p:txBody>
      </p:sp>
      <p:sp>
        <p:nvSpPr>
          <p:cNvPr id="2867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DBEAE37-80BC-4515-B6A1-F1DF37ADB365}" type="slidenum">
              <a:rPr lang="en-US" altLang="en-US" smtClean="0">
                <a:latin typeface="Calibri" panose="020F0502020204030204" pitchFamily="34" charset="0"/>
              </a:rPr>
              <a:pPr/>
              <a:t>11</a:t>
            </a:fld>
            <a:endParaRPr lang="en-US" altLang="en-US" smtClean="0">
              <a:latin typeface="Calibri" panose="020F0502020204030204" pitchFamily="34" charset="0"/>
            </a:endParaRPr>
          </a:p>
        </p:txBody>
      </p:sp>
    </p:spTree>
    <p:extLst>
      <p:ext uri="{BB962C8B-B14F-4D97-AF65-F5344CB8AC3E}">
        <p14:creationId xmlns:p14="http://schemas.microsoft.com/office/powerpoint/2010/main" val="13412192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b="1" smtClean="0"/>
              <a:t>Users and Roles</a:t>
            </a:r>
          </a:p>
          <a:p>
            <a:r>
              <a:rPr lang="en-US" altLang="en-US" smtClean="0"/>
              <a:t>Commands for listing users:</a:t>
            </a:r>
          </a:p>
          <a:p>
            <a:r>
              <a:rPr lang="en-US" altLang="en-US" smtClean="0"/>
              <a:t>cf org-users — List users in the organization by role.</a:t>
            </a:r>
          </a:p>
          <a:p>
            <a:r>
              <a:rPr lang="en-US" altLang="en-US" smtClean="0"/>
              <a:t>cf space-users — List users in the space by role.</a:t>
            </a:r>
          </a:p>
          <a:p>
            <a:r>
              <a:rPr lang="en-US" altLang="en-US" smtClean="0"/>
              <a:t>Commands for managing roles (admin-only):</a:t>
            </a:r>
          </a:p>
          <a:p>
            <a:r>
              <a:rPr lang="en-US" altLang="en-US" smtClean="0"/>
              <a:t>cf set-org-role — Assign an organization role to a user. The available roles are “OrgManager”, “BillingManager”, and “OrgAuditor”.</a:t>
            </a:r>
          </a:p>
          <a:p>
            <a:r>
              <a:rPr lang="en-US" altLang="en-US" smtClean="0"/>
              <a:t>cf unset-org-role — Remove an organization role from a user.</a:t>
            </a:r>
          </a:p>
          <a:p>
            <a:r>
              <a:rPr lang="en-US" altLang="en-US" smtClean="0"/>
              <a:t>cf set-space-role — Assign a space role to a user. The available roles are “SpaceManager”, “SpaceDeveloper”, and “SpaceAuditor”.</a:t>
            </a:r>
          </a:p>
          <a:p>
            <a:r>
              <a:rPr lang="en-US" altLang="en-US" smtClean="0"/>
              <a:t>cf unset-space-role — Remove a space role from a user.</a:t>
            </a:r>
          </a:p>
          <a:p>
            <a:pPr eaLnBrk="1" hangingPunct="1"/>
            <a:endParaRPr lang="en-US" altLang="en-US" smtClean="0"/>
          </a:p>
        </p:txBody>
      </p:sp>
      <p:sp>
        <p:nvSpPr>
          <p:cNvPr id="307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C9DDF08-C211-470D-A5AB-E3C2EEA2C862}" type="slidenum">
              <a:rPr lang="en-US" altLang="en-US" smtClean="0">
                <a:latin typeface="Calibri" panose="020F0502020204030204" pitchFamily="34" charset="0"/>
              </a:rPr>
              <a:pPr/>
              <a:t>12</a:t>
            </a:fld>
            <a:endParaRPr lang="en-US" altLang="en-US" smtClean="0">
              <a:latin typeface="Calibri" panose="020F0502020204030204" pitchFamily="34" charset="0"/>
            </a:endParaRPr>
          </a:p>
        </p:txBody>
      </p:sp>
    </p:spTree>
    <p:extLst>
      <p:ext uri="{BB962C8B-B14F-4D97-AF65-F5344CB8AC3E}">
        <p14:creationId xmlns:p14="http://schemas.microsoft.com/office/powerpoint/2010/main" val="10428904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mtClean="0"/>
              <a:t>The relationships between domains, routes, organizations, and spaces have been simplified in cf CLI v6. The term </a:t>
            </a:r>
            <a:r>
              <a:rPr lang="en-US" altLang="en-US" b="1" smtClean="0"/>
              <a:t>domain</a:t>
            </a:r>
            <a:r>
              <a:rPr lang="en-US" altLang="en-US" smtClean="0"/>
              <a:t> in this topic differs from its common use and is specific to Cloud Foundry.</a:t>
            </a:r>
          </a:p>
          <a:p>
            <a:r>
              <a:rPr lang="en-US" altLang="en-US" smtClean="0"/>
              <a:t>All domains are now mapped to an org. As before, a route is a URL of the form HOSTNAME.DOMAIN. If you do not provide a hostname (also known as subdomain), the URL takes the form APPNAME.DOMAIN. Domains can be </a:t>
            </a:r>
            <a:r>
              <a:rPr lang="en-US" altLang="en-US" b="1" smtClean="0"/>
              <a:t>shared</a:t>
            </a:r>
            <a:r>
              <a:rPr lang="en-US" altLang="en-US" smtClean="0"/>
              <a:t> or </a:t>
            </a:r>
            <a:r>
              <a:rPr lang="en-US" altLang="en-US" b="1" smtClean="0"/>
              <a:t>private</a:t>
            </a:r>
            <a:r>
              <a:rPr lang="en-US" altLang="en-US" smtClean="0"/>
              <a:t>. Shared domains are registered to multiple orgs while private domains, or </a:t>
            </a:r>
            <a:r>
              <a:rPr lang="en-US" altLang="en-US" b="1" smtClean="0"/>
              <a:t>owned</a:t>
            </a:r>
            <a:r>
              <a:rPr lang="en-US" altLang="en-US" smtClean="0"/>
              <a:t> domains, are registered to one org. A Cloud Foundry instance defines a default shared domain that your application uses unless you specify a different domain.</a:t>
            </a:r>
          </a:p>
          <a:p>
            <a:endParaRPr lang="en-US" altLang="en-US" smtClean="0"/>
          </a:p>
          <a:p>
            <a:r>
              <a:rPr lang="en-US" altLang="en-US" smtClean="0"/>
              <a:t>The cf CLI v6 has improved separation between management of private domains and management of shared domains. Only administrators can manage shared domains.</a:t>
            </a:r>
          </a:p>
          <a:p>
            <a:r>
              <a:rPr lang="en-US" altLang="en-US" smtClean="0"/>
              <a:t>In terms of domains, cf CLI v6 is designed to work with both new and older versions of cf_release.</a:t>
            </a:r>
          </a:p>
          <a:p>
            <a:r>
              <a:rPr lang="en-US" altLang="en-US" b="1" smtClean="0"/>
              <a:t>Note</a:t>
            </a:r>
            <a:r>
              <a:rPr lang="en-US" altLang="en-US" smtClean="0"/>
              <a:t>: The map-domain and unmap-domain commands no longer exist.</a:t>
            </a:r>
          </a:p>
          <a:p>
            <a:r>
              <a:rPr lang="en-US" altLang="en-US" smtClean="0"/>
              <a:t>Commands for managing domains:</a:t>
            </a:r>
          </a:p>
          <a:p>
            <a:r>
              <a:rPr lang="en-US" altLang="en-US" smtClean="0"/>
              <a:t>cf create-domain — Create a domain.</a:t>
            </a:r>
          </a:p>
          <a:p>
            <a:r>
              <a:rPr lang="en-US" altLang="en-US" smtClean="0"/>
              <a:t>cf delete-domain — Delete a domain.</a:t>
            </a:r>
          </a:p>
          <a:p>
            <a:r>
              <a:rPr lang="en-US" altLang="en-US" smtClean="0"/>
              <a:t>cf create-shared-domain — Share a domain with all organizations. Admin only.</a:t>
            </a:r>
          </a:p>
          <a:p>
            <a:r>
              <a:rPr lang="en-US" altLang="en-US" smtClean="0"/>
              <a:t>cf delete-shared-domain — Delete a domain that was shared with all organizations. Admin only.</a:t>
            </a:r>
          </a:p>
        </p:txBody>
      </p:sp>
      <p:sp>
        <p:nvSpPr>
          <p:cNvPr id="327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2A17270-5D3C-40B0-9D3F-2FA9968A8CDE}" type="slidenum">
              <a:rPr lang="en-US" altLang="en-US" smtClean="0">
                <a:latin typeface="Calibri" panose="020F0502020204030204" pitchFamily="34" charset="0"/>
              </a:rPr>
              <a:pPr/>
              <a:t>13</a:t>
            </a:fld>
            <a:endParaRPr lang="en-US" altLang="en-US" smtClean="0">
              <a:latin typeface="Calibri" panose="020F0502020204030204" pitchFamily="34" charset="0"/>
            </a:endParaRPr>
          </a:p>
        </p:txBody>
      </p:sp>
    </p:spTree>
    <p:extLst>
      <p:ext uri="{BB962C8B-B14F-4D97-AF65-F5344CB8AC3E}">
        <p14:creationId xmlns:p14="http://schemas.microsoft.com/office/powerpoint/2010/main" val="40783609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mtClean="0"/>
              <a:t>A </a:t>
            </a:r>
            <a:r>
              <a:rPr lang="en-US" altLang="en-US" b="1" smtClean="0"/>
              <a:t>route</a:t>
            </a:r>
            <a:r>
              <a:rPr lang="en-US" altLang="en-US" smtClean="0"/>
              <a:t> is a path used to access an application online. Each route is directly bound to one or more applications in Cloud Foundry. A route is a URL composed of a domain and an optional host as a prefix. For example, “myappname” is the host and “example.com” is the domain in the route “myappname.example.com.” Here “example.com” could either be a custom domain of your own, or a domain that you have created through Cloud Foundry.</a:t>
            </a:r>
          </a:p>
          <a:p>
            <a:r>
              <a:rPr lang="en-US" altLang="en-US" smtClean="0"/>
              <a:t>Commands for managing routes:</a:t>
            </a:r>
          </a:p>
          <a:p>
            <a:r>
              <a:rPr lang="en-US" altLang="en-US" smtClean="0"/>
              <a:t>cf create-route — Create a route.</a:t>
            </a:r>
          </a:p>
          <a:p>
            <a:r>
              <a:rPr lang="en-US" altLang="en-US" smtClean="0"/>
              <a:t>cf map-route — Map a route to an application. If the route does not exist, this command creates it and then maps it.</a:t>
            </a:r>
          </a:p>
          <a:p>
            <a:r>
              <a:rPr lang="en-US" altLang="en-US" smtClean="0"/>
              <a:t>cf unmap-route — Remove a route from an application.</a:t>
            </a:r>
          </a:p>
          <a:p>
            <a:r>
              <a:rPr lang="en-US" altLang="en-US" smtClean="0"/>
              <a:t>cf delete-route — Delete a route.</a:t>
            </a:r>
          </a:p>
          <a:p>
            <a:r>
              <a:rPr lang="en-US" altLang="en-US" b="1" smtClean="0"/>
              <a:t>Mapping a Route</a:t>
            </a:r>
          </a:p>
          <a:p>
            <a:r>
              <a:rPr lang="en-US" altLang="en-US" smtClean="0"/>
              <a:t>Use cf create-domain to create a domain in the desired organization, unless the domain already exists in (or has been shared with) the organization.</a:t>
            </a:r>
          </a:p>
          <a:p>
            <a:r>
              <a:rPr lang="en-US" altLang="en-US" smtClean="0"/>
              <a:t>Use cf map-route to map the domain to an application. Use the -n HOSTNAME option to specify a unique hostname for each route that uses the same domain.</a:t>
            </a:r>
          </a:p>
          <a:p>
            <a:r>
              <a:rPr lang="en-US" altLang="en-US" b="1" smtClean="0"/>
              <a:t>Note</a:t>
            </a:r>
            <a:r>
              <a:rPr lang="en-US" altLang="en-US" smtClean="0"/>
              <a:t>: You can map a single route to multiple applications in the same space. See </a:t>
            </a:r>
            <a:r>
              <a:rPr lang="en-US" altLang="en-US" smtClean="0">
                <a:hlinkClick r:id="rId3"/>
              </a:rPr>
              <a:t>Blue-Green Deployment</a:t>
            </a:r>
            <a:r>
              <a:rPr lang="en-US" altLang="en-US" smtClean="0"/>
              <a:t> to learn about an important extension of this technique.</a:t>
            </a:r>
          </a:p>
          <a:p>
            <a:r>
              <a:rPr lang="en-US" altLang="en-US" b="1" smtClean="0"/>
              <a:t>Users and Roles</a:t>
            </a:r>
          </a:p>
          <a:p>
            <a:r>
              <a:rPr lang="en-US" altLang="en-US" smtClean="0"/>
              <a:t>Commands for listing users:</a:t>
            </a:r>
          </a:p>
          <a:p>
            <a:r>
              <a:rPr lang="en-US" altLang="en-US" smtClean="0"/>
              <a:t>cf org-users — List users in the organization by role.</a:t>
            </a:r>
          </a:p>
          <a:p>
            <a:r>
              <a:rPr lang="en-US" altLang="en-US" smtClean="0"/>
              <a:t>cf space-users — List users in the space by role.</a:t>
            </a:r>
          </a:p>
          <a:p>
            <a:r>
              <a:rPr lang="en-US" altLang="en-US" smtClean="0"/>
              <a:t>Commands for managing roles (admin-only):</a:t>
            </a:r>
          </a:p>
          <a:p>
            <a:r>
              <a:rPr lang="en-US" altLang="en-US" smtClean="0"/>
              <a:t>cf set-org-role — Assign an organization role to a user. The available roles are “OrgManager”, “BillingManager”, and “OrgAuditor”.</a:t>
            </a:r>
          </a:p>
          <a:p>
            <a:r>
              <a:rPr lang="en-US" altLang="en-US" smtClean="0"/>
              <a:t>cf unset-org-role — Remove an organization role from a user.</a:t>
            </a:r>
          </a:p>
          <a:p>
            <a:r>
              <a:rPr lang="en-US" altLang="en-US" smtClean="0"/>
              <a:t>cf set-space-role — Assign a space role to a user. The available roles are “SpaceManager”, “SpaceDeveloper”, and “SpaceAuditor”.</a:t>
            </a:r>
          </a:p>
          <a:p>
            <a:r>
              <a:rPr lang="en-US" altLang="en-US" smtClean="0"/>
              <a:t>cf unset-space-role — Remove a space role from a user.</a:t>
            </a:r>
          </a:p>
          <a:p>
            <a:pPr eaLnBrk="1" hangingPunct="1"/>
            <a:endParaRPr lang="en-US" altLang="en-US" smtClean="0"/>
          </a:p>
        </p:txBody>
      </p:sp>
      <p:sp>
        <p:nvSpPr>
          <p:cNvPr id="348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5C870FA-784D-493C-8CCE-676AED074A64}" type="slidenum">
              <a:rPr lang="en-US" altLang="en-US" smtClean="0">
                <a:latin typeface="Calibri" panose="020F0502020204030204" pitchFamily="34" charset="0"/>
              </a:rPr>
              <a:pPr/>
              <a:t>14</a:t>
            </a:fld>
            <a:endParaRPr lang="en-US" altLang="en-US" smtClean="0">
              <a:latin typeface="Calibri" panose="020F0502020204030204" pitchFamily="34" charset="0"/>
            </a:endParaRPr>
          </a:p>
        </p:txBody>
      </p:sp>
    </p:spTree>
    <p:extLst>
      <p:ext uri="{BB962C8B-B14F-4D97-AF65-F5344CB8AC3E}">
        <p14:creationId xmlns:p14="http://schemas.microsoft.com/office/powerpoint/2010/main" val="13585711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mtClean="0"/>
              <a:t>Please post your questions or find the answers on Bluemix Community https://ibm.biz/BdXGBL</a:t>
            </a:r>
          </a:p>
        </p:txBody>
      </p:sp>
      <p:sp>
        <p:nvSpPr>
          <p:cNvPr id="378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45910EE-0A9E-40F7-97F2-99F98F1DDB44}" type="slidenum">
              <a:rPr lang="en-US" altLang="en-US" smtClean="0">
                <a:latin typeface="Calibri" panose="020F0502020204030204" pitchFamily="34" charset="0"/>
              </a:rPr>
              <a:pPr/>
              <a:t>16</a:t>
            </a:fld>
            <a:endParaRPr lang="en-US" altLang="en-US" smtClean="0">
              <a:latin typeface="Calibri" panose="020F0502020204030204" pitchFamily="34" charset="0"/>
            </a:endParaRPr>
          </a:p>
        </p:txBody>
      </p:sp>
    </p:spTree>
    <p:extLst>
      <p:ext uri="{BB962C8B-B14F-4D97-AF65-F5344CB8AC3E}">
        <p14:creationId xmlns:p14="http://schemas.microsoft.com/office/powerpoint/2010/main" val="93313711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Rectangle 11"/>
          <p:cNvSpPr/>
          <p:nvPr userDrawn="1"/>
        </p:nvSpPr>
        <p:spPr>
          <a:xfrm>
            <a:off x="0" y="0"/>
            <a:ext cx="914400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9"/>
          <p:cNvSpPr/>
          <p:nvPr userDrawn="1"/>
        </p:nvSpPr>
        <p:spPr>
          <a:xfrm>
            <a:off x="6400800" y="0"/>
            <a:ext cx="2743200" cy="6858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7" name="Picture 10" descr="Cloud_word.pn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680200" y="6456363"/>
            <a:ext cx="906463" cy="150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33413" y="1433513"/>
            <a:ext cx="2917825" cy="2468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7"/>
          <p:cNvSpPr txBox="1"/>
          <p:nvPr userDrawn="1"/>
        </p:nvSpPr>
        <p:spPr>
          <a:xfrm>
            <a:off x="6629400" y="4937125"/>
            <a:ext cx="1736725" cy="274638"/>
          </a:xfrm>
          <a:prstGeom prst="rect">
            <a:avLst/>
          </a:prstGeom>
          <a:noFill/>
        </p:spPr>
        <p:txBody>
          <a:bodyPr lIns="0" tIns="0" rIns="0" bIns="0" anchor="ctr"/>
          <a:lstStyle/>
          <a:p>
            <a:pPr eaLnBrk="1" fontAlgn="auto" hangingPunct="1">
              <a:spcBef>
                <a:spcPts val="0"/>
              </a:spcBef>
              <a:spcAft>
                <a:spcPts val="0"/>
              </a:spcAft>
              <a:defRPr/>
            </a:pPr>
            <a:r>
              <a:rPr lang="en-US" sz="1600" b="1" kern="0" spc="-30" dirty="0">
                <a:solidFill>
                  <a:srgbClr val="FFFFFF"/>
                </a:solidFill>
                <a:latin typeface="Arial"/>
                <a:cs typeface="Arial"/>
              </a:rPr>
              <a:t>Presented by:</a:t>
            </a:r>
          </a:p>
        </p:txBody>
      </p:sp>
      <p:sp>
        <p:nvSpPr>
          <p:cNvPr id="2" name="Title 1"/>
          <p:cNvSpPr>
            <a:spLocks noGrp="1"/>
          </p:cNvSpPr>
          <p:nvPr>
            <p:ph type="ctrTitle"/>
          </p:nvPr>
        </p:nvSpPr>
        <p:spPr>
          <a:xfrm>
            <a:off x="1311101" y="3886200"/>
            <a:ext cx="5029200" cy="457200"/>
          </a:xfrm>
        </p:spPr>
        <p:txBody>
          <a:bodyPr lIns="0" tIns="0" rIns="0" bIns="0">
            <a:noAutofit/>
          </a:bodyPr>
          <a:lstStyle>
            <a:lvl1pPr algn="l">
              <a:defRPr sz="2800" b="1">
                <a:solidFill>
                  <a:srgbClr val="FFFFFF"/>
                </a:solidFill>
              </a:defRPr>
            </a:lvl1pPr>
          </a:lstStyle>
          <a:p>
            <a:r>
              <a:rPr lang="en-US" dirty="0" smtClean="0"/>
              <a:t>Click to edit Master title style</a:t>
            </a:r>
            <a:endParaRPr lang="en-US" dirty="0"/>
          </a:p>
        </p:txBody>
      </p:sp>
      <p:sp>
        <p:nvSpPr>
          <p:cNvPr id="13" name="Text Placeholder 6"/>
          <p:cNvSpPr>
            <a:spLocks noGrp="1"/>
          </p:cNvSpPr>
          <p:nvPr>
            <p:ph type="body" sz="quarter" idx="11"/>
          </p:nvPr>
        </p:nvSpPr>
        <p:spPr>
          <a:xfrm>
            <a:off x="6629400" y="5212080"/>
            <a:ext cx="2377440" cy="274320"/>
          </a:xfrm>
        </p:spPr>
        <p:txBody>
          <a:bodyPr lIns="0" tIns="0" rIns="0" bIns="0" anchor="ctr" anchorCtr="0">
            <a:noAutofit/>
          </a:bodyPr>
          <a:lstStyle>
            <a:lvl1pPr marL="0" indent="0">
              <a:spcBef>
                <a:spcPts val="0"/>
              </a:spcBef>
              <a:buNone/>
              <a:defRPr sz="1600"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smtClean="0"/>
              <a:t>Click to edit Master text styles</a:t>
            </a:r>
          </a:p>
        </p:txBody>
      </p:sp>
      <p:sp>
        <p:nvSpPr>
          <p:cNvPr id="14" name="Text Placeholder 6"/>
          <p:cNvSpPr>
            <a:spLocks noGrp="1"/>
          </p:cNvSpPr>
          <p:nvPr>
            <p:ph type="body" sz="quarter" idx="12"/>
          </p:nvPr>
        </p:nvSpPr>
        <p:spPr>
          <a:xfrm>
            <a:off x="6629400" y="5486400"/>
            <a:ext cx="2377440" cy="274320"/>
          </a:xfrm>
        </p:spPr>
        <p:txBody>
          <a:bodyPr lIns="0" tIns="0" rIns="0" bIns="0" anchor="ctr" anchorCtr="0">
            <a:noAutofit/>
          </a:bodyPr>
          <a:lstStyle>
            <a:lvl1pPr marL="0" indent="0">
              <a:spcBef>
                <a:spcPts val="0"/>
              </a:spcBef>
              <a:buNone/>
              <a:defRPr sz="1600"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smtClean="0"/>
              <a:t>Click to edit Master text styles</a:t>
            </a:r>
          </a:p>
        </p:txBody>
      </p:sp>
    </p:spTree>
    <p:extLst>
      <p:ext uri="{BB962C8B-B14F-4D97-AF65-F5344CB8AC3E}">
        <p14:creationId xmlns:p14="http://schemas.microsoft.com/office/powerpoint/2010/main" val="838155103"/>
      </p:ext>
    </p:extLst>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2158337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20" name="Shape 20"/>
          <p:cNvSpPr>
            <a:spLocks noGrp="1"/>
          </p:cNvSpPr>
          <p:nvPr>
            <p:ph type="title"/>
          </p:nvPr>
        </p:nvSpPr>
        <p:spPr>
          <a:prstGeom prst="rect">
            <a:avLst/>
          </a:prstGeom>
        </p:spPr>
        <p:txBody>
          <a:bodyPr/>
          <a:lstStyle/>
          <a:p>
            <a:pPr lvl="0"/>
            <a:r>
              <a:rPr lang="en-GB" smtClean="0"/>
              <a:t>Click to edit Master title style</a:t>
            </a:r>
            <a:endParaRPr/>
          </a:p>
        </p:txBody>
      </p:sp>
      <p:sp>
        <p:nvSpPr>
          <p:cNvPr id="21" name="Shape 21"/>
          <p:cNvSpPr>
            <a:spLocks noGrp="1"/>
          </p:cNvSpPr>
          <p:nvPr>
            <p:ph type="body" idx="1"/>
          </p:nvPr>
        </p:nvSpPr>
        <p:spPr>
          <a:prstGeom prst="rect">
            <a:avLst/>
          </a:prstGeom>
        </p:spPr>
        <p:txBody>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a:p>
        </p:txBody>
      </p:sp>
      <p:sp>
        <p:nvSpPr>
          <p:cNvPr id="4" name="Shape 4"/>
          <p:cNvSpPr>
            <a:spLocks noGrp="1"/>
          </p:cNvSpPr>
          <p:nvPr>
            <p:ph type="sldNum" sz="quarter" idx="10"/>
          </p:nvPr>
        </p:nvSpPr>
        <p:spPr>
          <a:xfrm>
            <a:off x="182563" y="6537325"/>
            <a:ext cx="366712" cy="184150"/>
          </a:xfrm>
          <a:prstGeom prst="rect">
            <a:avLst/>
          </a:prstGeom>
        </p:spPr>
        <p:txBody>
          <a:bodyPr/>
          <a:lstStyle>
            <a:lvl1pPr eaLnBrk="1" hangingPunct="1">
              <a:defRPr/>
            </a:lvl1pPr>
          </a:lstStyle>
          <a:p>
            <a:pPr>
              <a:defRPr/>
            </a:pPr>
            <a:fld id="{C0E211CA-B6BA-4F40-80C3-5C0B77B0BF71}" type="slidenum">
              <a:rPr lang="en-US" altLang="en-US"/>
              <a:pPr>
                <a:defRPr/>
              </a:pPr>
              <a:t>‹#›</a:t>
            </a:fld>
            <a:endParaRPr lang="en-US" altLang="en-US"/>
          </a:p>
        </p:txBody>
      </p:sp>
    </p:spTree>
    <p:extLst>
      <p:ext uri="{BB962C8B-B14F-4D97-AF65-F5344CB8AC3E}">
        <p14:creationId xmlns:p14="http://schemas.microsoft.com/office/powerpoint/2010/main" val="1924780705"/>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18" name="Shape 18"/>
          <p:cNvSpPr>
            <a:spLocks noGrp="1"/>
          </p:cNvSpPr>
          <p:nvPr>
            <p:ph type="title"/>
          </p:nvPr>
        </p:nvSpPr>
        <p:spPr>
          <a:prstGeom prst="rect">
            <a:avLst/>
          </a:prstGeom>
        </p:spPr>
        <p:txBody>
          <a:bodyPr/>
          <a:lstStyle/>
          <a:p>
            <a:pPr lvl="0"/>
            <a:r>
              <a:rPr lang="en-GB" smtClean="0"/>
              <a:t>Click to edit Master title style</a:t>
            </a:r>
            <a:endParaRPr/>
          </a:p>
        </p:txBody>
      </p:sp>
    </p:spTree>
    <p:extLst>
      <p:ext uri="{BB962C8B-B14F-4D97-AF65-F5344CB8AC3E}">
        <p14:creationId xmlns:p14="http://schemas.microsoft.com/office/powerpoint/2010/main" val="1292571955"/>
      </p:ext>
    </p:extLst>
  </p:cSld>
  <p:clrMapOvr>
    <a:masterClrMapping/>
  </p:clrMapOvr>
  <p:transition spd="med"/>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Footer Placeholder 3"/>
          <p:cNvSpPr>
            <a:spLocks noGrp="1"/>
          </p:cNvSpPr>
          <p:nvPr>
            <p:ph type="ftr" sz="quarter" idx="3"/>
          </p:nvPr>
        </p:nvSpPr>
        <p:spPr>
          <a:xfrm>
            <a:off x="3124200" y="6492875"/>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000">
                <a:solidFill>
                  <a:schemeClr val="tx1">
                    <a:tint val="75000"/>
                  </a:schemeClr>
                </a:solidFill>
                <a:latin typeface="+mn-lt"/>
                <a:cs typeface="+mn-cs"/>
              </a:defRPr>
            </a:lvl1pPr>
          </a:lstStyle>
          <a:p>
            <a:pPr>
              <a:defRPr/>
            </a:pPr>
            <a:endParaRPr lang="en-US"/>
          </a:p>
        </p:txBody>
      </p:sp>
    </p:spTree>
  </p:cSld>
  <p:clrMap bg1="lt1" tx1="dk1" bg2="lt2" tx2="dk2" accent1="accent1" accent2="accent2" accent3="accent3" accent4="accent4" accent5="accent5" accent6="accent6" hlink="hlink" folHlink="folHlink"/>
  <p:sldLayoutIdLst>
    <p:sldLayoutId id="2147483804" r:id="rId1"/>
  </p:sldLayoutIdLst>
  <p:transition spd="med">
    <p:fade/>
  </p:transition>
  <p:timing>
    <p:tnLst>
      <p:par>
        <p:cTn id="1" dur="indefinite" restart="never" nodeType="tmRoot"/>
      </p:par>
    </p:tnLst>
  </p:timing>
  <p:txStyles>
    <p:titleStyle>
      <a:lvl1pPr algn="l" defTabSz="457200" rtl="0" eaLnBrk="0" fontAlgn="base" hangingPunct="0">
        <a:spcBef>
          <a:spcPct val="0"/>
        </a:spcBef>
        <a:spcAft>
          <a:spcPct val="0"/>
        </a:spcAft>
        <a:defRPr sz="2400" b="1" spc="-30">
          <a:solidFill>
            <a:schemeClr val="tx1"/>
          </a:solidFill>
          <a:latin typeface="+mj-lt"/>
          <a:ea typeface="+mj-ea"/>
          <a:cs typeface="+mj-cs"/>
        </a:defRPr>
      </a:lvl1pPr>
      <a:lvl2pPr algn="l" defTabSz="457200" rtl="0" eaLnBrk="0" fontAlgn="base" hangingPunct="0">
        <a:spcBef>
          <a:spcPct val="0"/>
        </a:spcBef>
        <a:spcAft>
          <a:spcPct val="0"/>
        </a:spcAft>
        <a:defRPr sz="2400" b="1">
          <a:solidFill>
            <a:schemeClr val="tx1"/>
          </a:solidFill>
          <a:latin typeface="Arial" panose="020B0604020202020204" pitchFamily="34" charset="0"/>
        </a:defRPr>
      </a:lvl2pPr>
      <a:lvl3pPr algn="l" defTabSz="457200" rtl="0" eaLnBrk="0" fontAlgn="base" hangingPunct="0">
        <a:spcBef>
          <a:spcPct val="0"/>
        </a:spcBef>
        <a:spcAft>
          <a:spcPct val="0"/>
        </a:spcAft>
        <a:defRPr sz="2400" b="1">
          <a:solidFill>
            <a:schemeClr val="tx1"/>
          </a:solidFill>
          <a:latin typeface="Arial" panose="020B0604020202020204" pitchFamily="34" charset="0"/>
        </a:defRPr>
      </a:lvl3pPr>
      <a:lvl4pPr algn="l" defTabSz="457200" rtl="0" eaLnBrk="0" fontAlgn="base" hangingPunct="0">
        <a:spcBef>
          <a:spcPct val="0"/>
        </a:spcBef>
        <a:spcAft>
          <a:spcPct val="0"/>
        </a:spcAft>
        <a:defRPr sz="2400" b="1">
          <a:solidFill>
            <a:schemeClr val="tx1"/>
          </a:solidFill>
          <a:latin typeface="Arial" panose="020B0604020202020204" pitchFamily="34" charset="0"/>
        </a:defRPr>
      </a:lvl4pPr>
      <a:lvl5pPr algn="l" defTabSz="457200" rtl="0" eaLnBrk="0" fontAlgn="base" hangingPunct="0">
        <a:spcBef>
          <a:spcPct val="0"/>
        </a:spcBef>
        <a:spcAft>
          <a:spcPct val="0"/>
        </a:spcAft>
        <a:defRPr sz="2400" b="1">
          <a:solidFill>
            <a:schemeClr val="tx1"/>
          </a:solidFill>
          <a:latin typeface="Arial" panose="020B0604020202020204" pitchFamily="34" charset="0"/>
        </a:defRPr>
      </a:lvl5pPr>
      <a:lvl6pPr marL="457200" algn="l" defTabSz="457200" rtl="0" fontAlgn="base">
        <a:spcBef>
          <a:spcPct val="0"/>
        </a:spcBef>
        <a:spcAft>
          <a:spcPct val="0"/>
        </a:spcAft>
        <a:defRPr sz="2400" b="1">
          <a:solidFill>
            <a:schemeClr val="tx1"/>
          </a:solidFill>
          <a:latin typeface="Arial" panose="020B0604020202020204" pitchFamily="34" charset="0"/>
        </a:defRPr>
      </a:lvl6pPr>
      <a:lvl7pPr marL="914400" algn="l" defTabSz="457200" rtl="0" fontAlgn="base">
        <a:spcBef>
          <a:spcPct val="0"/>
        </a:spcBef>
        <a:spcAft>
          <a:spcPct val="0"/>
        </a:spcAft>
        <a:defRPr sz="2400" b="1">
          <a:solidFill>
            <a:schemeClr val="tx1"/>
          </a:solidFill>
          <a:latin typeface="Arial" panose="020B0604020202020204" pitchFamily="34" charset="0"/>
        </a:defRPr>
      </a:lvl7pPr>
      <a:lvl8pPr marL="1371600" algn="l" defTabSz="457200" rtl="0" fontAlgn="base">
        <a:spcBef>
          <a:spcPct val="0"/>
        </a:spcBef>
        <a:spcAft>
          <a:spcPct val="0"/>
        </a:spcAft>
        <a:defRPr sz="2400" b="1">
          <a:solidFill>
            <a:schemeClr val="tx1"/>
          </a:solidFill>
          <a:latin typeface="Arial" panose="020B0604020202020204" pitchFamily="34" charset="0"/>
        </a:defRPr>
      </a:lvl8pPr>
      <a:lvl9pPr marL="1828800" algn="l" defTabSz="457200" rtl="0" fontAlgn="base">
        <a:spcBef>
          <a:spcPct val="0"/>
        </a:spcBef>
        <a:spcAft>
          <a:spcPct val="0"/>
        </a:spcAft>
        <a:defRPr sz="2400" b="1">
          <a:solidFill>
            <a:schemeClr val="tx1"/>
          </a:solidFill>
          <a:latin typeface="Arial" panose="020B0604020202020204" pitchFamily="34" charset="0"/>
        </a:defRPr>
      </a:lvl9pPr>
    </p:titleStyle>
    <p:bodyStyle>
      <a:lvl1pPr marL="342900" indent="-342900" algn="l" defTabSz="457200" rtl="0" eaLnBrk="0" fontAlgn="base" hangingPunct="0">
        <a:spcBef>
          <a:spcPct val="20000"/>
        </a:spcBef>
        <a:spcAft>
          <a:spcPct val="0"/>
        </a:spcAft>
        <a:buFont typeface="Arial" panose="020B0604020202020204" pitchFamily="34" charset="0"/>
        <a:buChar char="•"/>
        <a:defRPr sz="1600" spc="-30">
          <a:solidFill>
            <a:schemeClr val="tx1"/>
          </a:solidFill>
          <a:latin typeface="Arial"/>
          <a:ea typeface="+mn-ea"/>
          <a:cs typeface="+mn-cs"/>
        </a:defRPr>
      </a:lvl1pPr>
      <a:lvl2pPr marL="742950" indent="-285750" algn="l" defTabSz="457200" rtl="0" eaLnBrk="0" fontAlgn="base" hangingPunct="0">
        <a:spcBef>
          <a:spcPct val="20000"/>
        </a:spcBef>
        <a:spcAft>
          <a:spcPct val="0"/>
        </a:spcAft>
        <a:buFont typeface="Arial" panose="020B0604020202020204" pitchFamily="34" charset="0"/>
        <a:buChar char="–"/>
        <a:defRPr sz="1400" spc="-30">
          <a:solidFill>
            <a:schemeClr val="tx1"/>
          </a:solidFill>
          <a:latin typeface="Arial"/>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1200" spc="-30">
          <a:solidFill>
            <a:schemeClr val="tx1"/>
          </a:solidFill>
          <a:latin typeface="Arial"/>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1100" spc="-30">
          <a:solidFill>
            <a:schemeClr val="tx1"/>
          </a:solidFill>
          <a:latin typeface="Arial"/>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1100" spc="-3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255588" y="587375"/>
            <a:ext cx="85455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91440" bIns="45720" numCol="1" anchor="t" anchorCtr="0" compatLnSpc="1">
            <a:prstTxWarp prst="textNoShape">
              <a:avLst/>
            </a:prstTxWarp>
          </a:bodyPr>
          <a:lstStyle/>
          <a:p>
            <a:pPr lvl="0"/>
            <a:r>
              <a:rPr lang="en-US" altLang="en-US" smtClean="0"/>
              <a:t>Click to edit Master title style</a:t>
            </a:r>
          </a:p>
        </p:txBody>
      </p:sp>
      <p:sp>
        <p:nvSpPr>
          <p:cNvPr id="2051" name="Rectangle 3"/>
          <p:cNvSpPr>
            <a:spLocks noGrp="1" noChangeArrowheads="1"/>
          </p:cNvSpPr>
          <p:nvPr>
            <p:ph type="body" idx="1"/>
          </p:nvPr>
        </p:nvSpPr>
        <p:spPr bwMode="auto">
          <a:xfrm>
            <a:off x="261938" y="1873250"/>
            <a:ext cx="8558212"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p:txBody>
      </p:sp>
      <p:sp>
        <p:nvSpPr>
          <p:cNvPr id="2052" name="Line 4"/>
          <p:cNvSpPr>
            <a:spLocks noChangeShapeType="1"/>
          </p:cNvSpPr>
          <p:nvPr/>
        </p:nvSpPr>
        <p:spPr bwMode="auto">
          <a:xfrm>
            <a:off x="260350" y="549275"/>
            <a:ext cx="86201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9" name="Rectangle 6"/>
          <p:cNvSpPr>
            <a:spLocks noChangeArrowheads="1"/>
          </p:cNvSpPr>
          <p:nvPr/>
        </p:nvSpPr>
        <p:spPr bwMode="black">
          <a:xfrm>
            <a:off x="5916613" y="6481763"/>
            <a:ext cx="3054350" cy="231775"/>
          </a:xfrm>
          <a:prstGeom prst="rect">
            <a:avLst/>
          </a:prstGeom>
          <a:noFill/>
          <a:ln>
            <a:noFill/>
          </a:ln>
          <a:extLst/>
        </p:spPr>
        <p:txBody>
          <a:bodyPr lIns="92075" tIns="46038" rIns="92075" bIns="46038">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eaLnBrk="1" hangingPunct="1">
              <a:defRPr/>
            </a:pPr>
            <a:r>
              <a:rPr lang="en-US" sz="900" dirty="0">
                <a:solidFill>
                  <a:srgbClr val="000000"/>
                </a:solidFill>
                <a:cs typeface="+mn-cs"/>
              </a:rPr>
              <a:t>© </a:t>
            </a:r>
            <a:r>
              <a:rPr lang="en-US" sz="900" dirty="0" smtClean="0">
                <a:solidFill>
                  <a:srgbClr val="000000"/>
                </a:solidFill>
                <a:cs typeface="+mn-cs"/>
              </a:rPr>
              <a:t>2015 </a:t>
            </a:r>
            <a:r>
              <a:rPr lang="en-US" sz="900" dirty="0">
                <a:solidFill>
                  <a:srgbClr val="000000"/>
                </a:solidFill>
                <a:cs typeface="+mn-cs"/>
              </a:rPr>
              <a:t>IBM Corporation</a:t>
            </a:r>
          </a:p>
        </p:txBody>
      </p:sp>
      <p:sp>
        <p:nvSpPr>
          <p:cNvPr id="1030" name="Rectangle 6"/>
          <p:cNvSpPr>
            <a:spLocks noChangeArrowheads="1"/>
          </p:cNvSpPr>
          <p:nvPr/>
        </p:nvSpPr>
        <p:spPr bwMode="auto">
          <a:xfrm>
            <a:off x="171450" y="6456363"/>
            <a:ext cx="552450" cy="247650"/>
          </a:xfrm>
          <a:prstGeom prst="rect">
            <a:avLst/>
          </a:prstGeom>
          <a:noFill/>
          <a:ln>
            <a:noFill/>
          </a:ln>
          <a:effectLs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fld id="{D1E1AE33-578E-4B45-AE27-30CAFA2DA437}" type="slidenum">
              <a:rPr lang="en-US" altLang="en-US" sz="1000" smtClean="0">
                <a:solidFill>
                  <a:srgbClr val="000000"/>
                </a:solidFill>
                <a:ea typeface="MS PGothic" panose="020B0600070205080204" pitchFamily="34" charset="-128"/>
              </a:rPr>
              <a:pPr eaLnBrk="1" hangingPunct="1">
                <a:defRPr/>
              </a:pPr>
              <a:t>‹#›</a:t>
            </a:fld>
            <a:endParaRPr lang="en-US" altLang="en-US" sz="1000" smtClean="0">
              <a:solidFill>
                <a:srgbClr val="000000"/>
              </a:solidFill>
              <a:ea typeface="MS PGothic" panose="020B0600070205080204" pitchFamily="34" charset="-128"/>
            </a:endParaRPr>
          </a:p>
        </p:txBody>
      </p:sp>
      <p:pic>
        <p:nvPicPr>
          <p:cNvPr id="2055" name="Picture 15" descr="IBMCloud black"/>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273050" y="338138"/>
            <a:ext cx="1060450"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6" name="Picture 16" descr="IBM Black"/>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7947025" y="263525"/>
            <a:ext cx="923925"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03" r:id="rId1"/>
    <p:sldLayoutId id="2147483805" r:id="rId2"/>
    <p:sldLayoutId id="2147483806" r:id="rId3"/>
  </p:sldLayoutIdLst>
  <p:txStyles>
    <p:titleStyle>
      <a:lvl1pPr algn="l" rtl="0" eaLnBrk="0" fontAlgn="base" hangingPunct="0">
        <a:spcBef>
          <a:spcPct val="0"/>
        </a:spcBef>
        <a:spcAft>
          <a:spcPct val="0"/>
        </a:spcAft>
        <a:defRPr sz="2200">
          <a:solidFill>
            <a:schemeClr val="tx1"/>
          </a:solidFill>
          <a:latin typeface="+mj-lt"/>
          <a:ea typeface="MS PGothic" panose="020B0600070205080204" pitchFamily="34" charset="-128"/>
          <a:cs typeface="+mj-cs"/>
        </a:defRPr>
      </a:lvl1pPr>
      <a:lvl2pPr algn="l" rtl="0" eaLnBrk="0" fontAlgn="base" hangingPunct="0">
        <a:spcBef>
          <a:spcPct val="0"/>
        </a:spcBef>
        <a:spcAft>
          <a:spcPct val="0"/>
        </a:spcAft>
        <a:defRPr sz="2200">
          <a:solidFill>
            <a:schemeClr val="tx1"/>
          </a:solidFill>
          <a:latin typeface="Arial" pitchFamily="34" charset="0"/>
          <a:ea typeface="MS PGothic" panose="020B0600070205080204" pitchFamily="34" charset="-128"/>
        </a:defRPr>
      </a:lvl2pPr>
      <a:lvl3pPr algn="l" rtl="0" eaLnBrk="0" fontAlgn="base" hangingPunct="0">
        <a:spcBef>
          <a:spcPct val="0"/>
        </a:spcBef>
        <a:spcAft>
          <a:spcPct val="0"/>
        </a:spcAft>
        <a:defRPr sz="2200">
          <a:solidFill>
            <a:schemeClr val="tx1"/>
          </a:solidFill>
          <a:latin typeface="Arial" pitchFamily="34" charset="0"/>
          <a:ea typeface="MS PGothic" panose="020B0600070205080204" pitchFamily="34" charset="-128"/>
        </a:defRPr>
      </a:lvl3pPr>
      <a:lvl4pPr algn="l" rtl="0" eaLnBrk="0" fontAlgn="base" hangingPunct="0">
        <a:spcBef>
          <a:spcPct val="0"/>
        </a:spcBef>
        <a:spcAft>
          <a:spcPct val="0"/>
        </a:spcAft>
        <a:defRPr sz="2200">
          <a:solidFill>
            <a:schemeClr val="tx1"/>
          </a:solidFill>
          <a:latin typeface="Arial" pitchFamily="34" charset="0"/>
          <a:ea typeface="MS PGothic" panose="020B0600070205080204" pitchFamily="34" charset="-128"/>
        </a:defRPr>
      </a:lvl4pPr>
      <a:lvl5pPr algn="l" rtl="0" eaLnBrk="0" fontAlgn="base" hangingPunct="0">
        <a:spcBef>
          <a:spcPct val="0"/>
        </a:spcBef>
        <a:spcAft>
          <a:spcPct val="0"/>
        </a:spcAft>
        <a:defRPr sz="2200">
          <a:solidFill>
            <a:schemeClr val="tx1"/>
          </a:solidFill>
          <a:latin typeface="Arial" pitchFamily="34" charset="0"/>
          <a:ea typeface="MS PGothic" panose="020B0600070205080204" pitchFamily="34" charset="-128"/>
        </a:defRPr>
      </a:lvl5pPr>
      <a:lvl6pPr marL="457200" algn="l" rtl="0" fontAlgn="base">
        <a:spcBef>
          <a:spcPct val="0"/>
        </a:spcBef>
        <a:spcAft>
          <a:spcPct val="0"/>
        </a:spcAft>
        <a:defRPr sz="2200">
          <a:solidFill>
            <a:schemeClr val="tx1"/>
          </a:solidFill>
          <a:latin typeface="Arial" pitchFamily="34" charset="0"/>
        </a:defRPr>
      </a:lvl6pPr>
      <a:lvl7pPr marL="914400" algn="l" rtl="0" fontAlgn="base">
        <a:spcBef>
          <a:spcPct val="0"/>
        </a:spcBef>
        <a:spcAft>
          <a:spcPct val="0"/>
        </a:spcAft>
        <a:defRPr sz="2200">
          <a:solidFill>
            <a:schemeClr val="tx1"/>
          </a:solidFill>
          <a:latin typeface="Arial" pitchFamily="34" charset="0"/>
        </a:defRPr>
      </a:lvl7pPr>
      <a:lvl8pPr marL="1371600" algn="l" rtl="0" fontAlgn="base">
        <a:spcBef>
          <a:spcPct val="0"/>
        </a:spcBef>
        <a:spcAft>
          <a:spcPct val="0"/>
        </a:spcAft>
        <a:defRPr sz="2200">
          <a:solidFill>
            <a:schemeClr val="tx1"/>
          </a:solidFill>
          <a:latin typeface="Arial" pitchFamily="34" charset="0"/>
        </a:defRPr>
      </a:lvl8pPr>
      <a:lvl9pPr marL="1828800" algn="l" rtl="0" fontAlgn="base">
        <a:spcBef>
          <a:spcPct val="0"/>
        </a:spcBef>
        <a:spcAft>
          <a:spcPct val="0"/>
        </a:spcAft>
        <a:defRPr sz="2200">
          <a:solidFill>
            <a:schemeClr val="tx1"/>
          </a:solidFill>
          <a:latin typeface="Arial" pitchFamily="34" charset="0"/>
        </a:defRPr>
      </a:lvl9pPr>
    </p:titleStyle>
    <p:bodyStyle>
      <a:lvl1pPr marL="176213" indent="-176213" algn="l" rtl="0" eaLnBrk="0" fontAlgn="base" hangingPunct="0">
        <a:spcBef>
          <a:spcPct val="20000"/>
        </a:spcBef>
        <a:spcAft>
          <a:spcPct val="0"/>
        </a:spcAft>
        <a:buClr>
          <a:schemeClr val="tx1"/>
        </a:buClr>
        <a:buFont typeface="Wingdings" panose="05000000000000000000" pitchFamily="2" charset="2"/>
        <a:buChar char="§"/>
        <a:defRPr sz="1600">
          <a:solidFill>
            <a:schemeClr val="tx1"/>
          </a:solidFill>
          <a:latin typeface="+mn-lt"/>
          <a:ea typeface="MS PGothic" panose="020B0600070205080204" pitchFamily="34" charset="-128"/>
          <a:cs typeface="+mn-cs"/>
        </a:defRPr>
      </a:lvl1pPr>
      <a:lvl2pPr marL="515938" indent="-225425" algn="l" rtl="0" eaLnBrk="0" fontAlgn="base" hangingPunct="0">
        <a:spcBef>
          <a:spcPct val="20000"/>
        </a:spcBef>
        <a:spcAft>
          <a:spcPct val="0"/>
        </a:spcAft>
        <a:buClr>
          <a:schemeClr val="tx1"/>
        </a:buClr>
        <a:buFont typeface="Symbol" panose="05050102010706020507" pitchFamily="18" charset="2"/>
        <a:buChar char="-"/>
        <a:defRPr sz="1600">
          <a:solidFill>
            <a:schemeClr val="tx1"/>
          </a:solidFill>
          <a:latin typeface="+mn-lt"/>
          <a:ea typeface="MS PGothic" panose="020B0600070205080204" pitchFamily="34" charset="-128"/>
        </a:defRPr>
      </a:lvl2pPr>
      <a:lvl3pPr marL="804863" indent="-171450" algn="l" rtl="0" eaLnBrk="0" fontAlgn="base" hangingPunct="0">
        <a:spcBef>
          <a:spcPct val="20000"/>
        </a:spcBef>
        <a:spcAft>
          <a:spcPct val="0"/>
        </a:spcAft>
        <a:buClr>
          <a:schemeClr val="tx1"/>
        </a:buClr>
        <a:buChar char="•"/>
        <a:defRPr sz="1600">
          <a:solidFill>
            <a:schemeClr val="tx1"/>
          </a:solidFill>
          <a:latin typeface="+mn-lt"/>
          <a:ea typeface="MS PGothic" panose="020B0600070205080204" pitchFamily="34" charset="-128"/>
        </a:defRPr>
      </a:lvl3pPr>
      <a:lvl4pPr marL="1430338" indent="-176213" algn="l" rtl="0" eaLnBrk="0" fontAlgn="base" hangingPunct="0">
        <a:spcBef>
          <a:spcPct val="20000"/>
        </a:spcBef>
        <a:spcAft>
          <a:spcPct val="0"/>
        </a:spcAft>
        <a:buClr>
          <a:schemeClr val="tx1"/>
        </a:buClr>
        <a:buChar char="•"/>
        <a:defRPr sz="1400">
          <a:solidFill>
            <a:schemeClr val="tx1"/>
          </a:solidFill>
          <a:latin typeface="+mn-lt"/>
          <a:ea typeface="MS PGothic" panose="020B0600070205080204" pitchFamily="34" charset="-128"/>
        </a:defRPr>
      </a:lvl4pPr>
      <a:lvl5pPr marL="1719263" indent="-7938" algn="l" rtl="0" eaLnBrk="0" fontAlgn="base" hangingPunct="0">
        <a:spcBef>
          <a:spcPct val="20000"/>
        </a:spcBef>
        <a:spcAft>
          <a:spcPct val="0"/>
        </a:spcAft>
        <a:buClr>
          <a:schemeClr val="tx1"/>
        </a:buClr>
        <a:defRPr sz="1200">
          <a:solidFill>
            <a:schemeClr val="tx1"/>
          </a:solidFill>
          <a:latin typeface="+mn-lt"/>
          <a:ea typeface="MS PGothic" panose="020B0600070205080204" pitchFamily="34" charset="-128"/>
        </a:defRPr>
      </a:lvl5pPr>
      <a:lvl6pPr marL="2176463" indent="-7938" algn="l" rtl="0" fontAlgn="base">
        <a:spcBef>
          <a:spcPct val="20000"/>
        </a:spcBef>
        <a:spcAft>
          <a:spcPct val="0"/>
        </a:spcAft>
        <a:buClr>
          <a:schemeClr val="tx1"/>
        </a:buClr>
        <a:defRPr sz="1200">
          <a:solidFill>
            <a:schemeClr val="tx1"/>
          </a:solidFill>
          <a:latin typeface="+mn-lt"/>
        </a:defRPr>
      </a:lvl6pPr>
      <a:lvl7pPr marL="2633663" indent="-7938" algn="l" rtl="0" fontAlgn="base">
        <a:spcBef>
          <a:spcPct val="20000"/>
        </a:spcBef>
        <a:spcAft>
          <a:spcPct val="0"/>
        </a:spcAft>
        <a:buClr>
          <a:schemeClr val="tx1"/>
        </a:buClr>
        <a:defRPr sz="1200">
          <a:solidFill>
            <a:schemeClr val="tx1"/>
          </a:solidFill>
          <a:latin typeface="+mn-lt"/>
        </a:defRPr>
      </a:lvl7pPr>
      <a:lvl8pPr marL="3090863" indent="-7938" algn="l" rtl="0" fontAlgn="base">
        <a:spcBef>
          <a:spcPct val="20000"/>
        </a:spcBef>
        <a:spcAft>
          <a:spcPct val="0"/>
        </a:spcAft>
        <a:buClr>
          <a:schemeClr val="tx1"/>
        </a:buClr>
        <a:defRPr sz="1200">
          <a:solidFill>
            <a:schemeClr val="tx1"/>
          </a:solidFill>
          <a:latin typeface="+mn-lt"/>
        </a:defRPr>
      </a:lvl8pPr>
      <a:lvl9pPr marL="3548063" indent="-7938" algn="l" rtl="0" fontAlgn="base">
        <a:spcBef>
          <a:spcPct val="20000"/>
        </a:spcBef>
        <a:spcAft>
          <a:spcPct val="0"/>
        </a:spcAft>
        <a:buClr>
          <a:schemeClr val="tx1"/>
        </a:buCl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hyperlink" Target="https://github.com/cloudfoundry/cli/releases"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hyperlink" Target="http://docs.cloudfoundry.org/running/cf-api-endpoint.html"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hyperlink" Target="mailto:developer@us.ibm.com" TargetMode="External"/><Relationship Id="rId4" Type="http://schemas.openxmlformats.org/officeDocument/2006/relationships/hyperlink" Target="https://api.ng.bluemix.net/"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heroku/heroku-buildpack-play.git" TargetMode="External"/><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hyperlink" Target="https://github.com/heroku/heroku-buildpack-play.git#stable"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hyperlink" Target="https://www.ng.bluemix.net/docs/#overview/overview.html#overview" TargetMode="External"/><Relationship Id="rId7" Type="http://schemas.openxmlformats.org/officeDocument/2006/relationships/hyperlink" Target="http://docs.cloudfoundry.org/devguide/installcf/whats-new-v6.html#domains-etc" TargetMode="External"/><Relationship Id="rId2" Type="http://schemas.openxmlformats.org/officeDocument/2006/relationships/hyperlink" Target="https://www.ng.bluemix.net/docs/#services/services.html" TargetMode="External"/><Relationship Id="rId1" Type="http://schemas.openxmlformats.org/officeDocument/2006/relationships/slideLayout" Target="../slideLayouts/slideLayout4.xml"/><Relationship Id="rId6" Type="http://schemas.openxmlformats.org/officeDocument/2006/relationships/hyperlink" Target="https://www.ng.bluemix.net/docs/" TargetMode="External"/><Relationship Id="rId5" Type="http://schemas.openxmlformats.org/officeDocument/2006/relationships/hyperlink" Target="http://docs.cloudfoundry.org/devguide/installcf/whats-new-v6.html" TargetMode="External"/><Relationship Id="rId4" Type="http://schemas.openxmlformats.org/officeDocument/2006/relationships/hyperlink" Target="https://www.ng.bluemix.net/docs/#overview/overview.html#ov_intro__reg"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developer.ibm.com/bluemix/?cm_mc_uid=94933803266914350890234&amp;cm_mc_sid_50200000=1435089023#https://developer.ibm.com/bluemix/?cm_mc_uid=94933803266914350890234&amp;cm_mc_sid_50200000=1435089023" TargetMode="External"/><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a:xfrm>
            <a:off x="457200" y="4160520"/>
            <a:ext cx="6019800" cy="960438"/>
          </a:xfrm>
        </p:spPr>
        <p:txBody>
          <a:bodyPr/>
          <a:lstStyle/>
          <a:p>
            <a:pPr eaLnBrk="1" fontAlgn="auto" hangingPunct="1">
              <a:spcAft>
                <a:spcPts val="0"/>
              </a:spcAft>
              <a:defRPr/>
            </a:pPr>
            <a:r>
              <a:rPr lang="en-US" dirty="0" smtClean="0"/>
              <a:t>Using Cloud Foundry CLI</a:t>
            </a:r>
            <a:endParaRPr lang="en-US" dirty="0"/>
          </a:p>
        </p:txBody>
      </p:sp>
      <p:sp>
        <p:nvSpPr>
          <p:cNvPr id="2" name="Text Placeholder 1"/>
          <p:cNvSpPr>
            <a:spLocks noGrp="1"/>
          </p:cNvSpPr>
          <p:nvPr>
            <p:ph type="body" sz="quarter" idx="11"/>
          </p:nvPr>
        </p:nvSpPr>
        <p:spPr>
          <a:xfrm>
            <a:off x="6629400" y="5211763"/>
            <a:ext cx="2378075" cy="639762"/>
          </a:xfrm>
        </p:spPr>
        <p:txBody>
          <a:bodyPr/>
          <a:lstStyle/>
          <a:p>
            <a:pPr>
              <a:defRPr/>
            </a:pPr>
            <a:r>
              <a:rPr lang="en-US" dirty="0" smtClean="0"/>
              <a:t>IBM Cloud Ecosystem Development team</a:t>
            </a:r>
            <a:endParaRPr lang="en-US" dirty="0"/>
          </a:p>
        </p:txBody>
      </p:sp>
    </p:spTree>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1300163" y="3605213"/>
            <a:ext cx="7843837" cy="1495425"/>
          </a:xfrm>
        </p:spPr>
        <p:txBody>
          <a:bodyPr/>
          <a:lstStyle/>
          <a:p>
            <a:pPr algn="ctr"/>
            <a:r>
              <a:rPr lang="en-US" altLang="en-US" sz="3600" smtClean="0">
                <a:solidFill>
                  <a:srgbClr val="0070C0"/>
                </a:solidFill>
              </a:rPr>
              <a:t>Using Cloud Foundry </a:t>
            </a:r>
            <a:br>
              <a:rPr lang="en-US" altLang="en-US" sz="3600" smtClean="0">
                <a:solidFill>
                  <a:srgbClr val="0070C0"/>
                </a:solidFill>
              </a:rPr>
            </a:br>
            <a:r>
              <a:rPr lang="en-US" altLang="en-US" sz="3600" smtClean="0">
                <a:solidFill>
                  <a:srgbClr val="0070C0"/>
                </a:solidFill>
              </a:rPr>
              <a:t>Command Line Interfaces to</a:t>
            </a:r>
            <a:br>
              <a:rPr lang="en-US" altLang="en-US" sz="3600" smtClean="0">
                <a:solidFill>
                  <a:srgbClr val="0070C0"/>
                </a:solidFill>
              </a:rPr>
            </a:br>
            <a:r>
              <a:rPr lang="en-US" altLang="en-US" sz="3600" smtClean="0">
                <a:solidFill>
                  <a:srgbClr val="0070C0"/>
                </a:solidFill>
              </a:rPr>
              <a:t>Manage Applications</a:t>
            </a:r>
          </a:p>
        </p:txBody>
      </p:sp>
      <p:grpSp>
        <p:nvGrpSpPr>
          <p:cNvPr id="9220" name="Group 231"/>
          <p:cNvGrpSpPr>
            <a:grpSpLocks/>
          </p:cNvGrpSpPr>
          <p:nvPr/>
        </p:nvGrpSpPr>
        <p:grpSpPr bwMode="auto">
          <a:xfrm>
            <a:off x="376238" y="1047750"/>
            <a:ext cx="4575175" cy="3317875"/>
            <a:chOff x="-76200" y="0"/>
            <a:chExt cx="2002239" cy="1280375"/>
          </a:xfrm>
        </p:grpSpPr>
        <p:sp>
          <p:nvSpPr>
            <p:cNvPr id="9221" name="Shape 229"/>
            <p:cNvSpPr>
              <a:spLocks noChangeArrowheads="1"/>
            </p:cNvSpPr>
            <p:nvPr/>
          </p:nvSpPr>
          <p:spPr bwMode="auto">
            <a:xfrm>
              <a:off x="-76200" y="935147"/>
              <a:ext cx="2002239" cy="345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300">
                  <a:solidFill>
                    <a:srgbClr val="405059"/>
                  </a:solidFill>
                  <a:sym typeface="Helvetica Neue Thin"/>
                </a:rPr>
                <a:t>IBM </a:t>
              </a:r>
              <a:r>
                <a:rPr lang="en-US" altLang="en-US" sz="2300" b="1">
                  <a:solidFill>
                    <a:srgbClr val="405059"/>
                  </a:solidFill>
                  <a:sym typeface="Helvetica Neue Thin"/>
                </a:rPr>
                <a:t>Bluemix</a:t>
              </a:r>
            </a:p>
          </p:txBody>
        </p:sp>
        <p:pic>
          <p:nvPicPr>
            <p:cNvPr id="9222" name="image3.png" descr="Matt_Logo_40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580" y="0"/>
              <a:ext cx="952910" cy="952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grpSp>
    </p:spTree>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3"/>
          <p:cNvSpPr>
            <a:spLocks noGrp="1"/>
          </p:cNvSpPr>
          <p:nvPr>
            <p:ph type="title"/>
          </p:nvPr>
        </p:nvSpPr>
        <p:spPr/>
        <p:txBody>
          <a:bodyPr/>
          <a:lstStyle/>
          <a:p>
            <a:pPr eaLnBrk="1" hangingPunct="1"/>
            <a:r>
              <a:rPr lang="en-US" altLang="en-US" smtClean="0">
                <a:solidFill>
                  <a:srgbClr val="0070C0"/>
                </a:solidFill>
                <a:cs typeface="Arial" panose="020B0604020202020204" pitchFamily="34" charset="0"/>
              </a:rPr>
              <a:t>Download and install Cloud Foundry CLI</a:t>
            </a:r>
          </a:p>
        </p:txBody>
      </p:sp>
      <p:sp>
        <p:nvSpPr>
          <p:cNvPr id="5" name="Text Placeholder 4"/>
          <p:cNvSpPr>
            <a:spLocks noGrp="1"/>
          </p:cNvSpPr>
          <p:nvPr>
            <p:ph type="body" idx="1"/>
          </p:nvPr>
        </p:nvSpPr>
        <p:spPr>
          <a:xfrm>
            <a:off x="371475" y="1471613"/>
            <a:ext cx="8374063" cy="4575175"/>
          </a:xfrm>
        </p:spPr>
        <p:txBody>
          <a:bodyPr/>
          <a:lstStyle/>
          <a:p>
            <a:pPr eaLnBrk="1" hangingPunct="1">
              <a:spcBef>
                <a:spcPts val="0"/>
              </a:spcBef>
              <a:defRPr/>
            </a:pPr>
            <a:r>
              <a:rPr lang="en-US" sz="2250" dirty="0" smtClean="0">
                <a:ea typeface="ＭＳ Ｐゴシック" charset="0"/>
              </a:rPr>
              <a:t>CF-CLI download </a:t>
            </a:r>
            <a:r>
              <a:rPr lang="en-US" u="sng" dirty="0" smtClean="0">
                <a:hlinkClick r:id="rId3"/>
              </a:rPr>
              <a:t>https</a:t>
            </a:r>
            <a:r>
              <a:rPr lang="en-US" u="sng" dirty="0">
                <a:hlinkClick r:id="rId3"/>
              </a:rPr>
              <a:t>://</a:t>
            </a:r>
            <a:r>
              <a:rPr lang="en-US" u="sng" dirty="0" smtClean="0">
                <a:hlinkClick r:id="rId3"/>
              </a:rPr>
              <a:t>github.com/cloudfoundry/cli/releases</a:t>
            </a:r>
            <a:endParaRPr lang="en-US" u="sng" dirty="0" smtClean="0"/>
          </a:p>
          <a:p>
            <a:pPr>
              <a:defRPr/>
            </a:pPr>
            <a:r>
              <a:rPr lang="en-US" dirty="0" smtClean="0"/>
              <a:t>Windows</a:t>
            </a:r>
            <a:endParaRPr lang="en-US" dirty="0"/>
          </a:p>
          <a:p>
            <a:pPr lvl="1">
              <a:defRPr/>
            </a:pPr>
            <a:r>
              <a:rPr lang="en-US" dirty="0"/>
              <a:t>Unpack the zip file.</a:t>
            </a:r>
          </a:p>
          <a:p>
            <a:pPr lvl="1">
              <a:defRPr/>
            </a:pPr>
            <a:r>
              <a:rPr lang="en-US" dirty="0"/>
              <a:t>Double click the </a:t>
            </a:r>
            <a:r>
              <a:rPr lang="en-US" dirty="0" err="1"/>
              <a:t>cf</a:t>
            </a:r>
            <a:r>
              <a:rPr lang="en-US" dirty="0"/>
              <a:t> executable.</a:t>
            </a:r>
          </a:p>
          <a:p>
            <a:pPr lvl="1">
              <a:defRPr/>
            </a:pPr>
            <a:r>
              <a:rPr lang="en-US" dirty="0"/>
              <a:t>When prompted, click Install, and then Close.</a:t>
            </a:r>
          </a:p>
          <a:p>
            <a:pPr marL="0" indent="0">
              <a:buFont typeface="Wingdings" panose="05000000000000000000" pitchFamily="2" charset="2"/>
              <a:buNone/>
              <a:defRPr/>
            </a:pPr>
            <a:endParaRPr lang="en-US" dirty="0"/>
          </a:p>
          <a:p>
            <a:pPr>
              <a:defRPr/>
            </a:pPr>
            <a:r>
              <a:rPr lang="en-US" dirty="0"/>
              <a:t>MAC OSX and Linux </a:t>
            </a:r>
            <a:r>
              <a:rPr lang="en-US" dirty="0" smtClean="0"/>
              <a:t>Installation</a:t>
            </a:r>
            <a:endParaRPr lang="en-US" dirty="0"/>
          </a:p>
          <a:p>
            <a:pPr lvl="1">
              <a:defRPr/>
            </a:pPr>
            <a:r>
              <a:rPr lang="en-US" dirty="0"/>
              <a:t>Open the .</a:t>
            </a:r>
            <a:r>
              <a:rPr lang="en-US" dirty="0" err="1"/>
              <a:t>pkg</a:t>
            </a:r>
            <a:r>
              <a:rPr lang="en-US" dirty="0"/>
              <a:t> file.</a:t>
            </a:r>
          </a:p>
          <a:p>
            <a:pPr lvl="1">
              <a:defRPr/>
            </a:pPr>
            <a:r>
              <a:rPr lang="en-US" dirty="0"/>
              <a:t>In the installer wizard, click Continue.</a:t>
            </a:r>
          </a:p>
          <a:p>
            <a:pPr lvl="1">
              <a:defRPr/>
            </a:pPr>
            <a:r>
              <a:rPr lang="en-US" dirty="0"/>
              <a:t>Select an install destination and click Continue.</a:t>
            </a:r>
          </a:p>
          <a:p>
            <a:pPr lvl="1">
              <a:defRPr/>
            </a:pPr>
            <a:r>
              <a:rPr lang="en-US" dirty="0"/>
              <a:t>When prompted, click Install.</a:t>
            </a:r>
          </a:p>
          <a:p>
            <a:pPr eaLnBrk="1" hangingPunct="1">
              <a:spcBef>
                <a:spcPts val="0"/>
              </a:spcBef>
              <a:defRPr/>
            </a:pPr>
            <a:endParaRPr lang="en-US" dirty="0" smtClean="0">
              <a:ea typeface="ＭＳ Ｐゴシック" charset="0"/>
            </a:endParaRPr>
          </a:p>
          <a:p>
            <a:pPr marL="0" indent="0" eaLnBrk="1" hangingPunct="1">
              <a:spcBef>
                <a:spcPts val="0"/>
              </a:spcBef>
              <a:buFont typeface="Wingdings" panose="05000000000000000000" pitchFamily="2" charset="2"/>
              <a:buNone/>
              <a:defRPr/>
            </a:pPr>
            <a:endParaRPr lang="en-US" dirty="0" smtClean="0">
              <a:ea typeface="ＭＳ Ｐゴシック" charset="0"/>
            </a:endParaRPr>
          </a:p>
          <a:p>
            <a:pPr marL="0" indent="0" eaLnBrk="1" hangingPunct="1">
              <a:spcBef>
                <a:spcPts val="0"/>
              </a:spcBef>
              <a:buFont typeface="Wingdings" panose="05000000000000000000" pitchFamily="2" charset="2"/>
              <a:buNone/>
              <a:defRPr/>
            </a:pPr>
            <a:endParaRPr lang="en-US" dirty="0">
              <a:ea typeface="ＭＳ Ｐゴシック" charset="0"/>
            </a:endParaRPr>
          </a:p>
        </p:txBody>
      </p:sp>
    </p:spTree>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eaLnBrk="1" hangingPunct="1"/>
            <a:r>
              <a:rPr lang="en-US" altLang="en-US" smtClean="0">
                <a:solidFill>
                  <a:srgbClr val="0070C0"/>
                </a:solidFill>
                <a:cs typeface="Arial" panose="020B0604020202020204" pitchFamily="34" charset="0"/>
              </a:rPr>
              <a:t>Cloud Foundry Command Line Interface Summary</a:t>
            </a:r>
          </a:p>
        </p:txBody>
      </p:sp>
      <p:sp>
        <p:nvSpPr>
          <p:cNvPr id="65538" name="Text Placeholder 2"/>
          <p:cNvSpPr>
            <a:spLocks noGrp="1"/>
          </p:cNvSpPr>
          <p:nvPr>
            <p:ph type="body" idx="1"/>
          </p:nvPr>
        </p:nvSpPr>
        <p:spPr>
          <a:xfrm>
            <a:off x="236538" y="1050925"/>
            <a:ext cx="8907462" cy="1873250"/>
          </a:xfrm>
        </p:spPr>
        <p:txBody>
          <a:bodyPr/>
          <a:lstStyle/>
          <a:p>
            <a:pPr eaLnBrk="1" hangingPunct="1">
              <a:defRPr/>
            </a:pPr>
            <a:r>
              <a:rPr lang="en-US" altLang="en-US" sz="1800" dirty="0" smtClean="0">
                <a:cs typeface="Arial" panose="020B0604020202020204" pitchFamily="34" charset="0"/>
              </a:rPr>
              <a:t>Bluemix uses the </a:t>
            </a:r>
            <a:r>
              <a:rPr lang="en-US" altLang="en-US" sz="1800" dirty="0" err="1" smtClean="0">
                <a:cs typeface="Arial" panose="020B0604020202020204" pitchFamily="34" charset="0"/>
              </a:rPr>
              <a:t>CloudFoundry</a:t>
            </a:r>
            <a:r>
              <a:rPr lang="en-US" altLang="en-US" sz="1800" dirty="0" smtClean="0">
                <a:cs typeface="Arial" panose="020B0604020202020204" pitchFamily="34" charset="0"/>
              </a:rPr>
              <a:t> command line interface (CLI) </a:t>
            </a:r>
          </a:p>
          <a:p>
            <a:pPr lvl="1" eaLnBrk="1" hangingPunct="1">
              <a:defRPr/>
            </a:pPr>
            <a:r>
              <a:rPr lang="en-US" altLang="en-US" sz="1800" b="1" dirty="0" err="1" smtClean="0">
                <a:cs typeface="Arial" panose="020B0604020202020204" pitchFamily="34" charset="0"/>
              </a:rPr>
              <a:t>cf</a:t>
            </a:r>
            <a:r>
              <a:rPr lang="en-US" altLang="en-US" sz="1800" b="1" dirty="0" smtClean="0">
                <a:cs typeface="Arial" panose="020B0604020202020204" pitchFamily="34" charset="0"/>
              </a:rPr>
              <a:t> – </a:t>
            </a:r>
            <a:r>
              <a:rPr lang="en-US" altLang="en-US" sz="1800" dirty="0" smtClean="0">
                <a:cs typeface="Arial" panose="020B0604020202020204" pitchFamily="34" charset="0"/>
              </a:rPr>
              <a:t>A command line tool to interact with Cloud Foundry</a:t>
            </a:r>
          </a:p>
          <a:p>
            <a:pPr lvl="1" eaLnBrk="1" hangingPunct="1">
              <a:defRPr/>
            </a:pPr>
            <a:r>
              <a:rPr lang="en-US" altLang="en-US" sz="1800" b="1" dirty="0" err="1" smtClean="0">
                <a:cs typeface="Arial" panose="020B0604020202020204" pitchFamily="34" charset="0"/>
              </a:rPr>
              <a:t>cf</a:t>
            </a:r>
            <a:r>
              <a:rPr lang="en-US" altLang="en-US" sz="1800" b="1" dirty="0" smtClean="0">
                <a:cs typeface="Arial" panose="020B0604020202020204" pitchFamily="34" charset="0"/>
              </a:rPr>
              <a:t> help </a:t>
            </a:r>
            <a:r>
              <a:rPr lang="en-US" altLang="en-US" sz="1800" dirty="0" smtClean="0">
                <a:cs typeface="Arial" panose="020B0604020202020204" pitchFamily="34" charset="0"/>
              </a:rPr>
              <a:t>– provides help page showing all the commands</a:t>
            </a:r>
          </a:p>
          <a:p>
            <a:pPr lvl="1" eaLnBrk="1" hangingPunct="1">
              <a:defRPr/>
            </a:pPr>
            <a:r>
              <a:rPr lang="en-US" altLang="en-US" sz="1800" b="1" dirty="0" err="1" smtClean="0">
                <a:cs typeface="Arial" panose="020B0604020202020204" pitchFamily="34" charset="0"/>
              </a:rPr>
              <a:t>cf</a:t>
            </a:r>
            <a:r>
              <a:rPr lang="en-US" altLang="en-US" sz="1800" b="1" dirty="0" smtClean="0">
                <a:cs typeface="Arial" panose="020B0604020202020204" pitchFamily="34" charset="0"/>
              </a:rPr>
              <a:t> help &lt;command&gt; </a:t>
            </a:r>
            <a:r>
              <a:rPr lang="en-US" altLang="en-US" sz="1800" dirty="0" smtClean="0">
                <a:cs typeface="Arial" panose="020B0604020202020204" pitchFamily="34" charset="0"/>
              </a:rPr>
              <a:t>- provides help for specific command</a:t>
            </a:r>
          </a:p>
          <a:p>
            <a:pPr eaLnBrk="1" hangingPunct="1">
              <a:defRPr/>
            </a:pPr>
            <a:endParaRPr lang="en-US" altLang="en-US" dirty="0" smtClean="0">
              <a:cs typeface="Arial" panose="020B0604020202020204" pitchFamily="34" charset="0"/>
            </a:endParaRPr>
          </a:p>
          <a:p>
            <a:pPr marL="0" indent="0" eaLnBrk="1" hangingPunct="1">
              <a:buFont typeface="Wingdings" panose="05000000000000000000" pitchFamily="2" charset="2"/>
              <a:buNone/>
              <a:defRPr/>
            </a:pPr>
            <a:endParaRPr lang="en-US" altLang="en-US" dirty="0" smtClean="0">
              <a:cs typeface="Arial" panose="020B0604020202020204" pitchFamily="34" charset="0"/>
            </a:endParaRPr>
          </a:p>
        </p:txBody>
      </p:sp>
      <p:graphicFrame>
        <p:nvGraphicFramePr>
          <p:cNvPr id="4" name="Table 3"/>
          <p:cNvGraphicFramePr>
            <a:graphicFrameLocks noGrp="1"/>
          </p:cNvGraphicFramePr>
          <p:nvPr/>
        </p:nvGraphicFramePr>
        <p:xfrm>
          <a:off x="460375" y="2514600"/>
          <a:ext cx="8332788" cy="3998911"/>
        </p:xfrm>
        <a:graphic>
          <a:graphicData uri="http://schemas.openxmlformats.org/drawingml/2006/table">
            <a:tbl>
              <a:tblPr/>
              <a:tblGrid>
                <a:gridCol w="4312697"/>
                <a:gridCol w="4020091"/>
              </a:tblGrid>
              <a:tr h="459974">
                <a:tc>
                  <a:txBody>
                    <a:bodyPr/>
                    <a:lstStyle>
                      <a:lvl1pPr eaLnBrk="0" hangingPunct="0">
                        <a:buSzPct val="75000"/>
                        <a:defRPr sz="3200">
                          <a:solidFill>
                            <a:schemeClr val="tx1"/>
                          </a:solidFill>
                          <a:latin typeface="Arial" panose="020B0604020202020204" pitchFamily="34" charset="0"/>
                          <a:ea typeface="MS PGothic" panose="020B0600070205080204" pitchFamily="34" charset="-128"/>
                          <a:cs typeface="Arial" panose="020B0604020202020204" pitchFamily="34" charset="0"/>
                          <a:sym typeface="Helvetica Light" charset="0"/>
                        </a:defRPr>
                      </a:lvl1pPr>
                      <a:lvl2pPr marL="742950" indent="-28575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2pPr>
                      <a:lvl3pPr marL="1143000" indent="-22860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3pPr>
                      <a:lvl4pPr marL="1600200" indent="-22860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4pPr>
                      <a:lvl5pPr marL="2057400" indent="-22860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5pPr>
                      <a:lvl6pPr marL="25146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6pPr>
                      <a:lvl7pPr marL="29718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7pPr>
                      <a:lvl8pPr marL="34290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8pPr>
                      <a:lvl9pPr marL="38862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9pPr>
                    </a:lstStyle>
                    <a:p>
                      <a:pPr marL="0" marR="0" lvl="0" indent="0" algn="l" defTabSz="5842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err="1" smtClean="0">
                          <a:ln>
                            <a:noFill/>
                          </a:ln>
                          <a:solidFill>
                            <a:schemeClr val="tx1"/>
                          </a:solidFill>
                          <a:effectLst/>
                          <a:latin typeface="Helvetica Light" charset="0"/>
                          <a:ea typeface="MS PGothic" panose="020B0600070205080204" pitchFamily="34" charset="-128"/>
                          <a:sym typeface="Helvetica Light" charset="0"/>
                        </a:rPr>
                        <a:t>cf</a:t>
                      </a:r>
                      <a:r>
                        <a:rPr kumimoji="0" lang="en-US" altLang="en-US" sz="1800" b="1" i="0" u="none" strike="noStrike" cap="none" normalizeH="0" baseline="0" dirty="0" smtClean="0">
                          <a:ln>
                            <a:noFill/>
                          </a:ln>
                          <a:solidFill>
                            <a:schemeClr val="tx1"/>
                          </a:solidFill>
                          <a:effectLst/>
                          <a:latin typeface="Helvetica Light" charset="0"/>
                          <a:ea typeface="MS PGothic" panose="020B0600070205080204" pitchFamily="34" charset="-128"/>
                          <a:sym typeface="Helvetica Light" charset="0"/>
                        </a:rPr>
                        <a:t> l </a:t>
                      </a:r>
                      <a:r>
                        <a:rPr kumimoji="0" lang="en-US" altLang="en-US" sz="1800" b="0" i="0" u="none" strike="noStrike" cap="none" normalizeH="0" baseline="0" dirty="0" smtClean="0">
                          <a:ln>
                            <a:noFill/>
                          </a:ln>
                          <a:solidFill>
                            <a:schemeClr val="tx1"/>
                          </a:solidFill>
                          <a:effectLst/>
                          <a:latin typeface="Helvetica Light" charset="0"/>
                          <a:ea typeface="MS PGothic" panose="020B0600070205080204" pitchFamily="34" charset="-128"/>
                          <a:sym typeface="Helvetica Light" charset="0"/>
                        </a:rPr>
                        <a:t>- login</a:t>
                      </a:r>
                    </a:p>
                  </a:txBody>
                  <a:tcPr marL="64289" marR="64289" marT="32142" marB="32142" horzOverflow="overflow">
                    <a:lnL>
                      <a:noFill/>
                    </a:lnL>
                    <a:lnR>
                      <a:noFill/>
                    </a:lnR>
                    <a:lnT>
                      <a:noFill/>
                    </a:lnT>
                    <a:lnB>
                      <a:noFill/>
                    </a:lnB>
                    <a:lnTlToBr>
                      <a:noFill/>
                    </a:lnTlToBr>
                    <a:lnBlToTr>
                      <a:noFill/>
                    </a:lnBlToTr>
                    <a:noFill/>
                  </a:tcPr>
                </a:tc>
                <a:tc>
                  <a:txBody>
                    <a:bodyPr/>
                    <a:lstStyle>
                      <a:lvl1pPr eaLnBrk="0" hangingPunct="0">
                        <a:buSzPct val="75000"/>
                        <a:defRPr sz="3200">
                          <a:solidFill>
                            <a:schemeClr val="tx1"/>
                          </a:solidFill>
                          <a:latin typeface="Arial" panose="020B0604020202020204" pitchFamily="34" charset="0"/>
                          <a:ea typeface="MS PGothic" panose="020B0600070205080204" pitchFamily="34" charset="-128"/>
                          <a:cs typeface="Arial" panose="020B0604020202020204" pitchFamily="34" charset="0"/>
                          <a:sym typeface="Helvetica Light" charset="0"/>
                        </a:defRPr>
                      </a:lvl1pPr>
                      <a:lvl2pPr marL="742950" indent="-28575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2pPr>
                      <a:lvl3pPr marL="1143000" indent="-22860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3pPr>
                      <a:lvl4pPr marL="1600200" indent="-22860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4pPr>
                      <a:lvl5pPr marL="2057400" indent="-22860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5pPr>
                      <a:lvl6pPr marL="25146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6pPr>
                      <a:lvl7pPr marL="29718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7pPr>
                      <a:lvl8pPr marL="34290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8pPr>
                      <a:lvl9pPr marL="38862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9pPr>
                    </a:lstStyle>
                    <a:p>
                      <a:pPr marL="0" marR="0" lvl="0" indent="0" algn="l" defTabSz="5842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err="1" smtClean="0">
                          <a:ln>
                            <a:noFill/>
                          </a:ln>
                          <a:solidFill>
                            <a:schemeClr val="tx1"/>
                          </a:solidFill>
                          <a:effectLst/>
                          <a:latin typeface="Helvetica Light" charset="0"/>
                          <a:ea typeface="MS PGothic" panose="020B0600070205080204" pitchFamily="34" charset="-128"/>
                          <a:sym typeface="Helvetica Light" charset="0"/>
                        </a:rPr>
                        <a:t>cf</a:t>
                      </a:r>
                      <a:r>
                        <a:rPr kumimoji="0" lang="en-US" altLang="en-US" sz="1800" b="1" i="0" u="none" strike="noStrike" cap="none" normalizeH="0" baseline="0" dirty="0" smtClean="0">
                          <a:ln>
                            <a:noFill/>
                          </a:ln>
                          <a:solidFill>
                            <a:schemeClr val="tx1"/>
                          </a:solidFill>
                          <a:effectLst/>
                          <a:latin typeface="Helvetica Light" charset="0"/>
                          <a:ea typeface="MS PGothic" panose="020B0600070205080204" pitchFamily="34" charset="-128"/>
                          <a:sym typeface="Helvetica Light" charset="0"/>
                        </a:rPr>
                        <a:t> ds </a:t>
                      </a:r>
                      <a:r>
                        <a:rPr kumimoji="0" lang="en-US" altLang="en-US" sz="1800" b="0" i="0" u="none" strike="noStrike" cap="none" normalizeH="0" baseline="0" dirty="0" smtClean="0">
                          <a:ln>
                            <a:noFill/>
                          </a:ln>
                          <a:solidFill>
                            <a:schemeClr val="tx1"/>
                          </a:solidFill>
                          <a:effectLst/>
                          <a:latin typeface="Helvetica Light" charset="0"/>
                          <a:ea typeface="MS PGothic" panose="020B0600070205080204" pitchFamily="34" charset="-128"/>
                          <a:sym typeface="Helvetica Light" charset="0"/>
                        </a:rPr>
                        <a:t>– delete service</a:t>
                      </a:r>
                    </a:p>
                  </a:txBody>
                  <a:tcPr marL="64289" marR="64289" marT="32142" marB="32142" horzOverflow="overflow">
                    <a:lnL>
                      <a:noFill/>
                    </a:lnL>
                    <a:lnR>
                      <a:noFill/>
                    </a:lnR>
                    <a:lnT>
                      <a:noFill/>
                    </a:lnT>
                    <a:lnB>
                      <a:noFill/>
                    </a:lnB>
                    <a:lnTlToBr>
                      <a:noFill/>
                    </a:lnTlToBr>
                    <a:lnBlToTr>
                      <a:noFill/>
                    </a:lnBlToTr>
                    <a:noFill/>
                  </a:tcPr>
                </a:tc>
              </a:tr>
              <a:tr h="459974">
                <a:tc>
                  <a:txBody>
                    <a:bodyPr/>
                    <a:lstStyle>
                      <a:lvl1pPr eaLnBrk="0" hangingPunct="0">
                        <a:buSzPct val="75000"/>
                        <a:defRPr sz="3200">
                          <a:solidFill>
                            <a:schemeClr val="tx1"/>
                          </a:solidFill>
                          <a:latin typeface="Arial" panose="020B0604020202020204" pitchFamily="34" charset="0"/>
                          <a:ea typeface="MS PGothic" panose="020B0600070205080204" pitchFamily="34" charset="-128"/>
                          <a:cs typeface="Arial" panose="020B0604020202020204" pitchFamily="34" charset="0"/>
                          <a:sym typeface="Helvetica Light" charset="0"/>
                        </a:defRPr>
                      </a:lvl1pPr>
                      <a:lvl2pPr marL="742950" indent="-28575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2pPr>
                      <a:lvl3pPr marL="1143000" indent="-22860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3pPr>
                      <a:lvl4pPr marL="1600200" indent="-22860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4pPr>
                      <a:lvl5pPr marL="2057400" indent="-22860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5pPr>
                      <a:lvl6pPr marL="25146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6pPr>
                      <a:lvl7pPr marL="29718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7pPr>
                      <a:lvl8pPr marL="34290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8pPr>
                      <a:lvl9pPr marL="38862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9pPr>
                    </a:lstStyle>
                    <a:p>
                      <a:pPr marL="0" marR="0" lvl="0" indent="0" algn="l" defTabSz="5842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err="1" smtClean="0">
                          <a:ln>
                            <a:noFill/>
                          </a:ln>
                          <a:solidFill>
                            <a:schemeClr val="tx1"/>
                          </a:solidFill>
                          <a:effectLst/>
                          <a:latin typeface="Helvetica Light" charset="0"/>
                          <a:ea typeface="MS PGothic" panose="020B0600070205080204" pitchFamily="34" charset="-128"/>
                          <a:sym typeface="Helvetica Light" charset="0"/>
                        </a:rPr>
                        <a:t>cf</a:t>
                      </a:r>
                      <a:r>
                        <a:rPr kumimoji="0" lang="en-US" altLang="en-US" sz="1800" b="1" i="0" u="none" strike="noStrike" cap="none" normalizeH="0" baseline="0" dirty="0" smtClean="0">
                          <a:ln>
                            <a:noFill/>
                          </a:ln>
                          <a:solidFill>
                            <a:schemeClr val="tx1"/>
                          </a:solidFill>
                          <a:effectLst/>
                          <a:latin typeface="Helvetica Light" charset="0"/>
                          <a:ea typeface="MS PGothic" panose="020B0600070205080204" pitchFamily="34" charset="-128"/>
                          <a:sym typeface="Helvetica Light" charset="0"/>
                        </a:rPr>
                        <a:t>  t </a:t>
                      </a:r>
                      <a:r>
                        <a:rPr kumimoji="0" lang="en-US" altLang="en-US" sz="1800" b="0" i="0" u="none" strike="noStrike" cap="none" normalizeH="0" baseline="0" dirty="0" smtClean="0">
                          <a:ln>
                            <a:noFill/>
                          </a:ln>
                          <a:solidFill>
                            <a:schemeClr val="tx1"/>
                          </a:solidFill>
                          <a:effectLst/>
                          <a:latin typeface="Helvetica Light" charset="0"/>
                          <a:ea typeface="MS PGothic" panose="020B0600070205080204" pitchFamily="34" charset="-128"/>
                          <a:sym typeface="Helvetica Light" charset="0"/>
                        </a:rPr>
                        <a:t>– target space or </a:t>
                      </a:r>
                      <a:r>
                        <a:rPr kumimoji="0" lang="en-US" altLang="en-US" sz="1800" b="0" i="0" u="none" strike="noStrike" cap="none" normalizeH="0" baseline="0" dirty="0" err="1" smtClean="0">
                          <a:ln>
                            <a:noFill/>
                          </a:ln>
                          <a:solidFill>
                            <a:schemeClr val="tx1"/>
                          </a:solidFill>
                          <a:effectLst/>
                          <a:latin typeface="Helvetica Light" charset="0"/>
                          <a:ea typeface="MS PGothic" panose="020B0600070205080204" pitchFamily="34" charset="-128"/>
                          <a:sym typeface="Helvetica Light" charset="0"/>
                        </a:rPr>
                        <a:t>organisation</a:t>
                      </a:r>
                      <a:endParaRPr kumimoji="0" lang="en-US" altLang="en-US" sz="1800" b="0" i="0" u="none" strike="noStrike" cap="none" normalizeH="0" baseline="0" dirty="0" smtClean="0">
                        <a:ln>
                          <a:noFill/>
                        </a:ln>
                        <a:solidFill>
                          <a:schemeClr val="tx1"/>
                        </a:solidFill>
                        <a:effectLst/>
                        <a:latin typeface="Helvetica Light" charset="0"/>
                        <a:ea typeface="MS PGothic" panose="020B0600070205080204" pitchFamily="34" charset="-128"/>
                        <a:sym typeface="Helvetica Light" charset="0"/>
                      </a:endParaRPr>
                    </a:p>
                  </a:txBody>
                  <a:tcPr marL="64289" marR="64289" marT="32142" marB="32142" horzOverflow="overflow">
                    <a:lnL>
                      <a:noFill/>
                    </a:lnL>
                    <a:lnR>
                      <a:noFill/>
                    </a:lnR>
                    <a:lnT>
                      <a:noFill/>
                    </a:lnT>
                    <a:lnB>
                      <a:noFill/>
                    </a:lnB>
                    <a:lnTlToBr>
                      <a:noFill/>
                    </a:lnTlToBr>
                    <a:lnBlToTr>
                      <a:noFill/>
                    </a:lnBlToTr>
                    <a:noFill/>
                  </a:tcPr>
                </a:tc>
                <a:tc>
                  <a:txBody>
                    <a:bodyPr/>
                    <a:lstStyle>
                      <a:lvl1pPr eaLnBrk="0" hangingPunct="0">
                        <a:buSzPct val="75000"/>
                        <a:defRPr sz="3200">
                          <a:solidFill>
                            <a:schemeClr val="tx1"/>
                          </a:solidFill>
                          <a:latin typeface="Arial" panose="020B0604020202020204" pitchFamily="34" charset="0"/>
                          <a:ea typeface="MS PGothic" panose="020B0600070205080204" pitchFamily="34" charset="-128"/>
                          <a:cs typeface="Arial" panose="020B0604020202020204" pitchFamily="34" charset="0"/>
                          <a:sym typeface="Helvetica Light" charset="0"/>
                        </a:defRPr>
                      </a:lvl1pPr>
                      <a:lvl2pPr marL="742950" indent="-28575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2pPr>
                      <a:lvl3pPr marL="1143000" indent="-22860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3pPr>
                      <a:lvl4pPr marL="1600200" indent="-22860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4pPr>
                      <a:lvl5pPr marL="2057400" indent="-22860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5pPr>
                      <a:lvl6pPr marL="25146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6pPr>
                      <a:lvl7pPr marL="29718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7pPr>
                      <a:lvl8pPr marL="34290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8pPr>
                      <a:lvl9pPr marL="38862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9pPr>
                    </a:lstStyle>
                    <a:p>
                      <a:pPr marL="0" marR="0" lvl="0" indent="0" algn="l" defTabSz="5842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err="1" smtClean="0">
                          <a:ln>
                            <a:noFill/>
                          </a:ln>
                          <a:solidFill>
                            <a:schemeClr val="tx1"/>
                          </a:solidFill>
                          <a:effectLst/>
                          <a:latin typeface="Helvetica Light" charset="0"/>
                          <a:ea typeface="MS PGothic" panose="020B0600070205080204" pitchFamily="34" charset="-128"/>
                          <a:sym typeface="Helvetica Light" charset="0"/>
                        </a:rPr>
                        <a:t>cf</a:t>
                      </a:r>
                      <a:r>
                        <a:rPr kumimoji="0" lang="en-US" altLang="en-US" sz="1800" b="1" i="0" u="none" strike="noStrike" cap="none" normalizeH="0" baseline="0" dirty="0" smtClean="0">
                          <a:ln>
                            <a:noFill/>
                          </a:ln>
                          <a:solidFill>
                            <a:schemeClr val="tx1"/>
                          </a:solidFill>
                          <a:effectLst/>
                          <a:latin typeface="Helvetica Light" charset="0"/>
                          <a:ea typeface="MS PGothic" panose="020B0600070205080204" pitchFamily="34" charset="-128"/>
                          <a:sym typeface="Helvetica Light" charset="0"/>
                        </a:rPr>
                        <a:t> </a:t>
                      </a:r>
                      <a:r>
                        <a:rPr kumimoji="0" lang="en-US" altLang="en-US" sz="1800" b="1" i="0" u="none" strike="noStrike" cap="none" normalizeH="0" baseline="0" dirty="0" err="1" smtClean="0">
                          <a:ln>
                            <a:noFill/>
                          </a:ln>
                          <a:solidFill>
                            <a:schemeClr val="tx1"/>
                          </a:solidFill>
                          <a:effectLst/>
                          <a:latin typeface="Helvetica Light" charset="0"/>
                          <a:ea typeface="MS PGothic" panose="020B0600070205080204" pitchFamily="34" charset="-128"/>
                          <a:sym typeface="Helvetica Light" charset="0"/>
                        </a:rPr>
                        <a:t>bs</a:t>
                      </a:r>
                      <a:r>
                        <a:rPr kumimoji="0" lang="en-US" altLang="en-US" sz="1800" b="0" i="0" u="none" strike="noStrike" cap="none" normalizeH="0" baseline="0" dirty="0" smtClean="0">
                          <a:ln>
                            <a:noFill/>
                          </a:ln>
                          <a:solidFill>
                            <a:schemeClr val="tx1"/>
                          </a:solidFill>
                          <a:effectLst/>
                          <a:latin typeface="Helvetica Light" charset="0"/>
                          <a:ea typeface="MS PGothic" panose="020B0600070205080204" pitchFamily="34" charset="-128"/>
                          <a:sym typeface="Helvetica Light" charset="0"/>
                        </a:rPr>
                        <a:t> – bind service to application</a:t>
                      </a:r>
                    </a:p>
                  </a:txBody>
                  <a:tcPr marL="64289" marR="64289" marT="32142" marB="32142" horzOverflow="overflow">
                    <a:lnL>
                      <a:noFill/>
                    </a:lnL>
                    <a:lnR>
                      <a:noFill/>
                    </a:lnR>
                    <a:lnT>
                      <a:noFill/>
                    </a:lnT>
                    <a:lnB>
                      <a:noFill/>
                    </a:lnB>
                    <a:lnTlToBr>
                      <a:noFill/>
                    </a:lnTlToBr>
                    <a:lnBlToTr>
                      <a:noFill/>
                    </a:lnBlToTr>
                    <a:noFill/>
                  </a:tcPr>
                </a:tc>
              </a:tr>
              <a:tr h="459974">
                <a:tc>
                  <a:txBody>
                    <a:bodyPr/>
                    <a:lstStyle>
                      <a:lvl1pPr eaLnBrk="0" hangingPunct="0">
                        <a:buSzPct val="75000"/>
                        <a:defRPr sz="3200">
                          <a:solidFill>
                            <a:schemeClr val="tx1"/>
                          </a:solidFill>
                          <a:latin typeface="Arial" panose="020B0604020202020204" pitchFamily="34" charset="0"/>
                          <a:ea typeface="MS PGothic" panose="020B0600070205080204" pitchFamily="34" charset="-128"/>
                          <a:cs typeface="Arial" panose="020B0604020202020204" pitchFamily="34" charset="0"/>
                          <a:sym typeface="Helvetica Light" charset="0"/>
                        </a:defRPr>
                      </a:lvl1pPr>
                      <a:lvl2pPr marL="742950" indent="-28575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2pPr>
                      <a:lvl3pPr marL="1143000" indent="-22860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3pPr>
                      <a:lvl4pPr marL="1600200" indent="-22860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4pPr>
                      <a:lvl5pPr marL="2057400" indent="-22860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5pPr>
                      <a:lvl6pPr marL="25146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6pPr>
                      <a:lvl7pPr marL="29718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7pPr>
                      <a:lvl8pPr marL="34290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8pPr>
                      <a:lvl9pPr marL="38862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9pPr>
                    </a:lstStyle>
                    <a:p>
                      <a:pPr marL="0" marR="0" lvl="0" indent="0" algn="l" defTabSz="5842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err="1" smtClean="0">
                          <a:ln>
                            <a:noFill/>
                          </a:ln>
                          <a:solidFill>
                            <a:schemeClr val="tx1"/>
                          </a:solidFill>
                          <a:effectLst/>
                          <a:latin typeface="Helvetica Light" charset="0"/>
                          <a:ea typeface="MS PGothic" panose="020B0600070205080204" pitchFamily="34" charset="-128"/>
                          <a:sym typeface="Helvetica Light" charset="0"/>
                        </a:rPr>
                        <a:t>cf</a:t>
                      </a:r>
                      <a:r>
                        <a:rPr kumimoji="0" lang="en-US" altLang="en-US" sz="1800" b="1" i="0" u="none" strike="noStrike" cap="none" normalizeH="0" baseline="0" dirty="0" smtClean="0">
                          <a:ln>
                            <a:noFill/>
                          </a:ln>
                          <a:solidFill>
                            <a:schemeClr val="tx1"/>
                          </a:solidFill>
                          <a:effectLst/>
                          <a:latin typeface="Helvetica Light" charset="0"/>
                          <a:ea typeface="MS PGothic" panose="020B0600070205080204" pitchFamily="34" charset="-128"/>
                          <a:sym typeface="Helvetica Light" charset="0"/>
                        </a:rPr>
                        <a:t> a </a:t>
                      </a:r>
                      <a:r>
                        <a:rPr kumimoji="0" lang="en-US" altLang="en-US" sz="1800" b="0" i="0" u="none" strike="noStrike" cap="none" normalizeH="0" baseline="0" dirty="0" smtClean="0">
                          <a:ln>
                            <a:noFill/>
                          </a:ln>
                          <a:solidFill>
                            <a:schemeClr val="tx1"/>
                          </a:solidFill>
                          <a:effectLst/>
                          <a:latin typeface="Helvetica Light" charset="0"/>
                          <a:ea typeface="MS PGothic" panose="020B0600070205080204" pitchFamily="34" charset="-128"/>
                          <a:sym typeface="Helvetica Light" charset="0"/>
                        </a:rPr>
                        <a:t>– list apps in current space  </a:t>
                      </a:r>
                    </a:p>
                  </a:txBody>
                  <a:tcPr marL="64289" marR="64289" marT="32142" marB="32142" horzOverflow="overflow">
                    <a:lnL>
                      <a:noFill/>
                    </a:lnL>
                    <a:lnR>
                      <a:noFill/>
                    </a:lnR>
                    <a:lnT>
                      <a:noFill/>
                    </a:lnT>
                    <a:lnB>
                      <a:noFill/>
                    </a:lnB>
                    <a:lnTlToBr>
                      <a:noFill/>
                    </a:lnTlToBr>
                    <a:lnBlToTr>
                      <a:noFill/>
                    </a:lnBlToTr>
                    <a:noFill/>
                  </a:tcPr>
                </a:tc>
                <a:tc>
                  <a:txBody>
                    <a:bodyPr/>
                    <a:lstStyle>
                      <a:lvl1pPr eaLnBrk="0" hangingPunct="0">
                        <a:buSzPct val="75000"/>
                        <a:defRPr sz="3200">
                          <a:solidFill>
                            <a:schemeClr val="tx1"/>
                          </a:solidFill>
                          <a:latin typeface="Arial" panose="020B0604020202020204" pitchFamily="34" charset="0"/>
                          <a:ea typeface="MS PGothic" panose="020B0600070205080204" pitchFamily="34" charset="-128"/>
                          <a:cs typeface="Arial" panose="020B0604020202020204" pitchFamily="34" charset="0"/>
                          <a:sym typeface="Helvetica Light" charset="0"/>
                        </a:defRPr>
                      </a:lvl1pPr>
                      <a:lvl2pPr marL="742950" indent="-28575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2pPr>
                      <a:lvl3pPr marL="1143000" indent="-22860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3pPr>
                      <a:lvl4pPr marL="1600200" indent="-22860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4pPr>
                      <a:lvl5pPr marL="2057400" indent="-22860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5pPr>
                      <a:lvl6pPr marL="25146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6pPr>
                      <a:lvl7pPr marL="29718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7pPr>
                      <a:lvl8pPr marL="34290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8pPr>
                      <a:lvl9pPr marL="38862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9pPr>
                    </a:lstStyle>
                    <a:p>
                      <a:pPr marL="0" marR="0" lvl="0" indent="0" algn="l" defTabSz="5842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err="1" smtClean="0">
                          <a:ln>
                            <a:noFill/>
                          </a:ln>
                          <a:solidFill>
                            <a:schemeClr val="tx1"/>
                          </a:solidFill>
                          <a:effectLst/>
                          <a:latin typeface="Helvetica Light" charset="0"/>
                          <a:ea typeface="MS PGothic" panose="020B0600070205080204" pitchFamily="34" charset="-128"/>
                          <a:sym typeface="Helvetica Light" charset="0"/>
                        </a:rPr>
                        <a:t>cf</a:t>
                      </a:r>
                      <a:r>
                        <a:rPr kumimoji="0" lang="en-US" altLang="en-US" sz="1800" b="1" i="0" u="none" strike="noStrike" cap="none" normalizeH="0" baseline="0" dirty="0" smtClean="0">
                          <a:ln>
                            <a:noFill/>
                          </a:ln>
                          <a:solidFill>
                            <a:schemeClr val="tx1"/>
                          </a:solidFill>
                          <a:effectLst/>
                          <a:latin typeface="Helvetica Light" charset="0"/>
                          <a:ea typeface="MS PGothic" panose="020B0600070205080204" pitchFamily="34" charset="-128"/>
                          <a:sym typeface="Helvetica Light" charset="0"/>
                        </a:rPr>
                        <a:t> </a:t>
                      </a:r>
                      <a:r>
                        <a:rPr kumimoji="0" lang="en-US" altLang="en-US" sz="1800" b="1" i="0" u="none" strike="noStrike" cap="none" normalizeH="0" baseline="0" dirty="0" err="1" smtClean="0">
                          <a:ln>
                            <a:noFill/>
                          </a:ln>
                          <a:solidFill>
                            <a:schemeClr val="tx1"/>
                          </a:solidFill>
                          <a:effectLst/>
                          <a:latin typeface="Helvetica Light" charset="0"/>
                          <a:ea typeface="MS PGothic" panose="020B0600070205080204" pitchFamily="34" charset="-128"/>
                          <a:sym typeface="Helvetica Light" charset="0"/>
                        </a:rPr>
                        <a:t>st</a:t>
                      </a:r>
                      <a:r>
                        <a:rPr kumimoji="0" lang="en-US" altLang="en-US" sz="1800" b="1" i="0" u="none" strike="noStrike" cap="none" normalizeH="0" baseline="0" dirty="0" smtClean="0">
                          <a:ln>
                            <a:noFill/>
                          </a:ln>
                          <a:solidFill>
                            <a:schemeClr val="tx1"/>
                          </a:solidFill>
                          <a:effectLst/>
                          <a:latin typeface="Helvetica Light" charset="0"/>
                          <a:ea typeface="MS PGothic" panose="020B0600070205080204" pitchFamily="34" charset="-128"/>
                          <a:sym typeface="Helvetica Light" charset="0"/>
                        </a:rPr>
                        <a:t> </a:t>
                      </a:r>
                      <a:r>
                        <a:rPr kumimoji="0" lang="en-US" altLang="en-US" sz="1800" b="0" i="0" u="none" strike="noStrike" cap="none" normalizeH="0" baseline="0" dirty="0" smtClean="0">
                          <a:ln>
                            <a:noFill/>
                          </a:ln>
                          <a:solidFill>
                            <a:schemeClr val="tx1"/>
                          </a:solidFill>
                          <a:effectLst/>
                          <a:latin typeface="Helvetica Light" charset="0"/>
                          <a:ea typeface="MS PGothic" panose="020B0600070205080204" pitchFamily="34" charset="-128"/>
                          <a:sym typeface="Helvetica Light" charset="0"/>
                        </a:rPr>
                        <a:t>– start app</a:t>
                      </a:r>
                    </a:p>
                  </a:txBody>
                  <a:tcPr marL="64289" marR="64289" marT="32142" marB="32142" horzOverflow="overflow">
                    <a:lnL>
                      <a:noFill/>
                    </a:lnL>
                    <a:lnR>
                      <a:noFill/>
                    </a:lnR>
                    <a:lnT>
                      <a:noFill/>
                    </a:lnT>
                    <a:lnB>
                      <a:noFill/>
                    </a:lnB>
                    <a:lnTlToBr>
                      <a:noFill/>
                    </a:lnTlToBr>
                    <a:lnBlToTr>
                      <a:noFill/>
                    </a:lnBlToTr>
                    <a:noFill/>
                  </a:tcPr>
                </a:tc>
              </a:tr>
              <a:tr h="631680">
                <a:tc>
                  <a:txBody>
                    <a:bodyPr/>
                    <a:lstStyle>
                      <a:lvl1pPr eaLnBrk="0" hangingPunct="0">
                        <a:buSzPct val="75000"/>
                        <a:defRPr sz="3200">
                          <a:solidFill>
                            <a:schemeClr val="tx1"/>
                          </a:solidFill>
                          <a:latin typeface="Arial" panose="020B0604020202020204" pitchFamily="34" charset="0"/>
                          <a:ea typeface="MS PGothic" panose="020B0600070205080204" pitchFamily="34" charset="-128"/>
                          <a:cs typeface="Arial" panose="020B0604020202020204" pitchFamily="34" charset="0"/>
                          <a:sym typeface="Helvetica Light" charset="0"/>
                        </a:defRPr>
                      </a:lvl1pPr>
                      <a:lvl2pPr marL="742950" indent="-28575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2pPr>
                      <a:lvl3pPr marL="1143000" indent="-22860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3pPr>
                      <a:lvl4pPr marL="1600200" indent="-22860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4pPr>
                      <a:lvl5pPr marL="2057400" indent="-22860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5pPr>
                      <a:lvl6pPr marL="25146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6pPr>
                      <a:lvl7pPr marL="29718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7pPr>
                      <a:lvl8pPr marL="34290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8pPr>
                      <a:lvl9pPr marL="38862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9pPr>
                    </a:lstStyle>
                    <a:p>
                      <a:pPr marL="0" marR="0" lvl="0" indent="0" algn="l" defTabSz="5842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err="1" smtClean="0">
                          <a:ln>
                            <a:noFill/>
                          </a:ln>
                          <a:solidFill>
                            <a:schemeClr val="tx1"/>
                          </a:solidFill>
                          <a:effectLst/>
                          <a:latin typeface="Helvetica Light" charset="0"/>
                          <a:ea typeface="MS PGothic" panose="020B0600070205080204" pitchFamily="34" charset="-128"/>
                          <a:sym typeface="Helvetica Light" charset="0"/>
                        </a:rPr>
                        <a:t>cf</a:t>
                      </a:r>
                      <a:r>
                        <a:rPr kumimoji="0" lang="en-US" altLang="en-US" sz="1800" b="1" i="0" u="none" strike="noStrike" cap="none" normalizeH="0" baseline="0" dirty="0" smtClean="0">
                          <a:ln>
                            <a:noFill/>
                          </a:ln>
                          <a:solidFill>
                            <a:schemeClr val="tx1"/>
                          </a:solidFill>
                          <a:effectLst/>
                          <a:latin typeface="Helvetica Light" charset="0"/>
                          <a:ea typeface="MS PGothic" panose="020B0600070205080204" pitchFamily="34" charset="-128"/>
                          <a:sym typeface="Helvetica Light" charset="0"/>
                        </a:rPr>
                        <a:t> app </a:t>
                      </a:r>
                      <a:r>
                        <a:rPr kumimoji="0" lang="en-US" altLang="en-US" sz="1800" b="0" i="0" u="none" strike="noStrike" cap="none" normalizeH="0" baseline="0" dirty="0" smtClean="0">
                          <a:ln>
                            <a:noFill/>
                          </a:ln>
                          <a:solidFill>
                            <a:schemeClr val="tx1"/>
                          </a:solidFill>
                          <a:effectLst/>
                          <a:latin typeface="Helvetica Light" charset="0"/>
                          <a:ea typeface="MS PGothic" panose="020B0600070205080204" pitchFamily="34" charset="-128"/>
                          <a:sym typeface="Helvetica Light" charset="0"/>
                        </a:rPr>
                        <a:t>- display status for specific app in current space</a:t>
                      </a:r>
                    </a:p>
                  </a:txBody>
                  <a:tcPr marL="64289" marR="64289" marT="32142" marB="32142" horzOverflow="overflow">
                    <a:lnL>
                      <a:noFill/>
                    </a:lnL>
                    <a:lnR>
                      <a:noFill/>
                    </a:lnR>
                    <a:lnT>
                      <a:noFill/>
                    </a:lnT>
                    <a:lnB>
                      <a:noFill/>
                    </a:lnB>
                    <a:lnTlToBr>
                      <a:noFill/>
                    </a:lnTlToBr>
                    <a:lnBlToTr>
                      <a:noFill/>
                    </a:lnBlToTr>
                    <a:noFill/>
                  </a:tcPr>
                </a:tc>
                <a:tc>
                  <a:txBody>
                    <a:bodyPr/>
                    <a:lstStyle>
                      <a:lvl1pPr eaLnBrk="0" hangingPunct="0">
                        <a:buSzPct val="75000"/>
                        <a:defRPr sz="3200">
                          <a:solidFill>
                            <a:schemeClr val="tx1"/>
                          </a:solidFill>
                          <a:latin typeface="Arial" panose="020B0604020202020204" pitchFamily="34" charset="0"/>
                          <a:ea typeface="MS PGothic" panose="020B0600070205080204" pitchFamily="34" charset="-128"/>
                          <a:cs typeface="Arial" panose="020B0604020202020204" pitchFamily="34" charset="0"/>
                          <a:sym typeface="Helvetica Light" charset="0"/>
                        </a:defRPr>
                      </a:lvl1pPr>
                      <a:lvl2pPr marL="742950" indent="-28575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2pPr>
                      <a:lvl3pPr marL="1143000" indent="-22860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3pPr>
                      <a:lvl4pPr marL="1600200" indent="-22860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4pPr>
                      <a:lvl5pPr marL="2057400" indent="-22860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5pPr>
                      <a:lvl6pPr marL="25146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6pPr>
                      <a:lvl7pPr marL="29718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7pPr>
                      <a:lvl8pPr marL="34290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8pPr>
                      <a:lvl9pPr marL="38862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9pPr>
                    </a:lstStyle>
                    <a:p>
                      <a:pPr marL="0" marR="0" lvl="0" indent="0" algn="l" defTabSz="5842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err="1" smtClean="0">
                          <a:ln>
                            <a:noFill/>
                          </a:ln>
                          <a:solidFill>
                            <a:schemeClr val="tx1"/>
                          </a:solidFill>
                          <a:effectLst/>
                          <a:latin typeface="Helvetica Light" charset="0"/>
                          <a:ea typeface="MS PGothic" panose="020B0600070205080204" pitchFamily="34" charset="-128"/>
                          <a:sym typeface="Helvetica Light" charset="0"/>
                        </a:rPr>
                        <a:t>cf</a:t>
                      </a:r>
                      <a:r>
                        <a:rPr kumimoji="0" lang="en-US" altLang="en-US" sz="1800" b="1" i="0" u="none" strike="noStrike" cap="none" normalizeH="0" baseline="0" dirty="0" smtClean="0">
                          <a:ln>
                            <a:noFill/>
                          </a:ln>
                          <a:solidFill>
                            <a:schemeClr val="tx1"/>
                          </a:solidFill>
                          <a:effectLst/>
                          <a:latin typeface="Helvetica Light" charset="0"/>
                          <a:ea typeface="MS PGothic" panose="020B0600070205080204" pitchFamily="34" charset="-128"/>
                          <a:sym typeface="Helvetica Light" charset="0"/>
                        </a:rPr>
                        <a:t> </a:t>
                      </a:r>
                      <a:r>
                        <a:rPr kumimoji="0" lang="en-US" altLang="en-US" sz="1800" b="1" i="0" u="none" strike="noStrike" cap="none" normalizeH="0" baseline="0" dirty="0" err="1" smtClean="0">
                          <a:ln>
                            <a:noFill/>
                          </a:ln>
                          <a:solidFill>
                            <a:schemeClr val="tx1"/>
                          </a:solidFill>
                          <a:effectLst/>
                          <a:latin typeface="Helvetica Light" charset="0"/>
                          <a:ea typeface="MS PGothic" panose="020B0600070205080204" pitchFamily="34" charset="-128"/>
                          <a:sym typeface="Helvetica Light" charset="0"/>
                        </a:rPr>
                        <a:t>sp</a:t>
                      </a:r>
                      <a:r>
                        <a:rPr kumimoji="0" lang="en-US" altLang="en-US" sz="1800" b="0" i="0" u="none" strike="noStrike" cap="none" normalizeH="0" baseline="0" dirty="0" smtClean="0">
                          <a:ln>
                            <a:noFill/>
                          </a:ln>
                          <a:solidFill>
                            <a:schemeClr val="tx1"/>
                          </a:solidFill>
                          <a:effectLst/>
                          <a:latin typeface="Helvetica Light" charset="0"/>
                          <a:ea typeface="MS PGothic" panose="020B0600070205080204" pitchFamily="34" charset="-128"/>
                          <a:sym typeface="Helvetica Light" charset="0"/>
                        </a:rPr>
                        <a:t> – stop app</a:t>
                      </a:r>
                    </a:p>
                  </a:txBody>
                  <a:tcPr marL="64289" marR="64289" marT="32142" marB="32142" horzOverflow="overflow">
                    <a:lnL>
                      <a:noFill/>
                    </a:lnL>
                    <a:lnR>
                      <a:noFill/>
                    </a:lnR>
                    <a:lnT>
                      <a:noFill/>
                    </a:lnT>
                    <a:lnB>
                      <a:noFill/>
                    </a:lnB>
                    <a:lnTlToBr>
                      <a:noFill/>
                    </a:lnTlToBr>
                    <a:lnBlToTr>
                      <a:noFill/>
                    </a:lnBlToTr>
                    <a:noFill/>
                  </a:tcPr>
                </a:tc>
              </a:tr>
              <a:tr h="459974">
                <a:tc>
                  <a:txBody>
                    <a:bodyPr/>
                    <a:lstStyle>
                      <a:lvl1pPr eaLnBrk="0" hangingPunct="0">
                        <a:buSzPct val="75000"/>
                        <a:defRPr sz="3200">
                          <a:solidFill>
                            <a:schemeClr val="tx1"/>
                          </a:solidFill>
                          <a:latin typeface="Arial" panose="020B0604020202020204" pitchFamily="34" charset="0"/>
                          <a:ea typeface="MS PGothic" panose="020B0600070205080204" pitchFamily="34" charset="-128"/>
                          <a:cs typeface="Arial" panose="020B0604020202020204" pitchFamily="34" charset="0"/>
                          <a:sym typeface="Helvetica Light" charset="0"/>
                        </a:defRPr>
                      </a:lvl1pPr>
                      <a:lvl2pPr marL="742950" indent="-28575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2pPr>
                      <a:lvl3pPr marL="1143000" indent="-22860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3pPr>
                      <a:lvl4pPr marL="1600200" indent="-22860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4pPr>
                      <a:lvl5pPr marL="2057400" indent="-22860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5pPr>
                      <a:lvl6pPr marL="25146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6pPr>
                      <a:lvl7pPr marL="29718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7pPr>
                      <a:lvl8pPr marL="34290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8pPr>
                      <a:lvl9pPr marL="38862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9pPr>
                    </a:lstStyle>
                    <a:p>
                      <a:pPr marL="0" marR="0" lvl="0" indent="0" algn="l" defTabSz="5842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err="1" smtClean="0">
                          <a:ln>
                            <a:noFill/>
                          </a:ln>
                          <a:solidFill>
                            <a:schemeClr val="tx1"/>
                          </a:solidFill>
                          <a:effectLst/>
                          <a:latin typeface="Helvetica Light" charset="0"/>
                          <a:ea typeface="MS PGothic" panose="020B0600070205080204" pitchFamily="34" charset="-128"/>
                          <a:sym typeface="Helvetica Light" charset="0"/>
                        </a:rPr>
                        <a:t>cf</a:t>
                      </a:r>
                      <a:r>
                        <a:rPr kumimoji="0" lang="en-US" altLang="en-US" sz="1800" b="1" i="0" u="none" strike="noStrike" cap="none" normalizeH="0" baseline="0" dirty="0" smtClean="0">
                          <a:ln>
                            <a:noFill/>
                          </a:ln>
                          <a:solidFill>
                            <a:schemeClr val="tx1"/>
                          </a:solidFill>
                          <a:effectLst/>
                          <a:latin typeface="Helvetica Light" charset="0"/>
                          <a:ea typeface="MS PGothic" panose="020B0600070205080204" pitchFamily="34" charset="-128"/>
                          <a:sym typeface="Helvetica Light" charset="0"/>
                        </a:rPr>
                        <a:t> p </a:t>
                      </a:r>
                      <a:r>
                        <a:rPr kumimoji="0" lang="en-US" altLang="en-US" sz="1800" b="0" i="0" u="none" strike="noStrike" cap="none" normalizeH="0" baseline="0" dirty="0" smtClean="0">
                          <a:ln>
                            <a:noFill/>
                          </a:ln>
                          <a:solidFill>
                            <a:schemeClr val="tx1"/>
                          </a:solidFill>
                          <a:effectLst/>
                          <a:latin typeface="Helvetica Light" charset="0"/>
                          <a:ea typeface="MS PGothic" panose="020B0600070205080204" pitchFamily="34" charset="-128"/>
                          <a:sym typeface="Helvetica Light" charset="0"/>
                        </a:rPr>
                        <a:t>– push (deploy or update) app </a:t>
                      </a:r>
                    </a:p>
                  </a:txBody>
                  <a:tcPr marL="64289" marR="64289" marT="32142" marB="32142" horzOverflow="overflow">
                    <a:lnL>
                      <a:noFill/>
                    </a:lnL>
                    <a:lnR>
                      <a:noFill/>
                    </a:lnR>
                    <a:lnT>
                      <a:noFill/>
                    </a:lnT>
                    <a:lnB>
                      <a:noFill/>
                    </a:lnB>
                    <a:lnTlToBr>
                      <a:noFill/>
                    </a:lnTlToBr>
                    <a:lnBlToTr>
                      <a:noFill/>
                    </a:lnBlToTr>
                    <a:noFill/>
                  </a:tcPr>
                </a:tc>
                <a:tc>
                  <a:txBody>
                    <a:bodyPr/>
                    <a:lstStyle>
                      <a:lvl1pPr eaLnBrk="0" hangingPunct="0">
                        <a:buSzPct val="75000"/>
                        <a:defRPr sz="3200">
                          <a:solidFill>
                            <a:schemeClr val="tx1"/>
                          </a:solidFill>
                          <a:latin typeface="Arial" panose="020B0604020202020204" pitchFamily="34" charset="0"/>
                          <a:ea typeface="MS PGothic" panose="020B0600070205080204" pitchFamily="34" charset="-128"/>
                          <a:cs typeface="Arial" panose="020B0604020202020204" pitchFamily="34" charset="0"/>
                          <a:sym typeface="Helvetica Light" charset="0"/>
                        </a:defRPr>
                      </a:lvl1pPr>
                      <a:lvl2pPr marL="742950" indent="-28575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2pPr>
                      <a:lvl3pPr marL="1143000" indent="-22860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3pPr>
                      <a:lvl4pPr marL="1600200" indent="-22860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4pPr>
                      <a:lvl5pPr marL="2057400" indent="-22860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5pPr>
                      <a:lvl6pPr marL="25146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6pPr>
                      <a:lvl7pPr marL="29718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7pPr>
                      <a:lvl8pPr marL="34290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8pPr>
                      <a:lvl9pPr marL="38862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9pPr>
                    </a:lstStyle>
                    <a:p>
                      <a:pPr marL="0" marR="0" lvl="0" indent="0" algn="l" defTabSz="5842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err="1" smtClean="0">
                          <a:ln>
                            <a:noFill/>
                          </a:ln>
                          <a:solidFill>
                            <a:schemeClr val="tx1"/>
                          </a:solidFill>
                          <a:effectLst/>
                          <a:latin typeface="Helvetica Light" charset="0"/>
                          <a:ea typeface="MS PGothic" panose="020B0600070205080204" pitchFamily="34" charset="-128"/>
                          <a:sym typeface="Helvetica Light" charset="0"/>
                        </a:rPr>
                        <a:t>cf</a:t>
                      </a:r>
                      <a:r>
                        <a:rPr kumimoji="0" lang="en-US" altLang="en-US" sz="1800" b="1" i="0" u="none" strike="noStrike" cap="none" normalizeH="0" baseline="0" dirty="0" smtClean="0">
                          <a:ln>
                            <a:noFill/>
                          </a:ln>
                          <a:solidFill>
                            <a:schemeClr val="tx1"/>
                          </a:solidFill>
                          <a:effectLst/>
                          <a:latin typeface="Helvetica Light" charset="0"/>
                          <a:ea typeface="MS PGothic" panose="020B0600070205080204" pitchFamily="34" charset="-128"/>
                          <a:sym typeface="Helvetica Light" charset="0"/>
                        </a:rPr>
                        <a:t> d </a:t>
                      </a:r>
                      <a:r>
                        <a:rPr kumimoji="0" lang="en-US" altLang="en-US" sz="1800" b="0" i="0" u="none" strike="noStrike" cap="none" normalizeH="0" baseline="0" dirty="0" smtClean="0">
                          <a:ln>
                            <a:noFill/>
                          </a:ln>
                          <a:solidFill>
                            <a:schemeClr val="tx1"/>
                          </a:solidFill>
                          <a:effectLst/>
                          <a:latin typeface="Helvetica Light" charset="0"/>
                          <a:ea typeface="MS PGothic" panose="020B0600070205080204" pitchFamily="34" charset="-128"/>
                          <a:sym typeface="Helvetica Light" charset="0"/>
                        </a:rPr>
                        <a:t>– delete app</a:t>
                      </a:r>
                    </a:p>
                  </a:txBody>
                  <a:tcPr marL="64289" marR="64289" marT="32142" marB="32142" horzOverflow="overflow">
                    <a:lnL>
                      <a:noFill/>
                    </a:lnL>
                    <a:lnR>
                      <a:noFill/>
                    </a:lnR>
                    <a:lnT>
                      <a:noFill/>
                    </a:lnT>
                    <a:lnB>
                      <a:noFill/>
                    </a:lnB>
                    <a:lnTlToBr>
                      <a:noFill/>
                    </a:lnTlToBr>
                    <a:lnBlToTr>
                      <a:noFill/>
                    </a:lnBlToTr>
                    <a:noFill/>
                  </a:tcPr>
                </a:tc>
              </a:tr>
              <a:tr h="459974">
                <a:tc>
                  <a:txBody>
                    <a:bodyPr/>
                    <a:lstStyle>
                      <a:lvl1pPr eaLnBrk="0" hangingPunct="0">
                        <a:buSzPct val="75000"/>
                        <a:defRPr sz="3200">
                          <a:solidFill>
                            <a:schemeClr val="tx1"/>
                          </a:solidFill>
                          <a:latin typeface="Arial" panose="020B0604020202020204" pitchFamily="34" charset="0"/>
                          <a:ea typeface="MS PGothic" panose="020B0600070205080204" pitchFamily="34" charset="-128"/>
                          <a:cs typeface="Arial" panose="020B0604020202020204" pitchFamily="34" charset="0"/>
                          <a:sym typeface="Helvetica Light" charset="0"/>
                        </a:defRPr>
                      </a:lvl1pPr>
                      <a:lvl2pPr marL="742950" indent="-28575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2pPr>
                      <a:lvl3pPr marL="1143000" indent="-22860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3pPr>
                      <a:lvl4pPr marL="1600200" indent="-22860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4pPr>
                      <a:lvl5pPr marL="2057400" indent="-22860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5pPr>
                      <a:lvl6pPr marL="25146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6pPr>
                      <a:lvl7pPr marL="29718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7pPr>
                      <a:lvl8pPr marL="34290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8pPr>
                      <a:lvl9pPr marL="38862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9pPr>
                    </a:lstStyle>
                    <a:p>
                      <a:pPr marL="0" marR="0" lvl="0" indent="0" algn="l" defTabSz="5842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err="1" smtClean="0">
                          <a:ln>
                            <a:noFill/>
                          </a:ln>
                          <a:solidFill>
                            <a:schemeClr val="tx1"/>
                          </a:solidFill>
                          <a:effectLst/>
                          <a:latin typeface="Helvetica Light" charset="0"/>
                          <a:ea typeface="MS PGothic" panose="020B0600070205080204" pitchFamily="34" charset="-128"/>
                          <a:sym typeface="Helvetica Light" charset="0"/>
                        </a:rPr>
                        <a:t>cf</a:t>
                      </a:r>
                      <a:r>
                        <a:rPr kumimoji="0" lang="en-US" altLang="en-US" sz="1800" b="1" i="0" u="none" strike="noStrike" cap="none" normalizeH="0" baseline="0" dirty="0" smtClean="0">
                          <a:ln>
                            <a:noFill/>
                          </a:ln>
                          <a:solidFill>
                            <a:schemeClr val="tx1"/>
                          </a:solidFill>
                          <a:effectLst/>
                          <a:latin typeface="Helvetica Light" charset="0"/>
                          <a:ea typeface="MS PGothic" panose="020B0600070205080204" pitchFamily="34" charset="-128"/>
                          <a:sym typeface="Helvetica Light" charset="0"/>
                        </a:rPr>
                        <a:t> s </a:t>
                      </a:r>
                      <a:r>
                        <a:rPr kumimoji="0" lang="en-US" altLang="en-US" sz="1800" b="0" i="0" u="none" strike="noStrike" cap="none" normalizeH="0" baseline="0" dirty="0" smtClean="0">
                          <a:ln>
                            <a:noFill/>
                          </a:ln>
                          <a:solidFill>
                            <a:schemeClr val="tx1"/>
                          </a:solidFill>
                          <a:effectLst/>
                          <a:latin typeface="Helvetica Light" charset="0"/>
                          <a:ea typeface="MS PGothic" panose="020B0600070205080204" pitchFamily="34" charset="-128"/>
                          <a:sym typeface="Helvetica Light" charset="0"/>
                        </a:rPr>
                        <a:t>– show service info</a:t>
                      </a:r>
                    </a:p>
                  </a:txBody>
                  <a:tcPr marL="64289" marR="64289" marT="32142" marB="32142" horzOverflow="overflow">
                    <a:lnL>
                      <a:noFill/>
                    </a:lnL>
                    <a:lnR>
                      <a:noFill/>
                    </a:lnR>
                    <a:lnT>
                      <a:noFill/>
                    </a:lnT>
                    <a:lnB>
                      <a:noFill/>
                    </a:lnB>
                    <a:lnTlToBr>
                      <a:noFill/>
                    </a:lnTlToBr>
                    <a:lnBlToTr>
                      <a:noFill/>
                    </a:lnBlToTr>
                    <a:noFill/>
                  </a:tcPr>
                </a:tc>
                <a:tc>
                  <a:txBody>
                    <a:bodyPr/>
                    <a:lstStyle>
                      <a:lvl1pPr eaLnBrk="0" hangingPunct="0">
                        <a:buSzPct val="75000"/>
                        <a:defRPr sz="3200">
                          <a:solidFill>
                            <a:schemeClr val="tx1"/>
                          </a:solidFill>
                          <a:latin typeface="Arial" panose="020B0604020202020204" pitchFamily="34" charset="0"/>
                          <a:ea typeface="MS PGothic" panose="020B0600070205080204" pitchFamily="34" charset="-128"/>
                          <a:cs typeface="Arial" panose="020B0604020202020204" pitchFamily="34" charset="0"/>
                          <a:sym typeface="Helvetica Light" charset="0"/>
                        </a:defRPr>
                      </a:lvl1pPr>
                      <a:lvl2pPr marL="742950" indent="-28575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2pPr>
                      <a:lvl3pPr marL="1143000" indent="-22860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3pPr>
                      <a:lvl4pPr marL="1600200" indent="-22860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4pPr>
                      <a:lvl5pPr marL="2057400" indent="-22860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5pPr>
                      <a:lvl6pPr marL="25146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6pPr>
                      <a:lvl7pPr marL="29718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7pPr>
                      <a:lvl8pPr marL="34290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8pPr>
                      <a:lvl9pPr marL="38862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9pPr>
                    </a:lstStyle>
                    <a:p>
                      <a:pPr marL="0" marR="0" lvl="0" indent="0" algn="l" defTabSz="5842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err="1" smtClean="0">
                          <a:ln>
                            <a:noFill/>
                          </a:ln>
                          <a:solidFill>
                            <a:schemeClr val="tx1"/>
                          </a:solidFill>
                          <a:effectLst/>
                          <a:latin typeface="Helvetica Light" charset="0"/>
                          <a:ea typeface="MS PGothic" panose="020B0600070205080204" pitchFamily="34" charset="-128"/>
                          <a:sym typeface="Helvetica Light" charset="0"/>
                        </a:rPr>
                        <a:t>cf</a:t>
                      </a:r>
                      <a:r>
                        <a:rPr kumimoji="0" lang="en-US" altLang="en-US" sz="1800" b="1" i="0" u="none" strike="noStrike" cap="none" normalizeH="0" baseline="0" dirty="0" smtClean="0">
                          <a:ln>
                            <a:noFill/>
                          </a:ln>
                          <a:solidFill>
                            <a:schemeClr val="tx1"/>
                          </a:solidFill>
                          <a:effectLst/>
                          <a:latin typeface="Helvetica Light" charset="0"/>
                          <a:ea typeface="MS PGothic" panose="020B0600070205080204" pitchFamily="34" charset="-128"/>
                          <a:sym typeface="Helvetica Light" charset="0"/>
                        </a:rPr>
                        <a:t> scale </a:t>
                      </a:r>
                      <a:r>
                        <a:rPr kumimoji="0" lang="en-US" altLang="en-US" sz="1800" b="0" i="0" u="none" strike="noStrike" cap="none" normalizeH="0" baseline="0" dirty="0" smtClean="0">
                          <a:ln>
                            <a:noFill/>
                          </a:ln>
                          <a:solidFill>
                            <a:schemeClr val="tx1"/>
                          </a:solidFill>
                          <a:effectLst/>
                          <a:latin typeface="Helvetica Light" charset="0"/>
                          <a:ea typeface="MS PGothic" panose="020B0600070205080204" pitchFamily="34" charset="-128"/>
                          <a:sym typeface="Helvetica Light" charset="0"/>
                        </a:rPr>
                        <a:t>– scale app</a:t>
                      </a:r>
                    </a:p>
                  </a:txBody>
                  <a:tcPr marL="64289" marR="64289" marT="32142" marB="32142" horzOverflow="overflow">
                    <a:lnL>
                      <a:noFill/>
                    </a:lnL>
                    <a:lnR>
                      <a:noFill/>
                    </a:lnR>
                    <a:lnT>
                      <a:noFill/>
                    </a:lnT>
                    <a:lnB>
                      <a:noFill/>
                    </a:lnB>
                    <a:lnTlToBr>
                      <a:noFill/>
                    </a:lnTlToBr>
                    <a:lnBlToTr>
                      <a:noFill/>
                    </a:lnBlToTr>
                    <a:noFill/>
                  </a:tcPr>
                </a:tc>
              </a:tr>
              <a:tr h="459974">
                <a:tc>
                  <a:txBody>
                    <a:bodyPr/>
                    <a:lstStyle>
                      <a:lvl1pPr eaLnBrk="0" hangingPunct="0">
                        <a:buSzPct val="75000"/>
                        <a:defRPr sz="3200">
                          <a:solidFill>
                            <a:schemeClr val="tx1"/>
                          </a:solidFill>
                          <a:latin typeface="Arial" panose="020B0604020202020204" pitchFamily="34" charset="0"/>
                          <a:ea typeface="MS PGothic" panose="020B0600070205080204" pitchFamily="34" charset="-128"/>
                          <a:cs typeface="Arial" panose="020B0604020202020204" pitchFamily="34" charset="0"/>
                          <a:sym typeface="Helvetica Light" charset="0"/>
                        </a:defRPr>
                      </a:lvl1pPr>
                      <a:lvl2pPr marL="742950" indent="-28575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2pPr>
                      <a:lvl3pPr marL="1143000" indent="-22860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3pPr>
                      <a:lvl4pPr marL="1600200" indent="-22860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4pPr>
                      <a:lvl5pPr marL="2057400" indent="-22860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5pPr>
                      <a:lvl6pPr marL="25146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6pPr>
                      <a:lvl7pPr marL="29718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7pPr>
                      <a:lvl8pPr marL="34290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8pPr>
                      <a:lvl9pPr marL="38862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9pPr>
                    </a:lstStyle>
                    <a:p>
                      <a:pPr marL="0" marR="0" lvl="0" indent="0" algn="l" defTabSz="5842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err="1" smtClean="0">
                          <a:ln>
                            <a:noFill/>
                          </a:ln>
                          <a:solidFill>
                            <a:schemeClr val="tx1"/>
                          </a:solidFill>
                          <a:effectLst/>
                          <a:latin typeface="Helvetica Light" charset="0"/>
                          <a:ea typeface="MS PGothic" panose="020B0600070205080204" pitchFamily="34" charset="-128"/>
                          <a:sym typeface="Helvetica Light" charset="0"/>
                        </a:rPr>
                        <a:t>cf</a:t>
                      </a:r>
                      <a:r>
                        <a:rPr kumimoji="0" lang="en-US" altLang="en-US" sz="1800" b="1" i="0" u="none" strike="noStrike" cap="none" normalizeH="0" baseline="0" dirty="0" smtClean="0">
                          <a:ln>
                            <a:noFill/>
                          </a:ln>
                          <a:solidFill>
                            <a:schemeClr val="tx1"/>
                          </a:solidFill>
                          <a:effectLst/>
                          <a:latin typeface="Helvetica Light" charset="0"/>
                          <a:ea typeface="MS PGothic" panose="020B0600070205080204" pitchFamily="34" charset="-128"/>
                          <a:sym typeface="Helvetica Light" charset="0"/>
                        </a:rPr>
                        <a:t> </a:t>
                      </a:r>
                      <a:r>
                        <a:rPr kumimoji="0" lang="en-US" altLang="en-US" sz="1800" b="1" i="0" u="none" strike="noStrike" cap="none" normalizeH="0" baseline="0" dirty="0" err="1" smtClean="0">
                          <a:ln>
                            <a:noFill/>
                          </a:ln>
                          <a:solidFill>
                            <a:schemeClr val="tx1"/>
                          </a:solidFill>
                          <a:effectLst/>
                          <a:latin typeface="Helvetica Light" charset="0"/>
                          <a:ea typeface="MS PGothic" panose="020B0600070205080204" pitchFamily="34" charset="-128"/>
                          <a:sym typeface="Helvetica Light" charset="0"/>
                        </a:rPr>
                        <a:t>cs</a:t>
                      </a:r>
                      <a:r>
                        <a:rPr kumimoji="0" lang="en-US" altLang="en-US" sz="1800" b="0" i="0" u="none" strike="noStrike" cap="none" normalizeH="0" baseline="0" dirty="0" smtClean="0">
                          <a:ln>
                            <a:noFill/>
                          </a:ln>
                          <a:solidFill>
                            <a:schemeClr val="tx1"/>
                          </a:solidFill>
                          <a:effectLst/>
                          <a:latin typeface="Helvetica Light" charset="0"/>
                          <a:ea typeface="MS PGothic" panose="020B0600070205080204" pitchFamily="34" charset="-128"/>
                          <a:sym typeface="Helvetica Light" charset="0"/>
                        </a:rPr>
                        <a:t> – create service</a:t>
                      </a:r>
                    </a:p>
                  </a:txBody>
                  <a:tcPr marL="64289" marR="64289" marT="32142" marB="32142" horzOverflow="overflow">
                    <a:lnL>
                      <a:noFill/>
                    </a:lnL>
                    <a:lnR>
                      <a:noFill/>
                    </a:lnR>
                    <a:lnT>
                      <a:noFill/>
                    </a:lnT>
                    <a:lnB>
                      <a:noFill/>
                    </a:lnB>
                    <a:lnTlToBr>
                      <a:noFill/>
                    </a:lnTlToBr>
                    <a:lnBlToTr>
                      <a:noFill/>
                    </a:lnBlToTr>
                    <a:noFill/>
                  </a:tcPr>
                </a:tc>
                <a:tc>
                  <a:txBody>
                    <a:bodyPr/>
                    <a:lstStyle>
                      <a:lvl1pPr eaLnBrk="0" hangingPunct="0">
                        <a:buSzPct val="75000"/>
                        <a:defRPr sz="3200">
                          <a:solidFill>
                            <a:schemeClr val="tx1"/>
                          </a:solidFill>
                          <a:latin typeface="Arial" panose="020B0604020202020204" pitchFamily="34" charset="0"/>
                          <a:ea typeface="MS PGothic" panose="020B0600070205080204" pitchFamily="34" charset="-128"/>
                          <a:cs typeface="Arial" panose="020B0604020202020204" pitchFamily="34" charset="0"/>
                          <a:sym typeface="Helvetica Light" charset="0"/>
                        </a:defRPr>
                      </a:lvl1pPr>
                      <a:lvl2pPr marL="742950" indent="-28575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2pPr>
                      <a:lvl3pPr marL="1143000" indent="-22860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3pPr>
                      <a:lvl4pPr marL="1600200" indent="-22860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4pPr>
                      <a:lvl5pPr marL="2057400" indent="-228600" eaLnBrk="0" hangingPunct="0">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5pPr>
                      <a:lvl6pPr marL="25146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6pPr>
                      <a:lvl7pPr marL="29718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7pPr>
                      <a:lvl8pPr marL="34290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8pPr>
                      <a:lvl9pPr marL="3886200" indent="-228600" defTabSz="584200" eaLnBrk="0" fontAlgn="base" hangingPunct="0">
                        <a:spcBef>
                          <a:spcPct val="0"/>
                        </a:spcBef>
                        <a:spcAft>
                          <a:spcPct val="0"/>
                        </a:spcAft>
                        <a:buSzPct val="75000"/>
                        <a:defRPr sz="3200">
                          <a:solidFill>
                            <a:schemeClr val="tx1"/>
                          </a:solidFill>
                          <a:latin typeface="Arial" panose="020B0604020202020204" pitchFamily="34" charset="0"/>
                          <a:ea typeface="Arial" panose="020B0604020202020204" pitchFamily="34" charset="0"/>
                          <a:cs typeface="Arial" panose="020B0604020202020204" pitchFamily="34" charset="0"/>
                          <a:sym typeface="Helvetica Light" charset="0"/>
                        </a:defRPr>
                      </a:lvl9pPr>
                    </a:lstStyle>
                    <a:p>
                      <a:pPr marL="0" marR="0" lvl="0" indent="0" algn="l" defTabSz="5842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err="1" smtClean="0">
                          <a:ln>
                            <a:noFill/>
                          </a:ln>
                          <a:solidFill>
                            <a:schemeClr val="tx1"/>
                          </a:solidFill>
                          <a:effectLst/>
                          <a:latin typeface="Helvetica Light" charset="0"/>
                          <a:ea typeface="MS PGothic" panose="020B0600070205080204" pitchFamily="34" charset="-128"/>
                          <a:sym typeface="Helvetica Light" charset="0"/>
                        </a:rPr>
                        <a:t>cf</a:t>
                      </a:r>
                      <a:r>
                        <a:rPr kumimoji="0" lang="en-US" altLang="en-US" sz="1800" b="1" i="0" u="none" strike="noStrike" cap="none" normalizeH="0" baseline="0" dirty="0" smtClean="0">
                          <a:ln>
                            <a:noFill/>
                          </a:ln>
                          <a:solidFill>
                            <a:schemeClr val="tx1"/>
                          </a:solidFill>
                          <a:effectLst/>
                          <a:latin typeface="Helvetica Light" charset="0"/>
                          <a:ea typeface="MS PGothic" panose="020B0600070205080204" pitchFamily="34" charset="-128"/>
                          <a:sym typeface="Helvetica Light" charset="0"/>
                        </a:rPr>
                        <a:t> logs </a:t>
                      </a:r>
                      <a:r>
                        <a:rPr kumimoji="0" lang="en-US" altLang="en-US" sz="1800" b="0" i="0" u="none" strike="noStrike" cap="none" normalizeH="0" baseline="0" dirty="0" smtClean="0">
                          <a:ln>
                            <a:noFill/>
                          </a:ln>
                          <a:solidFill>
                            <a:schemeClr val="tx1"/>
                          </a:solidFill>
                          <a:effectLst/>
                          <a:latin typeface="Helvetica Light" charset="0"/>
                          <a:ea typeface="MS PGothic" panose="020B0600070205080204" pitchFamily="34" charset="-128"/>
                          <a:sym typeface="Helvetica Light" charset="0"/>
                        </a:rPr>
                        <a:t>– tail or show logs for app</a:t>
                      </a:r>
                    </a:p>
                  </a:txBody>
                  <a:tcPr marL="64289" marR="64289" marT="32142" marB="32142" horzOverflow="overflow">
                    <a:lnL>
                      <a:noFill/>
                    </a:lnL>
                    <a:lnR>
                      <a:noFill/>
                    </a:lnR>
                    <a:lnT>
                      <a:noFill/>
                    </a:lnT>
                    <a:lnB>
                      <a:noFill/>
                    </a:lnB>
                    <a:lnTlToBr>
                      <a:noFill/>
                    </a:lnTlToBr>
                    <a:lnBlToTr>
                      <a:noFill/>
                    </a:lnBlToTr>
                    <a:noFill/>
                  </a:tcPr>
                </a:tc>
              </a:tr>
              <a:tr h="607387">
                <a:tc>
                  <a:txBody>
                    <a:bodyPr/>
                    <a:lstStyle/>
                    <a:p>
                      <a:pPr marL="0" marR="0" lvl="0" indent="0" algn="l" defTabSz="5842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err="1" smtClean="0">
                          <a:ln>
                            <a:noFill/>
                          </a:ln>
                          <a:solidFill>
                            <a:schemeClr val="tx1"/>
                          </a:solidFill>
                          <a:effectLst/>
                          <a:latin typeface="Helvetica Light" charset="0"/>
                          <a:ea typeface="MS PGothic" panose="020B0600070205080204" pitchFamily="34" charset="-128"/>
                          <a:sym typeface="Helvetica Light" charset="0"/>
                        </a:rPr>
                        <a:t>cf</a:t>
                      </a:r>
                      <a:r>
                        <a:rPr kumimoji="0" lang="en-US" altLang="en-US" sz="1800" b="1" i="0" u="none" strike="noStrike" cap="none" normalizeH="0" baseline="0" dirty="0" smtClean="0">
                          <a:ln>
                            <a:noFill/>
                          </a:ln>
                          <a:solidFill>
                            <a:schemeClr val="tx1"/>
                          </a:solidFill>
                          <a:effectLst/>
                          <a:latin typeface="Helvetica Light" charset="0"/>
                          <a:ea typeface="MS PGothic" panose="020B0600070205080204" pitchFamily="34" charset="-128"/>
                          <a:sym typeface="Helvetica Light" charset="0"/>
                        </a:rPr>
                        <a:t> m</a:t>
                      </a:r>
                      <a:r>
                        <a:rPr kumimoji="0" lang="en-US" altLang="en-US" sz="1800" b="0" i="0" u="none" strike="noStrike" cap="none" normalizeH="0" baseline="0" dirty="0" smtClean="0">
                          <a:ln>
                            <a:noFill/>
                          </a:ln>
                          <a:solidFill>
                            <a:schemeClr val="tx1"/>
                          </a:solidFill>
                          <a:effectLst/>
                          <a:latin typeface="Helvetica Light" charset="0"/>
                          <a:ea typeface="MS PGothic" panose="020B0600070205080204" pitchFamily="34" charset="-128"/>
                          <a:sym typeface="Helvetica Light" charset="0"/>
                        </a:rPr>
                        <a:t> – list available marketplace offering</a:t>
                      </a:r>
                    </a:p>
                  </a:txBody>
                  <a:tcPr marL="64289" marR="64289" marT="32142" marB="32142" horzOverflow="overflow">
                    <a:lnL>
                      <a:noFill/>
                    </a:lnL>
                    <a:lnR>
                      <a:noFill/>
                    </a:lnR>
                    <a:lnT>
                      <a:noFill/>
                    </a:lnT>
                    <a:lnB>
                      <a:noFill/>
                    </a:lnB>
                    <a:lnTlToBr>
                      <a:noFill/>
                    </a:lnTlToBr>
                    <a:lnBlToTr>
                      <a:noFill/>
                    </a:lnBlToTr>
                    <a:noFill/>
                  </a:tcPr>
                </a:tc>
                <a:tc>
                  <a:txBody>
                    <a:bodyPr/>
                    <a:lstStyle/>
                    <a:p>
                      <a:pPr marL="0" marR="0" lvl="0" indent="0" algn="l" defTabSz="584200" rtl="0" eaLnBrk="1" fontAlgn="base" latinLnBrk="0" hangingPunct="1">
                        <a:lnSpc>
                          <a:spcPct val="100000"/>
                        </a:lnSpc>
                        <a:spcBef>
                          <a:spcPct val="0"/>
                        </a:spcBef>
                        <a:spcAft>
                          <a:spcPct val="0"/>
                        </a:spcAft>
                        <a:buClrTx/>
                        <a:buSzTx/>
                        <a:buFontTx/>
                        <a:buNone/>
                        <a:tabLst/>
                        <a:defRPr/>
                      </a:pPr>
                      <a:r>
                        <a:rPr kumimoji="0" lang="en-US" altLang="en-US" sz="1800" b="1" i="0" u="none" strike="noStrike" cap="none" normalizeH="0" baseline="0" dirty="0" err="1" smtClean="0">
                          <a:ln>
                            <a:noFill/>
                          </a:ln>
                          <a:solidFill>
                            <a:schemeClr val="tx1"/>
                          </a:solidFill>
                          <a:effectLst/>
                          <a:latin typeface="Helvetica Light" charset="0"/>
                          <a:ea typeface="MS PGothic" panose="020B0600070205080204" pitchFamily="34" charset="-128"/>
                          <a:sym typeface="Helvetica Light" charset="0"/>
                        </a:rPr>
                        <a:t>cf</a:t>
                      </a:r>
                      <a:r>
                        <a:rPr kumimoji="0" lang="en-US" altLang="en-US" sz="1800" b="1" i="0" u="none" strike="noStrike" cap="none" normalizeH="0" baseline="0" dirty="0" smtClean="0">
                          <a:ln>
                            <a:noFill/>
                          </a:ln>
                          <a:solidFill>
                            <a:schemeClr val="tx1"/>
                          </a:solidFill>
                          <a:effectLst/>
                          <a:latin typeface="Helvetica Light" charset="0"/>
                          <a:ea typeface="MS PGothic" panose="020B0600070205080204" pitchFamily="34" charset="-128"/>
                          <a:sym typeface="Helvetica Light" charset="0"/>
                        </a:rPr>
                        <a:t> r</a:t>
                      </a:r>
                      <a:r>
                        <a:rPr kumimoji="0" lang="en-US" altLang="en-US" sz="1800" b="0" i="0" u="none" strike="noStrike" cap="none" normalizeH="0" baseline="0" dirty="0" smtClean="0">
                          <a:ln>
                            <a:noFill/>
                          </a:ln>
                          <a:solidFill>
                            <a:schemeClr val="tx1"/>
                          </a:solidFill>
                          <a:effectLst/>
                          <a:latin typeface="Helvetica Light" charset="0"/>
                          <a:ea typeface="MS PGothic" panose="020B0600070205080204" pitchFamily="34" charset="-128"/>
                          <a:sym typeface="Helvetica Light" charset="0"/>
                        </a:rPr>
                        <a:t> – list all routes in current space</a:t>
                      </a:r>
                    </a:p>
                  </a:txBody>
                  <a:tcPr marL="64289" marR="64289" marT="32142" marB="32142" horzOverflow="overflow">
                    <a:lnL>
                      <a:noFill/>
                    </a:lnL>
                    <a:lnR>
                      <a:noFill/>
                    </a:lnR>
                    <a:lnT>
                      <a:noFill/>
                    </a:lnT>
                    <a:lnB>
                      <a:noFill/>
                    </a:lnB>
                    <a:lnTlToBr>
                      <a:noFill/>
                    </a:lnTlToBr>
                    <a:lnBlToTr>
                      <a:noFill/>
                    </a:lnBlToTr>
                    <a:noFill/>
                  </a:tcPr>
                </a:tc>
              </a:tr>
            </a:tbl>
          </a:graphicData>
        </a:graphic>
      </p:graphicFrame>
    </p:spTree>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255588" y="587375"/>
            <a:ext cx="8659812" cy="530225"/>
          </a:xfrm>
        </p:spPr>
        <p:txBody>
          <a:bodyPr/>
          <a:lstStyle/>
          <a:p>
            <a:r>
              <a:rPr lang="en-US" altLang="en-US" b="1" smtClean="0">
                <a:solidFill>
                  <a:srgbClr val="0070C0"/>
                </a:solidFill>
              </a:rPr>
              <a:t>Login to Bluemix Cloud Foundry Using Command Line Interface</a:t>
            </a:r>
          </a:p>
        </p:txBody>
      </p:sp>
      <p:sp>
        <p:nvSpPr>
          <p:cNvPr id="15363" name="Text Placeholder 2"/>
          <p:cNvSpPr>
            <a:spLocks noGrp="1"/>
          </p:cNvSpPr>
          <p:nvPr>
            <p:ph type="body" idx="1"/>
          </p:nvPr>
        </p:nvSpPr>
        <p:spPr>
          <a:xfrm>
            <a:off x="182563" y="1327150"/>
            <a:ext cx="8489950" cy="5000625"/>
          </a:xfrm>
        </p:spPr>
        <p:txBody>
          <a:bodyPr/>
          <a:lstStyle/>
          <a:p>
            <a:r>
              <a:rPr lang="en-US" altLang="en-US" smtClean="0"/>
              <a:t> </a:t>
            </a:r>
            <a:r>
              <a:rPr lang="en-US" altLang="en-US" sz="2000" b="1" smtClean="0"/>
              <a:t>Usage</a:t>
            </a:r>
            <a:r>
              <a:rPr lang="en-US" altLang="en-US" sz="2000" smtClean="0"/>
              <a:t> </a:t>
            </a:r>
          </a:p>
          <a:p>
            <a:pPr lvl="1"/>
            <a:r>
              <a:rPr lang="en-US" altLang="en-US" sz="2000" smtClean="0"/>
              <a:t>cf login [-a API_URL] [-u USERNAME] [-p PASSWORD] [-o ORG] [-s SPACE]</a:t>
            </a:r>
          </a:p>
          <a:p>
            <a:r>
              <a:rPr lang="en-US" altLang="en-US" sz="2000" b="1" smtClean="0"/>
              <a:t>Arguments:</a:t>
            </a:r>
          </a:p>
          <a:p>
            <a:pPr lvl="1"/>
            <a:r>
              <a:rPr lang="en-US" altLang="en-US" sz="2000" smtClean="0"/>
              <a:t>API endpoint: This is </a:t>
            </a:r>
            <a:r>
              <a:rPr lang="en-US" altLang="en-US" sz="2000" smtClean="0">
                <a:hlinkClick r:id="rId3"/>
              </a:rPr>
              <a:t>the URL of the Cloud Controller in your Cloud Foundry instance</a:t>
            </a:r>
            <a:r>
              <a:rPr lang="en-US" altLang="en-US" sz="2000" smtClean="0"/>
              <a:t>.</a:t>
            </a:r>
          </a:p>
          <a:p>
            <a:pPr lvl="1"/>
            <a:r>
              <a:rPr lang="en-US" altLang="en-US" sz="2000" smtClean="0"/>
              <a:t>Username: Your username, such as your Bluemix ID</a:t>
            </a:r>
          </a:p>
          <a:p>
            <a:pPr lvl="1"/>
            <a:r>
              <a:rPr lang="en-US" altLang="en-US" sz="2000" smtClean="0"/>
              <a:t>Password: Your password.</a:t>
            </a:r>
          </a:p>
          <a:p>
            <a:pPr lvl="1"/>
            <a:r>
              <a:rPr lang="en-US" altLang="en-US" sz="2000" smtClean="0"/>
              <a:t>Org: The organization where you want to deploy your application. </a:t>
            </a:r>
          </a:p>
          <a:p>
            <a:pPr lvl="1"/>
            <a:r>
              <a:rPr lang="en-US" altLang="en-US" sz="2000" smtClean="0"/>
              <a:t>Space: The space in the organization where you want to deploy your application.</a:t>
            </a:r>
          </a:p>
          <a:p>
            <a:r>
              <a:rPr lang="en-US" altLang="en-US" sz="2000" b="1" smtClean="0"/>
              <a:t>Example </a:t>
            </a:r>
            <a:r>
              <a:rPr lang="en-US" altLang="en-US" sz="2000" smtClean="0"/>
              <a:t>:  cf  login –a  </a:t>
            </a:r>
            <a:r>
              <a:rPr lang="en-US" altLang="en-US" sz="2000" u="sng" smtClean="0">
                <a:hlinkClick r:id="rId4"/>
              </a:rPr>
              <a:t>https://api.ng.bluemix.net</a:t>
            </a:r>
            <a:r>
              <a:rPr lang="en-US" altLang="en-US" sz="2000" smtClean="0"/>
              <a:t> –u </a:t>
            </a:r>
            <a:r>
              <a:rPr lang="en-US" altLang="en-US" sz="2000" u="sng" smtClean="0">
                <a:hlinkClick r:id="rId5"/>
              </a:rPr>
              <a:t>developer@us.ibm.com</a:t>
            </a:r>
            <a:r>
              <a:rPr lang="en-US" altLang="en-US" sz="2000" smtClean="0"/>
              <a:t>  -p XXXX –o </a:t>
            </a:r>
            <a:r>
              <a:rPr lang="en-US" altLang="en-US" sz="2000" u="sng" smtClean="0">
                <a:hlinkClick r:id="rId5"/>
              </a:rPr>
              <a:t>developer@us.ibm.com</a:t>
            </a:r>
            <a:r>
              <a:rPr lang="en-US" altLang="en-US" sz="2000" smtClean="0"/>
              <a:t>  -s dev</a:t>
            </a:r>
          </a:p>
          <a:p>
            <a:endParaRPr lang="en-US" altLang="en-US" smtClean="0"/>
          </a:p>
        </p:txBody>
      </p:sp>
    </p:spTree>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371475" y="596900"/>
            <a:ext cx="8772525" cy="331788"/>
          </a:xfrm>
        </p:spPr>
        <p:txBody>
          <a:bodyPr/>
          <a:lstStyle/>
          <a:p>
            <a:r>
              <a:rPr lang="en-US" altLang="en-US" smtClean="0">
                <a:solidFill>
                  <a:srgbClr val="0070C0"/>
                </a:solidFill>
              </a:rPr>
              <a:t>Push an application to Bluemix Cloud Foundry</a:t>
            </a:r>
          </a:p>
        </p:txBody>
      </p:sp>
      <p:sp>
        <p:nvSpPr>
          <p:cNvPr id="17412" name="Rectangle 1"/>
          <p:cNvSpPr>
            <a:spLocks noGrp="1" noChangeArrowheads="1"/>
          </p:cNvSpPr>
          <p:nvPr>
            <p:ph type="body" idx="1"/>
          </p:nvPr>
        </p:nvSpPr>
        <p:spPr>
          <a:xfrm>
            <a:off x="276225" y="908655"/>
            <a:ext cx="8661400" cy="5816977"/>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40" anchor="ctr">
            <a:spAutoFit/>
          </a:bodyPr>
          <a:lstStyle/>
          <a:p>
            <a:pPr marL="0" indent="0">
              <a:spcBef>
                <a:spcPct val="0"/>
              </a:spcBef>
              <a:buClrTx/>
              <a:buFontTx/>
              <a:buChar char="•"/>
            </a:pPr>
            <a:r>
              <a:rPr lang="en-US" altLang="en-US" b="1" dirty="0" smtClean="0">
                <a:ea typeface="Times New Roman" panose="02020603050405020304" pitchFamily="18" charset="0"/>
                <a:cs typeface="Arial" panose="020B0604020202020204" pitchFamily="34" charset="0"/>
              </a:rPr>
              <a:t>Usage </a:t>
            </a:r>
            <a:r>
              <a:rPr lang="en-US" altLang="en-US" dirty="0" smtClean="0">
                <a:ea typeface="Times New Roman" panose="02020603050405020304" pitchFamily="18" charset="0"/>
                <a:cs typeface="Arial" panose="020B0604020202020204" pitchFamily="34" charset="0"/>
              </a:rPr>
              <a:t>:</a:t>
            </a:r>
          </a:p>
          <a:p>
            <a:pPr marL="457200" lvl="1" indent="0">
              <a:spcBef>
                <a:spcPct val="0"/>
              </a:spcBef>
              <a:buClrTx/>
              <a:buFont typeface="Symbol" panose="05050102010706020507" pitchFamily="18" charset="2"/>
              <a:buChar char=""/>
            </a:pPr>
            <a:r>
              <a:rPr lang="en-US" altLang="en-US" sz="1400" dirty="0" smtClean="0">
                <a:ea typeface="Times New Roman" panose="02020603050405020304" pitchFamily="18" charset="0"/>
                <a:cs typeface="Arial" panose="020B0604020202020204" pitchFamily="34" charset="0"/>
              </a:rPr>
              <a:t>cf push APP [-b URL] [-c COMMAND] [-d DOMAIN] [-</a:t>
            </a:r>
            <a:r>
              <a:rPr lang="en-US" altLang="en-US" sz="1400" dirty="0" err="1" smtClean="0">
                <a:ea typeface="Times New Roman" panose="02020603050405020304" pitchFamily="18" charset="0"/>
                <a:cs typeface="Arial" panose="020B0604020202020204" pitchFamily="34" charset="0"/>
              </a:rPr>
              <a:t>i</a:t>
            </a:r>
            <a:r>
              <a:rPr lang="en-US" altLang="en-US" sz="1400" dirty="0" smtClean="0">
                <a:ea typeface="Times New Roman" panose="02020603050405020304" pitchFamily="18" charset="0"/>
                <a:cs typeface="Arial" panose="020B0604020202020204" pitchFamily="34" charset="0"/>
              </a:rPr>
              <a:t> NUM_INSTANCES] [-m MEMORY] [-n HOST] [-p PATH] [-s STACK] [--no-hostname] [--no-route] [--no-start]</a:t>
            </a:r>
          </a:p>
          <a:p>
            <a:pPr marL="0" indent="0">
              <a:spcBef>
                <a:spcPct val="0"/>
              </a:spcBef>
              <a:buClrTx/>
              <a:buFontTx/>
              <a:buChar char="•"/>
            </a:pPr>
            <a:r>
              <a:rPr lang="en-US" altLang="en-US" sz="1800" b="1" dirty="0" smtClean="0">
                <a:ea typeface="Times New Roman" panose="02020603050405020304" pitchFamily="18" charset="0"/>
                <a:cs typeface="Arial" panose="020B0604020202020204" pitchFamily="34" charset="0"/>
              </a:rPr>
              <a:t>Arguments:</a:t>
            </a:r>
          </a:p>
          <a:p>
            <a:pPr marL="457200" lvl="1" indent="0">
              <a:spcBef>
                <a:spcPct val="0"/>
              </a:spcBef>
              <a:buClrTx/>
              <a:buFont typeface="Symbol" panose="05050102010706020507" pitchFamily="18" charset="2"/>
              <a:buNone/>
            </a:pPr>
            <a:r>
              <a:rPr lang="en-US" altLang="en-US" dirty="0" smtClean="0">
                <a:ea typeface="Times New Roman" panose="02020603050405020304" pitchFamily="18" charset="0"/>
                <a:cs typeface="Arial" panose="020B0604020202020204" pitchFamily="34" charset="0"/>
              </a:rPr>
              <a:t>-b — Custom </a:t>
            </a:r>
            <a:r>
              <a:rPr lang="en-US" altLang="en-US" dirty="0" err="1" smtClean="0">
                <a:ea typeface="Times New Roman" panose="02020603050405020304" pitchFamily="18" charset="0"/>
                <a:cs typeface="Arial" panose="020B0604020202020204" pitchFamily="34" charset="0"/>
              </a:rPr>
              <a:t>buildpack</a:t>
            </a:r>
            <a:r>
              <a:rPr lang="en-US" altLang="en-US" dirty="0" smtClean="0">
                <a:ea typeface="Times New Roman" panose="02020603050405020304" pitchFamily="18" charset="0"/>
                <a:cs typeface="Arial" panose="020B0604020202020204" pitchFamily="34" charset="0"/>
              </a:rPr>
              <a:t> URL, for example, </a:t>
            </a:r>
            <a:r>
              <a:rPr lang="en-US" altLang="en-US" dirty="0" smtClean="0">
                <a:solidFill>
                  <a:srgbClr val="0000FF"/>
                </a:solidFill>
                <a:ea typeface="Times New Roman" panose="02020603050405020304" pitchFamily="18" charset="0"/>
                <a:cs typeface="Arial" panose="020B0604020202020204" pitchFamily="34" charset="0"/>
                <a:hlinkClick r:id="rId3"/>
              </a:rPr>
              <a:t>https://github.com/heroku/heroku-buildpack-play.git</a:t>
            </a:r>
            <a:r>
              <a:rPr lang="en-US" altLang="en-US" dirty="0" smtClean="0">
                <a:ea typeface="Times New Roman" panose="02020603050405020304" pitchFamily="18" charset="0"/>
                <a:cs typeface="Arial" panose="020B0604020202020204" pitchFamily="34" charset="0"/>
              </a:rPr>
              <a:t> or </a:t>
            </a:r>
            <a:r>
              <a:rPr lang="en-US" altLang="en-US" dirty="0" smtClean="0">
                <a:solidFill>
                  <a:srgbClr val="0000FF"/>
                </a:solidFill>
                <a:ea typeface="Times New Roman" panose="02020603050405020304" pitchFamily="18" charset="0"/>
                <a:cs typeface="Arial" panose="020B0604020202020204" pitchFamily="34" charset="0"/>
                <a:hlinkClick r:id="rId4"/>
              </a:rPr>
              <a:t>https://github.com/heroku/heroku-buildpack-play.git#stable</a:t>
            </a:r>
            <a:r>
              <a:rPr lang="en-US" altLang="en-US" dirty="0" smtClean="0">
                <a:ea typeface="Times New Roman" panose="02020603050405020304" pitchFamily="18" charset="0"/>
                <a:cs typeface="Arial" panose="020B0604020202020204" pitchFamily="34" charset="0"/>
              </a:rPr>
              <a:t> to select stable branch</a:t>
            </a:r>
            <a:endParaRPr lang="en-US" altLang="en-US" sz="900" dirty="0" smtClean="0">
              <a:cs typeface="Arial" panose="020B0604020202020204" pitchFamily="34" charset="0"/>
            </a:endParaRPr>
          </a:p>
          <a:p>
            <a:pPr marL="457200" lvl="1" indent="0">
              <a:spcBef>
                <a:spcPct val="0"/>
              </a:spcBef>
              <a:buClrTx/>
              <a:buFont typeface="Symbol" panose="05050102010706020507" pitchFamily="18" charset="2"/>
              <a:buNone/>
            </a:pPr>
            <a:r>
              <a:rPr lang="en-US" altLang="en-US" dirty="0" smtClean="0">
                <a:cs typeface="Times New Roman" panose="02020603050405020304" pitchFamily="18" charset="0"/>
              </a:rPr>
              <a:t>-c — Start command for the application.</a:t>
            </a:r>
            <a:endParaRPr lang="en-US" altLang="en-US" sz="900" dirty="0" smtClean="0">
              <a:cs typeface="Times New Roman" panose="02020603050405020304" pitchFamily="18" charset="0"/>
            </a:endParaRPr>
          </a:p>
          <a:p>
            <a:pPr marL="457200" lvl="1" indent="0">
              <a:spcBef>
                <a:spcPct val="0"/>
              </a:spcBef>
              <a:buClrTx/>
              <a:buFont typeface="Symbol" panose="05050102010706020507" pitchFamily="18" charset="2"/>
              <a:buNone/>
            </a:pPr>
            <a:r>
              <a:rPr lang="en-US" altLang="en-US" dirty="0" smtClean="0">
                <a:cs typeface="Times New Roman" panose="02020603050405020304" pitchFamily="18" charset="0"/>
              </a:rPr>
              <a:t>-d — Domain, for example, example.com.</a:t>
            </a:r>
            <a:endParaRPr lang="en-US" altLang="en-US" sz="900" dirty="0" smtClean="0">
              <a:cs typeface="Times New Roman" panose="02020603050405020304" pitchFamily="18" charset="0"/>
            </a:endParaRPr>
          </a:p>
          <a:p>
            <a:pPr marL="457200" lvl="1" indent="0">
              <a:spcBef>
                <a:spcPct val="0"/>
              </a:spcBef>
              <a:buClrTx/>
              <a:buFont typeface="Symbol" panose="05050102010706020507" pitchFamily="18" charset="2"/>
              <a:buNone/>
            </a:pPr>
            <a:r>
              <a:rPr lang="en-US" altLang="en-US" dirty="0" smtClean="0">
                <a:cs typeface="Times New Roman" panose="02020603050405020304" pitchFamily="18" charset="0"/>
              </a:rPr>
              <a:t>-f — replaces --manifest</a:t>
            </a:r>
            <a:endParaRPr lang="en-US" altLang="en-US" sz="900" dirty="0" smtClean="0">
              <a:cs typeface="Times New Roman" panose="02020603050405020304" pitchFamily="18" charset="0"/>
            </a:endParaRPr>
          </a:p>
          <a:p>
            <a:pPr marL="457200" lvl="1" indent="0">
              <a:spcBef>
                <a:spcPct val="0"/>
              </a:spcBef>
              <a:buClrTx/>
              <a:buFont typeface="Symbol" panose="05050102010706020507" pitchFamily="18" charset="2"/>
              <a:buNone/>
            </a:pPr>
            <a:r>
              <a:rPr lang="en-US" altLang="en-US" dirty="0" smtClean="0">
                <a:cs typeface="Times New Roman" panose="02020603050405020304" pitchFamily="18" charset="0"/>
              </a:rPr>
              <a:t>-</a:t>
            </a:r>
            <a:r>
              <a:rPr lang="en-US" altLang="en-US" dirty="0" err="1" smtClean="0">
                <a:cs typeface="Times New Roman" panose="02020603050405020304" pitchFamily="18" charset="0"/>
              </a:rPr>
              <a:t>i</a:t>
            </a:r>
            <a:r>
              <a:rPr lang="en-US" altLang="en-US" dirty="0" smtClean="0">
                <a:cs typeface="Times New Roman" panose="02020603050405020304" pitchFamily="18" charset="0"/>
              </a:rPr>
              <a:t> — Number of instances of the application to run.</a:t>
            </a:r>
            <a:endParaRPr lang="en-US" altLang="en-US" sz="900" dirty="0" smtClean="0">
              <a:cs typeface="Times New Roman" panose="02020603050405020304" pitchFamily="18" charset="0"/>
            </a:endParaRPr>
          </a:p>
          <a:p>
            <a:pPr marL="457200" lvl="1" indent="0">
              <a:spcBef>
                <a:spcPct val="0"/>
              </a:spcBef>
              <a:buClrTx/>
              <a:buFont typeface="Symbol" panose="05050102010706020507" pitchFamily="18" charset="2"/>
              <a:buNone/>
            </a:pPr>
            <a:r>
              <a:rPr lang="en-US" altLang="en-US" dirty="0" smtClean="0">
                <a:cs typeface="Times New Roman" panose="02020603050405020304" pitchFamily="18" charset="0"/>
              </a:rPr>
              <a:t>-m — Memory limit, for example, 256, 1G, 1024M, and so on.</a:t>
            </a:r>
            <a:endParaRPr lang="en-US" altLang="en-US" sz="900" dirty="0" smtClean="0">
              <a:cs typeface="Times New Roman" panose="02020603050405020304" pitchFamily="18" charset="0"/>
            </a:endParaRPr>
          </a:p>
          <a:p>
            <a:pPr marL="457200" lvl="1" indent="0">
              <a:spcBef>
                <a:spcPct val="0"/>
              </a:spcBef>
              <a:buClrTx/>
              <a:buFont typeface="Symbol" panose="05050102010706020507" pitchFamily="18" charset="2"/>
              <a:buNone/>
            </a:pPr>
            <a:r>
              <a:rPr lang="en-US" altLang="en-US" dirty="0" smtClean="0">
                <a:cs typeface="Times New Roman" panose="02020603050405020304" pitchFamily="18" charset="0"/>
              </a:rPr>
              <a:t>-n — Hostname, for example, my-subdomain.</a:t>
            </a:r>
            <a:endParaRPr lang="en-US" altLang="en-US" sz="900" dirty="0" smtClean="0">
              <a:cs typeface="Times New Roman" panose="02020603050405020304" pitchFamily="18" charset="0"/>
            </a:endParaRPr>
          </a:p>
          <a:p>
            <a:pPr marL="457200" lvl="1" indent="0">
              <a:spcBef>
                <a:spcPct val="0"/>
              </a:spcBef>
              <a:buClrTx/>
              <a:buFont typeface="Symbol" panose="05050102010706020507" pitchFamily="18" charset="2"/>
              <a:buNone/>
            </a:pPr>
            <a:r>
              <a:rPr lang="en-US" altLang="en-US" dirty="0" smtClean="0">
                <a:cs typeface="Times New Roman" panose="02020603050405020304" pitchFamily="18" charset="0"/>
              </a:rPr>
              <a:t>-p — Path to application directory or archive.</a:t>
            </a:r>
            <a:endParaRPr lang="en-US" altLang="en-US" sz="900" dirty="0" smtClean="0">
              <a:cs typeface="Times New Roman" panose="02020603050405020304" pitchFamily="18" charset="0"/>
            </a:endParaRPr>
          </a:p>
          <a:p>
            <a:pPr marL="457200" lvl="1" indent="0">
              <a:spcBef>
                <a:spcPct val="0"/>
              </a:spcBef>
              <a:buClrTx/>
              <a:buFont typeface="Symbol" panose="05050102010706020507" pitchFamily="18" charset="2"/>
              <a:buNone/>
            </a:pPr>
            <a:r>
              <a:rPr lang="en-US" altLang="en-US" dirty="0" smtClean="0">
                <a:cs typeface="Times New Roman" panose="02020603050405020304" pitchFamily="18" charset="0"/>
              </a:rPr>
              <a:t>-s — Stack to use.</a:t>
            </a:r>
            <a:endParaRPr lang="en-US" altLang="en-US" sz="900" dirty="0" smtClean="0">
              <a:cs typeface="Times New Roman" panose="02020603050405020304" pitchFamily="18" charset="0"/>
            </a:endParaRPr>
          </a:p>
          <a:p>
            <a:pPr marL="457200" lvl="1" indent="0">
              <a:spcBef>
                <a:spcPct val="0"/>
              </a:spcBef>
              <a:buClrTx/>
              <a:buNone/>
            </a:pPr>
            <a:r>
              <a:rPr lang="en-US" altLang="en-US" dirty="0" smtClean="0">
                <a:cs typeface="Times New Roman" panose="02020603050405020304" pitchFamily="18" charset="0"/>
              </a:rPr>
              <a:t>-t — Timeout to start in seconds, </a:t>
            </a:r>
            <a:r>
              <a:rPr lang="en-US" altLang="en-US" dirty="0">
                <a:cs typeface="Times New Roman" panose="02020603050405020304" pitchFamily="18" charset="0"/>
              </a:rPr>
              <a:t>give your application more time to start, up to </a:t>
            </a:r>
            <a:r>
              <a:rPr lang="en-US" altLang="en-US" dirty="0" smtClean="0">
                <a:cs typeface="Times New Roman" panose="02020603050405020304" pitchFamily="18" charset="0"/>
              </a:rPr>
              <a:t>180 secs. --no-hostname — Map the root domain to this application (NEW).</a:t>
            </a:r>
            <a:endParaRPr lang="en-US" altLang="en-US" sz="900" dirty="0" smtClean="0">
              <a:cs typeface="Times New Roman" panose="02020603050405020304" pitchFamily="18" charset="0"/>
            </a:endParaRPr>
          </a:p>
          <a:p>
            <a:pPr marL="457200" lvl="1" indent="0">
              <a:spcBef>
                <a:spcPct val="0"/>
              </a:spcBef>
              <a:buClrTx/>
              <a:buFont typeface="Symbol" panose="05050102010706020507" pitchFamily="18" charset="2"/>
              <a:buNone/>
            </a:pPr>
            <a:r>
              <a:rPr lang="en-US" altLang="en-US" dirty="0" smtClean="0">
                <a:cs typeface="Times New Roman" panose="02020603050405020304" pitchFamily="18" charset="0"/>
              </a:rPr>
              <a:t>--no-manifest — Ignore manifests if they exist.</a:t>
            </a:r>
            <a:endParaRPr lang="en-US" altLang="en-US" sz="900" dirty="0" smtClean="0">
              <a:cs typeface="Times New Roman" panose="02020603050405020304" pitchFamily="18" charset="0"/>
            </a:endParaRPr>
          </a:p>
          <a:p>
            <a:pPr marL="457200" lvl="1" indent="0">
              <a:spcBef>
                <a:spcPct val="0"/>
              </a:spcBef>
              <a:buClrTx/>
              <a:buFont typeface="Symbol" panose="05050102010706020507" pitchFamily="18" charset="2"/>
              <a:buNone/>
            </a:pPr>
            <a:r>
              <a:rPr lang="en-US" altLang="en-US" dirty="0" smtClean="0">
                <a:cs typeface="Times New Roman" panose="02020603050405020304" pitchFamily="18" charset="0"/>
              </a:rPr>
              <a:t>--no-route — Do not map a route to this application (NEW).</a:t>
            </a:r>
            <a:endParaRPr lang="en-US" altLang="en-US" sz="900" dirty="0" smtClean="0">
              <a:cs typeface="Times New Roman" panose="02020603050405020304" pitchFamily="18" charset="0"/>
            </a:endParaRPr>
          </a:p>
          <a:p>
            <a:pPr marL="457200" lvl="1" indent="0">
              <a:spcBef>
                <a:spcPct val="0"/>
              </a:spcBef>
              <a:buClrTx/>
              <a:buFont typeface="Symbol" panose="05050102010706020507" pitchFamily="18" charset="2"/>
              <a:buNone/>
            </a:pPr>
            <a:r>
              <a:rPr lang="en-US" altLang="en-US" dirty="0" smtClean="0">
                <a:cs typeface="Times New Roman" panose="02020603050405020304" pitchFamily="18" charset="0"/>
              </a:rPr>
              <a:t>--no-start — Do not start the application after pushing.</a:t>
            </a:r>
            <a:endParaRPr lang="en-US" altLang="en-US" sz="900" dirty="0" smtClean="0">
              <a:cs typeface="Times New Roman" panose="02020603050405020304" pitchFamily="18" charset="0"/>
            </a:endParaRPr>
          </a:p>
          <a:p>
            <a:pPr marL="0" indent="0">
              <a:spcBef>
                <a:spcPct val="0"/>
              </a:spcBef>
              <a:buClrTx/>
              <a:buFontTx/>
              <a:buChar char="•"/>
            </a:pPr>
            <a:r>
              <a:rPr lang="en-US" altLang="en-US" dirty="0" smtClean="0">
                <a:cs typeface="Times New Roman" panose="02020603050405020304" pitchFamily="18" charset="0"/>
              </a:rPr>
              <a:t> </a:t>
            </a:r>
            <a:r>
              <a:rPr lang="en-US" altLang="en-US" sz="1800" b="1" dirty="0" smtClean="0">
                <a:cs typeface="Times New Roman" panose="02020603050405020304" pitchFamily="18" charset="0"/>
              </a:rPr>
              <a:t>Example:   cf push my-app -c “node my-app.js”</a:t>
            </a:r>
          </a:p>
          <a:p>
            <a:pPr marL="0" indent="0">
              <a:spcBef>
                <a:spcPct val="0"/>
              </a:spcBef>
              <a:buClrTx/>
              <a:buFontTx/>
              <a:buChar char="•"/>
            </a:pPr>
            <a:endParaRPr lang="en-US" altLang="en-US" sz="1800" b="1" dirty="0" smtClean="0">
              <a:cs typeface="Times New Roman" panose="02020603050405020304" pitchFamily="18" charset="0"/>
            </a:endParaRPr>
          </a:p>
          <a:p>
            <a:pPr marL="0" indent="0">
              <a:spcBef>
                <a:spcPct val="0"/>
              </a:spcBef>
              <a:buClrTx/>
              <a:buFont typeface="Wingdings" panose="05000000000000000000" pitchFamily="2" charset="2"/>
              <a:buNone/>
            </a:pPr>
            <a:endParaRPr lang="en-US" altLang="en-US" sz="1800" b="1" dirty="0" smtClean="0">
              <a:cs typeface="Times New Roman" panose="02020603050405020304" pitchFamily="18" charset="0"/>
            </a:endParaRPr>
          </a:p>
        </p:txBody>
      </p:sp>
    </p:spTree>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altLang="en-US" smtClean="0">
                <a:solidFill>
                  <a:srgbClr val="0070C0"/>
                </a:solidFill>
              </a:rPr>
              <a:t>Scale your Application by using Cloud Foundry CLI</a:t>
            </a:r>
          </a:p>
        </p:txBody>
      </p:sp>
      <p:sp>
        <p:nvSpPr>
          <p:cNvPr id="3" name="Text Placeholder 2"/>
          <p:cNvSpPr>
            <a:spLocks noGrp="1"/>
          </p:cNvSpPr>
          <p:nvPr>
            <p:ph type="body" idx="1"/>
          </p:nvPr>
        </p:nvSpPr>
        <p:spPr>
          <a:xfrm>
            <a:off x="304800" y="1084263"/>
            <a:ext cx="8839200" cy="5297487"/>
          </a:xfrm>
        </p:spPr>
        <p:txBody>
          <a:bodyPr/>
          <a:lstStyle/>
          <a:p>
            <a:pPr>
              <a:defRPr/>
            </a:pPr>
            <a:r>
              <a:rPr lang="en-US" sz="1800" dirty="0" smtClean="0"/>
              <a:t>Scaling an application - Adjustments of resources required by running the application to improve overall performance</a:t>
            </a:r>
          </a:p>
          <a:p>
            <a:pPr>
              <a:defRPr/>
            </a:pPr>
            <a:r>
              <a:rPr lang="en-US" sz="1800" kern="1200" dirty="0" smtClean="0">
                <a:cs typeface="Arial" charset="0"/>
              </a:rPr>
              <a:t>Cloud Foundry provides </a:t>
            </a:r>
            <a:r>
              <a:rPr lang="en-US" sz="1800" b="1" kern="1200" dirty="0" err="1" smtClean="0">
                <a:cs typeface="Arial" charset="0"/>
              </a:rPr>
              <a:t>cf</a:t>
            </a:r>
            <a:r>
              <a:rPr lang="en-US" sz="1800" b="1" kern="1200" dirty="0" smtClean="0">
                <a:cs typeface="Arial" charset="0"/>
              </a:rPr>
              <a:t> scale </a:t>
            </a:r>
            <a:r>
              <a:rPr lang="en-US" sz="1800" kern="1200" dirty="0" smtClean="0">
                <a:cs typeface="Arial" charset="0"/>
              </a:rPr>
              <a:t>command</a:t>
            </a:r>
            <a:r>
              <a:rPr lang="en-US" sz="1800" b="1" kern="1200" dirty="0" smtClean="0">
                <a:cs typeface="Arial" charset="0"/>
              </a:rPr>
              <a:t> </a:t>
            </a:r>
            <a:r>
              <a:rPr lang="en-US" sz="1800" kern="1200" dirty="0" smtClean="0">
                <a:cs typeface="Arial" charset="0"/>
              </a:rPr>
              <a:t>to </a:t>
            </a:r>
            <a:r>
              <a:rPr lang="en-US" sz="1800" kern="1200" dirty="0">
                <a:cs typeface="Arial" charset="0"/>
              </a:rPr>
              <a:t>scale your application up or down </a:t>
            </a:r>
            <a:r>
              <a:rPr lang="en-US" sz="1800" kern="1200" dirty="0" smtClean="0">
                <a:cs typeface="Arial" charset="0"/>
              </a:rPr>
              <a:t>horizontally and vertically to </a:t>
            </a:r>
            <a:r>
              <a:rPr lang="en-US" sz="1800" kern="1200" dirty="0">
                <a:cs typeface="Arial" charset="0"/>
              </a:rPr>
              <a:t>meet </a:t>
            </a:r>
            <a:r>
              <a:rPr lang="en-US" sz="1800" kern="1200" dirty="0" smtClean="0">
                <a:cs typeface="Arial" charset="0"/>
              </a:rPr>
              <a:t>demand of workload</a:t>
            </a:r>
          </a:p>
          <a:p>
            <a:pPr>
              <a:defRPr/>
            </a:pPr>
            <a:r>
              <a:rPr lang="en-US" sz="1800" kern="1200" dirty="0" smtClean="0">
                <a:cs typeface="Arial" charset="0"/>
              </a:rPr>
              <a:t>Scaling horizontally</a:t>
            </a:r>
          </a:p>
          <a:p>
            <a:pPr lvl="1">
              <a:defRPr/>
            </a:pPr>
            <a:r>
              <a:rPr lang="en-US" sz="1800" kern="1200" dirty="0">
                <a:cs typeface="Arial" charset="0"/>
              </a:rPr>
              <a:t> </a:t>
            </a:r>
            <a:r>
              <a:rPr lang="en-US" sz="1800" b="1" kern="1200" dirty="0" err="1" smtClean="0">
                <a:cs typeface="Arial" charset="0"/>
              </a:rPr>
              <a:t>cf</a:t>
            </a:r>
            <a:r>
              <a:rPr lang="en-US" sz="1800" b="1" kern="1200" dirty="0" smtClean="0">
                <a:cs typeface="Arial" charset="0"/>
              </a:rPr>
              <a:t> </a:t>
            </a:r>
            <a:r>
              <a:rPr lang="en-US" sz="1800" b="1" kern="1200" dirty="0">
                <a:cs typeface="Arial" charset="0"/>
              </a:rPr>
              <a:t>scale APP -</a:t>
            </a:r>
            <a:r>
              <a:rPr lang="en-US" sz="1800" b="1" kern="1200" dirty="0" err="1">
                <a:cs typeface="Arial" charset="0"/>
              </a:rPr>
              <a:t>i</a:t>
            </a:r>
            <a:r>
              <a:rPr lang="en-US" sz="1800" b="1" kern="1200" dirty="0">
                <a:cs typeface="Arial" charset="0"/>
              </a:rPr>
              <a:t> INSTANCES </a:t>
            </a:r>
            <a:r>
              <a:rPr lang="en-US" sz="1800" kern="1200" dirty="0">
                <a:cs typeface="Arial" charset="0"/>
              </a:rPr>
              <a:t>to horizontally scale your </a:t>
            </a:r>
            <a:r>
              <a:rPr lang="en-US" sz="1800" kern="1200" dirty="0" smtClean="0">
                <a:cs typeface="Arial" charset="0"/>
              </a:rPr>
              <a:t>application</a:t>
            </a:r>
          </a:p>
          <a:p>
            <a:pPr lvl="1">
              <a:defRPr/>
            </a:pPr>
            <a:r>
              <a:rPr lang="en-US" sz="1800" kern="1200" dirty="0">
                <a:cs typeface="Arial" charset="0"/>
              </a:rPr>
              <a:t> Cloud Foundry will increase or decrease the number of instances of your application to match </a:t>
            </a:r>
            <a:r>
              <a:rPr lang="en-US" sz="1800" kern="1200" dirty="0" smtClean="0">
                <a:cs typeface="Arial" charset="0"/>
              </a:rPr>
              <a:t>INSTANCES</a:t>
            </a:r>
          </a:p>
          <a:p>
            <a:pPr lvl="1">
              <a:defRPr/>
            </a:pPr>
            <a:r>
              <a:rPr lang="en-US" sz="1800" kern="1200" dirty="0" smtClean="0">
                <a:cs typeface="Arial" charset="0"/>
              </a:rPr>
              <a:t> Example: </a:t>
            </a:r>
            <a:r>
              <a:rPr lang="nn-NO" sz="1800" b="1" kern="1200" dirty="0">
                <a:cs typeface="Arial" charset="0"/>
              </a:rPr>
              <a:t>cf scale myApp –i </a:t>
            </a:r>
            <a:r>
              <a:rPr lang="nn-NO" sz="1800" b="1" kern="1200" dirty="0" smtClean="0">
                <a:cs typeface="Arial" charset="0"/>
              </a:rPr>
              <a:t>5</a:t>
            </a:r>
            <a:endParaRPr lang="en-US" sz="1800" dirty="0" smtClean="0"/>
          </a:p>
          <a:p>
            <a:pPr>
              <a:defRPr/>
            </a:pPr>
            <a:r>
              <a:rPr lang="en-US" sz="1800" dirty="0" smtClean="0"/>
              <a:t>Scale vertically</a:t>
            </a:r>
          </a:p>
          <a:p>
            <a:pPr lvl="1">
              <a:defRPr/>
            </a:pPr>
            <a:r>
              <a:rPr lang="en-US" sz="1800" dirty="0"/>
              <a:t> </a:t>
            </a:r>
            <a:r>
              <a:rPr lang="en-US" sz="1800" kern="1200" dirty="0">
                <a:cs typeface="Arial" charset="0"/>
              </a:rPr>
              <a:t>Vertically scaling an application changes the disk space limit or memory limit that Cloud Foundry applies to all instances of the </a:t>
            </a:r>
            <a:r>
              <a:rPr lang="en-US" sz="1800" kern="1200" dirty="0" smtClean="0">
                <a:cs typeface="Arial" charset="0"/>
              </a:rPr>
              <a:t>application</a:t>
            </a:r>
          </a:p>
          <a:p>
            <a:pPr lvl="1">
              <a:defRPr/>
            </a:pPr>
            <a:r>
              <a:rPr lang="en-US" sz="1800" kern="1200" dirty="0">
                <a:cs typeface="Arial" charset="0"/>
              </a:rPr>
              <a:t> </a:t>
            </a:r>
            <a:r>
              <a:rPr lang="en-US" sz="1800" kern="1200" dirty="0" smtClean="0">
                <a:cs typeface="Arial" charset="0"/>
              </a:rPr>
              <a:t>Change disk space limit: </a:t>
            </a:r>
            <a:r>
              <a:rPr lang="en-US" sz="1800" kern="1200" dirty="0" err="1" smtClean="0">
                <a:cs typeface="Arial" charset="0"/>
              </a:rPr>
              <a:t>cf</a:t>
            </a:r>
            <a:r>
              <a:rPr lang="en-US" sz="1800" kern="1200" dirty="0" smtClean="0">
                <a:cs typeface="Arial" charset="0"/>
              </a:rPr>
              <a:t> scale App –k DISK </a:t>
            </a:r>
          </a:p>
          <a:p>
            <a:pPr lvl="1">
              <a:defRPr/>
            </a:pPr>
            <a:r>
              <a:rPr lang="en-US" sz="1800" kern="1200" dirty="0" smtClean="0">
                <a:cs typeface="Arial" charset="0"/>
              </a:rPr>
              <a:t> </a:t>
            </a:r>
            <a:r>
              <a:rPr lang="en-US" sz="1800" kern="1200" dirty="0">
                <a:cs typeface="Arial" charset="0"/>
              </a:rPr>
              <a:t>DISK must be an integer followed by either an </a:t>
            </a:r>
            <a:r>
              <a:rPr lang="en-US" sz="1800" b="1" kern="1200" dirty="0">
                <a:cs typeface="Arial" charset="0"/>
              </a:rPr>
              <a:t>M</a:t>
            </a:r>
            <a:r>
              <a:rPr lang="en-US" sz="1800" kern="1200" dirty="0">
                <a:cs typeface="Arial" charset="0"/>
              </a:rPr>
              <a:t>, for megabytes, or </a:t>
            </a:r>
            <a:r>
              <a:rPr lang="en-US" sz="1800" b="1" kern="1200" dirty="0">
                <a:cs typeface="Arial" charset="0"/>
              </a:rPr>
              <a:t>G</a:t>
            </a:r>
            <a:r>
              <a:rPr lang="en-US" sz="1800" kern="1200" dirty="0">
                <a:cs typeface="Arial" charset="0"/>
              </a:rPr>
              <a:t>, for gigabytes.</a:t>
            </a:r>
          </a:p>
          <a:p>
            <a:pPr lvl="1">
              <a:defRPr/>
            </a:pPr>
            <a:r>
              <a:rPr lang="en-US" sz="1800" kern="1200" dirty="0" smtClean="0">
                <a:cs typeface="Arial" charset="0"/>
              </a:rPr>
              <a:t>Example: </a:t>
            </a:r>
            <a:r>
              <a:rPr lang="en-US" sz="1800" b="1" kern="1200" dirty="0" err="1">
                <a:cs typeface="Arial" charset="0"/>
              </a:rPr>
              <a:t>cf</a:t>
            </a:r>
            <a:r>
              <a:rPr lang="en-US" sz="1800" b="1" kern="1200" dirty="0">
                <a:cs typeface="Arial" charset="0"/>
              </a:rPr>
              <a:t> scale </a:t>
            </a:r>
            <a:r>
              <a:rPr lang="en-US" sz="1800" b="1" kern="1200" dirty="0" err="1">
                <a:cs typeface="Arial" charset="0"/>
              </a:rPr>
              <a:t>myApp</a:t>
            </a:r>
            <a:r>
              <a:rPr lang="en-US" sz="1800" b="1" kern="1200" dirty="0">
                <a:cs typeface="Arial" charset="0"/>
              </a:rPr>
              <a:t> -k </a:t>
            </a:r>
            <a:r>
              <a:rPr lang="en-US" sz="1800" b="1" kern="1200" dirty="0" smtClean="0">
                <a:cs typeface="Arial" charset="0"/>
              </a:rPr>
              <a:t>512M </a:t>
            </a:r>
            <a:r>
              <a:rPr lang="en-US" sz="1800" kern="1200" dirty="0" smtClean="0">
                <a:cs typeface="Arial" charset="0"/>
              </a:rPr>
              <a:t> or </a:t>
            </a:r>
            <a:r>
              <a:rPr lang="en-US" sz="1800" b="1" kern="1200" dirty="0" err="1">
                <a:cs typeface="Arial" charset="0"/>
              </a:rPr>
              <a:t>cf</a:t>
            </a:r>
            <a:r>
              <a:rPr lang="en-US" sz="1800" b="1" kern="1200" dirty="0">
                <a:cs typeface="Arial" charset="0"/>
              </a:rPr>
              <a:t> scale </a:t>
            </a:r>
            <a:r>
              <a:rPr lang="en-US" sz="1800" b="1" kern="1200" dirty="0" err="1">
                <a:cs typeface="Arial" charset="0"/>
              </a:rPr>
              <a:t>myApp</a:t>
            </a:r>
            <a:r>
              <a:rPr lang="en-US" sz="1800" b="1" kern="1200" dirty="0">
                <a:cs typeface="Arial" charset="0"/>
              </a:rPr>
              <a:t> -k </a:t>
            </a:r>
            <a:r>
              <a:rPr lang="en-US" sz="1800" b="1" kern="1200" dirty="0" smtClean="0">
                <a:cs typeface="Arial" charset="0"/>
              </a:rPr>
              <a:t>1G</a:t>
            </a:r>
            <a:endParaRPr lang="en-US" sz="2800" b="1" kern="1200" dirty="0">
              <a:cs typeface="Arial" charset="0"/>
            </a:endParaRPr>
          </a:p>
          <a:p>
            <a:pPr marL="346075" lvl="1" indent="0">
              <a:buFont typeface="Symbol" panose="05050102010706020507" pitchFamily="18" charset="2"/>
              <a:buNone/>
              <a:defRPr/>
            </a:pPr>
            <a:endParaRPr lang="en-US" b="1" dirty="0" smtClean="0">
              <a:cs typeface="Arial" charset="0"/>
            </a:endParaRPr>
          </a:p>
          <a:p>
            <a:pPr lvl="1">
              <a:defRPr/>
            </a:pPr>
            <a:endParaRPr lang="en-US" sz="2400" kern="1200" dirty="0">
              <a:cs typeface="Arial" charset="0"/>
            </a:endParaRPr>
          </a:p>
        </p:txBody>
      </p:sp>
    </p:spTree>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182563" y="639763"/>
            <a:ext cx="8545512" cy="595312"/>
          </a:xfrm>
        </p:spPr>
        <p:txBody>
          <a:bodyPr/>
          <a:lstStyle/>
          <a:p>
            <a:r>
              <a:rPr lang="en-US" altLang="en-US" smtClean="0">
                <a:solidFill>
                  <a:srgbClr val="0070C0"/>
                </a:solidFill>
              </a:rPr>
              <a:t>Application Loggregator</a:t>
            </a:r>
          </a:p>
        </p:txBody>
      </p:sp>
      <p:sp>
        <p:nvSpPr>
          <p:cNvPr id="3" name="Text Placeholder 2"/>
          <p:cNvSpPr>
            <a:spLocks noGrp="1"/>
          </p:cNvSpPr>
          <p:nvPr>
            <p:ph type="body" idx="1"/>
          </p:nvPr>
        </p:nvSpPr>
        <p:spPr>
          <a:xfrm>
            <a:off x="196850" y="1524000"/>
            <a:ext cx="8839200" cy="4687888"/>
          </a:xfrm>
        </p:spPr>
        <p:txBody>
          <a:bodyPr/>
          <a:lstStyle/>
          <a:p>
            <a:pPr>
              <a:defRPr/>
            </a:pPr>
            <a:r>
              <a:rPr lang="en-US" dirty="0"/>
              <a:t> </a:t>
            </a:r>
            <a:r>
              <a:rPr lang="en-US" sz="1800" dirty="0"/>
              <a:t>user application logging </a:t>
            </a:r>
            <a:r>
              <a:rPr lang="en-US" sz="1800" dirty="0" smtClean="0"/>
              <a:t>subsystem </a:t>
            </a:r>
            <a:r>
              <a:rPr lang="en-US" sz="1800" dirty="0"/>
              <a:t>of Cloud </a:t>
            </a:r>
            <a:r>
              <a:rPr lang="en-US" sz="1800" dirty="0" smtClean="0"/>
              <a:t>Foundry</a:t>
            </a:r>
          </a:p>
          <a:p>
            <a:pPr>
              <a:defRPr/>
            </a:pPr>
            <a:r>
              <a:rPr lang="en-US" sz="1800" dirty="0" smtClean="0"/>
              <a:t> </a:t>
            </a:r>
            <a:r>
              <a:rPr lang="en-US" sz="1800" dirty="0" err="1" smtClean="0"/>
              <a:t>Loggregator</a:t>
            </a:r>
            <a:r>
              <a:rPr lang="en-US" sz="1800" dirty="0" smtClean="0"/>
              <a:t> allows users to:</a:t>
            </a:r>
          </a:p>
          <a:p>
            <a:pPr lvl="1">
              <a:defRPr/>
            </a:pPr>
            <a:r>
              <a:rPr lang="en-US" sz="1800" dirty="0"/>
              <a:t> Tail their application </a:t>
            </a:r>
            <a:r>
              <a:rPr lang="en-US" sz="1800" dirty="0" smtClean="0"/>
              <a:t>logs</a:t>
            </a:r>
            <a:endParaRPr lang="en-US" sz="1800" dirty="0"/>
          </a:p>
          <a:p>
            <a:pPr lvl="1">
              <a:defRPr/>
            </a:pPr>
            <a:r>
              <a:rPr lang="en-US" sz="1800" dirty="0"/>
              <a:t> </a:t>
            </a:r>
            <a:r>
              <a:rPr lang="en-US" sz="1800" dirty="0" smtClean="0"/>
              <a:t>Dump </a:t>
            </a:r>
            <a:r>
              <a:rPr lang="en-US" sz="1800" dirty="0"/>
              <a:t>a recent set of application logs (where recent is a configurable number of log packets).</a:t>
            </a:r>
          </a:p>
          <a:p>
            <a:pPr lvl="1">
              <a:defRPr/>
            </a:pPr>
            <a:r>
              <a:rPr lang="en-US" sz="1800" dirty="0"/>
              <a:t> </a:t>
            </a:r>
            <a:r>
              <a:rPr lang="en-US" sz="1800" dirty="0" smtClean="0"/>
              <a:t>Continually </a:t>
            </a:r>
            <a:r>
              <a:rPr lang="en-US" sz="1800" dirty="0"/>
              <a:t>drain their application logs to 3rd party log archive and analysis services.</a:t>
            </a:r>
          </a:p>
          <a:p>
            <a:pPr lvl="1">
              <a:defRPr/>
            </a:pPr>
            <a:r>
              <a:rPr lang="en-US" sz="1800" dirty="0"/>
              <a:t> </a:t>
            </a:r>
            <a:r>
              <a:rPr lang="en-US" sz="1800" dirty="0" smtClean="0"/>
              <a:t>(</a:t>
            </a:r>
            <a:r>
              <a:rPr lang="en-US" sz="1800" dirty="0"/>
              <a:t>Operators and administrators only) Access the firehose, which includes the combined stream of logs from all apps, plus metrics data from CF components.</a:t>
            </a:r>
          </a:p>
          <a:p>
            <a:pPr>
              <a:defRPr/>
            </a:pPr>
            <a:r>
              <a:rPr lang="en-US" sz="1800" b="1" dirty="0" smtClean="0"/>
              <a:t>Usage</a:t>
            </a:r>
            <a:r>
              <a:rPr lang="en-US" sz="1800" dirty="0" smtClean="0"/>
              <a:t> </a:t>
            </a:r>
            <a:r>
              <a:rPr lang="en-US" sz="1800" dirty="0"/>
              <a:t>: </a:t>
            </a:r>
            <a:r>
              <a:rPr lang="en-US" sz="1800" b="1" dirty="0" err="1"/>
              <a:t>cf</a:t>
            </a:r>
            <a:r>
              <a:rPr lang="en-US" sz="1800" b="1" dirty="0"/>
              <a:t> logs APP_NAME [--recent]</a:t>
            </a:r>
          </a:p>
          <a:p>
            <a:pPr marL="346075" lvl="1" indent="0">
              <a:buFont typeface="Symbol" panose="05050102010706020507" pitchFamily="18" charset="2"/>
              <a:buNone/>
              <a:defRPr/>
            </a:pPr>
            <a:endParaRPr lang="en-US" dirty="0"/>
          </a:p>
        </p:txBody>
      </p:sp>
    </p:spTree>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Placeholder 2"/>
          <p:cNvSpPr>
            <a:spLocks noGrp="1"/>
          </p:cNvSpPr>
          <p:nvPr>
            <p:ph type="body" idx="1"/>
          </p:nvPr>
        </p:nvSpPr>
        <p:spPr>
          <a:xfrm>
            <a:off x="255588" y="1006475"/>
            <a:ext cx="8589962" cy="2306638"/>
          </a:xfrm>
        </p:spPr>
        <p:txBody>
          <a:bodyPr/>
          <a:lstStyle/>
          <a:p>
            <a:pPr eaLnBrk="1" hangingPunct="1"/>
            <a:r>
              <a:rPr lang="en-US" altLang="en-US" smtClean="0">
                <a:cs typeface="Arial" panose="020B0604020202020204" pitchFamily="34" charset="0"/>
              </a:rPr>
              <a:t>To check what organization, and space you are logged onto or to change the space:</a:t>
            </a:r>
          </a:p>
          <a:p>
            <a:pPr lvl="1" eaLnBrk="1" hangingPunct="1"/>
            <a:r>
              <a:rPr lang="en-US" altLang="en-US" sz="1800" b="1" smtClean="0">
                <a:cs typeface="Arial" panose="020B0604020202020204" pitchFamily="34" charset="0"/>
              </a:rPr>
              <a:t>cf target  </a:t>
            </a:r>
          </a:p>
          <a:p>
            <a:pPr lvl="1" eaLnBrk="1" hangingPunct="1"/>
            <a:r>
              <a:rPr lang="en-US" altLang="en-US" sz="1800" b="1" smtClean="0">
                <a:cs typeface="Arial" panose="020B0604020202020204" pitchFamily="34" charset="0"/>
              </a:rPr>
              <a:t>cf t -s test</a:t>
            </a:r>
          </a:p>
          <a:p>
            <a:pPr lvl="2" eaLnBrk="1" hangingPunct="1"/>
            <a:r>
              <a:rPr lang="en-US" altLang="en-US" sz="1800" smtClean="0">
                <a:cs typeface="Arial" panose="020B0604020202020204" pitchFamily="34" charset="0"/>
              </a:rPr>
              <a:t>The first option will print the current target organization and space</a:t>
            </a:r>
          </a:p>
          <a:p>
            <a:pPr lvl="2" eaLnBrk="1" hangingPunct="1"/>
            <a:r>
              <a:rPr lang="en-US" altLang="en-US" sz="1800" smtClean="0">
                <a:cs typeface="Arial" panose="020B0604020202020204" pitchFamily="34" charset="0"/>
              </a:rPr>
              <a:t>The second option will switch to the test space</a:t>
            </a:r>
          </a:p>
          <a:p>
            <a:pPr eaLnBrk="1" hangingPunct="1"/>
            <a:r>
              <a:rPr lang="en-US" altLang="en-US" sz="1800" smtClean="0">
                <a:cs typeface="Arial" panose="020B0604020202020204" pitchFamily="34" charset="0"/>
              </a:rPr>
              <a:t>To view your organization information such as domains, quota, spaces:</a:t>
            </a:r>
          </a:p>
          <a:p>
            <a:pPr lvl="1" eaLnBrk="1" hangingPunct="1"/>
            <a:r>
              <a:rPr lang="en-US" altLang="en-US" sz="1800" b="1" smtClean="0">
                <a:cs typeface="Arial" panose="020B0604020202020204" pitchFamily="34" charset="0"/>
              </a:rPr>
              <a:t>cf org </a:t>
            </a:r>
            <a:r>
              <a:rPr lang="en-US" altLang="en-US" sz="1800" b="1" i="1" smtClean="0">
                <a:cs typeface="Arial" panose="020B0604020202020204" pitchFamily="34" charset="0"/>
              </a:rPr>
              <a:t>ORGNAME</a:t>
            </a:r>
          </a:p>
          <a:p>
            <a:pPr eaLnBrk="1" hangingPunct="1"/>
            <a:endParaRPr lang="en-US" altLang="en-US" sz="1800" smtClean="0">
              <a:cs typeface="Arial" panose="020B0604020202020204" pitchFamily="34" charset="0"/>
            </a:endParaRPr>
          </a:p>
          <a:p>
            <a:pPr lvl="1" eaLnBrk="1" hangingPunct="1"/>
            <a:endParaRPr lang="en-US" altLang="en-US" sz="1200" smtClean="0">
              <a:cs typeface="Arial" panose="020B0604020202020204" pitchFamily="34" charset="0"/>
            </a:endParaRPr>
          </a:p>
        </p:txBody>
      </p:sp>
      <p:sp>
        <p:nvSpPr>
          <p:cNvPr id="23555" name="Title 1"/>
          <p:cNvSpPr>
            <a:spLocks noGrp="1"/>
          </p:cNvSpPr>
          <p:nvPr>
            <p:ph type="title"/>
          </p:nvPr>
        </p:nvSpPr>
        <p:spPr>
          <a:xfrm>
            <a:off x="255588" y="587375"/>
            <a:ext cx="8545512" cy="579438"/>
          </a:xfrm>
        </p:spPr>
        <p:txBody>
          <a:bodyPr/>
          <a:lstStyle/>
          <a:p>
            <a:r>
              <a:rPr lang="en-US" altLang="en-US" smtClean="0">
                <a:solidFill>
                  <a:srgbClr val="0070C0"/>
                </a:solidFill>
              </a:rPr>
              <a:t>Manage Organizations Using Command Line Interface</a:t>
            </a:r>
          </a:p>
        </p:txBody>
      </p:sp>
      <p:pic>
        <p:nvPicPr>
          <p:cNvPr id="23556"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93725" y="3313113"/>
            <a:ext cx="8207375" cy="333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Placeholder 2"/>
          <p:cNvSpPr>
            <a:spLocks noGrp="1"/>
          </p:cNvSpPr>
          <p:nvPr>
            <p:ph type="body" idx="1"/>
          </p:nvPr>
        </p:nvSpPr>
        <p:spPr>
          <a:xfrm>
            <a:off x="255588" y="1166813"/>
            <a:ext cx="8589962" cy="1668462"/>
          </a:xfrm>
        </p:spPr>
        <p:txBody>
          <a:bodyPr/>
          <a:lstStyle/>
          <a:p>
            <a:pPr eaLnBrk="1" hangingPunct="1"/>
            <a:r>
              <a:rPr lang="en-US" altLang="en-US" smtClean="0">
                <a:cs typeface="Arial" panose="020B0604020202020204" pitchFamily="34" charset="0"/>
              </a:rPr>
              <a:t>To check what organization, and space you are logged onto or to change the space:</a:t>
            </a:r>
          </a:p>
          <a:p>
            <a:pPr lvl="1" eaLnBrk="1" hangingPunct="1"/>
            <a:r>
              <a:rPr lang="en-US" altLang="en-US" sz="1800" b="1" smtClean="0">
                <a:cs typeface="Arial" panose="020B0604020202020204" pitchFamily="34" charset="0"/>
              </a:rPr>
              <a:t>cf target  </a:t>
            </a:r>
          </a:p>
          <a:p>
            <a:pPr lvl="1" eaLnBrk="1" hangingPunct="1"/>
            <a:r>
              <a:rPr lang="en-US" altLang="en-US" sz="1800" b="1" smtClean="0">
                <a:cs typeface="Arial" panose="020B0604020202020204" pitchFamily="34" charset="0"/>
              </a:rPr>
              <a:t>cf t -s test</a:t>
            </a:r>
          </a:p>
          <a:p>
            <a:pPr lvl="2" eaLnBrk="1" hangingPunct="1"/>
            <a:r>
              <a:rPr lang="en-US" altLang="en-US" sz="1800" smtClean="0">
                <a:cs typeface="Arial" panose="020B0604020202020204" pitchFamily="34" charset="0"/>
              </a:rPr>
              <a:t>The first option will print the current target organization and space</a:t>
            </a:r>
          </a:p>
          <a:p>
            <a:pPr lvl="2" eaLnBrk="1" hangingPunct="1"/>
            <a:r>
              <a:rPr lang="en-US" altLang="en-US" sz="1800" smtClean="0">
                <a:cs typeface="Arial" panose="020B0604020202020204" pitchFamily="34" charset="0"/>
              </a:rPr>
              <a:t>The second option will switch to the test space</a:t>
            </a:r>
          </a:p>
          <a:p>
            <a:pPr lvl="1" eaLnBrk="1" hangingPunct="1"/>
            <a:endParaRPr lang="en-US" altLang="en-US" sz="1200" smtClean="0">
              <a:cs typeface="Arial" panose="020B0604020202020204" pitchFamily="34" charset="0"/>
            </a:endParaRPr>
          </a:p>
        </p:txBody>
      </p:sp>
      <p:sp>
        <p:nvSpPr>
          <p:cNvPr id="25603" name="Title 1"/>
          <p:cNvSpPr>
            <a:spLocks noGrp="1"/>
          </p:cNvSpPr>
          <p:nvPr>
            <p:ph type="title"/>
          </p:nvPr>
        </p:nvSpPr>
        <p:spPr>
          <a:xfrm>
            <a:off x="255588" y="587375"/>
            <a:ext cx="8545512" cy="579438"/>
          </a:xfrm>
        </p:spPr>
        <p:txBody>
          <a:bodyPr/>
          <a:lstStyle/>
          <a:p>
            <a:r>
              <a:rPr lang="en-US" altLang="en-US" smtClean="0">
                <a:solidFill>
                  <a:srgbClr val="0070C0"/>
                </a:solidFill>
              </a:rPr>
              <a:t>Manage Spaces Using Command Line Interface</a:t>
            </a:r>
          </a:p>
        </p:txBody>
      </p:sp>
      <p:pic>
        <p:nvPicPr>
          <p:cNvPr id="25604"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96963" y="2835275"/>
            <a:ext cx="6059487" cy="3849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Text Placeholder 2"/>
          <p:cNvSpPr>
            <a:spLocks noGrp="1"/>
          </p:cNvSpPr>
          <p:nvPr>
            <p:ph type="body" idx="1"/>
          </p:nvPr>
        </p:nvSpPr>
        <p:spPr>
          <a:xfrm>
            <a:off x="255588" y="1096963"/>
            <a:ext cx="8589962" cy="5349875"/>
          </a:xfrm>
        </p:spPr>
        <p:txBody>
          <a:bodyPr/>
          <a:lstStyle/>
          <a:p>
            <a:pPr>
              <a:defRPr/>
            </a:pPr>
            <a:r>
              <a:rPr lang="en-US" sz="2000" dirty="0" smtClean="0"/>
              <a:t>Commands for listing users:</a:t>
            </a:r>
          </a:p>
          <a:p>
            <a:pPr lvl="1">
              <a:defRPr/>
            </a:pPr>
            <a:r>
              <a:rPr lang="en-US" sz="2000" b="1" dirty="0" err="1" smtClean="0"/>
              <a:t>cf</a:t>
            </a:r>
            <a:r>
              <a:rPr lang="en-US" sz="2000" b="1" dirty="0" smtClean="0"/>
              <a:t> org-users </a:t>
            </a:r>
            <a:r>
              <a:rPr lang="en-US" sz="2000" b="1" i="1" dirty="0" smtClean="0"/>
              <a:t>ORG</a:t>
            </a:r>
            <a:r>
              <a:rPr lang="en-US" sz="2000" b="1" dirty="0" smtClean="0"/>
              <a:t> </a:t>
            </a:r>
            <a:r>
              <a:rPr lang="en-US" sz="2000" dirty="0" smtClean="0"/>
              <a:t>— List users in the organization by role.</a:t>
            </a:r>
          </a:p>
          <a:p>
            <a:pPr marL="290513" lvl="1" indent="0">
              <a:buFont typeface="Symbol" panose="05050102010706020507" pitchFamily="18" charset="2"/>
              <a:buNone/>
              <a:defRPr/>
            </a:pPr>
            <a:endParaRPr lang="en-US" sz="2000" dirty="0"/>
          </a:p>
          <a:p>
            <a:pPr marL="290513" lvl="1" indent="0">
              <a:buFont typeface="Symbol" panose="05050102010706020507" pitchFamily="18" charset="2"/>
              <a:buNone/>
              <a:defRPr/>
            </a:pPr>
            <a:endParaRPr lang="en-US" sz="2000" dirty="0" smtClean="0"/>
          </a:p>
          <a:p>
            <a:pPr marL="290513" lvl="1" indent="0">
              <a:buFont typeface="Symbol" panose="05050102010706020507" pitchFamily="18" charset="2"/>
              <a:buNone/>
              <a:defRPr/>
            </a:pPr>
            <a:endParaRPr lang="en-US" sz="2000" dirty="0"/>
          </a:p>
          <a:p>
            <a:pPr marL="290513" lvl="1" indent="0">
              <a:buFont typeface="Symbol" panose="05050102010706020507" pitchFamily="18" charset="2"/>
              <a:buNone/>
              <a:defRPr/>
            </a:pPr>
            <a:endParaRPr lang="en-US" sz="2000" dirty="0" smtClean="0"/>
          </a:p>
          <a:p>
            <a:pPr marL="290513" lvl="1" indent="0">
              <a:buFont typeface="Symbol" panose="05050102010706020507" pitchFamily="18" charset="2"/>
              <a:buNone/>
              <a:defRPr/>
            </a:pPr>
            <a:endParaRPr lang="en-US" sz="2000" dirty="0"/>
          </a:p>
          <a:p>
            <a:pPr marL="290513" lvl="1" indent="0">
              <a:buFont typeface="Symbol" panose="05050102010706020507" pitchFamily="18" charset="2"/>
              <a:buNone/>
              <a:defRPr/>
            </a:pPr>
            <a:endParaRPr lang="en-US" sz="2000" dirty="0" smtClean="0"/>
          </a:p>
          <a:p>
            <a:pPr>
              <a:defRPr/>
            </a:pPr>
            <a:endParaRPr lang="en-US" sz="2000" dirty="0" smtClean="0"/>
          </a:p>
          <a:p>
            <a:pPr>
              <a:defRPr/>
            </a:pPr>
            <a:r>
              <a:rPr lang="en-US" sz="2000" dirty="0" smtClean="0"/>
              <a:t>Commands for managing roles (admin-only) in your organization:</a:t>
            </a:r>
          </a:p>
          <a:p>
            <a:pPr lvl="1">
              <a:defRPr/>
            </a:pPr>
            <a:r>
              <a:rPr lang="en-US" sz="2000" b="1" dirty="0" err="1" smtClean="0"/>
              <a:t>cf</a:t>
            </a:r>
            <a:r>
              <a:rPr lang="en-US" sz="2000" b="1" dirty="0" smtClean="0"/>
              <a:t> set-org-role USERNAME ORG ROLE </a:t>
            </a:r>
            <a:r>
              <a:rPr lang="en-US" sz="2000" dirty="0" smtClean="0"/>
              <a:t>— Assign an organization role to a user. The available roles are “</a:t>
            </a:r>
            <a:r>
              <a:rPr lang="en-US" sz="2000" dirty="0" err="1" smtClean="0"/>
              <a:t>OrgManager</a:t>
            </a:r>
            <a:r>
              <a:rPr lang="en-US" sz="2000" dirty="0" smtClean="0"/>
              <a:t>”, “</a:t>
            </a:r>
            <a:r>
              <a:rPr lang="en-US" sz="2000" dirty="0" err="1" smtClean="0"/>
              <a:t>BillingManager</a:t>
            </a:r>
            <a:r>
              <a:rPr lang="en-US" sz="2000" dirty="0" smtClean="0"/>
              <a:t>”, and “</a:t>
            </a:r>
            <a:r>
              <a:rPr lang="en-US" sz="2000" dirty="0" err="1" smtClean="0"/>
              <a:t>OrgAuditor</a:t>
            </a:r>
            <a:r>
              <a:rPr lang="en-US" sz="2000" dirty="0" smtClean="0"/>
              <a:t>”.</a:t>
            </a:r>
          </a:p>
          <a:p>
            <a:pPr lvl="1">
              <a:defRPr/>
            </a:pPr>
            <a:r>
              <a:rPr lang="en-US" sz="2000" b="1" dirty="0" err="1" smtClean="0"/>
              <a:t>cf</a:t>
            </a:r>
            <a:r>
              <a:rPr lang="en-US" sz="2000" b="1" dirty="0" smtClean="0"/>
              <a:t> unset-org-role USERNAME ORG ROLE </a:t>
            </a:r>
            <a:r>
              <a:rPr lang="en-US" sz="2000" dirty="0" smtClean="0"/>
              <a:t>— Remove an organization role from a user.</a:t>
            </a:r>
          </a:p>
        </p:txBody>
      </p:sp>
      <p:sp>
        <p:nvSpPr>
          <p:cNvPr id="27651" name="Title 1"/>
          <p:cNvSpPr>
            <a:spLocks noGrp="1"/>
          </p:cNvSpPr>
          <p:nvPr>
            <p:ph type="title"/>
          </p:nvPr>
        </p:nvSpPr>
        <p:spPr>
          <a:xfrm>
            <a:off x="255588" y="587375"/>
            <a:ext cx="8796337" cy="692150"/>
          </a:xfrm>
        </p:spPr>
        <p:txBody>
          <a:bodyPr/>
          <a:lstStyle/>
          <a:p>
            <a:r>
              <a:rPr lang="en-US" altLang="en-US" smtClean="0">
                <a:solidFill>
                  <a:srgbClr val="0070C0"/>
                </a:solidFill>
              </a:rPr>
              <a:t>Manage Users and Roles of an Organization using CLI</a:t>
            </a:r>
          </a:p>
        </p:txBody>
      </p:sp>
      <p:pic>
        <p:nvPicPr>
          <p:cNvPr id="27652"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60438" y="1873250"/>
            <a:ext cx="7610475" cy="245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Text Placeholder 2"/>
          <p:cNvSpPr>
            <a:spLocks noGrp="1"/>
          </p:cNvSpPr>
          <p:nvPr>
            <p:ph type="body" idx="1"/>
          </p:nvPr>
        </p:nvSpPr>
        <p:spPr>
          <a:xfrm>
            <a:off x="255588" y="1096963"/>
            <a:ext cx="8589962" cy="5395912"/>
          </a:xfrm>
        </p:spPr>
        <p:txBody>
          <a:bodyPr/>
          <a:lstStyle/>
          <a:p>
            <a:pPr>
              <a:defRPr/>
            </a:pPr>
            <a:r>
              <a:rPr lang="en-US" sz="2000" dirty="0" smtClean="0"/>
              <a:t>Commands for listing users:</a:t>
            </a:r>
          </a:p>
          <a:p>
            <a:pPr lvl="1">
              <a:defRPr/>
            </a:pPr>
            <a:r>
              <a:rPr lang="en-US" sz="2000" b="1" dirty="0" err="1" smtClean="0"/>
              <a:t>cf</a:t>
            </a:r>
            <a:r>
              <a:rPr lang="en-US" sz="2000" b="1" dirty="0" smtClean="0"/>
              <a:t> space-users ORG SPACE</a:t>
            </a:r>
            <a:r>
              <a:rPr lang="en-US" sz="2000" dirty="0" smtClean="0"/>
              <a:t>— List users in the space by role.</a:t>
            </a:r>
          </a:p>
          <a:p>
            <a:pPr marL="290513" lvl="1" indent="0">
              <a:buFont typeface="Symbol" panose="05050102010706020507" pitchFamily="18" charset="2"/>
              <a:buNone/>
              <a:defRPr/>
            </a:pPr>
            <a:endParaRPr lang="en-US" sz="2000" dirty="0"/>
          </a:p>
          <a:p>
            <a:pPr marL="290513" lvl="1" indent="0">
              <a:buFont typeface="Symbol" panose="05050102010706020507" pitchFamily="18" charset="2"/>
              <a:buNone/>
              <a:defRPr/>
            </a:pPr>
            <a:endParaRPr lang="en-US" sz="2000" dirty="0" smtClean="0"/>
          </a:p>
          <a:p>
            <a:pPr marL="290513" lvl="1" indent="0">
              <a:buFont typeface="Symbol" panose="05050102010706020507" pitchFamily="18" charset="2"/>
              <a:buNone/>
              <a:defRPr/>
            </a:pPr>
            <a:endParaRPr lang="en-US" sz="2000" dirty="0"/>
          </a:p>
          <a:p>
            <a:pPr marL="290513" lvl="1" indent="0">
              <a:buFont typeface="Symbol" panose="05050102010706020507" pitchFamily="18" charset="2"/>
              <a:buNone/>
              <a:defRPr/>
            </a:pPr>
            <a:endParaRPr lang="en-US" sz="2000" dirty="0" smtClean="0"/>
          </a:p>
          <a:p>
            <a:pPr marL="290513" lvl="1" indent="0">
              <a:buFont typeface="Symbol" panose="05050102010706020507" pitchFamily="18" charset="2"/>
              <a:buNone/>
              <a:defRPr/>
            </a:pPr>
            <a:endParaRPr lang="en-US" sz="2000" dirty="0"/>
          </a:p>
          <a:p>
            <a:pPr marL="290513" lvl="1" indent="0">
              <a:buFont typeface="Symbol" panose="05050102010706020507" pitchFamily="18" charset="2"/>
              <a:buNone/>
              <a:defRPr/>
            </a:pPr>
            <a:endParaRPr lang="en-US" sz="2000" dirty="0" smtClean="0"/>
          </a:p>
          <a:p>
            <a:pPr>
              <a:defRPr/>
            </a:pPr>
            <a:endParaRPr lang="en-US" sz="2000" dirty="0" smtClean="0"/>
          </a:p>
          <a:p>
            <a:pPr>
              <a:defRPr/>
            </a:pPr>
            <a:endParaRPr lang="en-US" sz="2000" dirty="0"/>
          </a:p>
          <a:p>
            <a:pPr>
              <a:defRPr/>
            </a:pPr>
            <a:r>
              <a:rPr lang="en-US" sz="2000" dirty="0" smtClean="0"/>
              <a:t>Commands for managing roles (admin-only) in your organization:</a:t>
            </a:r>
          </a:p>
          <a:p>
            <a:pPr lvl="1">
              <a:defRPr/>
            </a:pPr>
            <a:r>
              <a:rPr lang="en-US" sz="2000" b="1" dirty="0" err="1" smtClean="0"/>
              <a:t>cf</a:t>
            </a:r>
            <a:r>
              <a:rPr lang="en-US" sz="2000" b="1" dirty="0" smtClean="0"/>
              <a:t> set-space-role </a:t>
            </a:r>
            <a:r>
              <a:rPr lang="en-US" sz="2000" dirty="0" smtClean="0"/>
              <a:t>— Assign a space role to a user. The available roles are “</a:t>
            </a:r>
            <a:r>
              <a:rPr lang="en-US" sz="2000" dirty="0" err="1" smtClean="0"/>
              <a:t>SpaceManager</a:t>
            </a:r>
            <a:r>
              <a:rPr lang="en-US" sz="2000" dirty="0" smtClean="0"/>
              <a:t>”, “</a:t>
            </a:r>
            <a:r>
              <a:rPr lang="en-US" sz="2000" dirty="0" err="1" smtClean="0"/>
              <a:t>SpaceDeveloper</a:t>
            </a:r>
            <a:r>
              <a:rPr lang="en-US" sz="2000" dirty="0" smtClean="0"/>
              <a:t>”, and “</a:t>
            </a:r>
            <a:r>
              <a:rPr lang="en-US" sz="2000" dirty="0" err="1" smtClean="0"/>
              <a:t>SpaceAuditor</a:t>
            </a:r>
            <a:r>
              <a:rPr lang="en-US" sz="2000" dirty="0" smtClean="0"/>
              <a:t>”.</a:t>
            </a:r>
          </a:p>
          <a:p>
            <a:pPr lvl="1">
              <a:defRPr/>
            </a:pPr>
            <a:r>
              <a:rPr lang="en-US" sz="2000" b="1" dirty="0" err="1" smtClean="0"/>
              <a:t>cf</a:t>
            </a:r>
            <a:r>
              <a:rPr lang="en-US" sz="2000" b="1" dirty="0" smtClean="0"/>
              <a:t> unset-space-role </a:t>
            </a:r>
            <a:r>
              <a:rPr lang="en-US" sz="2000" dirty="0" smtClean="0"/>
              <a:t>— Remove a space role from a user.</a:t>
            </a:r>
            <a:endParaRPr lang="en-US" altLang="en-US" sz="2000" dirty="0" smtClean="0">
              <a:cs typeface="Arial" panose="020B0604020202020204" pitchFamily="34" charset="0"/>
            </a:endParaRPr>
          </a:p>
        </p:txBody>
      </p:sp>
      <p:sp>
        <p:nvSpPr>
          <p:cNvPr id="29699" name="Title 1"/>
          <p:cNvSpPr>
            <a:spLocks noGrp="1"/>
          </p:cNvSpPr>
          <p:nvPr>
            <p:ph type="title"/>
          </p:nvPr>
        </p:nvSpPr>
        <p:spPr>
          <a:xfrm>
            <a:off x="255588" y="587375"/>
            <a:ext cx="8888412" cy="692150"/>
          </a:xfrm>
        </p:spPr>
        <p:txBody>
          <a:bodyPr/>
          <a:lstStyle/>
          <a:p>
            <a:r>
              <a:rPr lang="en-US" altLang="en-US" smtClean="0">
                <a:solidFill>
                  <a:srgbClr val="0070C0"/>
                </a:solidFill>
              </a:rPr>
              <a:t>Manage Users and Roles of  a Space using Command Line Interface</a:t>
            </a:r>
          </a:p>
        </p:txBody>
      </p:sp>
      <p:pic>
        <p:nvPicPr>
          <p:cNvPr id="29700"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22325" y="1920875"/>
            <a:ext cx="6629400" cy="27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Text Placeholder 2"/>
          <p:cNvSpPr>
            <a:spLocks noGrp="1"/>
          </p:cNvSpPr>
          <p:nvPr>
            <p:ph type="body" idx="1"/>
          </p:nvPr>
        </p:nvSpPr>
        <p:spPr>
          <a:xfrm>
            <a:off x="211138" y="1044575"/>
            <a:ext cx="8589962" cy="2020888"/>
          </a:xfrm>
        </p:spPr>
        <p:txBody>
          <a:bodyPr/>
          <a:lstStyle/>
          <a:p>
            <a:pPr eaLnBrk="1" hangingPunct="1">
              <a:defRPr/>
            </a:pPr>
            <a:r>
              <a:rPr lang="en-US" altLang="en-US" sz="2000" dirty="0" smtClean="0">
                <a:cs typeface="Arial" panose="020B0604020202020204" pitchFamily="34" charset="0"/>
              </a:rPr>
              <a:t>All domains are mapped to an Organization</a:t>
            </a:r>
          </a:p>
          <a:p>
            <a:pPr eaLnBrk="1" hangingPunct="1">
              <a:defRPr/>
            </a:pPr>
            <a:r>
              <a:rPr lang="en-US" sz="2000" dirty="0" smtClean="0"/>
              <a:t>Domains can be </a:t>
            </a:r>
            <a:r>
              <a:rPr lang="en-US" sz="2000" b="1" dirty="0" smtClean="0"/>
              <a:t>shared</a:t>
            </a:r>
            <a:r>
              <a:rPr lang="en-US" sz="2000" dirty="0" smtClean="0"/>
              <a:t> or </a:t>
            </a:r>
            <a:r>
              <a:rPr lang="en-US" sz="2000" b="1" dirty="0" smtClean="0"/>
              <a:t>private</a:t>
            </a:r>
            <a:r>
              <a:rPr lang="en-US" sz="2000" dirty="0" smtClean="0"/>
              <a:t>. Shared domains are registered to multiple orgs while private domains, or </a:t>
            </a:r>
            <a:r>
              <a:rPr lang="en-US" sz="2000" b="1" dirty="0" smtClean="0"/>
              <a:t>owned</a:t>
            </a:r>
            <a:r>
              <a:rPr lang="en-US" sz="2000" dirty="0" smtClean="0"/>
              <a:t> domains, are registered to one org. A Cloud Foundry instance defines a default shared domain that your application uses unless you specify a different domain.</a:t>
            </a:r>
          </a:p>
          <a:p>
            <a:pPr eaLnBrk="1" hangingPunct="1">
              <a:defRPr/>
            </a:pPr>
            <a:r>
              <a:rPr lang="en-US" altLang="en-US" sz="2000" dirty="0" smtClean="0">
                <a:cs typeface="Arial" panose="020B0604020202020204" pitchFamily="34" charset="0"/>
              </a:rPr>
              <a:t>To list domains in the target organization -  </a:t>
            </a:r>
            <a:r>
              <a:rPr lang="en-US" altLang="en-US" sz="2000" b="1" dirty="0" err="1" smtClean="0">
                <a:cs typeface="Arial" panose="020B0604020202020204" pitchFamily="34" charset="0"/>
              </a:rPr>
              <a:t>cf</a:t>
            </a:r>
            <a:r>
              <a:rPr lang="en-US" altLang="en-US" sz="2000" b="1" dirty="0" smtClean="0">
                <a:cs typeface="Arial" panose="020B0604020202020204" pitchFamily="34" charset="0"/>
              </a:rPr>
              <a:t> domains</a:t>
            </a:r>
          </a:p>
          <a:p>
            <a:pPr marL="0" indent="0" eaLnBrk="1" hangingPunct="1">
              <a:buFont typeface="Wingdings" panose="05000000000000000000" pitchFamily="2" charset="2"/>
              <a:buNone/>
              <a:defRPr/>
            </a:pPr>
            <a:r>
              <a:rPr lang="en-US" altLang="en-US" sz="2000" dirty="0">
                <a:cs typeface="Arial" panose="020B0604020202020204" pitchFamily="34" charset="0"/>
              </a:rPr>
              <a:t> </a:t>
            </a:r>
            <a:endParaRPr lang="en-US" altLang="en-US" sz="2000" dirty="0" smtClean="0">
              <a:cs typeface="Arial" panose="020B0604020202020204" pitchFamily="34" charset="0"/>
            </a:endParaRPr>
          </a:p>
          <a:p>
            <a:pPr eaLnBrk="1" hangingPunct="1">
              <a:defRPr/>
            </a:pPr>
            <a:endParaRPr lang="en-US" altLang="en-US" sz="2000" dirty="0" smtClean="0">
              <a:cs typeface="Arial" panose="020B0604020202020204" pitchFamily="34" charset="0"/>
            </a:endParaRPr>
          </a:p>
          <a:p>
            <a:pPr>
              <a:defRPr/>
            </a:pPr>
            <a:endParaRPr lang="en-US" sz="2000" dirty="0" smtClean="0"/>
          </a:p>
          <a:p>
            <a:pPr lvl="2" eaLnBrk="1" hangingPunct="1">
              <a:defRPr/>
            </a:pPr>
            <a:endParaRPr lang="en-US" altLang="en-US" sz="1800" dirty="0" smtClean="0">
              <a:cs typeface="Arial" panose="020B0604020202020204" pitchFamily="34" charset="0"/>
            </a:endParaRPr>
          </a:p>
          <a:p>
            <a:pPr lvl="1" eaLnBrk="1" hangingPunct="1">
              <a:defRPr/>
            </a:pPr>
            <a:endParaRPr lang="en-US" altLang="en-US" sz="1200" dirty="0" smtClean="0">
              <a:cs typeface="Arial" panose="020B0604020202020204" pitchFamily="34" charset="0"/>
            </a:endParaRPr>
          </a:p>
        </p:txBody>
      </p:sp>
      <p:sp>
        <p:nvSpPr>
          <p:cNvPr id="31747" name="Title 1"/>
          <p:cNvSpPr>
            <a:spLocks noGrp="1"/>
          </p:cNvSpPr>
          <p:nvPr>
            <p:ph type="title"/>
          </p:nvPr>
        </p:nvSpPr>
        <p:spPr>
          <a:xfrm>
            <a:off x="255588" y="587375"/>
            <a:ext cx="8545512" cy="692150"/>
          </a:xfrm>
        </p:spPr>
        <p:txBody>
          <a:bodyPr/>
          <a:lstStyle/>
          <a:p>
            <a:r>
              <a:rPr lang="en-US" altLang="en-US" b="1" smtClean="0">
                <a:solidFill>
                  <a:srgbClr val="0070C0"/>
                </a:solidFill>
              </a:rPr>
              <a:t>Manage Domains Using Command Line Interface</a:t>
            </a:r>
          </a:p>
        </p:txBody>
      </p:sp>
      <p:pic>
        <p:nvPicPr>
          <p:cNvPr id="31748"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89038" y="3176588"/>
            <a:ext cx="5851525" cy="126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9" name="TextBox 5"/>
          <p:cNvSpPr txBox="1">
            <a:spLocks noChangeArrowheads="1"/>
          </p:cNvSpPr>
          <p:nvPr/>
        </p:nvSpPr>
        <p:spPr bwMode="auto">
          <a:xfrm>
            <a:off x="152400" y="4564063"/>
            <a:ext cx="8751888" cy="224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buFont typeface="Arial" panose="020B0604020202020204" pitchFamily="34" charset="0"/>
              <a:buChar char="•"/>
            </a:pPr>
            <a:r>
              <a:rPr lang="en-US" altLang="en-US" sz="2000"/>
              <a:t>Commands for managing domains:</a:t>
            </a:r>
          </a:p>
          <a:p>
            <a:pPr lvl="1">
              <a:buFont typeface="Arial" panose="020B0604020202020204" pitchFamily="34" charset="0"/>
              <a:buChar char="•"/>
            </a:pPr>
            <a:r>
              <a:rPr lang="en-US" altLang="en-US" sz="2000" b="1"/>
              <a:t>cf create-domain</a:t>
            </a:r>
            <a:r>
              <a:rPr lang="en-US" altLang="en-US" sz="2000"/>
              <a:t> — Create a domain.</a:t>
            </a:r>
          </a:p>
          <a:p>
            <a:pPr lvl="1">
              <a:buFont typeface="Arial" panose="020B0604020202020204" pitchFamily="34" charset="0"/>
              <a:buChar char="•"/>
            </a:pPr>
            <a:r>
              <a:rPr lang="en-US" altLang="en-US" sz="2000" b="1"/>
              <a:t>cf delete-domain </a:t>
            </a:r>
            <a:r>
              <a:rPr lang="en-US" altLang="en-US" sz="2000"/>
              <a:t>— Delete a domain.</a:t>
            </a:r>
          </a:p>
          <a:p>
            <a:pPr lvl="1">
              <a:buFont typeface="Arial" panose="020B0604020202020204" pitchFamily="34" charset="0"/>
              <a:buChar char="•"/>
            </a:pPr>
            <a:r>
              <a:rPr lang="en-US" altLang="en-US" sz="2000" b="1"/>
              <a:t>cf create-shared-domain </a:t>
            </a:r>
            <a:r>
              <a:rPr lang="en-US" altLang="en-US" sz="2000"/>
              <a:t>— Share a domain with all organizations. Admin only.</a:t>
            </a:r>
          </a:p>
          <a:p>
            <a:pPr lvl="1">
              <a:buFont typeface="Arial" panose="020B0604020202020204" pitchFamily="34" charset="0"/>
              <a:buChar char="•"/>
            </a:pPr>
            <a:r>
              <a:rPr lang="en-US" altLang="en-US" sz="2000" b="1"/>
              <a:t>cf delete-shared-domain </a:t>
            </a:r>
            <a:r>
              <a:rPr lang="en-US" altLang="en-US" sz="2000"/>
              <a:t>— Delete a domain that was shared with all organizations. Admin only.</a:t>
            </a:r>
          </a:p>
        </p:txBody>
      </p:sp>
    </p:spTree>
  </p:cSld>
  <p:clrMapOvr>
    <a:masterClrMapping/>
  </p:clrMapOvr>
  <p:transition spd="med"/>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Text Placeholder 2"/>
          <p:cNvSpPr>
            <a:spLocks noGrp="1"/>
          </p:cNvSpPr>
          <p:nvPr>
            <p:ph type="body" idx="1"/>
          </p:nvPr>
        </p:nvSpPr>
        <p:spPr>
          <a:xfrm>
            <a:off x="255588" y="1143000"/>
            <a:ext cx="8589962" cy="4160838"/>
          </a:xfrm>
        </p:spPr>
        <p:txBody>
          <a:bodyPr/>
          <a:lstStyle/>
          <a:p>
            <a:pPr eaLnBrk="1" hangingPunct="1">
              <a:defRPr/>
            </a:pPr>
            <a:r>
              <a:rPr lang="en-US" dirty="0" smtClean="0"/>
              <a:t>A </a:t>
            </a:r>
            <a:r>
              <a:rPr lang="en-US" b="1" dirty="0" smtClean="0"/>
              <a:t>route</a:t>
            </a:r>
            <a:r>
              <a:rPr lang="en-US" dirty="0" smtClean="0"/>
              <a:t> is a path used to access an application online. Each route is directly bound to one or more applications in Cloud Foundry. A route is a URL composed of a domain and an optional host as a prefix. </a:t>
            </a:r>
          </a:p>
          <a:p>
            <a:pPr marL="0" indent="0" eaLnBrk="1" hangingPunct="1">
              <a:buFont typeface="Wingdings" panose="05000000000000000000" pitchFamily="2" charset="2"/>
              <a:buNone/>
              <a:defRPr/>
            </a:pPr>
            <a:endParaRPr lang="en-US" dirty="0" smtClean="0"/>
          </a:p>
          <a:p>
            <a:pPr eaLnBrk="1" hangingPunct="1">
              <a:defRPr/>
            </a:pPr>
            <a:r>
              <a:rPr lang="en-US" dirty="0" smtClean="0"/>
              <a:t>Example, “</a:t>
            </a:r>
            <a:r>
              <a:rPr lang="en-US" dirty="0" err="1" smtClean="0"/>
              <a:t>myappname</a:t>
            </a:r>
            <a:r>
              <a:rPr lang="en-US" dirty="0" smtClean="0"/>
              <a:t>” is the host and “example.com” is the domain in the route “myappname.example.com.” Here “example.com” could either be a custom domain of your own, or a domain that you have created through Cloud Foundry.</a:t>
            </a:r>
          </a:p>
          <a:p>
            <a:pPr eaLnBrk="1" hangingPunct="1">
              <a:defRPr/>
            </a:pPr>
            <a:endParaRPr lang="en-US" altLang="en-US" dirty="0" smtClean="0">
              <a:cs typeface="Arial" panose="020B0604020202020204" pitchFamily="34" charset="0"/>
            </a:endParaRPr>
          </a:p>
          <a:p>
            <a:pPr eaLnBrk="1" hangingPunct="1">
              <a:defRPr/>
            </a:pPr>
            <a:r>
              <a:rPr lang="en-US" altLang="en-US" dirty="0" smtClean="0">
                <a:cs typeface="Arial" panose="020B0604020202020204" pitchFamily="34" charset="0"/>
              </a:rPr>
              <a:t>The command </a:t>
            </a:r>
            <a:r>
              <a:rPr lang="en-US" altLang="en-US" b="1" dirty="0" err="1" smtClean="0">
                <a:cs typeface="Arial" panose="020B0604020202020204" pitchFamily="34" charset="0"/>
              </a:rPr>
              <a:t>cf</a:t>
            </a:r>
            <a:r>
              <a:rPr lang="en-US" altLang="en-US" b="1" dirty="0" smtClean="0">
                <a:cs typeface="Arial" panose="020B0604020202020204" pitchFamily="34" charset="0"/>
              </a:rPr>
              <a:t> routes </a:t>
            </a:r>
            <a:r>
              <a:rPr lang="en-US" altLang="en-US" dirty="0" smtClean="0">
                <a:cs typeface="Arial" panose="020B0604020202020204" pitchFamily="34" charset="0"/>
              </a:rPr>
              <a:t>lists all routes in the current space or current organization and its related </a:t>
            </a:r>
            <a:r>
              <a:rPr lang="en-US" altLang="en-US" sz="1800" dirty="0" smtClean="0">
                <a:cs typeface="Arial" panose="020B0604020202020204" pitchFamily="34" charset="0"/>
              </a:rPr>
              <a:t>space, host, domain and application name.</a:t>
            </a:r>
          </a:p>
          <a:p>
            <a:pPr lvl="1" eaLnBrk="1" hangingPunct="1">
              <a:defRPr/>
            </a:pPr>
            <a:endParaRPr lang="en-US" altLang="en-US" sz="1800" b="1" dirty="0" smtClean="0">
              <a:cs typeface="Arial" panose="020B0604020202020204" pitchFamily="34" charset="0"/>
            </a:endParaRPr>
          </a:p>
          <a:p>
            <a:pPr>
              <a:defRPr/>
            </a:pPr>
            <a:r>
              <a:rPr lang="en-US" dirty="0" smtClean="0"/>
              <a:t>Commands for managing routes:</a:t>
            </a:r>
          </a:p>
          <a:p>
            <a:pPr lvl="1">
              <a:defRPr/>
            </a:pPr>
            <a:r>
              <a:rPr lang="en-US" b="1" dirty="0" err="1" smtClean="0"/>
              <a:t>cf</a:t>
            </a:r>
            <a:r>
              <a:rPr lang="en-US" b="1" dirty="0" smtClean="0"/>
              <a:t> create-route </a:t>
            </a:r>
            <a:r>
              <a:rPr lang="en-US" dirty="0" smtClean="0"/>
              <a:t>— Create a route.</a:t>
            </a:r>
          </a:p>
          <a:p>
            <a:pPr lvl="1">
              <a:defRPr/>
            </a:pPr>
            <a:r>
              <a:rPr lang="en-US" b="1" dirty="0" err="1" smtClean="0"/>
              <a:t>cf</a:t>
            </a:r>
            <a:r>
              <a:rPr lang="en-US" b="1" dirty="0" smtClean="0"/>
              <a:t> map-route </a:t>
            </a:r>
            <a:r>
              <a:rPr lang="en-US" dirty="0" smtClean="0"/>
              <a:t>— Map a route to an application. If the route does not exist, this command creates it and then maps it.</a:t>
            </a:r>
          </a:p>
          <a:p>
            <a:pPr lvl="1">
              <a:defRPr/>
            </a:pPr>
            <a:r>
              <a:rPr lang="en-US" b="1" dirty="0" err="1" smtClean="0"/>
              <a:t>cf</a:t>
            </a:r>
            <a:r>
              <a:rPr lang="en-US" b="1" dirty="0" smtClean="0"/>
              <a:t> </a:t>
            </a:r>
            <a:r>
              <a:rPr lang="en-US" b="1" dirty="0" err="1" smtClean="0"/>
              <a:t>unmap</a:t>
            </a:r>
            <a:r>
              <a:rPr lang="en-US" b="1" dirty="0" smtClean="0"/>
              <a:t>-route </a:t>
            </a:r>
            <a:r>
              <a:rPr lang="en-US" dirty="0" smtClean="0"/>
              <a:t>— Remove a route from an application.</a:t>
            </a:r>
          </a:p>
          <a:p>
            <a:pPr lvl="1">
              <a:defRPr/>
            </a:pPr>
            <a:r>
              <a:rPr lang="en-US" b="1" dirty="0" err="1" smtClean="0"/>
              <a:t>cf</a:t>
            </a:r>
            <a:r>
              <a:rPr lang="en-US" b="1" dirty="0" smtClean="0"/>
              <a:t> delete-route </a:t>
            </a:r>
            <a:r>
              <a:rPr lang="en-US" dirty="0" smtClean="0"/>
              <a:t>— Delete a route.</a:t>
            </a:r>
          </a:p>
        </p:txBody>
      </p:sp>
      <p:sp>
        <p:nvSpPr>
          <p:cNvPr id="33795" name="Title 1"/>
          <p:cNvSpPr>
            <a:spLocks noGrp="1"/>
          </p:cNvSpPr>
          <p:nvPr>
            <p:ph type="title"/>
          </p:nvPr>
        </p:nvSpPr>
        <p:spPr>
          <a:xfrm>
            <a:off x="255588" y="587375"/>
            <a:ext cx="8545512" cy="692150"/>
          </a:xfrm>
        </p:spPr>
        <p:txBody>
          <a:bodyPr/>
          <a:lstStyle/>
          <a:p>
            <a:r>
              <a:rPr lang="en-US" altLang="en-US" smtClean="0">
                <a:solidFill>
                  <a:srgbClr val="0070C0"/>
                </a:solidFill>
              </a:rPr>
              <a:t>Manage Routes Using Command Line Interface</a:t>
            </a:r>
          </a:p>
        </p:txBody>
      </p:sp>
    </p:spTree>
  </p:cSld>
  <p:clrMapOvr>
    <a:masterClrMapping/>
  </p:clrMapOvr>
  <p:transition spd="med"/>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371475" y="609600"/>
            <a:ext cx="8543925" cy="304800"/>
          </a:xfrm>
          <a:prstGeom prst="rect">
            <a:avLst/>
          </a:prstGeom>
          <a:noFill/>
          <a:ln w="9525">
            <a:noFill/>
            <a:miter lim="800000"/>
            <a:headEnd/>
            <a:tailEnd/>
          </a:ln>
        </p:spPr>
        <p:txBody>
          <a:bodyPr lIns="0" tIns="0" rIns="0" bIns="0">
            <a:spAutoFit/>
          </a:bodyPr>
          <a:lstStyle>
            <a:lvl1pPr algn="l" rtl="0" eaLnBrk="1" fontAlgn="base" hangingPunct="1">
              <a:lnSpc>
                <a:spcPct val="90000"/>
              </a:lnSpc>
              <a:spcBef>
                <a:spcPct val="0"/>
              </a:spcBef>
              <a:spcAft>
                <a:spcPct val="0"/>
              </a:spcAft>
              <a:defRPr sz="2200" b="1">
                <a:solidFill>
                  <a:srgbClr val="0070C0"/>
                </a:solidFill>
                <a:latin typeface="+mj-lt"/>
                <a:ea typeface="+mj-ea"/>
                <a:cs typeface="+mj-cs"/>
              </a:defRPr>
            </a:lvl1pPr>
            <a:lvl2pPr algn="l" rtl="0" eaLnBrk="1" fontAlgn="base" hangingPunct="1">
              <a:lnSpc>
                <a:spcPct val="90000"/>
              </a:lnSpc>
              <a:spcBef>
                <a:spcPct val="0"/>
              </a:spcBef>
              <a:spcAft>
                <a:spcPct val="0"/>
              </a:spcAft>
              <a:defRPr sz="2400">
                <a:solidFill>
                  <a:srgbClr val="008ABF"/>
                </a:solidFill>
                <a:latin typeface="Arial" pitchFamily="34" charset="0"/>
              </a:defRPr>
            </a:lvl2pPr>
            <a:lvl3pPr algn="l" rtl="0" eaLnBrk="1" fontAlgn="base" hangingPunct="1">
              <a:lnSpc>
                <a:spcPct val="90000"/>
              </a:lnSpc>
              <a:spcBef>
                <a:spcPct val="0"/>
              </a:spcBef>
              <a:spcAft>
                <a:spcPct val="0"/>
              </a:spcAft>
              <a:defRPr sz="2400">
                <a:solidFill>
                  <a:srgbClr val="008ABF"/>
                </a:solidFill>
                <a:latin typeface="Arial" pitchFamily="34" charset="0"/>
              </a:defRPr>
            </a:lvl3pPr>
            <a:lvl4pPr algn="l" rtl="0" eaLnBrk="1" fontAlgn="base" hangingPunct="1">
              <a:lnSpc>
                <a:spcPct val="90000"/>
              </a:lnSpc>
              <a:spcBef>
                <a:spcPct val="0"/>
              </a:spcBef>
              <a:spcAft>
                <a:spcPct val="0"/>
              </a:spcAft>
              <a:defRPr sz="2400">
                <a:solidFill>
                  <a:srgbClr val="008ABF"/>
                </a:solidFill>
                <a:latin typeface="Arial" pitchFamily="34" charset="0"/>
              </a:defRPr>
            </a:lvl4pPr>
            <a:lvl5pPr algn="l" rtl="0" eaLnBrk="1" fontAlgn="base" hangingPunct="1">
              <a:lnSpc>
                <a:spcPct val="90000"/>
              </a:lnSpc>
              <a:spcBef>
                <a:spcPct val="0"/>
              </a:spcBef>
              <a:spcAft>
                <a:spcPct val="0"/>
              </a:spcAft>
              <a:defRPr sz="2400">
                <a:solidFill>
                  <a:srgbClr val="008ABF"/>
                </a:solidFill>
                <a:latin typeface="Arial" pitchFamily="34" charset="0"/>
              </a:defRPr>
            </a:lvl5pPr>
            <a:lvl6pPr marL="457082" algn="l" rtl="0" eaLnBrk="1" fontAlgn="base" hangingPunct="1">
              <a:lnSpc>
                <a:spcPct val="90000"/>
              </a:lnSpc>
              <a:spcBef>
                <a:spcPct val="0"/>
              </a:spcBef>
              <a:spcAft>
                <a:spcPct val="0"/>
              </a:spcAft>
              <a:defRPr sz="2600">
                <a:solidFill>
                  <a:schemeClr val="hlink"/>
                </a:solidFill>
                <a:latin typeface="Arial" pitchFamily="34" charset="0"/>
              </a:defRPr>
            </a:lvl6pPr>
            <a:lvl7pPr marL="914165" algn="l" rtl="0" eaLnBrk="1" fontAlgn="base" hangingPunct="1">
              <a:lnSpc>
                <a:spcPct val="90000"/>
              </a:lnSpc>
              <a:spcBef>
                <a:spcPct val="0"/>
              </a:spcBef>
              <a:spcAft>
                <a:spcPct val="0"/>
              </a:spcAft>
              <a:defRPr sz="2600">
                <a:solidFill>
                  <a:schemeClr val="hlink"/>
                </a:solidFill>
                <a:latin typeface="Arial" pitchFamily="34" charset="0"/>
              </a:defRPr>
            </a:lvl7pPr>
            <a:lvl8pPr marL="1371250" algn="l" rtl="0" eaLnBrk="1" fontAlgn="base" hangingPunct="1">
              <a:lnSpc>
                <a:spcPct val="90000"/>
              </a:lnSpc>
              <a:spcBef>
                <a:spcPct val="0"/>
              </a:spcBef>
              <a:spcAft>
                <a:spcPct val="0"/>
              </a:spcAft>
              <a:defRPr sz="2600">
                <a:solidFill>
                  <a:schemeClr val="hlink"/>
                </a:solidFill>
                <a:latin typeface="Arial" pitchFamily="34" charset="0"/>
              </a:defRPr>
            </a:lvl8pPr>
            <a:lvl9pPr marL="1828332" algn="l" rtl="0" eaLnBrk="1" fontAlgn="base" hangingPunct="1">
              <a:lnSpc>
                <a:spcPct val="90000"/>
              </a:lnSpc>
              <a:spcBef>
                <a:spcPct val="0"/>
              </a:spcBef>
              <a:spcAft>
                <a:spcPct val="0"/>
              </a:spcAft>
              <a:defRPr sz="2600">
                <a:solidFill>
                  <a:schemeClr val="hlink"/>
                </a:solidFill>
                <a:latin typeface="Arial" pitchFamily="34" charset="0"/>
              </a:defRPr>
            </a:lvl9pPr>
          </a:lstStyle>
          <a:p>
            <a:pPr>
              <a:defRPr/>
            </a:pPr>
            <a:r>
              <a:rPr lang="en-US" kern="0" dirty="0" smtClean="0"/>
              <a:t>Bookmarks &amp; References</a:t>
            </a:r>
            <a:endParaRPr lang="en-US" kern="0" dirty="0"/>
          </a:p>
        </p:txBody>
      </p:sp>
      <p:sp>
        <p:nvSpPr>
          <p:cNvPr id="6" name="Content Placeholder 2"/>
          <p:cNvSpPr txBox="1">
            <a:spLocks/>
          </p:cNvSpPr>
          <p:nvPr/>
        </p:nvSpPr>
        <p:spPr>
          <a:xfrm>
            <a:off x="304800" y="1524000"/>
            <a:ext cx="8839200" cy="4343400"/>
          </a:xfrm>
          <a:prstGeom prst="rect">
            <a:avLst/>
          </a:prstGeom>
        </p:spPr>
        <p:txBody>
          <a:bodyPr/>
          <a:lstStyle>
            <a:lvl1pPr marL="176213" indent="-176213" algn="l" rtl="0" eaLnBrk="0" fontAlgn="base" hangingPunct="0">
              <a:spcBef>
                <a:spcPct val="20000"/>
              </a:spcBef>
              <a:spcAft>
                <a:spcPct val="0"/>
              </a:spcAft>
              <a:buClr>
                <a:schemeClr val="tx1"/>
              </a:buClr>
              <a:buFont typeface="Wingdings" panose="05000000000000000000" pitchFamily="2" charset="2"/>
              <a:buChar char="§"/>
              <a:defRPr sz="1600">
                <a:solidFill>
                  <a:schemeClr val="tx1"/>
                </a:solidFill>
                <a:latin typeface="+mn-lt"/>
                <a:ea typeface="MS PGothic" panose="020B0600070205080204" pitchFamily="34" charset="-128"/>
                <a:cs typeface="+mn-cs"/>
              </a:defRPr>
            </a:lvl1pPr>
            <a:lvl2pPr marL="515938" indent="-225425" algn="l" rtl="0" eaLnBrk="0" fontAlgn="base" hangingPunct="0">
              <a:spcBef>
                <a:spcPct val="20000"/>
              </a:spcBef>
              <a:spcAft>
                <a:spcPct val="0"/>
              </a:spcAft>
              <a:buClr>
                <a:schemeClr val="tx1"/>
              </a:buClr>
              <a:buFont typeface="Symbol" panose="05050102010706020507" pitchFamily="18" charset="2"/>
              <a:buChar char="-"/>
              <a:defRPr sz="1600">
                <a:solidFill>
                  <a:schemeClr val="tx1"/>
                </a:solidFill>
                <a:latin typeface="+mn-lt"/>
                <a:ea typeface="MS PGothic" panose="020B0600070205080204" pitchFamily="34" charset="-128"/>
              </a:defRPr>
            </a:lvl2pPr>
            <a:lvl3pPr marL="804863" indent="-171450" algn="l" rtl="0" eaLnBrk="0" fontAlgn="base" hangingPunct="0">
              <a:spcBef>
                <a:spcPct val="20000"/>
              </a:spcBef>
              <a:spcAft>
                <a:spcPct val="0"/>
              </a:spcAft>
              <a:buClr>
                <a:schemeClr val="tx1"/>
              </a:buClr>
              <a:buChar char="•"/>
              <a:defRPr sz="1600">
                <a:solidFill>
                  <a:schemeClr val="tx1"/>
                </a:solidFill>
                <a:latin typeface="+mn-lt"/>
                <a:ea typeface="MS PGothic" panose="020B0600070205080204" pitchFamily="34" charset="-128"/>
              </a:defRPr>
            </a:lvl3pPr>
            <a:lvl4pPr marL="1430338" indent="-176213" algn="l" rtl="0" eaLnBrk="0" fontAlgn="base" hangingPunct="0">
              <a:spcBef>
                <a:spcPct val="20000"/>
              </a:spcBef>
              <a:spcAft>
                <a:spcPct val="0"/>
              </a:spcAft>
              <a:buClr>
                <a:schemeClr val="tx1"/>
              </a:buClr>
              <a:buChar char="•"/>
              <a:defRPr sz="1400">
                <a:solidFill>
                  <a:schemeClr val="tx1"/>
                </a:solidFill>
                <a:latin typeface="+mn-lt"/>
                <a:ea typeface="MS PGothic" panose="020B0600070205080204" pitchFamily="34" charset="-128"/>
              </a:defRPr>
            </a:lvl4pPr>
            <a:lvl5pPr marL="1719263" indent="-7938" algn="l" rtl="0" eaLnBrk="0" fontAlgn="base" hangingPunct="0">
              <a:spcBef>
                <a:spcPct val="20000"/>
              </a:spcBef>
              <a:spcAft>
                <a:spcPct val="0"/>
              </a:spcAft>
              <a:buClr>
                <a:schemeClr val="tx1"/>
              </a:buClr>
              <a:defRPr sz="1200">
                <a:solidFill>
                  <a:schemeClr val="tx1"/>
                </a:solidFill>
                <a:latin typeface="+mn-lt"/>
                <a:ea typeface="MS PGothic" panose="020B0600070205080204" pitchFamily="34" charset="-128"/>
              </a:defRPr>
            </a:lvl5pPr>
            <a:lvl6pPr marL="2176463" indent="-7938" algn="l" rtl="0" fontAlgn="base">
              <a:spcBef>
                <a:spcPct val="20000"/>
              </a:spcBef>
              <a:spcAft>
                <a:spcPct val="0"/>
              </a:spcAft>
              <a:buClr>
                <a:schemeClr val="tx1"/>
              </a:buClr>
              <a:defRPr sz="1200">
                <a:solidFill>
                  <a:schemeClr val="tx1"/>
                </a:solidFill>
                <a:latin typeface="+mn-lt"/>
              </a:defRPr>
            </a:lvl6pPr>
            <a:lvl7pPr marL="2633663" indent="-7938" algn="l" rtl="0" fontAlgn="base">
              <a:spcBef>
                <a:spcPct val="20000"/>
              </a:spcBef>
              <a:spcAft>
                <a:spcPct val="0"/>
              </a:spcAft>
              <a:buClr>
                <a:schemeClr val="tx1"/>
              </a:buClr>
              <a:defRPr sz="1200">
                <a:solidFill>
                  <a:schemeClr val="tx1"/>
                </a:solidFill>
                <a:latin typeface="+mn-lt"/>
              </a:defRPr>
            </a:lvl7pPr>
            <a:lvl8pPr marL="3090863" indent="-7938" algn="l" rtl="0" fontAlgn="base">
              <a:spcBef>
                <a:spcPct val="20000"/>
              </a:spcBef>
              <a:spcAft>
                <a:spcPct val="0"/>
              </a:spcAft>
              <a:buClr>
                <a:schemeClr val="tx1"/>
              </a:buClr>
              <a:defRPr sz="1200">
                <a:solidFill>
                  <a:schemeClr val="tx1"/>
                </a:solidFill>
                <a:latin typeface="+mn-lt"/>
              </a:defRPr>
            </a:lvl8pPr>
            <a:lvl9pPr marL="3548063" indent="-7938" algn="l" rtl="0" fontAlgn="base">
              <a:spcBef>
                <a:spcPct val="20000"/>
              </a:spcBef>
              <a:spcAft>
                <a:spcPct val="0"/>
              </a:spcAft>
              <a:buClr>
                <a:schemeClr val="tx1"/>
              </a:buClr>
              <a:defRPr sz="1200">
                <a:solidFill>
                  <a:schemeClr val="tx1"/>
                </a:solidFill>
                <a:latin typeface="+mn-lt"/>
              </a:defRPr>
            </a:lvl9pPr>
          </a:lstStyle>
          <a:p>
            <a:pPr>
              <a:defRPr/>
            </a:pPr>
            <a:r>
              <a:rPr lang="en-US" u="sng" kern="0" dirty="0" smtClean="0">
                <a:hlinkClick r:id="rId2"/>
              </a:rPr>
              <a:t>https://www.ng.bluemix.net/docs/#services/services.html</a:t>
            </a:r>
            <a:endParaRPr lang="en-US" u="sng" kern="0" dirty="0" smtClean="0"/>
          </a:p>
          <a:p>
            <a:pPr>
              <a:defRPr/>
            </a:pPr>
            <a:r>
              <a:rPr lang="en-US" u="sng" dirty="0">
                <a:hlinkClick r:id="rId3"/>
              </a:rPr>
              <a:t>https://www.ng.bluemix.net/docs/#</a:t>
            </a:r>
            <a:r>
              <a:rPr lang="en-US" u="sng" dirty="0" smtClean="0">
                <a:hlinkClick r:id="rId3"/>
              </a:rPr>
              <a:t>overview/overview.html#overview</a:t>
            </a:r>
            <a:endParaRPr lang="en-US" u="sng" dirty="0" smtClean="0"/>
          </a:p>
          <a:p>
            <a:pPr>
              <a:defRPr/>
            </a:pPr>
            <a:r>
              <a:rPr lang="en-US" dirty="0">
                <a:hlinkClick r:id="rId4"/>
              </a:rPr>
              <a:t>https://www.ng.bluemix.net/docs/#overview/overview.html#ov_intro__</a:t>
            </a:r>
            <a:r>
              <a:rPr lang="en-US" dirty="0" smtClean="0">
                <a:hlinkClick r:id="rId4"/>
              </a:rPr>
              <a:t>reg</a:t>
            </a:r>
            <a:endParaRPr lang="en-US" dirty="0" smtClean="0"/>
          </a:p>
          <a:p>
            <a:pPr>
              <a:defRPr/>
            </a:pPr>
            <a:r>
              <a:rPr lang="en-US" u="sng" dirty="0">
                <a:hlinkClick r:id="rId5"/>
              </a:rPr>
              <a:t>http://docs.cloudfoundry.org/devguide/installcf/whats-new-v6.html</a:t>
            </a:r>
            <a:endParaRPr lang="en-US" dirty="0"/>
          </a:p>
          <a:p>
            <a:pPr>
              <a:defRPr/>
            </a:pPr>
            <a:r>
              <a:rPr lang="en-US" u="sng" dirty="0">
                <a:hlinkClick r:id="rId6"/>
              </a:rPr>
              <a:t>https://www.ng.bluemix.net/docs</a:t>
            </a:r>
            <a:r>
              <a:rPr lang="en-US" u="sng" dirty="0" smtClean="0">
                <a:hlinkClick r:id="rId6"/>
              </a:rPr>
              <a:t>/#</a:t>
            </a:r>
            <a:endParaRPr lang="en-US" u="sng" dirty="0" smtClean="0"/>
          </a:p>
          <a:p>
            <a:pPr>
              <a:defRPr/>
            </a:pPr>
            <a:r>
              <a:rPr lang="en-US" dirty="0">
                <a:hlinkClick r:id="rId7"/>
              </a:rPr>
              <a:t>http://docs.cloudfoundry.org/devguide/installcf/whats-new-v6.html#domains-etc</a:t>
            </a:r>
            <a:endParaRPr lang="en-US" dirty="0"/>
          </a:p>
          <a:p>
            <a:pPr>
              <a:defRPr/>
            </a:pPr>
            <a:endParaRPr lang="en-US" kern="0" dirty="0" smtClean="0"/>
          </a:p>
          <a:p>
            <a:pPr marL="0" indent="0">
              <a:buFont typeface="Wingdings" panose="05000000000000000000" pitchFamily="2" charset="2"/>
              <a:buNone/>
              <a:defRPr/>
            </a:pPr>
            <a:endParaRPr lang="en-US" kern="0" dirty="0"/>
          </a:p>
        </p:txBody>
      </p:sp>
    </p:spTree>
  </p:cSld>
  <p:clrMapOvr>
    <a:masterClrMapping/>
  </p:clrMapOvr>
  <p:transition spd="med"/>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txBox="1">
            <a:spLocks/>
          </p:cNvSpPr>
          <p:nvPr/>
        </p:nvSpPr>
        <p:spPr bwMode="auto">
          <a:xfrm>
            <a:off x="639763" y="1874838"/>
            <a:ext cx="777240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tx1"/>
              </a:buClr>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1pPr>
            <a:lvl2pPr marL="515938" indent="-225425">
              <a:spcBef>
                <a:spcPct val="20000"/>
              </a:spcBef>
              <a:buClr>
                <a:schemeClr val="tx1"/>
              </a:buClr>
              <a:buFont typeface="Symbol" panose="05050102010706020507" pitchFamily="18" charset="2"/>
              <a:buChar char="-"/>
              <a:defRPr sz="1600">
                <a:solidFill>
                  <a:schemeClr val="tx1"/>
                </a:solidFill>
                <a:latin typeface="Arial" panose="020B0604020202020204" pitchFamily="34" charset="0"/>
                <a:ea typeface="MS PGothic" panose="020B0600070205080204" pitchFamily="34" charset="-128"/>
              </a:defRPr>
            </a:lvl2pPr>
            <a:lvl3pPr marL="804863" indent="-171450">
              <a:spcBef>
                <a:spcPct val="20000"/>
              </a:spcBef>
              <a:buClr>
                <a:schemeClr val="tx1"/>
              </a:buClr>
              <a:buChar char="•"/>
              <a:defRPr sz="1600">
                <a:solidFill>
                  <a:schemeClr val="tx1"/>
                </a:solidFill>
                <a:latin typeface="Arial" panose="020B0604020202020204" pitchFamily="34" charset="0"/>
                <a:ea typeface="MS PGothic" panose="020B0600070205080204" pitchFamily="34" charset="-128"/>
              </a:defRPr>
            </a:lvl3pPr>
            <a:lvl4pPr marL="1430338" indent="-176213">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1719263" indent="-7938">
              <a:spcBef>
                <a:spcPct val="20000"/>
              </a:spcBef>
              <a:buClr>
                <a:schemeClr val="tx1"/>
              </a:buClr>
              <a:defRPr sz="1200">
                <a:solidFill>
                  <a:schemeClr val="tx1"/>
                </a:solidFill>
                <a:latin typeface="Arial" panose="020B0604020202020204" pitchFamily="34" charset="0"/>
                <a:ea typeface="MS PGothic" panose="020B0600070205080204" pitchFamily="34" charset="-128"/>
              </a:defRPr>
            </a:lvl5pPr>
            <a:lvl6pPr marL="2176463" indent="-7938" eaLnBrk="0" fontAlgn="base" hangingPunct="0">
              <a:spcBef>
                <a:spcPct val="20000"/>
              </a:spcBef>
              <a:spcAft>
                <a:spcPct val="0"/>
              </a:spcAft>
              <a:buClr>
                <a:schemeClr val="tx1"/>
              </a:buClr>
              <a:defRPr sz="1200">
                <a:solidFill>
                  <a:schemeClr val="tx1"/>
                </a:solidFill>
                <a:latin typeface="Arial" panose="020B0604020202020204" pitchFamily="34" charset="0"/>
                <a:ea typeface="MS PGothic" panose="020B0600070205080204" pitchFamily="34" charset="-128"/>
              </a:defRPr>
            </a:lvl6pPr>
            <a:lvl7pPr marL="2633663" indent="-7938" eaLnBrk="0" fontAlgn="base" hangingPunct="0">
              <a:spcBef>
                <a:spcPct val="20000"/>
              </a:spcBef>
              <a:spcAft>
                <a:spcPct val="0"/>
              </a:spcAft>
              <a:buClr>
                <a:schemeClr val="tx1"/>
              </a:buClr>
              <a:defRPr sz="1200">
                <a:solidFill>
                  <a:schemeClr val="tx1"/>
                </a:solidFill>
                <a:latin typeface="Arial" panose="020B0604020202020204" pitchFamily="34" charset="0"/>
                <a:ea typeface="MS PGothic" panose="020B0600070205080204" pitchFamily="34" charset="-128"/>
              </a:defRPr>
            </a:lvl7pPr>
            <a:lvl8pPr marL="3090863" indent="-7938" eaLnBrk="0" fontAlgn="base" hangingPunct="0">
              <a:spcBef>
                <a:spcPct val="20000"/>
              </a:spcBef>
              <a:spcAft>
                <a:spcPct val="0"/>
              </a:spcAft>
              <a:buClr>
                <a:schemeClr val="tx1"/>
              </a:buClr>
              <a:defRPr sz="1200">
                <a:solidFill>
                  <a:schemeClr val="tx1"/>
                </a:solidFill>
                <a:latin typeface="Arial" panose="020B0604020202020204" pitchFamily="34" charset="0"/>
                <a:ea typeface="MS PGothic" panose="020B0600070205080204" pitchFamily="34" charset="-128"/>
              </a:defRPr>
            </a:lvl8pPr>
            <a:lvl9pPr marL="3548063" indent="-7938" eaLnBrk="0" fontAlgn="base" hangingPunct="0">
              <a:spcBef>
                <a:spcPct val="20000"/>
              </a:spcBef>
              <a:spcAft>
                <a:spcPct val="0"/>
              </a:spcAft>
              <a:buClr>
                <a:schemeClr val="tx1"/>
              </a:buCl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0000"/>
              </a:lnSpc>
              <a:spcBef>
                <a:spcPct val="0"/>
              </a:spcBef>
              <a:buClrTx/>
              <a:buFontTx/>
              <a:buNone/>
            </a:pPr>
            <a:r>
              <a:rPr lang="en-US" altLang="en-US" sz="4000" b="1" dirty="0">
                <a:solidFill>
                  <a:srgbClr val="008ABF"/>
                </a:solidFill>
                <a:hlinkClick r:id="rId3"/>
              </a:rPr>
              <a:t>QUESTIONS?</a:t>
            </a:r>
            <a:endParaRPr lang="en-US" altLang="en-US" sz="4000" b="1" dirty="0">
              <a:solidFill>
                <a:srgbClr val="008ABF"/>
              </a:solidFill>
            </a:endParaRPr>
          </a:p>
          <a:p>
            <a:pPr algn="ctr" eaLnBrk="1" hangingPunct="1">
              <a:lnSpc>
                <a:spcPct val="90000"/>
              </a:lnSpc>
              <a:spcBef>
                <a:spcPct val="0"/>
              </a:spcBef>
              <a:buClrTx/>
              <a:buFontTx/>
              <a:buNone/>
            </a:pPr>
            <a:endParaRPr lang="en-US" altLang="en-US" sz="4000" b="1" dirty="0">
              <a:solidFill>
                <a:srgbClr val="008ABF"/>
              </a:solidFill>
            </a:endParaRPr>
          </a:p>
          <a:p>
            <a:pPr algn="ctr" eaLnBrk="1" hangingPunct="1">
              <a:lnSpc>
                <a:spcPct val="90000"/>
              </a:lnSpc>
              <a:spcBef>
                <a:spcPct val="0"/>
              </a:spcBef>
              <a:buClrTx/>
              <a:buFontTx/>
              <a:buNone/>
            </a:pPr>
            <a:r>
              <a:rPr lang="en-US" altLang="en-US" sz="2000" dirty="0"/>
              <a:t>Get help from Bluemix development team and Stack Overflow community </a:t>
            </a:r>
          </a:p>
          <a:p>
            <a:pPr algn="ctr" eaLnBrk="1" hangingPunct="1">
              <a:lnSpc>
                <a:spcPct val="90000"/>
              </a:lnSpc>
              <a:spcBef>
                <a:spcPct val="0"/>
              </a:spcBef>
              <a:buClrTx/>
              <a:buFontTx/>
              <a:buNone/>
            </a:pPr>
            <a:r>
              <a:rPr lang="en-US" altLang="en-US" sz="2000" dirty="0"/>
              <a:t>Visit:  </a:t>
            </a:r>
            <a:r>
              <a:rPr lang="en-US" altLang="en-US" sz="2000" b="1" dirty="0">
                <a:solidFill>
                  <a:srgbClr val="008ABF"/>
                </a:solidFill>
              </a:rPr>
              <a:t>https://developer.ibm.com/bluemix/#support</a:t>
            </a:r>
            <a:endParaRPr lang="en-US" altLang="en-US" sz="2000" dirty="0"/>
          </a:p>
        </p:txBody>
      </p:sp>
    </p:spTree>
  </p:cSld>
  <p:clrMapOvr>
    <a:masterClrMapping/>
  </p:clrMapOvr>
  <p:transition spd="med"/>
  <p:timing>
    <p:tnLst>
      <p:par>
        <p:cTn id="1" dur="indefinite" restart="never" nodeType="tmRoot"/>
      </p:par>
    </p:tnLst>
  </p:timing>
</p:sld>
</file>

<file path=ppt/theme/theme1.xml><?xml version="1.0" encoding="utf-8"?>
<a:theme xmlns:a="http://schemas.openxmlformats.org/drawingml/2006/main" name="IBM Cloud 2015">
  <a:themeElements>
    <a:clrScheme name="IBM Cloud 2105">
      <a:dk1>
        <a:sysClr val="windowText" lastClr="000000"/>
      </a:dk1>
      <a:lt1>
        <a:sysClr val="window" lastClr="FFFFFF"/>
      </a:lt1>
      <a:dk2>
        <a:srgbClr val="085571"/>
      </a:dk2>
      <a:lt2>
        <a:srgbClr val="81CDF2"/>
      </a:lt2>
      <a:accent1>
        <a:srgbClr val="009EE2"/>
      </a:accent1>
      <a:accent2>
        <a:srgbClr val="1174B9"/>
      </a:accent2>
      <a:accent3>
        <a:srgbClr val="00A39C"/>
      </a:accent3>
      <a:accent4>
        <a:srgbClr val="00706E"/>
      </a:accent4>
      <a:accent5>
        <a:srgbClr val="611773"/>
      </a:accent5>
      <a:accent6>
        <a:srgbClr val="340F51"/>
      </a:accent6>
      <a:hlink>
        <a:srgbClr val="0000FF"/>
      </a:hlink>
      <a:folHlink>
        <a:srgbClr val="800080"/>
      </a:folHlink>
    </a:clrScheme>
    <a:fontScheme name="IBM Cloud 2015">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8444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sz="1200" kern="0" spc="-30" dirty="0" smtClean="0">
            <a:solidFill>
              <a:srgbClr val="FFFFFF"/>
            </a:solidFill>
            <a:latin typeface="Arial"/>
            <a:cs typeface="Arial"/>
          </a:defRPr>
        </a:defPPr>
      </a:lstStyle>
    </a:txDef>
  </a:objectDefaults>
  <a:extraClrSchemeLst/>
</a:theme>
</file>

<file path=ppt/theme/theme2.xml><?xml version="1.0" encoding="utf-8"?>
<a:theme xmlns:a="http://schemas.openxmlformats.org/drawingml/2006/main" name="IBM Cloud sub">
  <a:themeElements>
    <a:clrScheme name="617-01_SP_Business&amp;IT_Services_Sourcing_Blk_Template_R3 1">
      <a:dk1>
        <a:srgbClr val="000000"/>
      </a:dk1>
      <a:lt1>
        <a:srgbClr val="FFFFFF"/>
      </a:lt1>
      <a:dk2>
        <a:srgbClr val="000000"/>
      </a:dk2>
      <a:lt2>
        <a:srgbClr val="808080"/>
      </a:lt2>
      <a:accent1>
        <a:srgbClr val="83D1F5"/>
      </a:accent1>
      <a:accent2>
        <a:srgbClr val="003F69"/>
      </a:accent2>
      <a:accent3>
        <a:srgbClr val="FFFFFF"/>
      </a:accent3>
      <a:accent4>
        <a:srgbClr val="000000"/>
      </a:accent4>
      <a:accent5>
        <a:srgbClr val="C1E5F9"/>
      </a:accent5>
      <a:accent6>
        <a:srgbClr val="00385E"/>
      </a:accent6>
      <a:hlink>
        <a:srgbClr val="008ABF"/>
      </a:hlink>
      <a:folHlink>
        <a:srgbClr val="8CC63F"/>
      </a:folHlink>
    </a:clrScheme>
    <a:fontScheme name="617-01_SP_Business&amp;IT_Services_Sourcing_Blk_Template_R3">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617-01_SP_Business&amp;IT_Services_Sourcing_Blk_Template_R3 1">
        <a:dk1>
          <a:srgbClr val="000000"/>
        </a:dk1>
        <a:lt1>
          <a:srgbClr val="FFFFFF"/>
        </a:lt1>
        <a:dk2>
          <a:srgbClr val="000000"/>
        </a:dk2>
        <a:lt2>
          <a:srgbClr val="808080"/>
        </a:lt2>
        <a:accent1>
          <a:srgbClr val="83D1F5"/>
        </a:accent1>
        <a:accent2>
          <a:srgbClr val="003F69"/>
        </a:accent2>
        <a:accent3>
          <a:srgbClr val="FFFFFF"/>
        </a:accent3>
        <a:accent4>
          <a:srgbClr val="000000"/>
        </a:accent4>
        <a:accent5>
          <a:srgbClr val="C1E5F9"/>
        </a:accent5>
        <a:accent6>
          <a:srgbClr val="00385E"/>
        </a:accent6>
        <a:hlink>
          <a:srgbClr val="008ABF"/>
        </a:hlink>
        <a:folHlink>
          <a:srgbClr val="8CC63F"/>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2692</Words>
  <Application>Microsoft Office PowerPoint</Application>
  <PresentationFormat>On-screen Show (4:3)</PresentationFormat>
  <Paragraphs>307</Paragraphs>
  <Slides>16</Slides>
  <Notes>15</Notes>
  <HiddenSlides>0</HiddenSlides>
  <MMClips>0</MMClips>
  <ScaleCrop>false</ScaleCrop>
  <HeadingPairs>
    <vt:vector size="4" baseType="variant">
      <vt:variant>
        <vt:lpstr>Theme</vt:lpstr>
      </vt:variant>
      <vt:variant>
        <vt:i4>2</vt:i4>
      </vt:variant>
      <vt:variant>
        <vt:lpstr>Slide Titles</vt:lpstr>
      </vt:variant>
      <vt:variant>
        <vt:i4>16</vt:i4>
      </vt:variant>
    </vt:vector>
  </HeadingPairs>
  <TitlesOfParts>
    <vt:vector size="18" baseType="lpstr">
      <vt:lpstr>IBM Cloud 2015</vt:lpstr>
      <vt:lpstr>IBM Cloud sub</vt:lpstr>
      <vt:lpstr>Using Cloud Foundry CLI</vt:lpstr>
      <vt:lpstr>Using Cloud Foundry  Command Line Interfaces to Manage Applications</vt:lpstr>
      <vt:lpstr>Download and install Cloud Foundry CLI</vt:lpstr>
      <vt:lpstr>Cloud Foundry Command Line Interface Summary</vt:lpstr>
      <vt:lpstr>Login to Bluemix Cloud Foundry Using Command Line Interface</vt:lpstr>
      <vt:lpstr>Push an application to Bluemix Cloud Foundry</vt:lpstr>
      <vt:lpstr>Scale your Application by using Cloud Foundry CLI</vt:lpstr>
      <vt:lpstr>Application Loggregator</vt:lpstr>
      <vt:lpstr>Manage Organizations Using Command Line Interface</vt:lpstr>
      <vt:lpstr>Manage Spaces Using Command Line Interface</vt:lpstr>
      <vt:lpstr>Manage Users and Roles of an Organization using CLI</vt:lpstr>
      <vt:lpstr>Manage Users and Roles of  a Space using Command Line Interface</vt:lpstr>
      <vt:lpstr>Manage Domains Using Command Line Interface</vt:lpstr>
      <vt:lpstr>Manage Routes Using Command Line Interface</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2015-05-08T18:58:46Z</dcterms:created>
  <dcterms:modified xsi:type="dcterms:W3CDTF">2015-09-12T00:17:56Z</dcterms:modified>
</cp:coreProperties>
</file>