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r>
              <a:rPr dirty="0" spc="-5"/>
              <a:t>© 2015 IBM</a:t>
            </a:r>
            <a:r>
              <a:rPr dirty="0" spc="-10"/>
              <a:t> </a:t>
            </a:r>
            <a:r>
              <a:rPr dirty="0" spc="-5"/>
              <a:t>Corporation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181818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168AC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r>
              <a:rPr dirty="0" spc="-5"/>
              <a:t>© 2015 IBM</a:t>
            </a:r>
            <a:r>
              <a:rPr dirty="0" spc="-10"/>
              <a:t> </a:t>
            </a:r>
            <a:r>
              <a:rPr dirty="0" spc="-5"/>
              <a:t>Corporation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181818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168AC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r>
              <a:rPr dirty="0" spc="-5"/>
              <a:t>© 2015 IBM</a:t>
            </a:r>
            <a:r>
              <a:rPr dirty="0" spc="-10"/>
              <a:t> </a:t>
            </a:r>
            <a:r>
              <a:rPr dirty="0" spc="-5"/>
              <a:t>Corporation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181818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#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168AC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r>
              <a:rPr dirty="0" spc="-5"/>
              <a:t>© 2015 IBM</a:t>
            </a:r>
            <a:r>
              <a:rPr dirty="0" spc="-10"/>
              <a:t> </a:t>
            </a:r>
            <a:r>
              <a:rPr dirty="0" spc="-5"/>
              <a:t>Corporation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181818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#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r>
              <a:rPr dirty="0" spc="-5"/>
              <a:t>© 2015 IBM</a:t>
            </a:r>
            <a:r>
              <a:rPr dirty="0" spc="-10"/>
              <a:t> </a:t>
            </a:r>
            <a:r>
              <a:rPr dirty="0" spc="-5"/>
              <a:t>Corporation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181818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7471409" y="259435"/>
            <a:ext cx="1380490" cy="22087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9940" y="662178"/>
            <a:ext cx="8364118" cy="4362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168AC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9940" y="1747011"/>
            <a:ext cx="8364118" cy="1578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7551166" y="6545605"/>
            <a:ext cx="1330959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r>
              <a:rPr dirty="0" spc="-5"/>
              <a:t>© 2015 IBM</a:t>
            </a:r>
            <a:r>
              <a:rPr dirty="0" spc="-10"/>
              <a:t> </a:t>
            </a:r>
            <a:r>
              <a:rPr dirty="0" spc="-5"/>
              <a:t>Corporation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408940" y="6542243"/>
            <a:ext cx="121284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181818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38271" y="3536569"/>
            <a:ext cx="5382133" cy="26421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68833" y="518617"/>
            <a:ext cx="1867027" cy="10287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697095" y="440563"/>
            <a:ext cx="4071620" cy="2546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600" spc="-5" b="1">
                <a:latin typeface="Arial"/>
                <a:cs typeface="Arial"/>
              </a:rPr>
              <a:t>Cloud </a:t>
            </a:r>
            <a:r>
              <a:rPr dirty="0" sz="1600" spc="-10" b="1">
                <a:latin typeface="Arial"/>
                <a:cs typeface="Arial"/>
              </a:rPr>
              <a:t>Developer </a:t>
            </a:r>
            <a:r>
              <a:rPr dirty="0" sz="1600" spc="-5" b="1">
                <a:latin typeface="Arial"/>
                <a:cs typeface="Arial"/>
              </a:rPr>
              <a:t>Certification</a:t>
            </a:r>
            <a:r>
              <a:rPr dirty="0" sz="1600" spc="150" b="1">
                <a:latin typeface="Arial"/>
                <a:cs typeface="Arial"/>
              </a:rPr>
              <a:t> </a:t>
            </a:r>
            <a:r>
              <a:rPr dirty="0" sz="1600" spc="-5" b="1">
                <a:latin typeface="Arial"/>
                <a:cs typeface="Arial"/>
              </a:rPr>
              <a:t>Preparation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 spc="-5"/>
              <a:t>© 2015 IBM</a:t>
            </a:r>
            <a:r>
              <a:rPr dirty="0" spc="-10"/>
              <a:t> </a:t>
            </a:r>
            <a:r>
              <a:rPr dirty="0" spc="-5"/>
              <a:t>Corporation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78968" y="1824609"/>
            <a:ext cx="6665595" cy="526415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3400" spc="-5"/>
              <a:t>Application Deployment </a:t>
            </a:r>
            <a:r>
              <a:rPr dirty="0" sz="3400"/>
              <a:t>in</a:t>
            </a:r>
            <a:r>
              <a:rPr dirty="0" sz="3400" spc="-25"/>
              <a:t> </a:t>
            </a:r>
            <a:r>
              <a:rPr dirty="0" sz="3400" spc="-5"/>
              <a:t>Bluemix</a:t>
            </a:r>
            <a:endParaRPr sz="3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9940" y="1747011"/>
            <a:ext cx="7974330" cy="15786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buSzPct val="110000"/>
              <a:buFont typeface="Arial"/>
              <a:buChar char="•"/>
              <a:tabLst>
                <a:tab pos="355600" algn="l"/>
              </a:tabLst>
            </a:pPr>
            <a:r>
              <a:rPr dirty="0" sz="2000">
                <a:latin typeface="Arial"/>
                <a:cs typeface="Arial"/>
              </a:rPr>
              <a:t>The lifecycle of an </a:t>
            </a:r>
            <a:r>
              <a:rPr dirty="0" sz="2000" spc="-5">
                <a:latin typeface="Arial"/>
                <a:cs typeface="Arial"/>
              </a:rPr>
              <a:t>IBM </a:t>
            </a:r>
            <a:r>
              <a:rPr dirty="0" sz="2000">
                <a:latin typeface="Arial"/>
                <a:cs typeface="Arial"/>
              </a:rPr>
              <a:t>Bluemix PaaS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application:</a:t>
            </a:r>
            <a:endParaRPr sz="2000">
              <a:latin typeface="Arial"/>
              <a:cs typeface="Arial"/>
            </a:endParaRPr>
          </a:p>
          <a:p>
            <a:pPr lvl="1" marL="698500" indent="-289560">
              <a:lnSpc>
                <a:spcPct val="100000"/>
              </a:lnSpc>
              <a:spcBef>
                <a:spcPts val="439"/>
              </a:spcBef>
              <a:buFont typeface="Arial"/>
              <a:buChar char="–"/>
              <a:tabLst>
                <a:tab pos="698500" algn="l"/>
              </a:tabLst>
            </a:pPr>
            <a:r>
              <a:rPr dirty="0" sz="1800" spc="-5">
                <a:latin typeface="Arial"/>
                <a:cs typeface="Arial"/>
              </a:rPr>
              <a:t>Pushing, </a:t>
            </a:r>
            <a:r>
              <a:rPr dirty="0" sz="1800" spc="-10">
                <a:latin typeface="Arial"/>
                <a:cs typeface="Arial"/>
              </a:rPr>
              <a:t>deploying, </a:t>
            </a:r>
            <a:r>
              <a:rPr dirty="0" sz="1800" spc="-5">
                <a:latin typeface="Arial"/>
                <a:cs typeface="Arial"/>
              </a:rPr>
              <a:t>and managing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8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application</a:t>
            </a:r>
            <a:endParaRPr sz="1800">
              <a:latin typeface="Arial"/>
              <a:cs typeface="Arial"/>
            </a:endParaRPr>
          </a:p>
          <a:p>
            <a:pPr lvl="1" marL="698500" marR="5080" indent="-289560">
              <a:lnSpc>
                <a:spcPct val="100000"/>
              </a:lnSpc>
              <a:spcBef>
                <a:spcPts val="434"/>
              </a:spcBef>
              <a:buFont typeface="Arial"/>
              <a:buChar char="–"/>
              <a:tabLst>
                <a:tab pos="698500" algn="l"/>
              </a:tabLst>
            </a:pPr>
            <a:r>
              <a:rPr dirty="0" sz="1800" spc="-5">
                <a:latin typeface="Arial"/>
                <a:cs typeface="Arial"/>
              </a:rPr>
              <a:t>How applications are processed in a Bluemix virtual machines </a:t>
            </a:r>
            <a:r>
              <a:rPr dirty="0" sz="1800">
                <a:latin typeface="Arial"/>
                <a:cs typeface="Arial"/>
              </a:rPr>
              <a:t>(VM) </a:t>
            </a:r>
            <a:r>
              <a:rPr dirty="0" sz="1800" spc="-5">
                <a:latin typeface="Arial"/>
                <a:cs typeface="Arial"/>
              </a:rPr>
              <a:t>and  </a:t>
            </a:r>
            <a:r>
              <a:rPr dirty="0" sz="1800" spc="-5">
                <a:latin typeface="Arial"/>
                <a:cs typeface="Arial"/>
              </a:rPr>
              <a:t>containers</a:t>
            </a:r>
            <a:endParaRPr sz="1800">
              <a:latin typeface="Arial"/>
              <a:cs typeface="Arial"/>
            </a:endParaRPr>
          </a:p>
          <a:p>
            <a:pPr lvl="1" marL="698500" indent="-289560">
              <a:lnSpc>
                <a:spcPct val="100000"/>
              </a:lnSpc>
              <a:spcBef>
                <a:spcPts val="430"/>
              </a:spcBef>
              <a:buFont typeface="Arial"/>
              <a:buChar char="–"/>
              <a:tabLst>
                <a:tab pos="698500" algn="l"/>
              </a:tabLst>
            </a:pPr>
            <a:r>
              <a:rPr dirty="0" sz="1800" spc="-5">
                <a:latin typeface="Arial"/>
                <a:cs typeface="Arial"/>
              </a:rPr>
              <a:t>How </a:t>
            </a:r>
            <a:r>
              <a:rPr dirty="0" sz="1800">
                <a:latin typeface="Arial"/>
                <a:cs typeface="Arial"/>
              </a:rPr>
              <a:t>the </a:t>
            </a:r>
            <a:r>
              <a:rPr dirty="0" sz="1800" spc="-5">
                <a:latin typeface="Arial"/>
                <a:cs typeface="Arial"/>
              </a:rPr>
              <a:t>application is invoked by end</a:t>
            </a:r>
            <a:r>
              <a:rPr dirty="0" sz="1800" spc="2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users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2</a:t>
            </a:fld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 spc="-5"/>
              <a:t>© 2015 IBM</a:t>
            </a:r>
            <a:r>
              <a:rPr dirty="0" spc="-10"/>
              <a:t> </a:t>
            </a:r>
            <a:r>
              <a:rPr dirty="0" spc="-5"/>
              <a:t>Corporation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After you </a:t>
            </a:r>
            <a:r>
              <a:rPr dirty="0"/>
              <a:t>complete </a:t>
            </a:r>
            <a:r>
              <a:rPr dirty="0" spc="-5"/>
              <a:t>this unit, you </a:t>
            </a:r>
            <a:r>
              <a:rPr dirty="0"/>
              <a:t>should</a:t>
            </a:r>
            <a:r>
              <a:rPr dirty="0" spc="10"/>
              <a:t> </a:t>
            </a:r>
            <a:r>
              <a:rPr dirty="0"/>
              <a:t>understand: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Bluemix application</a:t>
            </a:r>
            <a:r>
              <a:rPr dirty="0"/>
              <a:t> lifecycle</a:t>
            </a:r>
          </a:p>
        </p:txBody>
      </p:sp>
      <p:sp>
        <p:nvSpPr>
          <p:cNvPr id="3" name="object 3"/>
          <p:cNvSpPr/>
          <p:nvPr/>
        </p:nvSpPr>
        <p:spPr>
          <a:xfrm>
            <a:off x="502919" y="1186307"/>
            <a:ext cx="7217791" cy="39982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18819" y="5025390"/>
            <a:ext cx="4552950" cy="12299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buAutoNum type="arabicPeriod"/>
              <a:tabLst>
                <a:tab pos="356235" algn="l"/>
              </a:tabLst>
            </a:pPr>
            <a:r>
              <a:rPr dirty="0" sz="1600" spc="-5">
                <a:latin typeface="Arial"/>
                <a:cs typeface="Arial"/>
              </a:rPr>
              <a:t>Upload application components and</a:t>
            </a:r>
            <a:r>
              <a:rPr dirty="0" sz="1600" spc="35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metadata.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6235" algn="l"/>
              </a:tabLst>
            </a:pPr>
            <a:r>
              <a:rPr dirty="0" sz="1600" spc="-5">
                <a:latin typeface="Arial"/>
                <a:cs typeface="Arial"/>
              </a:rPr>
              <a:t>Create and bind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services.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6235" algn="l"/>
              </a:tabLst>
            </a:pPr>
            <a:r>
              <a:rPr dirty="0" sz="1600" spc="-5">
                <a:latin typeface="Arial"/>
                <a:cs typeface="Arial"/>
              </a:rPr>
              <a:t>Stage the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application.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6235" algn="l"/>
              </a:tabLst>
            </a:pPr>
            <a:r>
              <a:rPr dirty="0" sz="1600" spc="-5">
                <a:latin typeface="Arial"/>
                <a:cs typeface="Arial"/>
              </a:rPr>
              <a:t>Deploy the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application.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6235" algn="l"/>
              </a:tabLst>
            </a:pPr>
            <a:r>
              <a:rPr dirty="0" sz="1600" spc="-5">
                <a:latin typeface="Arial"/>
                <a:cs typeface="Arial"/>
              </a:rPr>
              <a:t>Manage the health of the</a:t>
            </a:r>
            <a:r>
              <a:rPr dirty="0" sz="1600" spc="60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application.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2</a:t>
            </a:fld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 spc="-5"/>
              <a:t>© 2015 IBM</a:t>
            </a:r>
            <a:r>
              <a:rPr dirty="0" spc="-10"/>
              <a:t> </a:t>
            </a:r>
            <a:r>
              <a:rPr dirty="0" spc="-5"/>
              <a:t>Corporation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9290" y="1234376"/>
            <a:ext cx="7818120" cy="52807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Components of a</a:t>
            </a:r>
            <a:r>
              <a:rPr dirty="0" spc="-20"/>
              <a:t> </a:t>
            </a:r>
            <a:r>
              <a:rPr dirty="0" spc="-5"/>
              <a:t>VM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2</a:t>
            </a:fld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 spc="-5"/>
              <a:t>© 2015 IBM</a:t>
            </a:r>
            <a:r>
              <a:rPr dirty="0" spc="-10"/>
              <a:t> </a:t>
            </a:r>
            <a:r>
              <a:rPr dirty="0" spc="-5"/>
              <a:t>Corporation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Application </a:t>
            </a:r>
            <a:r>
              <a:rPr dirty="0"/>
              <a:t>staging and</a:t>
            </a:r>
            <a:r>
              <a:rPr dirty="0" spc="-35"/>
              <a:t> </a:t>
            </a:r>
            <a:r>
              <a:rPr dirty="0"/>
              <a:t>deployment</a:t>
            </a:r>
          </a:p>
        </p:txBody>
      </p:sp>
      <p:sp>
        <p:nvSpPr>
          <p:cNvPr id="3" name="object 3"/>
          <p:cNvSpPr/>
          <p:nvPr/>
        </p:nvSpPr>
        <p:spPr>
          <a:xfrm>
            <a:off x="242887" y="1325625"/>
            <a:ext cx="8901049" cy="5030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 spc="-5"/>
              <a:t>© 2015 IBM</a:t>
            </a:r>
            <a:r>
              <a:rPr dirty="0" spc="-10"/>
              <a:t> </a:t>
            </a:r>
            <a:r>
              <a:rPr dirty="0" spc="-5"/>
              <a:t>Corporation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Invoking </a:t>
            </a:r>
            <a:r>
              <a:rPr dirty="0" spc="-5"/>
              <a:t>a Bluemix application</a:t>
            </a:r>
          </a:p>
        </p:txBody>
      </p:sp>
      <p:sp>
        <p:nvSpPr>
          <p:cNvPr id="3" name="object 3"/>
          <p:cNvSpPr/>
          <p:nvPr/>
        </p:nvSpPr>
        <p:spPr>
          <a:xfrm>
            <a:off x="413384" y="1554543"/>
            <a:ext cx="8183880" cy="48135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21640" y="6542243"/>
            <a:ext cx="95885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5"/>
              </a:lnSpc>
            </a:pPr>
            <a:r>
              <a:rPr dirty="0" sz="1000" spc="-5">
                <a:solidFill>
                  <a:srgbClr val="181818"/>
                </a:solidFill>
                <a:latin typeface="Arial"/>
                <a:cs typeface="Arial"/>
              </a:rPr>
              <a:t>6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 spc="-5"/>
              <a:t>© 2015 IBM</a:t>
            </a:r>
            <a:r>
              <a:rPr dirty="0" spc="-10"/>
              <a:t> </a:t>
            </a:r>
            <a:r>
              <a:rPr dirty="0" spc="-5"/>
              <a:t>Corporation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skeeter</dc:creator>
  <dcterms:created xsi:type="dcterms:W3CDTF">2015-12-15T11:51:15Z</dcterms:created>
  <dcterms:modified xsi:type="dcterms:W3CDTF">2015-12-15T11:51:15Z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2015-10-06T00:00:00Z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2015-12-15T00:00:00Z</vt:filetime>
  </property>
</Properties>
</file>